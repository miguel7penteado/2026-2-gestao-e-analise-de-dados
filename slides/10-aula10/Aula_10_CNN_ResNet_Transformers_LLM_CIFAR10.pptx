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3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10"/>
    <p:sldId id="283" r:id="rId9"/>
    <p:sldId id="284" r:id="rId8"/>
    <p:sldId id="285" r:id="rId7"/>
    <p:sldId id="286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6969"/>
    <a:srgbClr val="F4F5F7"/>
    <a:srgbClr val="B6ECFF"/>
    <a:srgbClr val="FF7474"/>
    <a:srgbClr val="FFFF00"/>
    <a:srgbClr val="00FF00"/>
    <a:srgbClr val="D6DCE5"/>
    <a:srgbClr val="FF7C7C"/>
    <a:srgbClr val="5C883F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66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0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1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162307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2743200" cy="5841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1732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3268B8"/>
                </a:solidFill>
                <a:latin typeface="Arial"/>
              </a:rPr>
              <a:t>Aula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6583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0A1F3A"/>
                </a:solidFill>
                <a:latin typeface="Arial"/>
              </a:rPr>
              <a:t>Arquiteturas de Redes Neurais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560320"/>
            <a:ext cx="7040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4B5B69"/>
                </a:solidFill>
                <a:latin typeface="Arial"/>
              </a:rPr>
              <a:t>CNN • ResNet • Transformers • Modelos Fundacionais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62179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>
                <a:solidFill>
                  <a:srgbClr val="4B5B69"/>
                </a:solidFill>
                <a:latin typeface="Arial"/>
              </a:rPr>
              <a:t>Da especialização em imagens ao mecanismo de atenção e aos grandes modelos de linguagem.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508760"/>
            <a:ext cx="1965960" cy="5120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MLP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73568" y="2029967"/>
            <a:ext cx="0" cy="301753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7900416" y="224942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95160" y="2359152"/>
            <a:ext cx="1965960" cy="512064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73568" y="2880360"/>
            <a:ext cx="0" cy="301752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7900416" y="309981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95160" y="3209544"/>
            <a:ext cx="1965960" cy="512064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ResNet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73568" y="3730752"/>
            <a:ext cx="0" cy="301752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7900416" y="39502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95160" y="4059935"/>
            <a:ext cx="1965960" cy="512064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73568" y="4581144"/>
            <a:ext cx="0" cy="301752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7900416" y="48006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4910328"/>
            <a:ext cx="1965960" cy="512064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53328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Da MLP aos Modelos Fundacionais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0">
                <a:solidFill>
                  <a:srgbClr val="0A1F3A"/>
                </a:solidFill>
                <a:latin typeface="Arial"/>
              </a:rPr>
              <a:t>1  Ponto de partida: MLP e CIFAR-10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0A1F3A"/>
                </a:solidFill>
                <a:latin typeface="Arial"/>
              </a:rPr>
              <a:t>2  CNN: especialização em imagens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0A1F3A"/>
                </a:solidFill>
                <a:latin typeface="Arial"/>
              </a:rPr>
              <a:t>3  ResNet: redes profundas com atalhos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90088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0">
                <a:solidFill>
                  <a:srgbClr val="0A1F3A"/>
                </a:solidFill>
                <a:latin typeface="Arial"/>
              </a:rPr>
              <a:t>4  RNN: o problema das sequências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31336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0A1F3A"/>
                </a:solidFill>
                <a:latin typeface="Arial"/>
              </a:rPr>
              <a:t>5  Transformer e mecanismo de atenção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31336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0">
                <a:solidFill>
                  <a:srgbClr val="0A1F3A"/>
                </a:solidFill>
                <a:latin typeface="Arial"/>
              </a:rPr>
              <a:t>6  Vision Transformer (ViT)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72584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0">
                <a:solidFill>
                  <a:srgbClr val="0A1F3A"/>
                </a:solidFill>
                <a:latin typeface="Arial"/>
              </a:rPr>
              <a:t>7  Modelos Fundacionais e LLMs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72584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0A1F3A"/>
                </a:solidFill>
                <a:latin typeface="Arial"/>
              </a:rPr>
              <a:t>8  Laboratório: CNN × Transformer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1 • 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Onde paramos na aula anterior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MLP aplicada ao CIFAR-10: GATO × CACHORRO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1417320" cy="9144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Imagem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32×32×3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3200400"/>
            <a:ext cx="27432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112264" y="31272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0280" y="2743200"/>
            <a:ext cx="14173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Flatten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3072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3200400"/>
            <a:ext cx="27432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3849624" y="31272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2743200"/>
            <a:ext cx="1417320" cy="914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128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59" y="3200400"/>
            <a:ext cx="27432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5586983" y="31272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15000" y="2743200"/>
            <a:ext cx="11887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ReLU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3200400"/>
            <a:ext cx="27432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095744" y="31272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2743200"/>
            <a:ext cx="1188720" cy="91440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64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3200400"/>
            <a:ext cx="27432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8604504" y="31272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2520" y="2743200"/>
            <a:ext cx="11887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Softmax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514600"/>
            <a:ext cx="2011680" cy="713232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🐱 GATO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401568"/>
            <a:ext cx="2011680" cy="713232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🐶 CACHORRO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00600"/>
            <a:ext cx="10058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A MLP funciona. Então por que criar novas arquiteturas?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76672"/>
            <a:ext cx="10058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A resposta está em como cada arquitetura organiza e reutiliza os neurônios.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1 •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Cada arquitetura resolve uma limitação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874519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73552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todos com todos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4B5B69"/>
                </a:solidFill>
                <a:latin typeface="Arial"/>
              </a:rPr>
              <a:t>geral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706624"/>
            <a:ext cx="310896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2633472" y="26334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331720"/>
            <a:ext cx="1874519" cy="74980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273552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padrões locais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365760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4B5B69"/>
                </a:solidFill>
                <a:latin typeface="Arial"/>
              </a:rPr>
              <a:t>imagens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09160" y="2706624"/>
            <a:ext cx="310896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937760" y="26334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2331720"/>
            <a:ext cx="1874519" cy="749808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ResNet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3273552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atalhos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365760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4B5B69"/>
                </a:solidFill>
                <a:latin typeface="Arial"/>
              </a:rPr>
              <a:t>profundidade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13448" y="2706624"/>
            <a:ext cx="310896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242048" y="26334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15784" y="2331720"/>
            <a:ext cx="1874519" cy="74980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4" y="3273552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atenção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4" y="365760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4B5B69"/>
                </a:solidFill>
                <a:latin typeface="Arial"/>
              </a:rPr>
              <a:t>relações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17736" y="2706624"/>
            <a:ext cx="310896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9546336" y="26334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0072" y="2331720"/>
            <a:ext cx="1874519" cy="74980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Fundacional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273552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pré-treino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3657600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4B5B69"/>
                </a:solidFill>
                <a:latin typeface="Arial"/>
              </a:rPr>
              <a:t>múltiplas tarefas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83480"/>
            <a:ext cx="10058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Ideia-chave: não mudamos o neurônio básico — mudamos a arquitetura.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2 •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O problema da MLP com imagens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Flatten transforma a imagem em uma longa lista de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834640" cy="20574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IMAGEM RGB</a:t>
            </a:r>
          </a:p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/>
            </a:r>
          </a:p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32 × 32 pixels</a:t>
            </a:r>
          </a:p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3 canais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3364992"/>
            <a:ext cx="914400" cy="0"/>
          </a:xfrm>
          <a:prstGeom prst="line">
            <a:avLst/>
          </a:prstGeom>
          <a:ln w="2794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535424" y="329184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331720"/>
            <a:ext cx="2560320" cy="2057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FLATTEN</a:t>
            </a:r>
          </a:p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/>
            </a:r>
          </a:p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3072 valores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3364992"/>
            <a:ext cx="914400" cy="0"/>
          </a:xfrm>
          <a:prstGeom prst="line">
            <a:avLst/>
          </a:prstGeom>
          <a:ln w="2794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8284464" y="329184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331720"/>
            <a:ext cx="2834640" cy="205740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MLP</a:t>
            </a:r>
          </a:p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/>
            </a:r>
          </a:p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perde a estrutura</a:t>
            </a:r>
          </a:p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explícita de vizinhança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Pergunta: como preservar a ideia de “pixels próximos formam padrões”?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2 •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CNN: rede especializada em padrões locais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Convolutional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LeCun et al. (1998), Gradient-Based Learning Applied to Document Recognition; Jordão, A., Convolutional Networks, POLI-USP.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Em vez de conectar tudo com tudo, a CNN observa pequenas regiões da imagem.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63240"/>
            <a:ext cx="182880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Bordas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05456" y="3438144"/>
            <a:ext cx="310896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734056" y="3364991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3063240"/>
            <a:ext cx="1828800" cy="74980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319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Texturas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3168" y="3438144"/>
            <a:ext cx="310896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001768" y="3364991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93792" y="3063240"/>
            <a:ext cx="1828800" cy="749808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9319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Curvas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79" y="3438144"/>
            <a:ext cx="310896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269479" y="3364991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3063240"/>
            <a:ext cx="1828800" cy="74980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9319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Partes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08592" y="3438144"/>
            <a:ext cx="310896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537192" y="3364991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29216" y="3063240"/>
            <a:ext cx="1828800" cy="74980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39319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Objetos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03327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Camadas iniciais aprendem padrões simples; camadas posteriores combinam padrões em formas mais complexas.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2 •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A ideia do filtro (kernel)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Uma pequena janela percorre a imagem procurando um padrão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63624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56816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36392" y="224028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63624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56816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50008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36392" y="263347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026664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3026664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63624" y="3026664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6816" y="3026664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50008" y="3026664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026664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36392" y="3026664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419856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70432" y="3419856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63624" y="3419856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56816" y="3419856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3419856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3419856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36392" y="3419856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3813048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70432" y="3813048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63624" y="3813048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56816" y="3813048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50008" y="3813048"/>
            <a:ext cx="393192" cy="393192"/>
          </a:xfrm>
          <a:prstGeom prst="rect">
            <a:avLst/>
          </a:prstGeom>
          <a:solidFill>
            <a:srgbClr val="DBE8F8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0" y="3813048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36392" y="3813048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70432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63624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56816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50008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0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36392" y="4206240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70432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56816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50008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6392" y="4599432"/>
            <a:ext cx="393192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17320" y="510235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imagem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94760" y="3566160"/>
            <a:ext cx="10058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4718304" y="34930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3480" y="278892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-1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278892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278892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83480" y="3291839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-1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3291839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3291839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379476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-1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0" y="379476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3794760"/>
            <a:ext cx="502920" cy="50292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443484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filtro 3×3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903720" y="3566160"/>
            <a:ext cx="10058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7827264" y="34930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38160" y="2743200"/>
            <a:ext cx="2606040" cy="1627632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MAPA DE</a:t>
            </a:r>
          </a:p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CARACTERÍSTICAS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O mesmo filtro é reutilizado em várias posições → menos parâmetros e detecção do mesmo padrão em locais diferentes.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2 •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A CNN aprende os filtros durante o treinamento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420624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Visão computacional clássica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7355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3268B8"/>
                </a:solidFill>
                <a:latin typeface="Arial"/>
              </a:rPr>
              <a:t>Programador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429000"/>
            <a:ext cx="114300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621024" y="33558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1" y="2971800"/>
            <a:ext cx="1920240" cy="914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Filtro definido</a:t>
            </a:r>
          </a:p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manualmente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4206240" cy="65836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Deep Learning com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73552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3268B8"/>
                </a:solidFill>
                <a:latin typeface="Arial"/>
              </a:rPr>
              <a:t>Dados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3429000"/>
            <a:ext cx="109728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924544" y="335584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5712" y="2971800"/>
            <a:ext cx="182880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Filtro aprendido</a:t>
            </a:r>
          </a:p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pela rede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100584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O treinamento ajusta os valores dos filtros exatamente como ajustava os pesos da MLP.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2 •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Arquitetura CNN típica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Convolução → ativação → redução → classificação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2788920"/>
            <a:ext cx="1353312" cy="960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Imagem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32×32×3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1728216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47088" y="2788920"/>
            <a:ext cx="1252728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Conv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3×3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99816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3182112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00984" y="2788920"/>
            <a:ext cx="12527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ReLU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53712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636008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2788920"/>
            <a:ext cx="1252728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Pooling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7608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6089904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2788920"/>
            <a:ext cx="1252728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Conv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3×3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61504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543800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2" y="2788920"/>
            <a:ext cx="1252728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ReLU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15400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997696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16568" y="2788920"/>
            <a:ext cx="1252728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Pooling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369296" y="3273552"/>
            <a:ext cx="164592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10451592" y="3200400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70464" y="2788920"/>
            <a:ext cx="1353312" cy="9601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4572000"/>
            <a:ext cx="1508760" cy="59436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572000"/>
            <a:ext cx="1508760" cy="59436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376672"/>
            <a:ext cx="8503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4B5B69"/>
                </a:solidFill>
                <a:latin typeface="Arial"/>
              </a:rPr>
              <a:t>Especialidade: imagens e outros dados com estrutura espacial em grade.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3 • RESNET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Se CNN funciona, basta colocar mais camadas?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2240280" cy="74980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3 camadas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64992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simples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23160"/>
            <a:ext cx="22402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10 camadas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64992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profunda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2240280" cy="749808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50 camadas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364992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muito profunda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2423160"/>
            <a:ext cx="2240280" cy="74980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500 camadas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3364992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3327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Mais profundidade aumenta a capacidade do modelo, mas também torna a otimização mais difícil.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4B5B69"/>
                </a:solidFill>
                <a:latin typeface="Arial"/>
              </a:rPr>
              <a:t>A ideia da ResNet: criar caminhos curtos para a informação atravessar a rede.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3 • RESNET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ResNet: redes profundas com atalhos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Skip connection / residual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He et al. (2016), Deep Residual Learning for Image Recognition, CVPR.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325880" cy="82296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x</a:t>
            </a:r>
          </a:p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entrada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3383280"/>
            <a:ext cx="68580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2843784" y="331012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35808" y="2971800"/>
            <a:ext cx="1508760" cy="8229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Camada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44568" y="3383280"/>
            <a:ext cx="621792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5084064" y="331012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85232" y="2971800"/>
            <a:ext cx="1508760" cy="8229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Camada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3992" y="3383280"/>
            <a:ext cx="612648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324344" y="331012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3017520"/>
            <a:ext cx="685800" cy="7315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+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383280"/>
            <a:ext cx="96012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9107424" y="331012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2971800"/>
            <a:ext cx="141732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572768" y="2331720"/>
            <a:ext cx="0" cy="59436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72768" y="2331720"/>
            <a:ext cx="6309359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82127" y="2331720"/>
            <a:ext cx="0" cy="64008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7808975" y="288950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1965960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268B8"/>
                </a:solidFill>
                <a:latin typeface="Arial"/>
              </a:rPr>
              <a:t>ATALHO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09160"/>
            <a:ext cx="9784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A rede aprende a transformação necessária e soma a entrada original.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3 • RESNET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O que significa “residual”?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840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3268B8"/>
                </a:solidFill>
                <a:latin typeface="Arial"/>
              </a:rPr>
              <a:t>Rede tradicional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926080"/>
            <a:ext cx="822960" cy="71323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3282696"/>
            <a:ext cx="73152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798064" y="320954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926080"/>
            <a:ext cx="1143000" cy="713232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F(x)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282696"/>
            <a:ext cx="64008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4718304" y="320954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2926080"/>
            <a:ext cx="12344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40280"/>
            <a:ext cx="3840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3268B8"/>
                </a:solidFill>
                <a:latin typeface="Arial"/>
              </a:rPr>
              <a:t>Rede residual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926080"/>
            <a:ext cx="822960" cy="71323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3282696"/>
            <a:ext cx="73152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193024" y="320954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2926080"/>
            <a:ext cx="1143000" cy="713232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F(x)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3282696"/>
            <a:ext cx="5486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0021824" y="320954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95560" y="2926080"/>
            <a:ext cx="685800" cy="713232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+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132320" y="2606040"/>
            <a:ext cx="0" cy="27432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32320" y="2606040"/>
            <a:ext cx="338328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15600" y="2606040"/>
            <a:ext cx="0" cy="27432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10442448" y="279806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40480" y="4617720"/>
            <a:ext cx="4526280" cy="713232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0A1F3A"/>
                </a:solidFill>
                <a:latin typeface="Arial"/>
              </a:rPr>
              <a:t>saída = F(x) +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486400"/>
            <a:ext cx="8503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A camada aprende “o que precisa mudar” em relação à entrada.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3 • RESNET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ResNet não começa em um número mágico de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A mesma ideia residual aparece em redes de diferentes profundidades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828800" cy="694944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ResNet-18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3520440"/>
            <a:ext cx="109728" cy="32004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39" y="3520440"/>
            <a:ext cx="109728" cy="429768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936" y="2423160"/>
            <a:ext cx="1828800" cy="69494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ResNet-34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3520440"/>
            <a:ext cx="109728" cy="32004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3520440"/>
            <a:ext cx="109728" cy="429768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3520440"/>
            <a:ext cx="109728" cy="539496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4" y="2423160"/>
            <a:ext cx="1828800" cy="694944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ResNet-50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0096" y="3520440"/>
            <a:ext cx="109728" cy="32004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976" y="3520440"/>
            <a:ext cx="109728" cy="429768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3520440"/>
            <a:ext cx="109728" cy="539496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8736" y="3520440"/>
            <a:ext cx="109728" cy="649224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4072" y="2423160"/>
            <a:ext cx="1828800" cy="694944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ResNet-101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98664" y="3520440"/>
            <a:ext cx="109728" cy="32004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81544" y="3520440"/>
            <a:ext cx="109728" cy="429768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4424" y="3520440"/>
            <a:ext cx="109728" cy="539496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47304" y="3520440"/>
            <a:ext cx="109728" cy="649224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4" y="3520440"/>
            <a:ext cx="109728" cy="758952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423160"/>
            <a:ext cx="1828800" cy="694944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ResNet-152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7232" y="3520440"/>
            <a:ext cx="109728" cy="32004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40112" y="3520440"/>
            <a:ext cx="109728" cy="429768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22992" y="3520440"/>
            <a:ext cx="109728" cy="539496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05872" y="3520440"/>
            <a:ext cx="109728" cy="649224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88752" y="3520440"/>
            <a:ext cx="109728" cy="758952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71632" y="3520440"/>
            <a:ext cx="109728" cy="868680"/>
          </a:xfrm>
          <a:prstGeom prst="rect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O objetivo é permitir que a rede fique muito profunda sem perder a capacidade de aprender.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Por isso, a ideia residual virou um bloco básico de muitas arquiteturas modernas.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4 • RNN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Antes dos Transformers: redes recorrentes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RNNs processam sequências passo a passo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Jordão, A., Recurrent Neural Networks, POLI-USP.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71800"/>
            <a:ext cx="12344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Eu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868680" cy="53035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h1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1580" y="3593592"/>
            <a:ext cx="0" cy="36576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1138428" y="38770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783080" y="4242816"/>
            <a:ext cx="301752" cy="0"/>
          </a:xfrm>
          <a:prstGeom prst="line">
            <a:avLst/>
          </a:prstGeom>
          <a:ln w="1905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2002536" y="4169663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12848" y="2971800"/>
            <a:ext cx="12344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gosto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3977639"/>
            <a:ext cx="868680" cy="53035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h2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0068" y="3593592"/>
            <a:ext cx="0" cy="36576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2756915" y="38770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401568" y="4242816"/>
            <a:ext cx="301752" cy="0"/>
          </a:xfrm>
          <a:prstGeom prst="line">
            <a:avLst/>
          </a:prstGeom>
          <a:ln w="1905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621024" y="4169663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31335" y="2971800"/>
            <a:ext cx="123444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14215" y="3977639"/>
            <a:ext cx="868680" cy="53035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h3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8555" y="3593592"/>
            <a:ext cx="0" cy="36576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4375403" y="38770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020055" y="4242816"/>
            <a:ext cx="301752" cy="0"/>
          </a:xfrm>
          <a:prstGeom prst="line">
            <a:avLst/>
          </a:prstGeom>
          <a:ln w="1905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239512" y="4169663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49823" y="2971800"/>
            <a:ext cx="182880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inteligência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32703" y="3977639"/>
            <a:ext cx="1463040" cy="53035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h4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64223" y="3593592"/>
            <a:ext cx="0" cy="36576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6291071" y="38770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232903" y="4242816"/>
            <a:ext cx="301752" cy="0"/>
          </a:xfrm>
          <a:prstGeom prst="line">
            <a:avLst/>
          </a:prstGeom>
          <a:ln w="1905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7452359" y="4169663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62671" y="2971800"/>
            <a:ext cx="182880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artificial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45551" y="3977639"/>
            <a:ext cx="1463040" cy="53035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h5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77072" y="3593592"/>
            <a:ext cx="0" cy="36576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8503919" y="38770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A saída de um passo influencia o próximo → existe memória, mas o processamento é sequencial.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5 •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2017: “Attention Is All You Need”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Uma arquitetura capaz de relacionar elementos de uma sequência sem depender de recorrência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Vaswani et al. (2017), Attention Is All You Need, NeurIPS.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468880"/>
            <a:ext cx="23774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RNN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passo a passo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2834640"/>
            <a:ext cx="1143000" cy="0"/>
          </a:xfrm>
          <a:prstGeom prst="line">
            <a:avLst/>
          </a:prstGeom>
          <a:ln w="2794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4535424" y="276148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331720"/>
            <a:ext cx="2834640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2834640"/>
            <a:ext cx="1143001" cy="0"/>
          </a:xfrm>
          <a:prstGeom prst="line">
            <a:avLst/>
          </a:prstGeom>
          <a:ln w="2794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787384" y="276148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2468880"/>
            <a:ext cx="2194560" cy="713232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ATENÇÃO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37560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relações entre elementos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A inovação central foi tornar o mecanismo de atenção o elemento principal da arquitetura.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5 •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Atenção: quais partes importam para entender esta parte?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“O cachorro perseguiu o gato porque ele estava correndo.”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1600200" cy="59436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cachorro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246120"/>
            <a:ext cx="160020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perseguiu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246120"/>
            <a:ext cx="1600200" cy="59436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gato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246120"/>
            <a:ext cx="1600200" cy="5943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ele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246120"/>
            <a:ext cx="1600200" cy="59436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correndo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14500" y="3840480"/>
            <a:ext cx="5715000" cy="68580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63339" y="3840480"/>
            <a:ext cx="3566161" cy="68580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83580" y="3840480"/>
            <a:ext cx="1645920" cy="68580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29500" y="3840480"/>
            <a:ext cx="1691640" cy="68580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4526280"/>
            <a:ext cx="1600200" cy="5943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“ele”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A rede aprende pesos de atenção: algumas relações recebem mais importância que outras.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5 •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Self-Attention: cada token pode “olhar” para os demais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Sem entrar na matemática: pense em uma tabela de relevâncias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Vaswani et al. (2017), Attention Is All You Need, NeurIPS.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4B5B69"/>
                </a:solidFill>
                <a:latin typeface="Arial"/>
              </a:rPr>
              <a:t>Summer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975104"/>
            <a:ext cx="685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B5B69"/>
                </a:solidFill>
                <a:latin typeface="Arial"/>
              </a:rPr>
              <a:t>Summer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4B5B69"/>
                </a:solidFill>
                <a:latin typeface="Arial"/>
              </a:rPr>
              <a:t>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75104"/>
            <a:ext cx="685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B5B69"/>
                </a:solidFill>
                <a:latin typeface="Arial"/>
              </a:rPr>
              <a:t>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74136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4B5B69"/>
                </a:solidFill>
                <a:latin typeface="Arial"/>
              </a:rPr>
              <a:t>warm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975104"/>
            <a:ext cx="685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B5B69"/>
                </a:solidFill>
                <a:latin typeface="Arial"/>
              </a:rPr>
              <a:t>warm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9623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4B5B69"/>
                </a:solidFill>
                <a:latin typeface="Arial"/>
              </a:rPr>
              <a:t>Winter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1975104"/>
            <a:ext cx="685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B5B69"/>
                </a:solidFill>
                <a:latin typeface="Arial"/>
              </a:rPr>
              <a:t>Winter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2511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4B5B69"/>
                </a:solidFill>
                <a:latin typeface="Arial"/>
              </a:rPr>
              <a:t>cold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3" y="1975104"/>
            <a:ext cx="685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B5B69"/>
                </a:solidFill>
                <a:latin typeface="Arial"/>
              </a:rPr>
              <a:t>cold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331720"/>
            <a:ext cx="475488" cy="475488"/>
          </a:xfrm>
          <a:prstGeom prst="rect">
            <a:avLst/>
          </a:prstGeom>
          <a:solidFill>
            <a:srgbClr val="6ED2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95728" y="2331720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71216" y="2331720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46704" y="233172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22191" y="233172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240" y="2807208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95728" y="2807208"/>
            <a:ext cx="475488" cy="475488"/>
          </a:xfrm>
          <a:prstGeom prst="rect">
            <a:avLst/>
          </a:prstGeom>
          <a:solidFill>
            <a:srgbClr val="6ED2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71216" y="2807208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46704" y="2807208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22191" y="280720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282696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95728" y="3282696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71216" y="3282696"/>
            <a:ext cx="475488" cy="475488"/>
          </a:xfrm>
          <a:prstGeom prst="rect">
            <a:avLst/>
          </a:prstGeom>
          <a:solidFill>
            <a:srgbClr val="6ED2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3282696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2191" y="3282696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0240" y="3758183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5728" y="3758183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1216" y="3758183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46704" y="3758183"/>
            <a:ext cx="475488" cy="475488"/>
          </a:xfrm>
          <a:prstGeom prst="rect">
            <a:avLst/>
          </a:prstGeom>
          <a:solidFill>
            <a:srgbClr val="6ED2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22191" y="3758183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4233672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95728" y="4233672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71216" y="4233672"/>
            <a:ext cx="475488" cy="475488"/>
          </a:xfrm>
          <a:prstGeom prst="rect">
            <a:avLst/>
          </a:prstGeom>
          <a:solidFill>
            <a:srgbClr val="DBE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46704" y="4233672"/>
            <a:ext cx="475488" cy="475488"/>
          </a:xfrm>
          <a:prstGeom prst="rect">
            <a:avLst/>
          </a:prstGeom>
          <a:solidFill>
            <a:srgbClr val="FFF2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22191" y="4233672"/>
            <a:ext cx="475488" cy="475488"/>
          </a:xfrm>
          <a:prstGeom prst="rect">
            <a:avLst/>
          </a:prstGeom>
          <a:solidFill>
            <a:srgbClr val="6ED2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0" y="2423160"/>
            <a:ext cx="5029200" cy="132588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Cada célula responde:</a:t>
            </a:r>
          </a:p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“quanto este token deve prestar atenção naquele?”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069080"/>
            <a:ext cx="5029200" cy="105156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Multi-Head Attention</a:t>
            </a:r>
          </a:p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= várias formas de observar relações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5 •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Transformer em uma visão simplificada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07792"/>
            <a:ext cx="1508760" cy="71323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Tokens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3264408"/>
            <a:ext cx="621792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734056" y="31912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788920"/>
            <a:ext cx="18288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Embedding +</a:t>
            </a:r>
          </a:p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posição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80" y="3264408"/>
            <a:ext cx="603504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276088" y="31912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8112" y="2788920"/>
            <a:ext cx="1920240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Self-Attention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88352" y="3264408"/>
            <a:ext cx="603504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909560" y="31912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2788920"/>
            <a:ext cx="1828800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MLP / Feed</a:t>
            </a:r>
          </a:p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Forward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30384" y="3264408"/>
            <a:ext cx="585216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10433304" y="3191256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0" y="2907792"/>
            <a:ext cx="960120" cy="713232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663440"/>
            <a:ext cx="78638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O bloco Attention + MLP é repetido várias vezes.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Para esta aula, o importante é entender o papel da atenção — não calcular Query, Key e Value à mão.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6 • VISION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E se uma imagem virasse uma sequência de “tokens visuais”?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Vision Transformer (ViT)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Dosovitskiy et al. (2021), An Image is Worth 16x16 Words, ICLR.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612648" cy="612648"/>
          </a:xfrm>
          <a:prstGeom prst="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331720"/>
            <a:ext cx="612648" cy="612648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2536" y="2331720"/>
            <a:ext cx="612648" cy="612648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2331720"/>
            <a:ext cx="612648" cy="612648"/>
          </a:xfrm>
          <a:prstGeom prst="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44368"/>
            <a:ext cx="612648" cy="612648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944368"/>
            <a:ext cx="612648" cy="612648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2536" y="2944368"/>
            <a:ext cx="612648" cy="612648"/>
          </a:xfrm>
          <a:prstGeom prst="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15184" y="2944368"/>
            <a:ext cx="612648" cy="612648"/>
          </a:xfrm>
          <a:prstGeom prst="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5"/>
            <a:ext cx="612648" cy="612648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3557015"/>
            <a:ext cx="612648" cy="612648"/>
          </a:xfrm>
          <a:prstGeom prst="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02536" y="3557015"/>
            <a:ext cx="612648" cy="612648"/>
          </a:xfrm>
          <a:prstGeom prst="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3557015"/>
            <a:ext cx="612648" cy="612648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69664"/>
            <a:ext cx="612648" cy="612648"/>
          </a:xfrm>
          <a:prstGeom prst="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9888" y="4169664"/>
            <a:ext cx="612648" cy="612648"/>
          </a:xfrm>
          <a:prstGeom prst="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02536" y="4169664"/>
            <a:ext cx="612648" cy="612648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15184" y="4169664"/>
            <a:ext cx="612648" cy="612648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2743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4B5B69"/>
                </a:solidFill>
                <a:latin typeface="Arial"/>
              </a:rPr>
              <a:t>imagem dividida em patches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03320" y="3566160"/>
            <a:ext cx="105156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672584" y="34930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83480" y="2423160"/>
            <a:ext cx="1417320" cy="42976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patch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3081528"/>
            <a:ext cx="1417320" cy="429768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patch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3739896"/>
            <a:ext cx="1417320" cy="42976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patch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398264"/>
            <a:ext cx="1417320" cy="42976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A1F3A"/>
                </a:solidFill>
                <a:latin typeface="Arial"/>
              </a:rPr>
              <a:t>patch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010912"/>
            <a:ext cx="548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4B5B69"/>
                </a:solidFill>
                <a:latin typeface="Arial"/>
              </a:rPr>
              <a:t>...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29400" y="3566160"/>
            <a:ext cx="10058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7552944" y="34930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0" y="2743200"/>
            <a:ext cx="2103120" cy="16002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Transformer</a:t>
            </a:r>
          </a:p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Encoder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66960" y="3566160"/>
            <a:ext cx="5486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10433304" y="34930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607040" y="3090672"/>
            <a:ext cx="114300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🐱 / 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6 • 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CNN × Vision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Nenhuma arquitetura “vence sempre”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Dosovitskiy et al. (2021); Liu et al. (2021), Efficient Training of Visual Transformers with Small Datasets, NeurIPS.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3017520" cy="566928"/>
          </a:xfrm>
          <a:prstGeom prst="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Característica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240280"/>
            <a:ext cx="3566160" cy="566928"/>
          </a:xfrm>
          <a:prstGeom prst="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40280"/>
            <a:ext cx="3977639" cy="566928"/>
          </a:xfrm>
          <a:prstGeom prst="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Transformer / ViT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07208"/>
            <a:ext cx="3017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1C2A37"/>
                </a:solidFill>
                <a:latin typeface="Arial"/>
              </a:rPr>
              <a:t>Foco inicial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807208"/>
            <a:ext cx="3566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padrões locais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07208"/>
            <a:ext cx="3977639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relações entre patches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47287"/>
            <a:ext cx="3017520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1C2A37"/>
                </a:solidFill>
                <a:latin typeface="Arial"/>
              </a:rPr>
              <a:t>Mecanismo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447287"/>
            <a:ext cx="3566160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convolução / filtros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447287"/>
            <a:ext cx="3977639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self-attention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87368"/>
            <a:ext cx="3017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1C2A37"/>
                </a:solidFill>
                <a:latin typeface="Arial"/>
              </a:rPr>
              <a:t>Dados pequenos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4087368"/>
            <a:ext cx="35661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costuma aprender bem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087368"/>
            <a:ext cx="3977639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pode precisar de mais dados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27448"/>
            <a:ext cx="3017520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1C2A37"/>
                </a:solidFill>
                <a:latin typeface="Arial"/>
              </a:rPr>
              <a:t>Escala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4727448"/>
            <a:ext cx="3566160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muito eficiente em visão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727448"/>
            <a:ext cx="3977639" cy="640080"/>
          </a:xfrm>
          <a:prstGeom prst="rect">
            <a:avLst/>
          </a:prstGeom>
          <a:solidFill>
            <a:srgbClr val="F4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C2A37"/>
                </a:solidFill>
                <a:latin typeface="Arial"/>
              </a:rPr>
              <a:t>ganha força com pré-treinamento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56969"/>
                </a:solidFill>
                <a:latin typeface="Arial"/>
              </a:rPr>
              <a:t>No nosso experimento curto, é perfeitamente possível a CNN superar o TinyViT.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7 • MODELOS FUNDACIONAIS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Da tarefa específica ao pré-treinamento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Foundation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Bommasani et al. (2021), On the Opportunities and Risks of Foundation Models, Stanford CRFM.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2194560" cy="65836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MUITOS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468880"/>
            <a:ext cx="457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3268B8"/>
                </a:solidFill>
                <a:latin typeface="Arial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377440"/>
            <a:ext cx="2423160" cy="658368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MUITO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468880"/>
            <a:ext cx="457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3268B8"/>
                </a:solidFill>
                <a:latin typeface="Arial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468880" cy="65836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MODELO GRANDE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706624"/>
            <a:ext cx="64008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9564624" y="26334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38360" y="2377440"/>
            <a:ext cx="1737360" cy="65836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PRÉ-TREINO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246120"/>
            <a:ext cx="0" cy="64008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6007608" y="3803904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977639"/>
            <a:ext cx="3840480" cy="713232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A1F3A"/>
                </a:solidFill>
                <a:latin typeface="Arial"/>
              </a:rPr>
              <a:t>MODELO FUNDACIONAL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51760" y="4690872"/>
            <a:ext cx="3429000" cy="384048"/>
          </a:xfrm>
          <a:prstGeom prst="line">
            <a:avLst/>
          </a:prstGeom>
          <a:ln w="1778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2569464" y="5001768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5102352"/>
            <a:ext cx="16459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Resumo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800600" y="4690872"/>
            <a:ext cx="1280160" cy="384048"/>
          </a:xfrm>
          <a:prstGeom prst="line">
            <a:avLst/>
          </a:prstGeom>
          <a:ln w="1778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4718304" y="5001768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77639" y="5102352"/>
            <a:ext cx="16459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Tradução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690872"/>
            <a:ext cx="868680" cy="384048"/>
          </a:xfrm>
          <a:prstGeom prst="line">
            <a:avLst/>
          </a:prstGeom>
          <a:ln w="1778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867144" y="5001768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5102352"/>
            <a:ext cx="16459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Código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4690872"/>
            <a:ext cx="3017520" cy="384048"/>
          </a:xfrm>
          <a:prstGeom prst="line">
            <a:avLst/>
          </a:prstGeom>
          <a:ln w="17780">
            <a:solidFill>
              <a:srgbClr val="4B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015984" y="5001768"/>
            <a:ext cx="146304" cy="146304"/>
          </a:xfrm>
          <a:prstGeom prst="triangle">
            <a:avLst/>
          </a:prstGeom>
          <a:solidFill>
            <a:srgbClr val="4B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5102352"/>
            <a:ext cx="16459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Perguntas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7 •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Large Language Model: Transformer em grande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234440" cy="658368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Texto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3255264"/>
            <a:ext cx="502921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295144" y="318211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2926080"/>
            <a:ext cx="1325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13048" y="3255264"/>
            <a:ext cx="50292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4233672" y="318211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011680"/>
            <a:ext cx="2103120" cy="4572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596896"/>
            <a:ext cx="2103120" cy="45720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82112"/>
            <a:ext cx="2103120" cy="4572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767328"/>
            <a:ext cx="2103120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352544"/>
            <a:ext cx="2103120" cy="4572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255264"/>
            <a:ext cx="54864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050024" y="318211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9480" y="2834640"/>
            <a:ext cx="1508760" cy="84124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Próximo</a:t>
            </a:r>
          </a:p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3255264"/>
            <a:ext cx="502920" cy="0"/>
          </a:xfrm>
          <a:prstGeom prst="line">
            <a:avLst/>
          </a:prstGeom>
          <a:ln w="254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198864" y="318211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00032" y="2926080"/>
            <a:ext cx="1691640" cy="658368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Resposta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4B5B69"/>
                </a:solidFill>
                <a:latin typeface="Arial"/>
              </a:rPr>
              <a:t>LLMs modernos são predominantemente baseados em Transformers e aprendem padrões estatísticos de linguagem em grande escala.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7 •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Por que não treinamos um LLM de fronteira em sala?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A arquitetura pode ser estudada localmente; a escala de treinamento é outra história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Llama Team (2024), The Llama 3 Herd of Models; material de Transformers, POLI-USP.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4983480" cy="621792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NOSSO LABORATÓRIO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4389120" cy="1920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milhares de imagens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modelos pequenos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CPU ou uma GPU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minutos / poucas épocas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40280"/>
            <a:ext cx="4983480" cy="621792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MODELO DE FRONTEIRA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08960"/>
            <a:ext cx="4389120" cy="1920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bilhões/trilhões de tokens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bilhões de parâmetros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grandes clusters de GPUs</a:t>
            </a:r>
          </a:p>
          <a:p>
            <a:pPr>
              <a:spcAft>
                <a:spcPts val="700"/>
              </a:spcAft>
              <a:defRPr sz="1700">
                <a:solidFill>
                  <a:srgbClr val="1C2A37"/>
                </a:solidFill>
                <a:latin typeface="Arial"/>
              </a:defRPr>
            </a:pPr>
            <a:r>
              <a:t>• treinamento distribuído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56969"/>
                </a:solidFill>
                <a:latin typeface="Arial"/>
              </a:rPr>
              <a:t>Nós conseguimos reproduzir os PRINCÍPIOS. O que muda radicalmente é a ESCALA.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Pergunta experimental: CNN × Tiny Vision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155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4B5B69"/>
                </a:solidFill>
                <a:latin typeface="Arial"/>
              </a:rPr>
              <a:t>CIFAR-10 — somente gatos e cachorros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45352"/>
            <a:ext cx="10607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20" b="0">
                <a:solidFill>
                  <a:srgbClr val="4B5B69"/>
                </a:solidFill>
                <a:latin typeface="Arial"/>
              </a:rPr>
              <a:t>Krizhevsky, A. (2009), Learning Multiple Layers of Features from Tiny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4069080" cy="105156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4069080" cy="10515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Tiny Vision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788920"/>
            <a:ext cx="914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700" b="1">
                <a:solidFill>
                  <a:srgbClr val="F56969"/>
                </a:solidFill>
                <a:latin typeface="Arial"/>
              </a:rPr>
              <a:t>VS.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Qual modelo aprende melhor GATO × CACHORRO usando poucos dados e poucas épocas?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Hipótese: a CNN pode ter vantagem porque já incorpora uma estrutura muito apropriada para imagens.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Desenho do experimento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24328"/>
            <a:ext cx="3337560" cy="77724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24028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624328"/>
            <a:ext cx="3337560" cy="77724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3 = cat</a:t>
            </a:r>
          </a:p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5 = dog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224028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Treino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2624328"/>
            <a:ext cx="3337560" cy="77724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2.000 imagens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41648"/>
            <a:ext cx="3337560" cy="77724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500 imagens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365760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4041648"/>
            <a:ext cx="33375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3657600"/>
            <a:ext cx="3337560" cy="384048"/>
          </a:xfrm>
          <a:prstGeom prst="round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Épocas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041648"/>
            <a:ext cx="3337560" cy="77724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4B5B69"/>
                </a:solidFill>
                <a:latin typeface="Arial"/>
              </a:rPr>
              <a:t>Mesmos dados, mesmo número de épocas e mesma métrica → comparação simples e didática.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Modelo 1 — CNN pequena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743200"/>
            <a:ext cx="1417320" cy="960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Imagem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32×32×3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947672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4832" y="2743200"/>
            <a:ext cx="1234440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Conv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3→32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9272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438144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5304" y="2743200"/>
            <a:ext cx="1234440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Pool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9744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928616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2743200"/>
            <a:ext cx="1417320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Conv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32→64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3096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6601968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39128" y="2743200"/>
            <a:ext cx="1234440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Pool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092440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123444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128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3227832"/>
            <a:ext cx="201168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9582912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20072" y="2743200"/>
            <a:ext cx="1234440" cy="9601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A CNN reduz a imagem gradualmente e aprende filtros locais.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5257800"/>
            <a:ext cx="653796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PyTorch: Conv2d + ReLU + MaxPool2d + Linear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Modelo 2 — Tiny Vision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743200"/>
            <a:ext cx="1417320" cy="960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Imagem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32×32×3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01368" y="3227832"/>
            <a:ext cx="182880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901952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39112" y="2743200"/>
            <a:ext cx="1280160" cy="960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Patches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4×4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9272" y="3227832"/>
            <a:ext cx="182880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419856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7015" y="2743200"/>
            <a:ext cx="12801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Embedding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64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7175" y="3227832"/>
            <a:ext cx="182880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937759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2743200"/>
            <a:ext cx="1417320" cy="960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Attention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4 heads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92240" y="3227832"/>
            <a:ext cx="182880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6592824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9983" y="2743200"/>
            <a:ext cx="1280160" cy="960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Encoder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×2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10144" y="3227832"/>
            <a:ext cx="182879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110727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2743200"/>
            <a:ext cx="12801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Média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dos tokens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28048" y="3227832"/>
            <a:ext cx="182880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9628632" y="3154679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65792" y="2743200"/>
            <a:ext cx="1280160" cy="9601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</a:t>
            </a:r>
          </a:p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O TinyViT trata patches da imagem como uma sequência de tokens visuais.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5257800"/>
            <a:ext cx="717804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4B5B69"/>
                </a:solidFill>
                <a:latin typeface="Arial"/>
              </a:rPr>
              <a:t>PyTorch: Conv2d (patches) + TransformerEncoder + Linear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O mesmo ciclo de treinamento para os dois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Batch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3392424"/>
            <a:ext cx="274320" cy="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203704" y="33192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39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5999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Forward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3392424"/>
            <a:ext cx="274320" cy="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4078224" y="33192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59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19" y="3392424"/>
            <a:ext cx="274321" cy="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952744" y="33192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79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Backprop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35240" y="3392424"/>
            <a:ext cx="274319" cy="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827263" y="33192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Optimizer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09760" y="3392424"/>
            <a:ext cx="274320" cy="0"/>
          </a:xfrm>
          <a:prstGeom prst="line">
            <a:avLst/>
          </a:prstGeom>
          <a:ln w="1905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9701784" y="3319272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0" y="2423160"/>
            <a:ext cx="502920" cy="502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306324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Próximo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8056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A arquitetura muda; o princípio de aprendizagem continua sendo o mesmo da aula anterior.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Feed Forward → calcular erro → Backpropagation → atualizar pesos.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O que vamos comparar?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743200" cy="594360"/>
          </a:xfrm>
          <a:prstGeom prst="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331720"/>
            <a:ext cx="2468880" cy="594360"/>
          </a:xfrm>
          <a:prstGeom prst="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ACURÁCIA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331720"/>
            <a:ext cx="2468880" cy="594360"/>
          </a:xfrm>
          <a:prstGeom prst="rect">
            <a:avLst/>
          </a:prstGeom>
          <a:solidFill>
            <a:srgbClr val="0A1F3A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TEMPO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2331720"/>
            <a:ext cx="2880360" cy="594360"/>
          </a:xfrm>
          <a:prstGeom prst="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PARÂMETROS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26080"/>
            <a:ext cx="2743200" cy="822960"/>
          </a:xfrm>
          <a:prstGeom prst="rect">
            <a:avLst/>
          </a:prstGeom>
          <a:solidFill>
            <a:srgbClr val="DBE8F8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926080"/>
            <a:ext cx="246888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926080"/>
            <a:ext cx="246888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926080"/>
            <a:ext cx="288036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49040"/>
            <a:ext cx="2743200" cy="822960"/>
          </a:xfrm>
          <a:prstGeom prst="rect">
            <a:avLst/>
          </a:prstGeom>
          <a:solidFill>
            <a:srgbClr val="FFF200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TinyViT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749040"/>
            <a:ext cx="246888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749040"/>
            <a:ext cx="246888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3749040"/>
            <a:ext cx="288036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4B5B69"/>
                </a:solidFill>
                <a:latin typeface="Arial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56969"/>
                </a:solidFill>
                <a:latin typeface="Arial"/>
              </a:rPr>
              <a:t>Não vamos escolher o “vencedor universal”. Vamos observar o comportamento neste experimento.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8 • INTERPRETAÇÃO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Se a CNN ganhar, o Transformer “falhou”?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82880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0A1F3A"/>
                </a:solidFill>
                <a:latin typeface="Arial"/>
              </a:rPr>
              <a:t>NÃO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68880"/>
            <a:ext cx="813816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1F3A"/>
                </a:solidFill>
                <a:latin typeface="Arial"/>
              </a:rPr>
              <a:t>Um Transformer pequeno, treinado do zero e com poucos dados, não reproduz as condições em que grandes ViTs brilham.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51960"/>
            <a:ext cx="2926080" cy="64008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10912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4B5B69"/>
                </a:solidFill>
                <a:latin typeface="Arial"/>
              </a:rPr>
              <a:t>forte viés para padrões locais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251960"/>
            <a:ext cx="2926080" cy="64008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10912"/>
            <a:ext cx="33832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4B5B69"/>
                </a:solidFill>
                <a:latin typeface="Arial"/>
              </a:rPr>
              <a:t>mais dependente de dados / pré-treino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251960"/>
            <a:ext cx="2926080" cy="64008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Conclusão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10912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4B5B69"/>
                </a:solidFill>
                <a:latin typeface="Arial"/>
              </a:rPr>
              <a:t>contexto importa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268B8"/>
                </a:solidFill>
                <a:latin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A1F3A"/>
                </a:solidFill>
                <a:latin typeface="Arial"/>
              </a:rPr>
              <a:t>Da MLP aos Modelos Fundacionais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B5B69"/>
                </a:solidFill>
                <a:latin typeface="Arial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19202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B5B69"/>
                </a:solidFill>
                <a:latin typeface="Arial"/>
              </a:rPr>
              <a:t>todos com todos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651760"/>
            <a:ext cx="237743" cy="0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96896" y="25786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2286000"/>
            <a:ext cx="1920240" cy="7315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315468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B5B69"/>
                </a:solidFill>
                <a:latin typeface="Arial"/>
              </a:rPr>
              <a:t>padrões locais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45736" y="2651760"/>
            <a:ext cx="237744" cy="0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4901184" y="25786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1496" y="2286000"/>
            <a:ext cx="1920240" cy="7315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ResNet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315468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B5B69"/>
                </a:solidFill>
                <a:latin typeface="Arial"/>
              </a:rPr>
              <a:t>atalhos residuais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4" y="2651760"/>
            <a:ext cx="237744" cy="0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7205472" y="25786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5784" y="2286000"/>
            <a:ext cx="1920240" cy="7315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315468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B5B69"/>
                </a:solidFill>
                <a:latin typeface="Arial"/>
              </a:rPr>
              <a:t>self-attention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54312" y="2651760"/>
            <a:ext cx="237744" cy="0"/>
          </a:xfrm>
          <a:prstGeom prst="line">
            <a:avLst/>
          </a:prstGeom>
          <a:ln w="2159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509760" y="2578608"/>
            <a:ext cx="146304" cy="146304"/>
          </a:xfrm>
          <a:prstGeom prst="triangle">
            <a:avLst/>
          </a:prstGeom>
          <a:solidFill>
            <a:srgbClr val="32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20072" y="2286000"/>
            <a:ext cx="1920240" cy="7315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Fundacional /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3154680"/>
            <a:ext cx="19202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B5B69"/>
                </a:solidFill>
                <a:latin typeface="Arial"/>
              </a:rPr>
              <a:t>pré-treino em escala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106070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A1F3A"/>
                </a:solidFill>
                <a:latin typeface="Arial"/>
              </a:rPr>
              <a:t>O neurônio continua sendo uma peça de LEGO. A arquitetura define como as peças são conectadas.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0">
                <a:solidFill>
                  <a:srgbClr val="4B5B69"/>
                </a:solidFill>
                <a:latin typeface="Arial"/>
              </a:rPr>
              <a:t>Próximo passo: executar o notebook, medir e interpretar os resultados CNN × TinyViT.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2876329B5D3B4FBA1D26A8667C2633" ma:contentTypeVersion="14" ma:contentTypeDescription="Crie um novo documento." ma:contentTypeScope="" ma:versionID="c18e529f75eeba5e3380f7426394bcf9">
  <xsd:schema xmlns:xsd="http://www.w3.org/2001/XMLSchema" xmlns:xs="http://www.w3.org/2001/XMLSchema" xmlns:p="http://schemas.microsoft.com/office/2006/metadata/properties" xmlns:ns3="1ea3c9c0-e698-4ea3-9529-a2c71b2c9eef" xmlns:ns4="38d922ee-4e44-47a7-a878-a22d9e8094bc" targetNamespace="http://schemas.microsoft.com/office/2006/metadata/properties" ma:root="true" ma:fieldsID="6a86d318e1343c5a9145aa5d09437703" ns3:_="" ns4:_="">
    <xsd:import namespace="1ea3c9c0-e698-4ea3-9529-a2c71b2c9eef"/>
    <xsd:import namespace="38d922ee-4e44-47a7-a878-a22d9e8094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3c9c0-e698-4ea3-9529-a2c71b2c9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922ee-4e44-47a7-a878-a22d9e809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3c9c0-e698-4ea3-9529-a2c71b2c9eef" xsi:nil="true"/>
  </documentManagement>
</p:properties>
</file>

<file path=customXml/itemProps1.xml><?xml version="1.0" encoding="utf-8"?>
<ds:datastoreItem xmlns:ds="http://schemas.openxmlformats.org/officeDocument/2006/customXml" ds:itemID="{ED4652CD-F36D-4B45-A152-BCD8A2661B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2158D8-4C33-4132-A61E-E0532140A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3c9c0-e698-4ea3-9529-a2c71b2c9eef"/>
    <ds:schemaRef ds:uri="38d922ee-4e44-47a7-a878-a22d9e809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1E0874-EAAB-4A60-8F28-27A437EC07BB}">
  <ds:schemaRefs>
    <ds:schemaRef ds:uri="http://schemas.microsoft.com/office/2006/metadata/properties"/>
    <ds:schemaRef ds:uri="http://schemas.microsoft.com/office/infopath/2007/PartnerControls"/>
    <ds:schemaRef ds:uri="1ea3c9c0-e698-4ea3-9529-a2c71b2c9e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2059</Words>
  <Application>Microsoft Office PowerPoint</Application>
  <PresentationFormat>Widescreen</PresentationFormat>
  <Paragraphs>408</Paragraphs>
  <Slides>31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Aptos</vt:lpstr>
      <vt:lpstr>Arial</vt:lpstr>
      <vt:lpstr>Cambria Math</vt:lpstr>
      <vt:lpstr>Symbol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04 - Organização e Preparação de Dados; Regressão Logística e KNN</dc:title>
  <dc:subject>Organização e Preparação de Dados; Regressão Logística e KNN</dc:subject>
  <dc:creator>OpenAI</dc:creator>
  <cp:lastModifiedBy>usuario6</cp:lastModifiedBy>
  <cp:revision>76</cp:revision>
  <dcterms:created xsi:type="dcterms:W3CDTF">2026-08-22T16:19:43Z</dcterms:created>
  <dcterms:modified xsi:type="dcterms:W3CDTF">2026-10-20T19:58:08Z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0x0101002E2876329B5D3B4FBA1D26A8667C2633</vt:lpwstr>
  </property>
</Properties>
</file>