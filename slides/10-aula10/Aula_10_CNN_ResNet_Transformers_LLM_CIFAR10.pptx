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presProps.xml" ContentType="application/vnd.openxmlformats-officedocument.presentationml.presProps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4.xml" ContentType="application/vnd.openxmlformats-officedocument.presentationml.slide+xml"/>
  <Override PartName="/ppt/slides/slide7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customXml" Target="../customXml/item1.xml"/><Relationship Id="rId5" Type="http://schemas.openxmlformats.org/officeDocument/2006/relationships/customXml" Target="../customXml/item2.xml"/><Relationship Id="rId6" Type="http://schemas.openxmlformats.org/officeDocument/2006/relationships/customXml" Target="../customXml/item3.xml"/><Relationship Id="rId7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1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>
              <a:buNone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formato do texto do título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formato de texto dos tópicos</a:t>
            </a:r>
            <a:endParaRPr lang="pt-BR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2.º nível de tópicos</a:t>
            </a:r>
            <a:endParaRPr lang="pt-BR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3.º nível de tópicos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4.º nível de tópicos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5.º nível de tópicos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6.º nível de tópicos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7.º nível de tópicos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dt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&lt;data/hora&gt;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ftr" idx="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sldNum" idx="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0AFE323-D2BD-4D43-BF04-C593F0B2D46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&lt;número&gt;</a:t>
            </a:fld>
            <a:endParaRPr lang="pt-B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adr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1" descr="unip_logo.png"/>
          <p:cNvPicPr/>
          <p:nvPr/>
        </p:nvPicPr>
        <p:blipFill>
          <a:blip r:embed="rId1"/>
          <a:stretch/>
        </p:blipFill>
        <p:spPr>
          <a:xfrm>
            <a:off x="320040" y="274320"/>
            <a:ext cx="2742840" cy="583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" name="TextBox 2"/>
          <p:cNvSpPr/>
          <p:nvPr/>
        </p:nvSpPr>
        <p:spPr>
          <a:xfrm>
            <a:off x="411480" y="1417320"/>
            <a:ext cx="2742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3268B8"/>
                </a:solidFill>
                <a:effectLst/>
                <a:uFillTx/>
                <a:latin typeface="Arial"/>
              </a:rPr>
              <a:t>Aula 10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TextBox 3"/>
          <p:cNvSpPr/>
          <p:nvPr/>
        </p:nvSpPr>
        <p:spPr>
          <a:xfrm>
            <a:off x="411480" y="1828800"/>
            <a:ext cx="65833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31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Arquiteturas de Redes Neurais</a:t>
            </a:r>
            <a:endParaRPr lang="pt-BR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TextBox 4"/>
          <p:cNvSpPr/>
          <p:nvPr/>
        </p:nvSpPr>
        <p:spPr>
          <a:xfrm>
            <a:off x="438840" y="2560320"/>
            <a:ext cx="70405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0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CNN • ResNet • Transformers • Modelos Fundacionais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Box 5"/>
          <p:cNvSpPr/>
          <p:nvPr/>
        </p:nvSpPr>
        <p:spPr>
          <a:xfrm>
            <a:off x="457200" y="3246120"/>
            <a:ext cx="621756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8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Da especialização em imagens ao mecanismo de atenção e aos grandes modelos de linguagem.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Rounded Rectangle 6"/>
          <p:cNvSpPr/>
          <p:nvPr/>
        </p:nvSpPr>
        <p:spPr>
          <a:xfrm>
            <a:off x="6995160" y="1508760"/>
            <a:ext cx="1965600" cy="5115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5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MLP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" name="Connector 7"/>
          <p:cNvCxnSpPr/>
          <p:nvPr/>
        </p:nvCxnSpPr>
        <p:spPr>
          <a:xfrm>
            <a:off x="7973280" y="2029680"/>
            <a:ext cx="360" cy="302400"/>
          </a:xfrm>
          <a:prstGeom prst="straightConnector1">
            <a:avLst/>
          </a:prstGeom>
          <a:ln w="21590">
            <a:solidFill>
              <a:srgbClr val="3268B8"/>
            </a:solidFill>
          </a:ln>
        </p:spPr>
      </p:cxnSp>
      <p:sp>
        <p:nvSpPr>
          <p:cNvPr id="14" name="Isosceles Triangle 8"/>
          <p:cNvSpPr/>
          <p:nvPr/>
        </p:nvSpPr>
        <p:spPr>
          <a:xfrm rot="10800000">
            <a:off x="7900920" y="225000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5" name="Rounded Rectangle 9"/>
          <p:cNvSpPr/>
          <p:nvPr/>
        </p:nvSpPr>
        <p:spPr>
          <a:xfrm>
            <a:off x="6995160" y="2359080"/>
            <a:ext cx="1965600" cy="511560"/>
          </a:xfrm>
          <a:prstGeom prst="roundRect">
            <a:avLst>
              <a:gd name="adj" fmla="val 16667"/>
            </a:avLst>
          </a:prstGeom>
          <a:solidFill>
            <a:srgbClr val="DBE8F8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5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CNN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6" name="Connector 10"/>
          <p:cNvCxnSpPr/>
          <p:nvPr/>
        </p:nvCxnSpPr>
        <p:spPr>
          <a:xfrm>
            <a:off x="7973280" y="2880360"/>
            <a:ext cx="360" cy="302040"/>
          </a:xfrm>
          <a:prstGeom prst="straightConnector1">
            <a:avLst/>
          </a:prstGeom>
          <a:ln w="21590">
            <a:solidFill>
              <a:srgbClr val="3268B8"/>
            </a:solidFill>
          </a:ln>
        </p:spPr>
      </p:cxnSp>
      <p:sp>
        <p:nvSpPr>
          <p:cNvPr id="17" name="Isosceles Triangle 11"/>
          <p:cNvSpPr/>
          <p:nvPr/>
        </p:nvSpPr>
        <p:spPr>
          <a:xfrm rot="10800000">
            <a:off x="7900920" y="310032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8" name="Rounded Rectangle 12"/>
          <p:cNvSpPr/>
          <p:nvPr/>
        </p:nvSpPr>
        <p:spPr>
          <a:xfrm>
            <a:off x="6995160" y="3209400"/>
            <a:ext cx="1965600" cy="511560"/>
          </a:xfrm>
          <a:prstGeom prst="roundRect">
            <a:avLst>
              <a:gd name="adj" fmla="val 16667"/>
            </a:avLst>
          </a:prstGeom>
          <a:solidFill>
            <a:srgbClr val="FFF20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5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ResNet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9" name="Connector 13"/>
          <p:cNvCxnSpPr/>
          <p:nvPr/>
        </p:nvCxnSpPr>
        <p:spPr>
          <a:xfrm>
            <a:off x="7973280" y="3730680"/>
            <a:ext cx="360" cy="302040"/>
          </a:xfrm>
          <a:prstGeom prst="straightConnector1">
            <a:avLst/>
          </a:prstGeom>
          <a:ln w="21590">
            <a:solidFill>
              <a:srgbClr val="3268B8"/>
            </a:solidFill>
          </a:ln>
        </p:spPr>
      </p:cxnSp>
      <p:sp>
        <p:nvSpPr>
          <p:cNvPr id="20" name="Isosceles Triangle 14"/>
          <p:cNvSpPr/>
          <p:nvPr/>
        </p:nvSpPr>
        <p:spPr>
          <a:xfrm rot="10800000">
            <a:off x="7900920" y="395064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1" name="Rounded Rectangle 15"/>
          <p:cNvSpPr/>
          <p:nvPr/>
        </p:nvSpPr>
        <p:spPr>
          <a:xfrm>
            <a:off x="6995160" y="4060080"/>
            <a:ext cx="1965600" cy="511560"/>
          </a:xfrm>
          <a:prstGeom prst="roundRect">
            <a:avLst>
              <a:gd name="adj" fmla="val 16667"/>
            </a:avLst>
          </a:prstGeom>
          <a:solidFill>
            <a:srgbClr val="FAE2D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5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Transformer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2" name="Connector 16"/>
          <p:cNvCxnSpPr/>
          <p:nvPr/>
        </p:nvCxnSpPr>
        <p:spPr>
          <a:xfrm>
            <a:off x="7973280" y="4581000"/>
            <a:ext cx="360" cy="302040"/>
          </a:xfrm>
          <a:prstGeom prst="straightConnector1">
            <a:avLst/>
          </a:prstGeom>
          <a:ln w="21590">
            <a:solidFill>
              <a:srgbClr val="3268B8"/>
            </a:solidFill>
          </a:ln>
        </p:spPr>
      </p:cxnSp>
      <p:sp>
        <p:nvSpPr>
          <p:cNvPr id="23" name="Isosceles Triangle 17"/>
          <p:cNvSpPr/>
          <p:nvPr/>
        </p:nvSpPr>
        <p:spPr>
          <a:xfrm rot="10800000">
            <a:off x="7900920" y="480096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4" name="Rounded Rectangle 18"/>
          <p:cNvSpPr/>
          <p:nvPr/>
        </p:nvSpPr>
        <p:spPr>
          <a:xfrm>
            <a:off x="6995160" y="4910400"/>
            <a:ext cx="1965600" cy="511560"/>
          </a:xfrm>
          <a:prstGeom prst="roundRect">
            <a:avLst>
              <a:gd name="adj" fmla="val 16667"/>
            </a:avLst>
          </a:prstGeom>
          <a:solidFill>
            <a:srgbClr val="6ED278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5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LLM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Box 19"/>
          <p:cNvSpPr/>
          <p:nvPr/>
        </p:nvSpPr>
        <p:spPr>
          <a:xfrm>
            <a:off x="457200" y="605340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0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Professor Miguél Suares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Box 20"/>
          <p:cNvSpPr/>
          <p:nvPr/>
        </p:nvSpPr>
        <p:spPr>
          <a:xfrm>
            <a:off x="457200" y="6355080"/>
            <a:ext cx="5028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85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UNIP • GTI – Oferta 2026 • Gestão e Análise de Dados</a:t>
            </a:r>
            <a:endParaRPr lang="pt-B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1" descr="unip_logo.png"/>
          <p:cNvPicPr/>
          <p:nvPr/>
        </p:nvPicPr>
        <p:blipFill>
          <a:blip r:embed="rId1"/>
          <a:stretch/>
        </p:blipFill>
        <p:spPr>
          <a:xfrm>
            <a:off x="228600" y="137160"/>
            <a:ext cx="2468520" cy="52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" name="TextBox 2"/>
          <p:cNvSpPr/>
          <p:nvPr/>
        </p:nvSpPr>
        <p:spPr>
          <a:xfrm>
            <a:off x="255960" y="932760"/>
            <a:ext cx="4388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3268B8"/>
                </a:solidFill>
                <a:effectLst/>
                <a:uFillTx/>
                <a:latin typeface="Arial"/>
              </a:rPr>
              <a:t>AGENDA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Box 3"/>
          <p:cNvSpPr/>
          <p:nvPr/>
        </p:nvSpPr>
        <p:spPr>
          <a:xfrm>
            <a:off x="255960" y="1207080"/>
            <a:ext cx="114296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7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Da MLP aos Modelos Fundacionais</a:t>
            </a:r>
            <a:endParaRPr lang="pt-BR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Box 4"/>
          <p:cNvSpPr/>
          <p:nvPr/>
        </p:nvSpPr>
        <p:spPr>
          <a:xfrm>
            <a:off x="640080" y="6510600"/>
            <a:ext cx="2742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9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Professor Miguél Suares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Box 5"/>
          <p:cNvSpPr/>
          <p:nvPr/>
        </p:nvSpPr>
        <p:spPr>
          <a:xfrm>
            <a:off x="640080" y="6693480"/>
            <a:ext cx="4571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8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UNIP • GTI – Oferta 2026 • Gestão e Análise de Dados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Box 6"/>
          <p:cNvSpPr/>
          <p:nvPr/>
        </p:nvSpPr>
        <p:spPr>
          <a:xfrm>
            <a:off x="11384280" y="6556320"/>
            <a:ext cx="319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8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2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Rounded Rectangle 7"/>
          <p:cNvSpPr/>
          <p:nvPr/>
        </p:nvSpPr>
        <p:spPr>
          <a:xfrm>
            <a:off x="640080" y="2148840"/>
            <a:ext cx="5120280" cy="594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326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1500" b="0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1  Ponto de partida: MLP e CIFAR-10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Rounded Rectangle 8"/>
          <p:cNvSpPr/>
          <p:nvPr/>
        </p:nvSpPr>
        <p:spPr>
          <a:xfrm>
            <a:off x="6217920" y="2148840"/>
            <a:ext cx="5120280" cy="594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326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15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2  CNN: especialização em imagens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Rounded Rectangle 9"/>
          <p:cNvSpPr/>
          <p:nvPr/>
        </p:nvSpPr>
        <p:spPr>
          <a:xfrm>
            <a:off x="640080" y="2990160"/>
            <a:ext cx="5120280" cy="594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326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15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3  ResNet: redes profundas com atalhos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Rounded Rectangle 10"/>
          <p:cNvSpPr/>
          <p:nvPr/>
        </p:nvSpPr>
        <p:spPr>
          <a:xfrm>
            <a:off x="6217920" y="2990160"/>
            <a:ext cx="5120280" cy="594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326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1500" b="0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4  RNN: o problema das sequências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Rounded Rectangle 11"/>
          <p:cNvSpPr/>
          <p:nvPr/>
        </p:nvSpPr>
        <p:spPr>
          <a:xfrm>
            <a:off x="640080" y="3831480"/>
            <a:ext cx="5120280" cy="594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326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15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5  Transformer e mecanismo de atenção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Rounded Rectangle 12"/>
          <p:cNvSpPr/>
          <p:nvPr/>
        </p:nvSpPr>
        <p:spPr>
          <a:xfrm>
            <a:off x="6217920" y="3831480"/>
            <a:ext cx="5120280" cy="594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326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1500" b="0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6  Vision Transformer (ViT)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Rounded Rectangle 13"/>
          <p:cNvSpPr/>
          <p:nvPr/>
        </p:nvSpPr>
        <p:spPr>
          <a:xfrm>
            <a:off x="640080" y="4672440"/>
            <a:ext cx="5120280" cy="594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326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1500" b="0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7  Modelos Fundacionais e LLMs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Rounded Rectangle 14"/>
          <p:cNvSpPr/>
          <p:nvPr/>
        </p:nvSpPr>
        <p:spPr>
          <a:xfrm>
            <a:off x="6217920" y="4672440"/>
            <a:ext cx="5120280" cy="594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326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15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8  Laboratório: CNN × Transformer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Picture 1" descr="unip_logo.png"/>
          <p:cNvPicPr/>
          <p:nvPr/>
        </p:nvPicPr>
        <p:blipFill>
          <a:blip r:embed="rId1"/>
          <a:stretch/>
        </p:blipFill>
        <p:spPr>
          <a:xfrm>
            <a:off x="228600" y="137160"/>
            <a:ext cx="2468520" cy="52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" name="TextBox 2"/>
          <p:cNvSpPr/>
          <p:nvPr/>
        </p:nvSpPr>
        <p:spPr>
          <a:xfrm>
            <a:off x="255960" y="932760"/>
            <a:ext cx="4388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3268B8"/>
                </a:solidFill>
                <a:effectLst/>
                <a:uFillTx/>
                <a:latin typeface="Arial"/>
              </a:rPr>
              <a:t>1 • PONTO DE PARTIDA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Box 3"/>
          <p:cNvSpPr/>
          <p:nvPr/>
        </p:nvSpPr>
        <p:spPr>
          <a:xfrm>
            <a:off x="255960" y="1207080"/>
            <a:ext cx="114296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7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Onde paramos na aula anterior</a:t>
            </a:r>
            <a:endParaRPr lang="pt-BR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Box 4"/>
          <p:cNvSpPr/>
          <p:nvPr/>
        </p:nvSpPr>
        <p:spPr>
          <a:xfrm>
            <a:off x="274320" y="1755720"/>
            <a:ext cx="111553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4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MLP aplicada ao CIFAR-10: GATO × CACHORRO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Box 5"/>
          <p:cNvSpPr/>
          <p:nvPr/>
        </p:nvSpPr>
        <p:spPr>
          <a:xfrm>
            <a:off x="640080" y="6510600"/>
            <a:ext cx="2742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9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Professor Miguél Suares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Box 6"/>
          <p:cNvSpPr/>
          <p:nvPr/>
        </p:nvSpPr>
        <p:spPr>
          <a:xfrm>
            <a:off x="640080" y="6693480"/>
            <a:ext cx="4571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8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UNIP • GTI – Oferta 2026 • Gestão e Análise de Dados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Box 7"/>
          <p:cNvSpPr/>
          <p:nvPr/>
        </p:nvSpPr>
        <p:spPr>
          <a:xfrm>
            <a:off x="11384280" y="6556320"/>
            <a:ext cx="319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8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3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Rounded Rectangle 8"/>
          <p:cNvSpPr/>
          <p:nvPr/>
        </p:nvSpPr>
        <p:spPr>
          <a:xfrm>
            <a:off x="1546920" y="2325960"/>
            <a:ext cx="1416960" cy="914040"/>
          </a:xfrm>
          <a:prstGeom prst="roundRect">
            <a:avLst>
              <a:gd name="adj" fmla="val 16667"/>
            </a:avLst>
          </a:prstGeom>
          <a:solidFill>
            <a:srgbClr val="DBE8F8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Imagem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32×32×3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9" name="Connector 9"/>
          <p:cNvCxnSpPr/>
          <p:nvPr/>
        </p:nvCxnSpPr>
        <p:spPr>
          <a:xfrm>
            <a:off x="2964240" y="2783160"/>
            <a:ext cx="274680" cy="360"/>
          </a:xfrm>
          <a:prstGeom prst="straightConnector1">
            <a:avLst/>
          </a:prstGeom>
          <a:ln w="22860">
            <a:solidFill>
              <a:srgbClr val="3268B8"/>
            </a:solidFill>
          </a:ln>
        </p:spPr>
      </p:cxnSp>
      <p:sp>
        <p:nvSpPr>
          <p:cNvPr id="50" name="Isosceles Triangle 10"/>
          <p:cNvSpPr/>
          <p:nvPr/>
        </p:nvSpPr>
        <p:spPr>
          <a:xfrm rot="5400000">
            <a:off x="3156840" y="271008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1" name="Rounded Rectangle 11"/>
          <p:cNvSpPr/>
          <p:nvPr/>
        </p:nvSpPr>
        <p:spPr>
          <a:xfrm>
            <a:off x="3284280" y="2325960"/>
            <a:ext cx="1416960" cy="9140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Flatten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3072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2" name="Connector 12"/>
          <p:cNvCxnSpPr/>
          <p:nvPr/>
        </p:nvCxnSpPr>
        <p:spPr>
          <a:xfrm>
            <a:off x="4701600" y="2783160"/>
            <a:ext cx="274680" cy="360"/>
          </a:xfrm>
          <a:prstGeom prst="straightConnector1">
            <a:avLst/>
          </a:prstGeom>
          <a:ln w="22860">
            <a:solidFill>
              <a:srgbClr val="3268B8"/>
            </a:solidFill>
          </a:ln>
        </p:spPr>
      </p:cxnSp>
      <p:sp>
        <p:nvSpPr>
          <p:cNvPr id="53" name="Isosceles Triangle 13"/>
          <p:cNvSpPr/>
          <p:nvPr/>
        </p:nvSpPr>
        <p:spPr>
          <a:xfrm rot="5400000">
            <a:off x="4894200" y="271008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4" name="Rounded Rectangle 23"/>
          <p:cNvSpPr/>
          <p:nvPr/>
        </p:nvSpPr>
        <p:spPr>
          <a:xfrm>
            <a:off x="9214200" y="2768760"/>
            <a:ext cx="1188360" cy="9140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Softmax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Rounded Rectangle 24"/>
          <p:cNvSpPr/>
          <p:nvPr/>
        </p:nvSpPr>
        <p:spPr>
          <a:xfrm>
            <a:off x="9180000" y="1974600"/>
            <a:ext cx="2011320" cy="712800"/>
          </a:xfrm>
          <a:prstGeom prst="roundRect">
            <a:avLst>
              <a:gd name="adj" fmla="val 16667"/>
            </a:avLst>
          </a:prstGeom>
          <a:solidFill>
            <a:srgbClr val="6ED278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🐱 GATO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Rounded Rectangle 25"/>
          <p:cNvSpPr/>
          <p:nvPr/>
        </p:nvSpPr>
        <p:spPr>
          <a:xfrm>
            <a:off x="9397080" y="3427200"/>
            <a:ext cx="2011320" cy="712800"/>
          </a:xfrm>
          <a:prstGeom prst="roundRect">
            <a:avLst>
              <a:gd name="adj" fmla="val 16667"/>
            </a:avLst>
          </a:prstGeom>
          <a:solidFill>
            <a:srgbClr val="FAE2D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🐶 CACHORRO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Box 26"/>
          <p:cNvSpPr/>
          <p:nvPr/>
        </p:nvSpPr>
        <p:spPr>
          <a:xfrm>
            <a:off x="5061960" y="4079160"/>
            <a:ext cx="3218040" cy="42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2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A MLP 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" name=""/>
          <p:cNvPicPr/>
          <p:nvPr/>
        </p:nvPicPr>
        <p:blipFill>
          <a:blip r:embed="rId2"/>
          <a:stretch/>
        </p:blipFill>
        <p:spPr>
          <a:xfrm>
            <a:off x="5040000" y="1620000"/>
            <a:ext cx="3794040" cy="2160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" name=""/>
          <p:cNvSpPr/>
          <p:nvPr/>
        </p:nvSpPr>
        <p:spPr>
          <a:xfrm>
            <a:off x="8640000" y="2880000"/>
            <a:ext cx="540000" cy="540000"/>
          </a:xfrm>
          <a:prstGeom prst="rightArrow">
            <a:avLst>
              <a:gd name="adj1" fmla="val 50000"/>
              <a:gd name="adj2" fmla="val 25000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2" descr="unip_logo.png"/>
          <p:cNvPicPr/>
          <p:nvPr/>
        </p:nvPicPr>
        <p:blipFill>
          <a:blip r:embed="rId1"/>
          <a:stretch/>
        </p:blipFill>
        <p:spPr>
          <a:xfrm>
            <a:off x="228600" y="137160"/>
            <a:ext cx="2468520" cy="52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" name="TextBox 1"/>
          <p:cNvSpPr/>
          <p:nvPr/>
        </p:nvSpPr>
        <p:spPr>
          <a:xfrm>
            <a:off x="255960" y="932760"/>
            <a:ext cx="438876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3268B8"/>
                </a:solidFill>
                <a:effectLst/>
                <a:uFillTx/>
                <a:latin typeface="Arial"/>
              </a:rPr>
              <a:t>1 • PONTO DE PARTIDA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22"/>
          <p:cNvSpPr/>
          <p:nvPr/>
        </p:nvSpPr>
        <p:spPr>
          <a:xfrm>
            <a:off x="255960" y="1207080"/>
            <a:ext cx="11429640" cy="46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7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Onde paramos na aula anterior</a:t>
            </a:r>
            <a:endParaRPr lang="pt-BR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31"/>
          <p:cNvSpPr/>
          <p:nvPr/>
        </p:nvSpPr>
        <p:spPr>
          <a:xfrm>
            <a:off x="274320" y="1755720"/>
            <a:ext cx="1115532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4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MLP aplicada ao CIFAR-10: GATO × CACHORRO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35"/>
          <p:cNvSpPr/>
          <p:nvPr/>
        </p:nvSpPr>
        <p:spPr>
          <a:xfrm>
            <a:off x="640080" y="6510600"/>
            <a:ext cx="2742840" cy="19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9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Professor Miguél Suares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36"/>
          <p:cNvSpPr/>
          <p:nvPr/>
        </p:nvSpPr>
        <p:spPr>
          <a:xfrm>
            <a:off x="640080" y="6693480"/>
            <a:ext cx="457164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8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UNIP • GTI – Oferta 2026 • Gestão e Análise de Dados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38"/>
          <p:cNvSpPr/>
          <p:nvPr/>
        </p:nvSpPr>
        <p:spPr>
          <a:xfrm>
            <a:off x="11384280" y="6556320"/>
            <a:ext cx="319680" cy="1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8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3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Rounded Rectangle 1"/>
          <p:cNvSpPr/>
          <p:nvPr/>
        </p:nvSpPr>
        <p:spPr>
          <a:xfrm>
            <a:off x="502920" y="2743200"/>
            <a:ext cx="1416960" cy="914040"/>
          </a:xfrm>
          <a:prstGeom prst="roundRect">
            <a:avLst>
              <a:gd name="adj" fmla="val 16667"/>
            </a:avLst>
          </a:prstGeom>
          <a:solidFill>
            <a:srgbClr val="DBE8F8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Imagem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32×32×3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8" name="Connector 1"/>
          <p:cNvCxnSpPr/>
          <p:nvPr/>
        </p:nvCxnSpPr>
        <p:spPr>
          <a:xfrm>
            <a:off x="1920240" y="3200400"/>
            <a:ext cx="274680" cy="360"/>
          </a:xfrm>
          <a:prstGeom prst="straightConnector1">
            <a:avLst/>
          </a:prstGeom>
          <a:ln w="22860">
            <a:solidFill>
              <a:srgbClr val="3268B8"/>
            </a:solidFill>
          </a:ln>
        </p:spPr>
      </p:cxnSp>
      <p:sp>
        <p:nvSpPr>
          <p:cNvPr id="69" name="Isosceles Triangle 1"/>
          <p:cNvSpPr/>
          <p:nvPr/>
        </p:nvSpPr>
        <p:spPr>
          <a:xfrm rot="5400000">
            <a:off x="2112840" y="312732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0" name="Rounded Rectangle 2"/>
          <p:cNvSpPr/>
          <p:nvPr/>
        </p:nvSpPr>
        <p:spPr>
          <a:xfrm>
            <a:off x="2240280" y="2743200"/>
            <a:ext cx="1416960" cy="9140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Flatten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3072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1" name="Connector 2"/>
          <p:cNvCxnSpPr/>
          <p:nvPr/>
        </p:nvCxnSpPr>
        <p:spPr>
          <a:xfrm>
            <a:off x="3657600" y="3200400"/>
            <a:ext cx="274680" cy="360"/>
          </a:xfrm>
          <a:prstGeom prst="straightConnector1">
            <a:avLst/>
          </a:prstGeom>
          <a:ln w="22860">
            <a:solidFill>
              <a:srgbClr val="3268B8"/>
            </a:solidFill>
          </a:ln>
        </p:spPr>
      </p:cxnSp>
      <p:sp>
        <p:nvSpPr>
          <p:cNvPr id="72" name="Isosceles Triangle 2"/>
          <p:cNvSpPr/>
          <p:nvPr/>
        </p:nvSpPr>
        <p:spPr>
          <a:xfrm rot="5400000">
            <a:off x="3850200" y="312732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3" name="Rounded Rectangle 3"/>
          <p:cNvSpPr/>
          <p:nvPr/>
        </p:nvSpPr>
        <p:spPr>
          <a:xfrm>
            <a:off x="3977640" y="2743200"/>
            <a:ext cx="1416960" cy="914040"/>
          </a:xfrm>
          <a:prstGeom prst="roundRect">
            <a:avLst>
              <a:gd name="adj" fmla="val 16667"/>
            </a:avLst>
          </a:prstGeom>
          <a:solidFill>
            <a:srgbClr val="FFF20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Dense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128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4" name="Connector 3"/>
          <p:cNvCxnSpPr/>
          <p:nvPr/>
        </p:nvCxnSpPr>
        <p:spPr>
          <a:xfrm>
            <a:off x="5394600" y="3200400"/>
            <a:ext cx="274680" cy="360"/>
          </a:xfrm>
          <a:prstGeom prst="straightConnector1">
            <a:avLst/>
          </a:prstGeom>
          <a:ln w="22860">
            <a:solidFill>
              <a:srgbClr val="3268B8"/>
            </a:solidFill>
          </a:ln>
        </p:spPr>
      </p:cxnSp>
      <p:sp>
        <p:nvSpPr>
          <p:cNvPr id="75" name="Isosceles Triangle 3"/>
          <p:cNvSpPr/>
          <p:nvPr/>
        </p:nvSpPr>
        <p:spPr>
          <a:xfrm rot="5400000">
            <a:off x="5587560" y="312732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6" name="Rounded Rectangle 4"/>
          <p:cNvSpPr/>
          <p:nvPr/>
        </p:nvSpPr>
        <p:spPr>
          <a:xfrm>
            <a:off x="5715000" y="2743200"/>
            <a:ext cx="1188360" cy="9140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ReLU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7" name="Connector 4"/>
          <p:cNvCxnSpPr/>
          <p:nvPr/>
        </p:nvCxnSpPr>
        <p:spPr>
          <a:xfrm>
            <a:off x="6903720" y="3200400"/>
            <a:ext cx="274680" cy="360"/>
          </a:xfrm>
          <a:prstGeom prst="straightConnector1">
            <a:avLst/>
          </a:prstGeom>
          <a:ln w="22860">
            <a:solidFill>
              <a:srgbClr val="3268B8"/>
            </a:solidFill>
          </a:ln>
        </p:spPr>
      </p:cxnSp>
      <p:sp>
        <p:nvSpPr>
          <p:cNvPr id="78" name="Isosceles Triangle 4"/>
          <p:cNvSpPr/>
          <p:nvPr/>
        </p:nvSpPr>
        <p:spPr>
          <a:xfrm rot="5400000">
            <a:off x="7096320" y="312732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9" name="Rounded Rectangle 5"/>
          <p:cNvSpPr/>
          <p:nvPr/>
        </p:nvSpPr>
        <p:spPr>
          <a:xfrm>
            <a:off x="7223760" y="2743200"/>
            <a:ext cx="1188360" cy="914040"/>
          </a:xfrm>
          <a:prstGeom prst="roundRect">
            <a:avLst>
              <a:gd name="adj" fmla="val 16667"/>
            </a:avLst>
          </a:prstGeom>
          <a:solidFill>
            <a:srgbClr val="FAE2D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Dense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64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0" name="Connector 5"/>
          <p:cNvCxnSpPr/>
          <p:nvPr/>
        </p:nvCxnSpPr>
        <p:spPr>
          <a:xfrm>
            <a:off x="8412480" y="3200400"/>
            <a:ext cx="274680" cy="360"/>
          </a:xfrm>
          <a:prstGeom prst="straightConnector1">
            <a:avLst/>
          </a:prstGeom>
          <a:ln w="22860">
            <a:solidFill>
              <a:srgbClr val="3268B8"/>
            </a:solidFill>
          </a:ln>
        </p:spPr>
      </p:cxnSp>
      <p:sp>
        <p:nvSpPr>
          <p:cNvPr id="81" name="Isosceles Triangle 5"/>
          <p:cNvSpPr/>
          <p:nvPr/>
        </p:nvSpPr>
        <p:spPr>
          <a:xfrm rot="5400000">
            <a:off x="8605080" y="312732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82" name="Rounded Rectangle 32"/>
          <p:cNvSpPr/>
          <p:nvPr/>
        </p:nvSpPr>
        <p:spPr>
          <a:xfrm>
            <a:off x="8732520" y="2743200"/>
            <a:ext cx="1188360" cy="9140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Softmax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Rounded Rectangle 36"/>
          <p:cNvSpPr/>
          <p:nvPr/>
        </p:nvSpPr>
        <p:spPr>
          <a:xfrm>
            <a:off x="8915400" y="2514600"/>
            <a:ext cx="2011320" cy="712800"/>
          </a:xfrm>
          <a:prstGeom prst="roundRect">
            <a:avLst>
              <a:gd name="adj" fmla="val 16667"/>
            </a:avLst>
          </a:prstGeom>
          <a:solidFill>
            <a:srgbClr val="6ED278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🐱 GATO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Rounded Rectangle 37"/>
          <p:cNvSpPr/>
          <p:nvPr/>
        </p:nvSpPr>
        <p:spPr>
          <a:xfrm>
            <a:off x="8915400" y="3401640"/>
            <a:ext cx="2011320" cy="712800"/>
          </a:xfrm>
          <a:prstGeom prst="roundRect">
            <a:avLst>
              <a:gd name="adj" fmla="val 16667"/>
            </a:avLst>
          </a:prstGeom>
          <a:solidFill>
            <a:srgbClr val="FAE2D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🐶 CACHORRO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39"/>
          <p:cNvSpPr/>
          <p:nvPr/>
        </p:nvSpPr>
        <p:spPr>
          <a:xfrm>
            <a:off x="1051560" y="4800600"/>
            <a:ext cx="10058040" cy="42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2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A MLP funciona. Então por que criar novas arquiteturas?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40"/>
          <p:cNvSpPr/>
          <p:nvPr/>
        </p:nvSpPr>
        <p:spPr>
          <a:xfrm>
            <a:off x="1051560" y="5376600"/>
            <a:ext cx="1005804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7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A resposta está em como cada arquitetura organiza e reutiliza os neurônios.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Picture 1" descr="unip_logo.png"/>
          <p:cNvPicPr/>
          <p:nvPr/>
        </p:nvPicPr>
        <p:blipFill>
          <a:blip r:embed="rId1"/>
          <a:stretch/>
        </p:blipFill>
        <p:spPr>
          <a:xfrm>
            <a:off x="228600" y="137160"/>
            <a:ext cx="2468520" cy="52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8" name="TextBox 2"/>
          <p:cNvSpPr/>
          <p:nvPr/>
        </p:nvSpPr>
        <p:spPr>
          <a:xfrm>
            <a:off x="255960" y="932760"/>
            <a:ext cx="4388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3268B8"/>
                </a:solidFill>
                <a:effectLst/>
                <a:uFillTx/>
                <a:latin typeface="Arial"/>
              </a:rPr>
              <a:t>1 • EVOLUÇÃO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3"/>
          <p:cNvSpPr/>
          <p:nvPr/>
        </p:nvSpPr>
        <p:spPr>
          <a:xfrm>
            <a:off x="255960" y="1207080"/>
            <a:ext cx="114296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7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Cada arquitetura resolve uma limitação</a:t>
            </a:r>
            <a:endParaRPr lang="pt-BR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4"/>
          <p:cNvSpPr/>
          <p:nvPr/>
        </p:nvSpPr>
        <p:spPr>
          <a:xfrm>
            <a:off x="640080" y="6510600"/>
            <a:ext cx="2742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9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Professor Miguél Suares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5"/>
          <p:cNvSpPr/>
          <p:nvPr/>
        </p:nvSpPr>
        <p:spPr>
          <a:xfrm>
            <a:off x="640080" y="6693480"/>
            <a:ext cx="4571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8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UNIP • GTI – Oferta 2026 • Gestão e Análise de Dados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11384280" y="6556320"/>
            <a:ext cx="319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8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4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Rounded Rectangle 7"/>
          <p:cNvSpPr/>
          <p:nvPr/>
        </p:nvSpPr>
        <p:spPr>
          <a:xfrm>
            <a:off x="502920" y="2331720"/>
            <a:ext cx="1874160" cy="749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MLP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8"/>
          <p:cNvSpPr/>
          <p:nvPr/>
        </p:nvSpPr>
        <p:spPr>
          <a:xfrm>
            <a:off x="502920" y="3273480"/>
            <a:ext cx="18741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3268B8"/>
                </a:solidFill>
                <a:effectLst/>
                <a:uFillTx/>
                <a:latin typeface="Arial"/>
              </a:rPr>
              <a:t>todos com todos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9"/>
          <p:cNvSpPr/>
          <p:nvPr/>
        </p:nvSpPr>
        <p:spPr>
          <a:xfrm>
            <a:off x="502920" y="3657600"/>
            <a:ext cx="18741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geral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6" name="Connector 10"/>
          <p:cNvCxnSpPr/>
          <p:nvPr/>
        </p:nvCxnSpPr>
        <p:spPr>
          <a:xfrm>
            <a:off x="2404800" y="2706480"/>
            <a:ext cx="311040" cy="360"/>
          </a:xfrm>
          <a:prstGeom prst="straightConnector1">
            <a:avLst/>
          </a:prstGeom>
          <a:ln w="25400">
            <a:solidFill>
              <a:srgbClr val="3268B8"/>
            </a:solidFill>
          </a:ln>
        </p:spPr>
      </p:cxnSp>
      <p:sp>
        <p:nvSpPr>
          <p:cNvPr id="97" name="Isosceles Triangle 11"/>
          <p:cNvSpPr/>
          <p:nvPr/>
        </p:nvSpPr>
        <p:spPr>
          <a:xfrm rot="5400000">
            <a:off x="2634120" y="263340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98" name="Rounded Rectangle 12"/>
          <p:cNvSpPr/>
          <p:nvPr/>
        </p:nvSpPr>
        <p:spPr>
          <a:xfrm>
            <a:off x="2807280" y="2331720"/>
            <a:ext cx="1874160" cy="749520"/>
          </a:xfrm>
          <a:prstGeom prst="roundRect">
            <a:avLst>
              <a:gd name="adj" fmla="val 16667"/>
            </a:avLst>
          </a:prstGeom>
          <a:solidFill>
            <a:srgbClr val="DBE8F8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CNN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Box 13"/>
          <p:cNvSpPr/>
          <p:nvPr/>
        </p:nvSpPr>
        <p:spPr>
          <a:xfrm>
            <a:off x="2807280" y="3273480"/>
            <a:ext cx="18741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3268B8"/>
                </a:solidFill>
                <a:effectLst/>
                <a:uFillTx/>
                <a:latin typeface="Arial"/>
              </a:rPr>
              <a:t>padrões locais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Box 14"/>
          <p:cNvSpPr/>
          <p:nvPr/>
        </p:nvSpPr>
        <p:spPr>
          <a:xfrm>
            <a:off x="2807280" y="3657600"/>
            <a:ext cx="18741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imagens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1" name="Connector 15"/>
          <p:cNvCxnSpPr/>
          <p:nvPr/>
        </p:nvCxnSpPr>
        <p:spPr>
          <a:xfrm>
            <a:off x="4709160" y="2706480"/>
            <a:ext cx="311040" cy="360"/>
          </a:xfrm>
          <a:prstGeom prst="straightConnector1">
            <a:avLst/>
          </a:prstGeom>
          <a:ln w="25400">
            <a:solidFill>
              <a:srgbClr val="3268B8"/>
            </a:solidFill>
          </a:ln>
        </p:spPr>
      </p:cxnSp>
      <p:sp>
        <p:nvSpPr>
          <p:cNvPr id="102" name="Isosceles Triangle 16"/>
          <p:cNvSpPr/>
          <p:nvPr/>
        </p:nvSpPr>
        <p:spPr>
          <a:xfrm rot="5400000">
            <a:off x="4938120" y="263340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03" name="Rounded Rectangle 17"/>
          <p:cNvSpPr/>
          <p:nvPr/>
        </p:nvSpPr>
        <p:spPr>
          <a:xfrm>
            <a:off x="5111640" y="2331720"/>
            <a:ext cx="1874160" cy="749520"/>
          </a:xfrm>
          <a:prstGeom prst="roundRect">
            <a:avLst>
              <a:gd name="adj" fmla="val 16667"/>
            </a:avLst>
          </a:prstGeom>
          <a:solidFill>
            <a:srgbClr val="FFF20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ResNet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Box 18"/>
          <p:cNvSpPr/>
          <p:nvPr/>
        </p:nvSpPr>
        <p:spPr>
          <a:xfrm>
            <a:off x="5111640" y="3273480"/>
            <a:ext cx="18741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3268B8"/>
                </a:solidFill>
                <a:effectLst/>
                <a:uFillTx/>
                <a:latin typeface="Arial"/>
              </a:rPr>
              <a:t>atalhos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Box 19"/>
          <p:cNvSpPr/>
          <p:nvPr/>
        </p:nvSpPr>
        <p:spPr>
          <a:xfrm>
            <a:off x="5111640" y="3657600"/>
            <a:ext cx="18741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profundidade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6" name="Connector 20"/>
          <p:cNvCxnSpPr/>
          <p:nvPr/>
        </p:nvCxnSpPr>
        <p:spPr>
          <a:xfrm>
            <a:off x="7013160" y="2706480"/>
            <a:ext cx="311400" cy="360"/>
          </a:xfrm>
          <a:prstGeom prst="straightConnector1">
            <a:avLst/>
          </a:prstGeom>
          <a:ln w="25400">
            <a:solidFill>
              <a:srgbClr val="3268B8"/>
            </a:solidFill>
          </a:ln>
        </p:spPr>
      </p:cxnSp>
      <p:sp>
        <p:nvSpPr>
          <p:cNvPr id="107" name="Isosceles Triangle 21"/>
          <p:cNvSpPr/>
          <p:nvPr/>
        </p:nvSpPr>
        <p:spPr>
          <a:xfrm rot="5400000">
            <a:off x="7242480" y="263340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08" name="Rounded Rectangle 22"/>
          <p:cNvSpPr/>
          <p:nvPr/>
        </p:nvSpPr>
        <p:spPr>
          <a:xfrm>
            <a:off x="7415640" y="2331720"/>
            <a:ext cx="1874160" cy="749520"/>
          </a:xfrm>
          <a:prstGeom prst="roundRect">
            <a:avLst>
              <a:gd name="adj" fmla="val 16667"/>
            </a:avLst>
          </a:prstGeom>
          <a:solidFill>
            <a:srgbClr val="FAE2D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Transformer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Box 23"/>
          <p:cNvSpPr/>
          <p:nvPr/>
        </p:nvSpPr>
        <p:spPr>
          <a:xfrm>
            <a:off x="7415640" y="3273480"/>
            <a:ext cx="18741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3268B8"/>
                </a:solidFill>
                <a:effectLst/>
                <a:uFillTx/>
                <a:latin typeface="Arial"/>
              </a:rPr>
              <a:t>atenção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Box 24"/>
          <p:cNvSpPr/>
          <p:nvPr/>
        </p:nvSpPr>
        <p:spPr>
          <a:xfrm>
            <a:off x="7415640" y="3657600"/>
            <a:ext cx="18741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relações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1" name="Connector 25"/>
          <p:cNvCxnSpPr/>
          <p:nvPr/>
        </p:nvCxnSpPr>
        <p:spPr>
          <a:xfrm>
            <a:off x="9317520" y="2706480"/>
            <a:ext cx="311400" cy="360"/>
          </a:xfrm>
          <a:prstGeom prst="straightConnector1">
            <a:avLst/>
          </a:prstGeom>
          <a:ln w="25400">
            <a:solidFill>
              <a:srgbClr val="3268B8"/>
            </a:solidFill>
          </a:ln>
        </p:spPr>
      </p:cxnSp>
      <p:sp>
        <p:nvSpPr>
          <p:cNvPr id="112" name="Isosceles Triangle 26"/>
          <p:cNvSpPr/>
          <p:nvPr/>
        </p:nvSpPr>
        <p:spPr>
          <a:xfrm rot="5400000">
            <a:off x="9546840" y="263340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13" name="Rounded Rectangle 27"/>
          <p:cNvSpPr/>
          <p:nvPr/>
        </p:nvSpPr>
        <p:spPr>
          <a:xfrm>
            <a:off x="9720000" y="2331720"/>
            <a:ext cx="1874160" cy="749520"/>
          </a:xfrm>
          <a:prstGeom prst="roundRect">
            <a:avLst>
              <a:gd name="adj" fmla="val 16667"/>
            </a:avLst>
          </a:prstGeom>
          <a:solidFill>
            <a:srgbClr val="6ED278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Fundacional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Box 28"/>
          <p:cNvSpPr/>
          <p:nvPr/>
        </p:nvSpPr>
        <p:spPr>
          <a:xfrm>
            <a:off x="9720000" y="3273480"/>
            <a:ext cx="18741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3268B8"/>
                </a:solidFill>
                <a:effectLst/>
                <a:uFillTx/>
                <a:latin typeface="Arial"/>
              </a:rPr>
              <a:t>pré-treino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Box 29"/>
          <p:cNvSpPr/>
          <p:nvPr/>
        </p:nvSpPr>
        <p:spPr>
          <a:xfrm>
            <a:off x="9720000" y="3657600"/>
            <a:ext cx="18741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múltiplas tarefas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30"/>
          <p:cNvSpPr/>
          <p:nvPr/>
        </p:nvSpPr>
        <p:spPr>
          <a:xfrm>
            <a:off x="1051560" y="4983480"/>
            <a:ext cx="100580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22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Ideia-chave: não mudamos o neurônio básico — mudamos a arquitetura.</a:t>
            </a:r>
            <a:endParaRPr lang="pt-B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Picture 1" descr="unip_logo.png"/>
          <p:cNvPicPr/>
          <p:nvPr/>
        </p:nvPicPr>
        <p:blipFill>
          <a:blip r:embed="rId1"/>
          <a:stretch/>
        </p:blipFill>
        <p:spPr>
          <a:xfrm>
            <a:off x="228600" y="137160"/>
            <a:ext cx="2468520" cy="52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8" name="TextBox 2"/>
          <p:cNvSpPr/>
          <p:nvPr/>
        </p:nvSpPr>
        <p:spPr>
          <a:xfrm>
            <a:off x="255960" y="932760"/>
            <a:ext cx="4388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3268B8"/>
                </a:solidFill>
                <a:effectLst/>
                <a:uFillTx/>
                <a:latin typeface="Arial"/>
              </a:rPr>
              <a:t>2 • CNN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Box 3"/>
          <p:cNvSpPr/>
          <p:nvPr/>
        </p:nvSpPr>
        <p:spPr>
          <a:xfrm>
            <a:off x="255960" y="1207080"/>
            <a:ext cx="11429640" cy="46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7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Busca por Padrões (textura) nas Imagens</a:t>
            </a:r>
            <a:endParaRPr lang="pt-BR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Box 4"/>
          <p:cNvSpPr/>
          <p:nvPr/>
        </p:nvSpPr>
        <p:spPr>
          <a:xfrm>
            <a:off x="274320" y="1755720"/>
            <a:ext cx="111553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4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Flatten transforma a imagem em uma longa lista de números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Box 5"/>
          <p:cNvSpPr/>
          <p:nvPr/>
        </p:nvSpPr>
        <p:spPr>
          <a:xfrm>
            <a:off x="640080" y="6510600"/>
            <a:ext cx="2742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9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Professor Miguél Suares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Box 6"/>
          <p:cNvSpPr/>
          <p:nvPr/>
        </p:nvSpPr>
        <p:spPr>
          <a:xfrm>
            <a:off x="640080" y="6693480"/>
            <a:ext cx="4571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8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UNIP • GTI – Oferta 2026 • Gestão e Análise de Dados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Box 7"/>
          <p:cNvSpPr/>
          <p:nvPr/>
        </p:nvSpPr>
        <p:spPr>
          <a:xfrm>
            <a:off x="11384280" y="6556320"/>
            <a:ext cx="319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8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5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4" name=""/>
          <p:cNvPicPr/>
          <p:nvPr/>
        </p:nvPicPr>
        <p:blipFill>
          <a:blip r:embed="rId2"/>
          <a:stretch/>
        </p:blipFill>
        <p:spPr>
          <a:xfrm>
            <a:off x="806400" y="2478960"/>
            <a:ext cx="10691280" cy="3641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Picture 4" descr="unip_logo.png"/>
          <p:cNvPicPr/>
          <p:nvPr/>
        </p:nvPicPr>
        <p:blipFill>
          <a:blip r:embed="rId1"/>
          <a:stretch/>
        </p:blipFill>
        <p:spPr>
          <a:xfrm>
            <a:off x="228600" y="137160"/>
            <a:ext cx="2468520" cy="52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6" name="TextBox 48"/>
          <p:cNvSpPr/>
          <p:nvPr/>
        </p:nvSpPr>
        <p:spPr>
          <a:xfrm>
            <a:off x="255960" y="932760"/>
            <a:ext cx="438876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3268B8"/>
                </a:solidFill>
                <a:effectLst/>
                <a:uFillTx/>
                <a:latin typeface="Arial"/>
              </a:rPr>
              <a:t>2 • CNN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Box 49"/>
          <p:cNvSpPr/>
          <p:nvPr/>
        </p:nvSpPr>
        <p:spPr>
          <a:xfrm>
            <a:off x="255960" y="1207080"/>
            <a:ext cx="11429640" cy="46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7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CNN – Rede Neural Convolucional</a:t>
            </a:r>
            <a:endParaRPr lang="pt-BR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Box 50"/>
          <p:cNvSpPr/>
          <p:nvPr/>
        </p:nvSpPr>
        <p:spPr>
          <a:xfrm>
            <a:off x="274320" y="1755720"/>
            <a:ext cx="1115532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4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Flatten transforma a imagem em uma longa lista de números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Box 51"/>
          <p:cNvSpPr/>
          <p:nvPr/>
        </p:nvSpPr>
        <p:spPr>
          <a:xfrm>
            <a:off x="640080" y="6510600"/>
            <a:ext cx="2742840" cy="19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9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Professor Miguél Suares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Box 52"/>
          <p:cNvSpPr/>
          <p:nvPr/>
        </p:nvSpPr>
        <p:spPr>
          <a:xfrm>
            <a:off x="640080" y="6693480"/>
            <a:ext cx="457164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8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UNIP • GTI – Oferta 2026 • Gestão e Análise de Dados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Box 53"/>
          <p:cNvSpPr/>
          <p:nvPr/>
        </p:nvSpPr>
        <p:spPr>
          <a:xfrm>
            <a:off x="11384280" y="6556320"/>
            <a:ext cx="319680" cy="1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8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5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Rounded Rectangle 42"/>
          <p:cNvSpPr/>
          <p:nvPr/>
        </p:nvSpPr>
        <p:spPr>
          <a:xfrm>
            <a:off x="731520" y="2331720"/>
            <a:ext cx="2834280" cy="2057040"/>
          </a:xfrm>
          <a:prstGeom prst="roundRect">
            <a:avLst>
              <a:gd name="adj" fmla="val 16667"/>
            </a:avLst>
          </a:prstGeom>
          <a:solidFill>
            <a:srgbClr val="DBE8F8"/>
          </a:solidFill>
          <a:ln w="17780">
            <a:solidFill>
              <a:srgbClr val="326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0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IMAGEM RGB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20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32 × 32 pixels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20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3 canais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3" name="Connector 30"/>
          <p:cNvCxnSpPr/>
          <p:nvPr/>
        </p:nvCxnSpPr>
        <p:spPr>
          <a:xfrm>
            <a:off x="3703320" y="3364920"/>
            <a:ext cx="914760" cy="360"/>
          </a:xfrm>
          <a:prstGeom prst="straightConnector1">
            <a:avLst/>
          </a:prstGeom>
          <a:ln w="27940">
            <a:solidFill>
              <a:srgbClr val="3268B8"/>
            </a:solidFill>
          </a:ln>
        </p:spPr>
      </p:cxnSp>
      <p:sp>
        <p:nvSpPr>
          <p:cNvPr id="134" name="Isosceles Triangle 23"/>
          <p:cNvSpPr/>
          <p:nvPr/>
        </p:nvSpPr>
        <p:spPr>
          <a:xfrm rot="5400000">
            <a:off x="4536000" y="329184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35" name="Rounded Rectangle 43"/>
          <p:cNvSpPr/>
          <p:nvPr/>
        </p:nvSpPr>
        <p:spPr>
          <a:xfrm>
            <a:off x="4754880" y="2331720"/>
            <a:ext cx="2559960" cy="2057040"/>
          </a:xfrm>
          <a:prstGeom prst="roundRect">
            <a:avLst>
              <a:gd name="adj" fmla="val 16667"/>
            </a:avLst>
          </a:prstGeom>
          <a:solidFill>
            <a:srgbClr val="FFF20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1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FLATTEN</a:t>
            </a:r>
            <a:endParaRPr lang="pt-B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lang="pt-B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21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3072 valores</a:t>
            </a:r>
            <a:endParaRPr lang="pt-B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6" name="Connector 32"/>
          <p:cNvCxnSpPr/>
          <p:nvPr/>
        </p:nvCxnSpPr>
        <p:spPr>
          <a:xfrm>
            <a:off x="7452360" y="3364920"/>
            <a:ext cx="914760" cy="360"/>
          </a:xfrm>
          <a:prstGeom prst="straightConnector1">
            <a:avLst/>
          </a:prstGeom>
          <a:ln w="27940">
            <a:solidFill>
              <a:srgbClr val="3268B8"/>
            </a:solidFill>
          </a:ln>
        </p:spPr>
      </p:cxnSp>
      <p:sp>
        <p:nvSpPr>
          <p:cNvPr id="137" name="Isosceles Triangle 29"/>
          <p:cNvSpPr/>
          <p:nvPr/>
        </p:nvSpPr>
        <p:spPr>
          <a:xfrm rot="5400000">
            <a:off x="8285040" y="329184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38" name="Rounded Rectangle 46"/>
          <p:cNvSpPr/>
          <p:nvPr/>
        </p:nvSpPr>
        <p:spPr>
          <a:xfrm>
            <a:off x="8503920" y="2331720"/>
            <a:ext cx="2834280" cy="2057040"/>
          </a:xfrm>
          <a:prstGeom prst="roundRect">
            <a:avLst>
              <a:gd name="adj" fmla="val 16667"/>
            </a:avLst>
          </a:prstGeom>
          <a:solidFill>
            <a:srgbClr val="FAE2D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7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MLP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7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perde a estrutura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7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explícita de vizinhança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Box 54"/>
          <p:cNvSpPr/>
          <p:nvPr/>
        </p:nvSpPr>
        <p:spPr>
          <a:xfrm>
            <a:off x="914400" y="5074920"/>
            <a:ext cx="10332360" cy="37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21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Pergunta: como preservar a ideia de “pixels próximos formam padrões”?</a:t>
            </a:r>
            <a:endParaRPr lang="pt-B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Picture 1" descr="unip_logo.png"/>
          <p:cNvPicPr/>
          <p:nvPr/>
        </p:nvPicPr>
        <p:blipFill>
          <a:blip r:embed="rId1"/>
          <a:stretch/>
        </p:blipFill>
        <p:spPr>
          <a:xfrm>
            <a:off x="228600" y="137160"/>
            <a:ext cx="2468520" cy="52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1" name="TextBox 2"/>
          <p:cNvSpPr/>
          <p:nvPr/>
        </p:nvSpPr>
        <p:spPr>
          <a:xfrm>
            <a:off x="255960" y="932760"/>
            <a:ext cx="4388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3268B8"/>
                </a:solidFill>
                <a:effectLst/>
                <a:uFillTx/>
                <a:latin typeface="Arial"/>
              </a:rPr>
              <a:t>2 • CNN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Box 3"/>
          <p:cNvSpPr/>
          <p:nvPr/>
        </p:nvSpPr>
        <p:spPr>
          <a:xfrm>
            <a:off x="255960" y="1207080"/>
            <a:ext cx="114296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7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CNN: rede especializada em padrões locais</a:t>
            </a:r>
            <a:endParaRPr lang="pt-BR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Box 4"/>
          <p:cNvSpPr/>
          <p:nvPr/>
        </p:nvSpPr>
        <p:spPr>
          <a:xfrm>
            <a:off x="274320" y="1755720"/>
            <a:ext cx="111553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4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Convolutional Neural Network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Box 5"/>
          <p:cNvSpPr/>
          <p:nvPr/>
        </p:nvSpPr>
        <p:spPr>
          <a:xfrm>
            <a:off x="640080" y="6510600"/>
            <a:ext cx="2742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9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Professor Miguél Suares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Box 6"/>
          <p:cNvSpPr/>
          <p:nvPr/>
        </p:nvSpPr>
        <p:spPr>
          <a:xfrm>
            <a:off x="640080" y="6693480"/>
            <a:ext cx="4571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8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UNIP • GTI – Oferta 2026 • Gestão e Análise de Dados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Box 7"/>
          <p:cNvSpPr/>
          <p:nvPr/>
        </p:nvSpPr>
        <p:spPr>
          <a:xfrm>
            <a:off x="11384280" y="6556320"/>
            <a:ext cx="319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8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6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Box 8"/>
          <p:cNvSpPr/>
          <p:nvPr/>
        </p:nvSpPr>
        <p:spPr>
          <a:xfrm>
            <a:off x="640080" y="6245280"/>
            <a:ext cx="106066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62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LeCun et al. (1998), Gradient-Based Learning Applied to Document Recognition; Jordão, A., Convolutional Networks, POLI-USP.</a:t>
            </a:r>
            <a:endParaRPr lang="pt-BR" sz="6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Box 9"/>
          <p:cNvSpPr/>
          <p:nvPr/>
        </p:nvSpPr>
        <p:spPr>
          <a:xfrm>
            <a:off x="731520" y="2240280"/>
            <a:ext cx="107895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20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Em vez de conectar tudo com tudo, a CNN observa pequenas regiões da imagem.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Rounded Rectangle 10"/>
          <p:cNvSpPr/>
          <p:nvPr/>
        </p:nvSpPr>
        <p:spPr>
          <a:xfrm>
            <a:off x="658440" y="3063240"/>
            <a:ext cx="1828440" cy="749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—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Box 11"/>
          <p:cNvSpPr/>
          <p:nvPr/>
        </p:nvSpPr>
        <p:spPr>
          <a:xfrm>
            <a:off x="658440" y="3931920"/>
            <a:ext cx="1828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5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Bordas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51" name="Connector 12"/>
          <p:cNvCxnSpPr/>
          <p:nvPr/>
        </p:nvCxnSpPr>
        <p:spPr>
          <a:xfrm>
            <a:off x="2505240" y="3438000"/>
            <a:ext cx="311400" cy="360"/>
          </a:xfrm>
          <a:prstGeom prst="straightConnector1">
            <a:avLst/>
          </a:prstGeom>
          <a:ln w="22860">
            <a:solidFill>
              <a:srgbClr val="3268B8"/>
            </a:solidFill>
          </a:ln>
        </p:spPr>
      </p:cxnSp>
      <p:sp>
        <p:nvSpPr>
          <p:cNvPr id="152" name="Isosceles Triangle 13"/>
          <p:cNvSpPr/>
          <p:nvPr/>
        </p:nvSpPr>
        <p:spPr>
          <a:xfrm rot="5400000">
            <a:off x="2734560" y="336492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53" name="Rounded Rectangle 14"/>
          <p:cNvSpPr/>
          <p:nvPr/>
        </p:nvSpPr>
        <p:spPr>
          <a:xfrm>
            <a:off x="2926080" y="3063240"/>
            <a:ext cx="1828440" cy="749520"/>
          </a:xfrm>
          <a:prstGeom prst="roundRect">
            <a:avLst>
              <a:gd name="adj" fmla="val 16667"/>
            </a:avLst>
          </a:prstGeom>
          <a:solidFill>
            <a:srgbClr val="DBE8F8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≋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Box 15"/>
          <p:cNvSpPr/>
          <p:nvPr/>
        </p:nvSpPr>
        <p:spPr>
          <a:xfrm>
            <a:off x="2926080" y="3931920"/>
            <a:ext cx="1828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5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Texturas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55" name="Connector 16"/>
          <p:cNvCxnSpPr/>
          <p:nvPr/>
        </p:nvCxnSpPr>
        <p:spPr>
          <a:xfrm>
            <a:off x="4772880" y="3438000"/>
            <a:ext cx="311400" cy="360"/>
          </a:xfrm>
          <a:prstGeom prst="straightConnector1">
            <a:avLst/>
          </a:prstGeom>
          <a:ln w="22860">
            <a:solidFill>
              <a:srgbClr val="3268B8"/>
            </a:solidFill>
          </a:ln>
        </p:spPr>
      </p:cxnSp>
      <p:sp>
        <p:nvSpPr>
          <p:cNvPr id="156" name="Isosceles Triangle 17"/>
          <p:cNvSpPr/>
          <p:nvPr/>
        </p:nvSpPr>
        <p:spPr>
          <a:xfrm rot="5400000">
            <a:off x="5002200" y="336492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57" name="Rounded Rectangle 18"/>
          <p:cNvSpPr/>
          <p:nvPr/>
        </p:nvSpPr>
        <p:spPr>
          <a:xfrm>
            <a:off x="5193720" y="3063240"/>
            <a:ext cx="1828440" cy="749520"/>
          </a:xfrm>
          <a:prstGeom prst="roundRect">
            <a:avLst>
              <a:gd name="adj" fmla="val 16667"/>
            </a:avLst>
          </a:prstGeom>
          <a:solidFill>
            <a:srgbClr val="FFF20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⌒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Box 19"/>
          <p:cNvSpPr/>
          <p:nvPr/>
        </p:nvSpPr>
        <p:spPr>
          <a:xfrm>
            <a:off x="5193720" y="3931920"/>
            <a:ext cx="1828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5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Curvas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59" name="Connector 20"/>
          <p:cNvCxnSpPr/>
          <p:nvPr/>
        </p:nvCxnSpPr>
        <p:spPr>
          <a:xfrm>
            <a:off x="7040520" y="3438000"/>
            <a:ext cx="311400" cy="360"/>
          </a:xfrm>
          <a:prstGeom prst="straightConnector1">
            <a:avLst/>
          </a:prstGeom>
          <a:ln w="22860">
            <a:solidFill>
              <a:srgbClr val="3268B8"/>
            </a:solidFill>
          </a:ln>
        </p:spPr>
      </p:cxnSp>
      <p:sp>
        <p:nvSpPr>
          <p:cNvPr id="160" name="Isosceles Triangle 21"/>
          <p:cNvSpPr/>
          <p:nvPr/>
        </p:nvSpPr>
        <p:spPr>
          <a:xfrm rot="5400000">
            <a:off x="7269840" y="336492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61" name="Rounded Rectangle 22"/>
          <p:cNvSpPr/>
          <p:nvPr/>
        </p:nvSpPr>
        <p:spPr>
          <a:xfrm>
            <a:off x="7461360" y="3063240"/>
            <a:ext cx="1828440" cy="749520"/>
          </a:xfrm>
          <a:prstGeom prst="roundRect">
            <a:avLst>
              <a:gd name="adj" fmla="val 16667"/>
            </a:avLst>
          </a:prstGeom>
          <a:solidFill>
            <a:srgbClr val="FAE2D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◉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Box 23"/>
          <p:cNvSpPr/>
          <p:nvPr/>
        </p:nvSpPr>
        <p:spPr>
          <a:xfrm>
            <a:off x="7461360" y="3931920"/>
            <a:ext cx="1828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5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Partes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63" name="Connector 24"/>
          <p:cNvCxnSpPr/>
          <p:nvPr/>
        </p:nvCxnSpPr>
        <p:spPr>
          <a:xfrm>
            <a:off x="9308520" y="3438000"/>
            <a:ext cx="311040" cy="360"/>
          </a:xfrm>
          <a:prstGeom prst="straightConnector1">
            <a:avLst/>
          </a:prstGeom>
          <a:ln w="22860">
            <a:solidFill>
              <a:srgbClr val="3268B8"/>
            </a:solidFill>
          </a:ln>
        </p:spPr>
      </p:cxnSp>
      <p:sp>
        <p:nvSpPr>
          <p:cNvPr id="164" name="Isosceles Triangle 25"/>
          <p:cNvSpPr/>
          <p:nvPr/>
        </p:nvSpPr>
        <p:spPr>
          <a:xfrm rot="5400000">
            <a:off x="9537840" y="336492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65" name="Rounded Rectangle 26"/>
          <p:cNvSpPr/>
          <p:nvPr/>
        </p:nvSpPr>
        <p:spPr>
          <a:xfrm>
            <a:off x="9729360" y="3063240"/>
            <a:ext cx="1828440" cy="749520"/>
          </a:xfrm>
          <a:prstGeom prst="roundRect">
            <a:avLst>
              <a:gd name="adj" fmla="val 16667"/>
            </a:avLst>
          </a:prstGeom>
          <a:solidFill>
            <a:srgbClr val="6ED278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🐱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Box 27"/>
          <p:cNvSpPr/>
          <p:nvPr/>
        </p:nvSpPr>
        <p:spPr>
          <a:xfrm>
            <a:off x="9729360" y="3931920"/>
            <a:ext cx="1828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5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Objetos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Box 28"/>
          <p:cNvSpPr/>
          <p:nvPr/>
        </p:nvSpPr>
        <p:spPr>
          <a:xfrm>
            <a:off x="914400" y="4983480"/>
            <a:ext cx="1033236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7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Camadas iniciais aprendem padrões simples; camadas posteriores combinam padrões em formas mais complexas.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8" name="Picture 1" descr="unip_logo.png"/>
          <p:cNvPicPr/>
          <p:nvPr/>
        </p:nvPicPr>
        <p:blipFill>
          <a:blip r:embed="rId1"/>
          <a:stretch/>
        </p:blipFill>
        <p:spPr>
          <a:xfrm>
            <a:off x="228600" y="137160"/>
            <a:ext cx="2468520" cy="52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9" name="TextBox 2"/>
          <p:cNvSpPr/>
          <p:nvPr/>
        </p:nvSpPr>
        <p:spPr>
          <a:xfrm>
            <a:off x="255960" y="932760"/>
            <a:ext cx="4388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3268B8"/>
                </a:solidFill>
                <a:effectLst/>
                <a:uFillTx/>
                <a:latin typeface="Arial"/>
              </a:rPr>
              <a:t>2 • CNN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Box 3"/>
          <p:cNvSpPr/>
          <p:nvPr/>
        </p:nvSpPr>
        <p:spPr>
          <a:xfrm>
            <a:off x="255960" y="1207080"/>
            <a:ext cx="114296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7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A ideia do filtro (kernel)</a:t>
            </a:r>
            <a:endParaRPr lang="pt-BR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Box 4"/>
          <p:cNvSpPr/>
          <p:nvPr/>
        </p:nvSpPr>
        <p:spPr>
          <a:xfrm>
            <a:off x="274320" y="1755720"/>
            <a:ext cx="111553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4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Uma pequena janela percorre a imagem procurando um padrão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Box 5"/>
          <p:cNvSpPr/>
          <p:nvPr/>
        </p:nvSpPr>
        <p:spPr>
          <a:xfrm>
            <a:off x="640080" y="6510600"/>
            <a:ext cx="2742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9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Professor Miguél Suares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Box 6"/>
          <p:cNvSpPr/>
          <p:nvPr/>
        </p:nvSpPr>
        <p:spPr>
          <a:xfrm>
            <a:off x="640080" y="6693480"/>
            <a:ext cx="4571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8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UNIP • GTI – Oferta 2026 • Gestão e Análise de Dados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Box 7"/>
          <p:cNvSpPr/>
          <p:nvPr/>
        </p:nvSpPr>
        <p:spPr>
          <a:xfrm>
            <a:off x="11384280" y="6556320"/>
            <a:ext cx="319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8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7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Rectangle 8"/>
          <p:cNvSpPr/>
          <p:nvPr/>
        </p:nvSpPr>
        <p:spPr>
          <a:xfrm>
            <a:off x="777240" y="2240280"/>
            <a:ext cx="39276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76" name="Rectangle 9"/>
          <p:cNvSpPr/>
          <p:nvPr/>
        </p:nvSpPr>
        <p:spPr>
          <a:xfrm>
            <a:off x="1170360" y="2240280"/>
            <a:ext cx="39276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77" name="Rectangle 10"/>
          <p:cNvSpPr/>
          <p:nvPr/>
        </p:nvSpPr>
        <p:spPr>
          <a:xfrm>
            <a:off x="1563480" y="2240280"/>
            <a:ext cx="39276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78" name="Rectangle 11"/>
          <p:cNvSpPr/>
          <p:nvPr/>
        </p:nvSpPr>
        <p:spPr>
          <a:xfrm>
            <a:off x="1956960" y="2240280"/>
            <a:ext cx="39276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79" name="Rectangle 12"/>
          <p:cNvSpPr/>
          <p:nvPr/>
        </p:nvSpPr>
        <p:spPr>
          <a:xfrm>
            <a:off x="2350080" y="2240280"/>
            <a:ext cx="39276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80" name="Rectangle 13"/>
          <p:cNvSpPr/>
          <p:nvPr/>
        </p:nvSpPr>
        <p:spPr>
          <a:xfrm>
            <a:off x="2743200" y="2240280"/>
            <a:ext cx="39276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81" name="Rectangle 14"/>
          <p:cNvSpPr/>
          <p:nvPr/>
        </p:nvSpPr>
        <p:spPr>
          <a:xfrm>
            <a:off x="3136320" y="2240280"/>
            <a:ext cx="39276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82" name="Rectangle 15"/>
          <p:cNvSpPr/>
          <p:nvPr/>
        </p:nvSpPr>
        <p:spPr>
          <a:xfrm>
            <a:off x="777240" y="2633400"/>
            <a:ext cx="39276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83" name="Rectangle 16"/>
          <p:cNvSpPr/>
          <p:nvPr/>
        </p:nvSpPr>
        <p:spPr>
          <a:xfrm>
            <a:off x="1170360" y="2633400"/>
            <a:ext cx="39276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84" name="Rectangle 17"/>
          <p:cNvSpPr/>
          <p:nvPr/>
        </p:nvSpPr>
        <p:spPr>
          <a:xfrm>
            <a:off x="1563480" y="2633400"/>
            <a:ext cx="39276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85" name="Rectangle 18"/>
          <p:cNvSpPr/>
          <p:nvPr/>
        </p:nvSpPr>
        <p:spPr>
          <a:xfrm>
            <a:off x="1956960" y="2633400"/>
            <a:ext cx="39276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86" name="Rectangle 19"/>
          <p:cNvSpPr/>
          <p:nvPr/>
        </p:nvSpPr>
        <p:spPr>
          <a:xfrm>
            <a:off x="2350080" y="2633400"/>
            <a:ext cx="39276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87" name="Rectangle 20"/>
          <p:cNvSpPr/>
          <p:nvPr/>
        </p:nvSpPr>
        <p:spPr>
          <a:xfrm>
            <a:off x="2743200" y="2633400"/>
            <a:ext cx="39276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88" name="Rectangle 21"/>
          <p:cNvSpPr/>
          <p:nvPr/>
        </p:nvSpPr>
        <p:spPr>
          <a:xfrm>
            <a:off x="3136320" y="2633400"/>
            <a:ext cx="39276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89" name="Rectangle 22"/>
          <p:cNvSpPr/>
          <p:nvPr/>
        </p:nvSpPr>
        <p:spPr>
          <a:xfrm>
            <a:off x="777240" y="3026520"/>
            <a:ext cx="39276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90" name="Rectangle 23"/>
          <p:cNvSpPr/>
          <p:nvPr/>
        </p:nvSpPr>
        <p:spPr>
          <a:xfrm>
            <a:off x="1170360" y="3026520"/>
            <a:ext cx="39276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91" name="Rectangle 24"/>
          <p:cNvSpPr/>
          <p:nvPr/>
        </p:nvSpPr>
        <p:spPr>
          <a:xfrm>
            <a:off x="1563480" y="3026520"/>
            <a:ext cx="392760" cy="392760"/>
          </a:xfrm>
          <a:prstGeom prst="rect">
            <a:avLst/>
          </a:prstGeom>
          <a:solidFill>
            <a:srgbClr val="DBE8F8"/>
          </a:solidFill>
          <a:ln w="889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92" name="Rectangle 25"/>
          <p:cNvSpPr/>
          <p:nvPr/>
        </p:nvSpPr>
        <p:spPr>
          <a:xfrm>
            <a:off x="1956960" y="3026520"/>
            <a:ext cx="392760" cy="392760"/>
          </a:xfrm>
          <a:prstGeom prst="rect">
            <a:avLst/>
          </a:prstGeom>
          <a:solidFill>
            <a:srgbClr val="DBE8F8"/>
          </a:solidFill>
          <a:ln w="889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93" name="Rectangle 26"/>
          <p:cNvSpPr/>
          <p:nvPr/>
        </p:nvSpPr>
        <p:spPr>
          <a:xfrm>
            <a:off x="2350080" y="3026520"/>
            <a:ext cx="392760" cy="392760"/>
          </a:xfrm>
          <a:prstGeom prst="rect">
            <a:avLst/>
          </a:prstGeom>
          <a:solidFill>
            <a:srgbClr val="DBE8F8"/>
          </a:solidFill>
          <a:ln w="889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94" name="Rectangle 27"/>
          <p:cNvSpPr/>
          <p:nvPr/>
        </p:nvSpPr>
        <p:spPr>
          <a:xfrm>
            <a:off x="2743200" y="3026520"/>
            <a:ext cx="39276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95" name="Rectangle 28"/>
          <p:cNvSpPr/>
          <p:nvPr/>
        </p:nvSpPr>
        <p:spPr>
          <a:xfrm>
            <a:off x="3136320" y="3026520"/>
            <a:ext cx="39276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96" name="Rectangle 29"/>
          <p:cNvSpPr/>
          <p:nvPr/>
        </p:nvSpPr>
        <p:spPr>
          <a:xfrm>
            <a:off x="777240" y="3420000"/>
            <a:ext cx="39276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97" name="Rectangle 30"/>
          <p:cNvSpPr/>
          <p:nvPr/>
        </p:nvSpPr>
        <p:spPr>
          <a:xfrm>
            <a:off x="1170360" y="3420000"/>
            <a:ext cx="39276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98" name="Rectangle 31"/>
          <p:cNvSpPr/>
          <p:nvPr/>
        </p:nvSpPr>
        <p:spPr>
          <a:xfrm>
            <a:off x="1563480" y="3420000"/>
            <a:ext cx="392760" cy="392760"/>
          </a:xfrm>
          <a:prstGeom prst="rect">
            <a:avLst/>
          </a:prstGeom>
          <a:solidFill>
            <a:srgbClr val="DBE8F8"/>
          </a:solidFill>
          <a:ln w="889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99" name="Rectangle 32"/>
          <p:cNvSpPr/>
          <p:nvPr/>
        </p:nvSpPr>
        <p:spPr>
          <a:xfrm>
            <a:off x="1956960" y="3420000"/>
            <a:ext cx="392760" cy="392760"/>
          </a:xfrm>
          <a:prstGeom prst="rect">
            <a:avLst/>
          </a:prstGeom>
          <a:solidFill>
            <a:srgbClr val="DBE8F8"/>
          </a:solidFill>
          <a:ln w="889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00" name="Rectangle 33"/>
          <p:cNvSpPr/>
          <p:nvPr/>
        </p:nvSpPr>
        <p:spPr>
          <a:xfrm>
            <a:off x="2350080" y="3420000"/>
            <a:ext cx="392760" cy="392760"/>
          </a:xfrm>
          <a:prstGeom prst="rect">
            <a:avLst/>
          </a:prstGeom>
          <a:solidFill>
            <a:srgbClr val="DBE8F8"/>
          </a:solidFill>
          <a:ln w="889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01" name="Rectangle 34"/>
          <p:cNvSpPr/>
          <p:nvPr/>
        </p:nvSpPr>
        <p:spPr>
          <a:xfrm>
            <a:off x="2743200" y="3420000"/>
            <a:ext cx="39276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02" name="Rectangle 35"/>
          <p:cNvSpPr/>
          <p:nvPr/>
        </p:nvSpPr>
        <p:spPr>
          <a:xfrm>
            <a:off x="3136320" y="3420000"/>
            <a:ext cx="39276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03" name="Rectangle 36"/>
          <p:cNvSpPr/>
          <p:nvPr/>
        </p:nvSpPr>
        <p:spPr>
          <a:xfrm>
            <a:off x="777240" y="3813120"/>
            <a:ext cx="39276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04" name="Rectangle 37"/>
          <p:cNvSpPr/>
          <p:nvPr/>
        </p:nvSpPr>
        <p:spPr>
          <a:xfrm>
            <a:off x="1170360" y="3813120"/>
            <a:ext cx="39276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05" name="Rectangle 38"/>
          <p:cNvSpPr/>
          <p:nvPr/>
        </p:nvSpPr>
        <p:spPr>
          <a:xfrm>
            <a:off x="1563480" y="3813120"/>
            <a:ext cx="392760" cy="392760"/>
          </a:xfrm>
          <a:prstGeom prst="rect">
            <a:avLst/>
          </a:prstGeom>
          <a:solidFill>
            <a:srgbClr val="DBE8F8"/>
          </a:solidFill>
          <a:ln w="889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06" name="Rectangle 39"/>
          <p:cNvSpPr/>
          <p:nvPr/>
        </p:nvSpPr>
        <p:spPr>
          <a:xfrm>
            <a:off x="1956960" y="3813120"/>
            <a:ext cx="392760" cy="392760"/>
          </a:xfrm>
          <a:prstGeom prst="rect">
            <a:avLst/>
          </a:prstGeom>
          <a:solidFill>
            <a:srgbClr val="DBE8F8"/>
          </a:solidFill>
          <a:ln w="889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07" name="Rectangle 40"/>
          <p:cNvSpPr/>
          <p:nvPr/>
        </p:nvSpPr>
        <p:spPr>
          <a:xfrm>
            <a:off x="2350080" y="3813120"/>
            <a:ext cx="392760" cy="392760"/>
          </a:xfrm>
          <a:prstGeom prst="rect">
            <a:avLst/>
          </a:prstGeom>
          <a:solidFill>
            <a:srgbClr val="DBE8F8"/>
          </a:solidFill>
          <a:ln w="889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08" name="Rectangle 41"/>
          <p:cNvSpPr/>
          <p:nvPr/>
        </p:nvSpPr>
        <p:spPr>
          <a:xfrm>
            <a:off x="2743200" y="3813120"/>
            <a:ext cx="39276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09" name="Rectangle 42"/>
          <p:cNvSpPr/>
          <p:nvPr/>
        </p:nvSpPr>
        <p:spPr>
          <a:xfrm>
            <a:off x="3136320" y="3813120"/>
            <a:ext cx="39276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10" name="Rectangle 43"/>
          <p:cNvSpPr/>
          <p:nvPr/>
        </p:nvSpPr>
        <p:spPr>
          <a:xfrm>
            <a:off x="777240" y="4206240"/>
            <a:ext cx="39276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11" name="Rectangle 44"/>
          <p:cNvSpPr/>
          <p:nvPr/>
        </p:nvSpPr>
        <p:spPr>
          <a:xfrm>
            <a:off x="1170360" y="4206240"/>
            <a:ext cx="39276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12" name="Rectangle 45"/>
          <p:cNvSpPr/>
          <p:nvPr/>
        </p:nvSpPr>
        <p:spPr>
          <a:xfrm>
            <a:off x="1563480" y="4206240"/>
            <a:ext cx="39276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13" name="Rectangle 46"/>
          <p:cNvSpPr/>
          <p:nvPr/>
        </p:nvSpPr>
        <p:spPr>
          <a:xfrm>
            <a:off x="1956960" y="4206240"/>
            <a:ext cx="39276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14" name="Rectangle 47"/>
          <p:cNvSpPr/>
          <p:nvPr/>
        </p:nvSpPr>
        <p:spPr>
          <a:xfrm>
            <a:off x="2350080" y="4206240"/>
            <a:ext cx="39276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15" name="Rectangle 48"/>
          <p:cNvSpPr/>
          <p:nvPr/>
        </p:nvSpPr>
        <p:spPr>
          <a:xfrm>
            <a:off x="2743200" y="4206240"/>
            <a:ext cx="39276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16" name="Rectangle 49"/>
          <p:cNvSpPr/>
          <p:nvPr/>
        </p:nvSpPr>
        <p:spPr>
          <a:xfrm>
            <a:off x="3136320" y="4206240"/>
            <a:ext cx="39276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17" name="Rectangle 50"/>
          <p:cNvSpPr/>
          <p:nvPr/>
        </p:nvSpPr>
        <p:spPr>
          <a:xfrm>
            <a:off x="777240" y="4599360"/>
            <a:ext cx="39276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18" name="Rectangle 51"/>
          <p:cNvSpPr/>
          <p:nvPr/>
        </p:nvSpPr>
        <p:spPr>
          <a:xfrm>
            <a:off x="1170360" y="4599360"/>
            <a:ext cx="39276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19" name="Rectangle 52"/>
          <p:cNvSpPr/>
          <p:nvPr/>
        </p:nvSpPr>
        <p:spPr>
          <a:xfrm>
            <a:off x="1563480" y="4599360"/>
            <a:ext cx="39276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20" name="Rectangle 53"/>
          <p:cNvSpPr/>
          <p:nvPr/>
        </p:nvSpPr>
        <p:spPr>
          <a:xfrm>
            <a:off x="1956960" y="4599360"/>
            <a:ext cx="39276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21" name="Rectangle 54"/>
          <p:cNvSpPr/>
          <p:nvPr/>
        </p:nvSpPr>
        <p:spPr>
          <a:xfrm>
            <a:off x="2350080" y="4599360"/>
            <a:ext cx="39276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22" name="Rectangle 55"/>
          <p:cNvSpPr/>
          <p:nvPr/>
        </p:nvSpPr>
        <p:spPr>
          <a:xfrm>
            <a:off x="2743200" y="4599360"/>
            <a:ext cx="39276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23" name="Rectangle 56"/>
          <p:cNvSpPr/>
          <p:nvPr/>
        </p:nvSpPr>
        <p:spPr>
          <a:xfrm>
            <a:off x="3136320" y="4599360"/>
            <a:ext cx="39276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24" name="TextBox 57"/>
          <p:cNvSpPr/>
          <p:nvPr/>
        </p:nvSpPr>
        <p:spPr>
          <a:xfrm>
            <a:off x="1417320" y="5102280"/>
            <a:ext cx="14626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imagem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25" name="Connector 58"/>
          <p:cNvCxnSpPr/>
          <p:nvPr/>
        </p:nvCxnSpPr>
        <p:spPr>
          <a:xfrm>
            <a:off x="3794760" y="3566160"/>
            <a:ext cx="1006200" cy="360"/>
          </a:xfrm>
          <a:prstGeom prst="straightConnector1">
            <a:avLst/>
          </a:prstGeom>
          <a:ln w="25400">
            <a:solidFill>
              <a:srgbClr val="3268B8"/>
            </a:solidFill>
          </a:ln>
        </p:spPr>
      </p:cxnSp>
      <p:sp>
        <p:nvSpPr>
          <p:cNvPr id="226" name="Isosceles Triangle 59"/>
          <p:cNvSpPr/>
          <p:nvPr/>
        </p:nvSpPr>
        <p:spPr>
          <a:xfrm rot="5400000">
            <a:off x="4718880" y="349308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27" name="Rectangle 60"/>
          <p:cNvSpPr/>
          <p:nvPr/>
        </p:nvSpPr>
        <p:spPr>
          <a:xfrm>
            <a:off x="4983480" y="2788920"/>
            <a:ext cx="502560" cy="502560"/>
          </a:xfrm>
          <a:prstGeom prst="rect">
            <a:avLst/>
          </a:prstGeom>
          <a:solidFill>
            <a:srgbClr val="FFF20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3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-1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Rectangle 61"/>
          <p:cNvSpPr/>
          <p:nvPr/>
        </p:nvSpPr>
        <p:spPr>
          <a:xfrm>
            <a:off x="5486400" y="2788920"/>
            <a:ext cx="502560" cy="502560"/>
          </a:xfrm>
          <a:prstGeom prst="rect">
            <a:avLst/>
          </a:prstGeom>
          <a:solidFill>
            <a:srgbClr val="FFF20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3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0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Rectangle 62"/>
          <p:cNvSpPr/>
          <p:nvPr/>
        </p:nvSpPr>
        <p:spPr>
          <a:xfrm>
            <a:off x="5989320" y="2788920"/>
            <a:ext cx="502560" cy="502560"/>
          </a:xfrm>
          <a:prstGeom prst="rect">
            <a:avLst/>
          </a:prstGeom>
          <a:solidFill>
            <a:srgbClr val="FFF20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3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1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Rectangle 63"/>
          <p:cNvSpPr/>
          <p:nvPr/>
        </p:nvSpPr>
        <p:spPr>
          <a:xfrm>
            <a:off x="4983480" y="3291840"/>
            <a:ext cx="502560" cy="502560"/>
          </a:xfrm>
          <a:prstGeom prst="rect">
            <a:avLst/>
          </a:prstGeom>
          <a:solidFill>
            <a:srgbClr val="FFF20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3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-1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Rectangle 64"/>
          <p:cNvSpPr/>
          <p:nvPr/>
        </p:nvSpPr>
        <p:spPr>
          <a:xfrm>
            <a:off x="5486400" y="3291840"/>
            <a:ext cx="502560" cy="502560"/>
          </a:xfrm>
          <a:prstGeom prst="rect">
            <a:avLst/>
          </a:prstGeom>
          <a:solidFill>
            <a:srgbClr val="FFF20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3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0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Rectangle 65"/>
          <p:cNvSpPr/>
          <p:nvPr/>
        </p:nvSpPr>
        <p:spPr>
          <a:xfrm>
            <a:off x="5989320" y="3291840"/>
            <a:ext cx="502560" cy="502560"/>
          </a:xfrm>
          <a:prstGeom prst="rect">
            <a:avLst/>
          </a:prstGeom>
          <a:solidFill>
            <a:srgbClr val="FFF20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3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1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Rectangle 66"/>
          <p:cNvSpPr/>
          <p:nvPr/>
        </p:nvSpPr>
        <p:spPr>
          <a:xfrm>
            <a:off x="4983480" y="3794760"/>
            <a:ext cx="502560" cy="502560"/>
          </a:xfrm>
          <a:prstGeom prst="rect">
            <a:avLst/>
          </a:prstGeom>
          <a:solidFill>
            <a:srgbClr val="FFF20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3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-1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Rectangle 67"/>
          <p:cNvSpPr/>
          <p:nvPr/>
        </p:nvSpPr>
        <p:spPr>
          <a:xfrm>
            <a:off x="5486400" y="3794760"/>
            <a:ext cx="502560" cy="502560"/>
          </a:xfrm>
          <a:prstGeom prst="rect">
            <a:avLst/>
          </a:prstGeom>
          <a:solidFill>
            <a:srgbClr val="FFF20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3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0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Rectangle 68"/>
          <p:cNvSpPr/>
          <p:nvPr/>
        </p:nvSpPr>
        <p:spPr>
          <a:xfrm>
            <a:off x="5989320" y="3794760"/>
            <a:ext cx="502560" cy="502560"/>
          </a:xfrm>
          <a:prstGeom prst="rect">
            <a:avLst/>
          </a:prstGeom>
          <a:solidFill>
            <a:srgbClr val="FFF20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3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1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Box 69"/>
          <p:cNvSpPr/>
          <p:nvPr/>
        </p:nvSpPr>
        <p:spPr>
          <a:xfrm>
            <a:off x="4983480" y="4434840"/>
            <a:ext cx="1508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filtro 3×3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37" name="Connector 70"/>
          <p:cNvCxnSpPr/>
          <p:nvPr/>
        </p:nvCxnSpPr>
        <p:spPr>
          <a:xfrm>
            <a:off x="6903720" y="3566160"/>
            <a:ext cx="1006200" cy="360"/>
          </a:xfrm>
          <a:prstGeom prst="straightConnector1">
            <a:avLst/>
          </a:prstGeom>
          <a:ln w="25400">
            <a:solidFill>
              <a:srgbClr val="3268B8"/>
            </a:solidFill>
          </a:ln>
        </p:spPr>
      </p:cxnSp>
      <p:sp>
        <p:nvSpPr>
          <p:cNvPr id="238" name="Isosceles Triangle 71"/>
          <p:cNvSpPr/>
          <p:nvPr/>
        </p:nvSpPr>
        <p:spPr>
          <a:xfrm rot="5400000">
            <a:off x="7827840" y="349308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39" name="Rounded Rectangle 72"/>
          <p:cNvSpPr/>
          <p:nvPr/>
        </p:nvSpPr>
        <p:spPr>
          <a:xfrm>
            <a:off x="8138160" y="2743200"/>
            <a:ext cx="2605680" cy="1627200"/>
          </a:xfrm>
          <a:prstGeom prst="roundRect">
            <a:avLst>
              <a:gd name="adj" fmla="val 16667"/>
            </a:avLst>
          </a:prstGeom>
          <a:solidFill>
            <a:srgbClr val="FAE2D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9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MAPA DE</a:t>
            </a:r>
            <a:endParaRPr lang="pt-BR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9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CARACTERÍSTICAS</a:t>
            </a:r>
            <a:endParaRPr lang="pt-BR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Box 73"/>
          <p:cNvSpPr/>
          <p:nvPr/>
        </p:nvSpPr>
        <p:spPr>
          <a:xfrm>
            <a:off x="822960" y="5074920"/>
            <a:ext cx="105152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7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O mesmo filtro é reutilizado em várias posições → menos parâmetros e detecção do mesmo padrão em locais diferentes.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Picture 1" descr="unip_logo.png"/>
          <p:cNvPicPr/>
          <p:nvPr/>
        </p:nvPicPr>
        <p:blipFill>
          <a:blip r:embed="rId1"/>
          <a:stretch/>
        </p:blipFill>
        <p:spPr>
          <a:xfrm>
            <a:off x="228600" y="137160"/>
            <a:ext cx="2468520" cy="52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2" name="TextBox 2"/>
          <p:cNvSpPr/>
          <p:nvPr/>
        </p:nvSpPr>
        <p:spPr>
          <a:xfrm>
            <a:off x="255960" y="932760"/>
            <a:ext cx="4388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3268B8"/>
                </a:solidFill>
                <a:effectLst/>
                <a:uFillTx/>
                <a:latin typeface="Arial"/>
              </a:rPr>
              <a:t>2 • CNN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Box 3"/>
          <p:cNvSpPr/>
          <p:nvPr/>
        </p:nvSpPr>
        <p:spPr>
          <a:xfrm>
            <a:off x="255960" y="1207080"/>
            <a:ext cx="114296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7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A CNN aprende os filtros durante o treinamento</a:t>
            </a:r>
            <a:endParaRPr lang="pt-BR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Box 4"/>
          <p:cNvSpPr/>
          <p:nvPr/>
        </p:nvSpPr>
        <p:spPr>
          <a:xfrm>
            <a:off x="640080" y="6510600"/>
            <a:ext cx="2742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9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Professor Miguél Suares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Box 5"/>
          <p:cNvSpPr/>
          <p:nvPr/>
        </p:nvSpPr>
        <p:spPr>
          <a:xfrm>
            <a:off x="640080" y="6693480"/>
            <a:ext cx="4571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8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UNIP • GTI – Oferta 2026 • Gestão e Análise de Dados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Box 6"/>
          <p:cNvSpPr/>
          <p:nvPr/>
        </p:nvSpPr>
        <p:spPr>
          <a:xfrm>
            <a:off x="11384280" y="6556320"/>
            <a:ext cx="319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8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8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Rounded Rectangle 7"/>
          <p:cNvSpPr/>
          <p:nvPr/>
        </p:nvSpPr>
        <p:spPr>
          <a:xfrm>
            <a:off x="731520" y="2331720"/>
            <a:ext cx="4205880" cy="658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326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Visão computacional clássica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Box 8"/>
          <p:cNvSpPr/>
          <p:nvPr/>
        </p:nvSpPr>
        <p:spPr>
          <a:xfrm>
            <a:off x="1078920" y="3273480"/>
            <a:ext cx="14169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700" b="1" u="none" strike="noStrike">
                <a:solidFill>
                  <a:srgbClr val="3268B8"/>
                </a:solidFill>
                <a:effectLst/>
                <a:uFillTx/>
                <a:latin typeface="Arial"/>
              </a:rPr>
              <a:t>Programador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49" name="Connector 9"/>
          <p:cNvCxnSpPr/>
          <p:nvPr/>
        </p:nvCxnSpPr>
        <p:spPr>
          <a:xfrm>
            <a:off x="2560320" y="3429000"/>
            <a:ext cx="1143360" cy="360"/>
          </a:xfrm>
          <a:prstGeom prst="straightConnector1">
            <a:avLst/>
          </a:prstGeom>
          <a:ln w="25400">
            <a:solidFill>
              <a:srgbClr val="3268B8"/>
            </a:solidFill>
          </a:ln>
        </p:spPr>
      </p:cxnSp>
      <p:sp>
        <p:nvSpPr>
          <p:cNvPr id="250" name="Isosceles Triangle 10"/>
          <p:cNvSpPr/>
          <p:nvPr/>
        </p:nvSpPr>
        <p:spPr>
          <a:xfrm rot="5400000">
            <a:off x="3621600" y="335592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51" name="Rounded Rectangle 11"/>
          <p:cNvSpPr/>
          <p:nvPr/>
        </p:nvSpPr>
        <p:spPr>
          <a:xfrm>
            <a:off x="3822120" y="2971800"/>
            <a:ext cx="1919880" cy="914040"/>
          </a:xfrm>
          <a:prstGeom prst="roundRect">
            <a:avLst>
              <a:gd name="adj" fmla="val 16667"/>
            </a:avLst>
          </a:prstGeom>
          <a:solidFill>
            <a:srgbClr val="FFF20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5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Filtro definido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5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manualmente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Rounded Rectangle 12"/>
          <p:cNvSpPr/>
          <p:nvPr/>
        </p:nvSpPr>
        <p:spPr>
          <a:xfrm>
            <a:off x="6400800" y="2331720"/>
            <a:ext cx="4205880" cy="658080"/>
          </a:xfrm>
          <a:prstGeom prst="roundRect">
            <a:avLst>
              <a:gd name="adj" fmla="val 16667"/>
            </a:avLst>
          </a:prstGeom>
          <a:solidFill>
            <a:srgbClr val="DBE8F8"/>
          </a:solidFill>
          <a:ln w="17780">
            <a:solidFill>
              <a:srgbClr val="326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Deep Learning com CNN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Box 13"/>
          <p:cNvSpPr/>
          <p:nvPr/>
        </p:nvSpPr>
        <p:spPr>
          <a:xfrm>
            <a:off x="6720840" y="3273480"/>
            <a:ext cx="1142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700" b="1" u="none" strike="noStrike">
                <a:solidFill>
                  <a:srgbClr val="3268B8"/>
                </a:solidFill>
                <a:effectLst/>
                <a:uFillTx/>
                <a:latin typeface="Arial"/>
              </a:rPr>
              <a:t>Dados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54" name="Connector 14"/>
          <p:cNvCxnSpPr/>
          <p:nvPr/>
        </p:nvCxnSpPr>
        <p:spPr>
          <a:xfrm>
            <a:off x="7909560" y="3429000"/>
            <a:ext cx="1097640" cy="360"/>
          </a:xfrm>
          <a:prstGeom prst="straightConnector1">
            <a:avLst/>
          </a:prstGeom>
          <a:ln w="25400">
            <a:solidFill>
              <a:srgbClr val="3268B8"/>
            </a:solidFill>
          </a:ln>
        </p:spPr>
      </p:cxnSp>
      <p:sp>
        <p:nvSpPr>
          <p:cNvPr id="255" name="Isosceles Triangle 15"/>
          <p:cNvSpPr/>
          <p:nvPr/>
        </p:nvSpPr>
        <p:spPr>
          <a:xfrm rot="5400000">
            <a:off x="8925120" y="335592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56" name="Rounded Rectangle 16"/>
          <p:cNvSpPr/>
          <p:nvPr/>
        </p:nvSpPr>
        <p:spPr>
          <a:xfrm>
            <a:off x="9125640" y="2971800"/>
            <a:ext cx="1828440" cy="914040"/>
          </a:xfrm>
          <a:prstGeom prst="roundRect">
            <a:avLst>
              <a:gd name="adj" fmla="val 16667"/>
            </a:avLst>
          </a:prstGeom>
          <a:solidFill>
            <a:srgbClr val="6ED278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5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Filtro aprendido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5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pela rede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Box 17"/>
          <p:cNvSpPr/>
          <p:nvPr/>
        </p:nvSpPr>
        <p:spPr>
          <a:xfrm>
            <a:off x="1051560" y="4937760"/>
            <a:ext cx="10058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21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O treinamento ajusta os valores dos filtros exatamente como ajustava os pesos da MLP.</a:t>
            </a:r>
            <a:endParaRPr lang="pt-B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Picture 1" descr="unip_logo.png"/>
          <p:cNvPicPr/>
          <p:nvPr/>
        </p:nvPicPr>
        <p:blipFill>
          <a:blip r:embed="rId1"/>
          <a:stretch/>
        </p:blipFill>
        <p:spPr>
          <a:xfrm>
            <a:off x="228600" y="137160"/>
            <a:ext cx="2468520" cy="52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9" name="TextBox 2"/>
          <p:cNvSpPr/>
          <p:nvPr/>
        </p:nvSpPr>
        <p:spPr>
          <a:xfrm>
            <a:off x="255960" y="932760"/>
            <a:ext cx="4388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3268B8"/>
                </a:solidFill>
                <a:effectLst/>
                <a:uFillTx/>
                <a:latin typeface="Arial"/>
              </a:rPr>
              <a:t>2 • CNN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Box 3"/>
          <p:cNvSpPr/>
          <p:nvPr/>
        </p:nvSpPr>
        <p:spPr>
          <a:xfrm>
            <a:off x="255960" y="1207080"/>
            <a:ext cx="114296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7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Arquitetura CNN típica</a:t>
            </a:r>
            <a:endParaRPr lang="pt-BR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Box 4"/>
          <p:cNvSpPr/>
          <p:nvPr/>
        </p:nvSpPr>
        <p:spPr>
          <a:xfrm>
            <a:off x="274320" y="1755720"/>
            <a:ext cx="111553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4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Convolução → ativação → redução → classificação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Box 5"/>
          <p:cNvSpPr/>
          <p:nvPr/>
        </p:nvSpPr>
        <p:spPr>
          <a:xfrm>
            <a:off x="640080" y="6510600"/>
            <a:ext cx="2742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9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Professor Miguél Suares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Box 6"/>
          <p:cNvSpPr/>
          <p:nvPr/>
        </p:nvSpPr>
        <p:spPr>
          <a:xfrm>
            <a:off x="640080" y="6693480"/>
            <a:ext cx="4571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8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UNIP • GTI – Oferta 2026 • Gestão e Análise de Dados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Box 7"/>
          <p:cNvSpPr/>
          <p:nvPr/>
        </p:nvSpPr>
        <p:spPr>
          <a:xfrm>
            <a:off x="11384280" y="6556320"/>
            <a:ext cx="319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8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9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Rounded Rectangle 8"/>
          <p:cNvSpPr/>
          <p:nvPr/>
        </p:nvSpPr>
        <p:spPr>
          <a:xfrm>
            <a:off x="292680" y="2788920"/>
            <a:ext cx="1352880" cy="959760"/>
          </a:xfrm>
          <a:prstGeom prst="roundRect">
            <a:avLst>
              <a:gd name="adj" fmla="val 16667"/>
            </a:avLst>
          </a:prstGeom>
          <a:solidFill>
            <a:srgbClr val="DBE8F8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Imagem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32×32×3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66" name="Connector 9"/>
          <p:cNvCxnSpPr/>
          <p:nvPr/>
        </p:nvCxnSpPr>
        <p:spPr>
          <a:xfrm>
            <a:off x="1645920" y="3273480"/>
            <a:ext cx="164880" cy="360"/>
          </a:xfrm>
          <a:prstGeom prst="straightConnector1">
            <a:avLst/>
          </a:prstGeom>
          <a:ln w="20320">
            <a:solidFill>
              <a:srgbClr val="3268B8"/>
            </a:solidFill>
          </a:ln>
        </p:spPr>
      </p:cxnSp>
      <p:sp>
        <p:nvSpPr>
          <p:cNvPr id="267" name="Isosceles Triangle 10"/>
          <p:cNvSpPr/>
          <p:nvPr/>
        </p:nvSpPr>
        <p:spPr>
          <a:xfrm rot="5400000">
            <a:off x="1728720" y="320040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68" name="Rounded Rectangle 11"/>
          <p:cNvSpPr/>
          <p:nvPr/>
        </p:nvSpPr>
        <p:spPr>
          <a:xfrm>
            <a:off x="1847160" y="2788920"/>
            <a:ext cx="1252440" cy="959760"/>
          </a:xfrm>
          <a:prstGeom prst="roundRect">
            <a:avLst>
              <a:gd name="adj" fmla="val 16667"/>
            </a:avLst>
          </a:prstGeom>
          <a:solidFill>
            <a:srgbClr val="FFF20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Conv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3×3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69" name="Connector 12"/>
          <p:cNvCxnSpPr/>
          <p:nvPr/>
        </p:nvCxnSpPr>
        <p:spPr>
          <a:xfrm>
            <a:off x="3099600" y="3273480"/>
            <a:ext cx="164880" cy="360"/>
          </a:xfrm>
          <a:prstGeom prst="straightConnector1">
            <a:avLst/>
          </a:prstGeom>
          <a:ln w="20320">
            <a:solidFill>
              <a:srgbClr val="3268B8"/>
            </a:solidFill>
          </a:ln>
        </p:spPr>
      </p:cxnSp>
      <p:sp>
        <p:nvSpPr>
          <p:cNvPr id="270" name="Isosceles Triangle 13"/>
          <p:cNvSpPr/>
          <p:nvPr/>
        </p:nvSpPr>
        <p:spPr>
          <a:xfrm rot="5400000">
            <a:off x="3182760" y="320040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71" name="Rounded Rectangle 14"/>
          <p:cNvSpPr/>
          <p:nvPr/>
        </p:nvSpPr>
        <p:spPr>
          <a:xfrm>
            <a:off x="3300840" y="2788920"/>
            <a:ext cx="1252440" cy="9597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ReLU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72" name="Connector 15"/>
          <p:cNvCxnSpPr/>
          <p:nvPr/>
        </p:nvCxnSpPr>
        <p:spPr>
          <a:xfrm>
            <a:off x="4553640" y="3273480"/>
            <a:ext cx="164880" cy="360"/>
          </a:xfrm>
          <a:prstGeom prst="straightConnector1">
            <a:avLst/>
          </a:prstGeom>
          <a:ln w="20320">
            <a:solidFill>
              <a:srgbClr val="3268B8"/>
            </a:solidFill>
          </a:ln>
        </p:spPr>
      </p:cxnSp>
      <p:sp>
        <p:nvSpPr>
          <p:cNvPr id="273" name="Isosceles Triangle 16"/>
          <p:cNvSpPr/>
          <p:nvPr/>
        </p:nvSpPr>
        <p:spPr>
          <a:xfrm rot="5400000">
            <a:off x="4636440" y="320040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74" name="Rounded Rectangle 17"/>
          <p:cNvSpPr/>
          <p:nvPr/>
        </p:nvSpPr>
        <p:spPr>
          <a:xfrm>
            <a:off x="4754880" y="2788920"/>
            <a:ext cx="1252440" cy="959760"/>
          </a:xfrm>
          <a:prstGeom prst="roundRect">
            <a:avLst>
              <a:gd name="adj" fmla="val 16667"/>
            </a:avLst>
          </a:prstGeom>
          <a:solidFill>
            <a:srgbClr val="FAE2D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Pooling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75" name="Connector 18"/>
          <p:cNvCxnSpPr/>
          <p:nvPr/>
        </p:nvCxnSpPr>
        <p:spPr>
          <a:xfrm>
            <a:off x="6007320" y="3273480"/>
            <a:ext cx="165240" cy="360"/>
          </a:xfrm>
          <a:prstGeom prst="straightConnector1">
            <a:avLst/>
          </a:prstGeom>
          <a:ln w="20320">
            <a:solidFill>
              <a:srgbClr val="3268B8"/>
            </a:solidFill>
          </a:ln>
        </p:spPr>
      </p:cxnSp>
      <p:sp>
        <p:nvSpPr>
          <p:cNvPr id="276" name="Isosceles Triangle 19"/>
          <p:cNvSpPr/>
          <p:nvPr/>
        </p:nvSpPr>
        <p:spPr>
          <a:xfrm rot="5400000">
            <a:off x="6090480" y="320040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77" name="Rounded Rectangle 20"/>
          <p:cNvSpPr/>
          <p:nvPr/>
        </p:nvSpPr>
        <p:spPr>
          <a:xfrm>
            <a:off x="6208920" y="2788920"/>
            <a:ext cx="1252440" cy="959760"/>
          </a:xfrm>
          <a:prstGeom prst="roundRect">
            <a:avLst>
              <a:gd name="adj" fmla="val 16667"/>
            </a:avLst>
          </a:prstGeom>
          <a:solidFill>
            <a:srgbClr val="FFF20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Conv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3×3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78" name="Connector 21"/>
          <p:cNvCxnSpPr/>
          <p:nvPr/>
        </p:nvCxnSpPr>
        <p:spPr>
          <a:xfrm>
            <a:off x="7461360" y="3273480"/>
            <a:ext cx="164880" cy="360"/>
          </a:xfrm>
          <a:prstGeom prst="straightConnector1">
            <a:avLst/>
          </a:prstGeom>
          <a:ln w="20320">
            <a:solidFill>
              <a:srgbClr val="3268B8"/>
            </a:solidFill>
          </a:ln>
        </p:spPr>
      </p:cxnSp>
      <p:sp>
        <p:nvSpPr>
          <p:cNvPr id="279" name="Isosceles Triangle 22"/>
          <p:cNvSpPr/>
          <p:nvPr/>
        </p:nvSpPr>
        <p:spPr>
          <a:xfrm rot="5400000">
            <a:off x="7544160" y="320040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80" name="Rounded Rectangle 23"/>
          <p:cNvSpPr/>
          <p:nvPr/>
        </p:nvSpPr>
        <p:spPr>
          <a:xfrm>
            <a:off x="7662600" y="2788920"/>
            <a:ext cx="1252440" cy="9597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ReLU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81" name="Connector 24"/>
          <p:cNvCxnSpPr/>
          <p:nvPr/>
        </p:nvCxnSpPr>
        <p:spPr>
          <a:xfrm>
            <a:off x="8915400" y="3273480"/>
            <a:ext cx="164880" cy="360"/>
          </a:xfrm>
          <a:prstGeom prst="straightConnector1">
            <a:avLst/>
          </a:prstGeom>
          <a:ln w="20320">
            <a:solidFill>
              <a:srgbClr val="3268B8"/>
            </a:solidFill>
          </a:ln>
        </p:spPr>
      </p:cxnSp>
      <p:sp>
        <p:nvSpPr>
          <p:cNvPr id="282" name="Isosceles Triangle 25"/>
          <p:cNvSpPr/>
          <p:nvPr/>
        </p:nvSpPr>
        <p:spPr>
          <a:xfrm rot="5400000">
            <a:off x="8998200" y="320040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83" name="Rounded Rectangle 26"/>
          <p:cNvSpPr/>
          <p:nvPr/>
        </p:nvSpPr>
        <p:spPr>
          <a:xfrm>
            <a:off x="9116640" y="2788920"/>
            <a:ext cx="1252440" cy="959760"/>
          </a:xfrm>
          <a:prstGeom prst="roundRect">
            <a:avLst>
              <a:gd name="adj" fmla="val 16667"/>
            </a:avLst>
          </a:prstGeom>
          <a:solidFill>
            <a:srgbClr val="FAE2D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Pooling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84" name="Connector 27"/>
          <p:cNvCxnSpPr/>
          <p:nvPr/>
        </p:nvCxnSpPr>
        <p:spPr>
          <a:xfrm>
            <a:off x="10369080" y="3273480"/>
            <a:ext cx="164880" cy="360"/>
          </a:xfrm>
          <a:prstGeom prst="straightConnector1">
            <a:avLst/>
          </a:prstGeom>
          <a:ln w="20320">
            <a:solidFill>
              <a:srgbClr val="3268B8"/>
            </a:solidFill>
          </a:ln>
        </p:spPr>
      </p:cxnSp>
      <p:sp>
        <p:nvSpPr>
          <p:cNvPr id="285" name="Isosceles Triangle 28"/>
          <p:cNvSpPr/>
          <p:nvPr/>
        </p:nvSpPr>
        <p:spPr>
          <a:xfrm rot="5400000">
            <a:off x="10452240" y="320040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86" name="Rounded Rectangle 29"/>
          <p:cNvSpPr/>
          <p:nvPr/>
        </p:nvSpPr>
        <p:spPr>
          <a:xfrm>
            <a:off x="10570320" y="2788920"/>
            <a:ext cx="1352880" cy="959760"/>
          </a:xfrm>
          <a:prstGeom prst="roundRect">
            <a:avLst>
              <a:gd name="adj" fmla="val 16667"/>
            </a:avLst>
          </a:prstGeom>
          <a:solidFill>
            <a:srgbClr val="6ED278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Dense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2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Rounded Rectangle 30"/>
          <p:cNvSpPr/>
          <p:nvPr/>
        </p:nvSpPr>
        <p:spPr>
          <a:xfrm>
            <a:off x="4023360" y="4572000"/>
            <a:ext cx="1508400" cy="594000"/>
          </a:xfrm>
          <a:prstGeom prst="roundRect">
            <a:avLst>
              <a:gd name="adj" fmla="val 16667"/>
            </a:avLst>
          </a:prstGeom>
          <a:solidFill>
            <a:srgbClr val="6ED278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2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🐱</a:t>
            </a:r>
            <a:endParaRPr lang="pt-B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Rounded Rectangle 31"/>
          <p:cNvSpPr/>
          <p:nvPr/>
        </p:nvSpPr>
        <p:spPr>
          <a:xfrm>
            <a:off x="6583680" y="4572000"/>
            <a:ext cx="1508400" cy="594000"/>
          </a:xfrm>
          <a:prstGeom prst="roundRect">
            <a:avLst>
              <a:gd name="adj" fmla="val 16667"/>
            </a:avLst>
          </a:prstGeom>
          <a:solidFill>
            <a:srgbClr val="FAE2D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2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🐶</a:t>
            </a:r>
            <a:endParaRPr lang="pt-B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Box 32"/>
          <p:cNvSpPr/>
          <p:nvPr/>
        </p:nvSpPr>
        <p:spPr>
          <a:xfrm>
            <a:off x="1828800" y="5376600"/>
            <a:ext cx="8503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Especialidade: imagens e outros dados com estrutura espacial em grade.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0" name="Picture 1" descr="unip_logo.png"/>
          <p:cNvPicPr/>
          <p:nvPr/>
        </p:nvPicPr>
        <p:blipFill>
          <a:blip r:embed="rId1"/>
          <a:stretch/>
        </p:blipFill>
        <p:spPr>
          <a:xfrm>
            <a:off x="228600" y="137160"/>
            <a:ext cx="2468520" cy="52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1" name="TextBox 2"/>
          <p:cNvSpPr/>
          <p:nvPr/>
        </p:nvSpPr>
        <p:spPr>
          <a:xfrm>
            <a:off x="255960" y="932760"/>
            <a:ext cx="4388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3268B8"/>
                </a:solidFill>
                <a:effectLst/>
                <a:uFillTx/>
                <a:latin typeface="Arial"/>
              </a:rPr>
              <a:t>3 • RESNET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Box 3"/>
          <p:cNvSpPr/>
          <p:nvPr/>
        </p:nvSpPr>
        <p:spPr>
          <a:xfrm>
            <a:off x="255960" y="1207080"/>
            <a:ext cx="114296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7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Se CNN funciona, basta colocar mais camadas?</a:t>
            </a:r>
            <a:endParaRPr lang="pt-BR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Box 4"/>
          <p:cNvSpPr/>
          <p:nvPr/>
        </p:nvSpPr>
        <p:spPr>
          <a:xfrm>
            <a:off x="640080" y="6510600"/>
            <a:ext cx="2742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9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Professor Miguél Suares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Box 5"/>
          <p:cNvSpPr/>
          <p:nvPr/>
        </p:nvSpPr>
        <p:spPr>
          <a:xfrm>
            <a:off x="640080" y="6693480"/>
            <a:ext cx="4571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8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UNIP • GTI – Oferta 2026 • Gestão e Análise de Dados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Box 6"/>
          <p:cNvSpPr/>
          <p:nvPr/>
        </p:nvSpPr>
        <p:spPr>
          <a:xfrm>
            <a:off x="11384280" y="6556320"/>
            <a:ext cx="319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8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10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Rounded Rectangle 7"/>
          <p:cNvSpPr/>
          <p:nvPr/>
        </p:nvSpPr>
        <p:spPr>
          <a:xfrm>
            <a:off x="685800" y="2423160"/>
            <a:ext cx="2239920" cy="749520"/>
          </a:xfrm>
          <a:prstGeom prst="roundRect">
            <a:avLst>
              <a:gd name="adj" fmla="val 16667"/>
            </a:avLst>
          </a:prstGeom>
          <a:solidFill>
            <a:srgbClr val="DBE8F8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3 camadas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Box 8"/>
          <p:cNvSpPr/>
          <p:nvPr/>
        </p:nvSpPr>
        <p:spPr>
          <a:xfrm>
            <a:off x="685800" y="3364920"/>
            <a:ext cx="22399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simples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Rounded Rectangle 9"/>
          <p:cNvSpPr/>
          <p:nvPr/>
        </p:nvSpPr>
        <p:spPr>
          <a:xfrm>
            <a:off x="3474720" y="2423160"/>
            <a:ext cx="2239920" cy="749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10 camadas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Box 10"/>
          <p:cNvSpPr/>
          <p:nvPr/>
        </p:nvSpPr>
        <p:spPr>
          <a:xfrm>
            <a:off x="3474720" y="3364920"/>
            <a:ext cx="22399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profunda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Rounded Rectangle 11"/>
          <p:cNvSpPr/>
          <p:nvPr/>
        </p:nvSpPr>
        <p:spPr>
          <a:xfrm>
            <a:off x="6263640" y="2423160"/>
            <a:ext cx="2239920" cy="749520"/>
          </a:xfrm>
          <a:prstGeom prst="roundRect">
            <a:avLst>
              <a:gd name="adj" fmla="val 16667"/>
            </a:avLst>
          </a:prstGeom>
          <a:solidFill>
            <a:srgbClr val="FFF20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50 camadas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Box 12"/>
          <p:cNvSpPr/>
          <p:nvPr/>
        </p:nvSpPr>
        <p:spPr>
          <a:xfrm>
            <a:off x="6263640" y="3364920"/>
            <a:ext cx="22399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muito profunda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Rounded Rectangle 13"/>
          <p:cNvSpPr/>
          <p:nvPr/>
        </p:nvSpPr>
        <p:spPr>
          <a:xfrm>
            <a:off x="9052560" y="2423160"/>
            <a:ext cx="2239920" cy="749520"/>
          </a:xfrm>
          <a:prstGeom prst="roundRect">
            <a:avLst>
              <a:gd name="adj" fmla="val 16667"/>
            </a:avLst>
          </a:prstGeom>
          <a:solidFill>
            <a:srgbClr val="FAE2D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500 camadas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Box 14"/>
          <p:cNvSpPr/>
          <p:nvPr/>
        </p:nvSpPr>
        <p:spPr>
          <a:xfrm>
            <a:off x="9052560" y="3364920"/>
            <a:ext cx="22399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???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Box 15"/>
          <p:cNvSpPr/>
          <p:nvPr/>
        </p:nvSpPr>
        <p:spPr>
          <a:xfrm>
            <a:off x="914400" y="4389120"/>
            <a:ext cx="1033236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20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Mais profundidade aumenta a capacidade do modelo, mas também torna a otimização mais difícil.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Box 16"/>
          <p:cNvSpPr/>
          <p:nvPr/>
        </p:nvSpPr>
        <p:spPr>
          <a:xfrm>
            <a:off x="914400" y="5120640"/>
            <a:ext cx="103323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8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A ideia da ResNet: criar caminhos curtos para a informação atravessar a rede.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Picture 3" descr="unip_logo.png"/>
          <p:cNvPicPr/>
          <p:nvPr/>
        </p:nvPicPr>
        <p:blipFill>
          <a:blip r:embed="rId1"/>
          <a:stretch/>
        </p:blipFill>
        <p:spPr>
          <a:xfrm>
            <a:off x="228600" y="137160"/>
            <a:ext cx="2468520" cy="52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7" name="TextBox 41"/>
          <p:cNvSpPr/>
          <p:nvPr/>
        </p:nvSpPr>
        <p:spPr>
          <a:xfrm>
            <a:off x="255960" y="932760"/>
            <a:ext cx="438876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3268B8"/>
                </a:solidFill>
                <a:effectLst/>
                <a:uFillTx/>
                <a:latin typeface="Arial"/>
              </a:rPr>
              <a:t>3 • RESNET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Box 42"/>
          <p:cNvSpPr/>
          <p:nvPr/>
        </p:nvSpPr>
        <p:spPr>
          <a:xfrm>
            <a:off x="255960" y="1207080"/>
            <a:ext cx="11429640" cy="46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7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ResNet: redes profundas com atalhos</a:t>
            </a:r>
            <a:endParaRPr lang="pt-BR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Box 43"/>
          <p:cNvSpPr/>
          <p:nvPr/>
        </p:nvSpPr>
        <p:spPr>
          <a:xfrm>
            <a:off x="274320" y="1755720"/>
            <a:ext cx="1115532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4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Skip connection / residual connection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Box 44"/>
          <p:cNvSpPr/>
          <p:nvPr/>
        </p:nvSpPr>
        <p:spPr>
          <a:xfrm>
            <a:off x="640080" y="6510600"/>
            <a:ext cx="2742840" cy="19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9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Professor Miguél Suares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Box 45"/>
          <p:cNvSpPr/>
          <p:nvPr/>
        </p:nvSpPr>
        <p:spPr>
          <a:xfrm>
            <a:off x="640080" y="6693480"/>
            <a:ext cx="457164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8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UNIP • GTI – Oferta 2026 • Gestão e Análise de Dados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Box 46"/>
          <p:cNvSpPr/>
          <p:nvPr/>
        </p:nvSpPr>
        <p:spPr>
          <a:xfrm>
            <a:off x="11384280" y="6556320"/>
            <a:ext cx="319680" cy="1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8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11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Box 47"/>
          <p:cNvSpPr/>
          <p:nvPr/>
        </p:nvSpPr>
        <p:spPr>
          <a:xfrm>
            <a:off x="640080" y="6245280"/>
            <a:ext cx="10606680" cy="14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62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He et al. (2016), Deep Residual Learning for Image Recognition, CVPR.</a:t>
            </a:r>
            <a:endParaRPr lang="pt-BR" sz="6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4" name=""/>
          <p:cNvPicPr/>
          <p:nvPr/>
        </p:nvPicPr>
        <p:blipFill>
          <a:blip r:embed="rId2"/>
          <a:stretch/>
        </p:blipFill>
        <p:spPr>
          <a:xfrm>
            <a:off x="3780000" y="1825560"/>
            <a:ext cx="6486120" cy="4114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5" name="Picture 1" descr="unip_logo.png"/>
          <p:cNvPicPr/>
          <p:nvPr/>
        </p:nvPicPr>
        <p:blipFill>
          <a:blip r:embed="rId1"/>
          <a:stretch/>
        </p:blipFill>
        <p:spPr>
          <a:xfrm>
            <a:off x="228600" y="137160"/>
            <a:ext cx="2468520" cy="52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6" name="TextBox 2"/>
          <p:cNvSpPr/>
          <p:nvPr/>
        </p:nvSpPr>
        <p:spPr>
          <a:xfrm>
            <a:off x="255960" y="932760"/>
            <a:ext cx="4388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3268B8"/>
                </a:solidFill>
                <a:effectLst/>
                <a:uFillTx/>
                <a:latin typeface="Arial"/>
              </a:rPr>
              <a:t>3 • RESNET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Box 3"/>
          <p:cNvSpPr/>
          <p:nvPr/>
        </p:nvSpPr>
        <p:spPr>
          <a:xfrm>
            <a:off x="255960" y="1207080"/>
            <a:ext cx="114296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7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ResNet: redes profundas com atalhos</a:t>
            </a:r>
            <a:endParaRPr lang="pt-BR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Box 4"/>
          <p:cNvSpPr/>
          <p:nvPr/>
        </p:nvSpPr>
        <p:spPr>
          <a:xfrm>
            <a:off x="274320" y="1755720"/>
            <a:ext cx="111553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4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Skip connection / residual connection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Box 5"/>
          <p:cNvSpPr/>
          <p:nvPr/>
        </p:nvSpPr>
        <p:spPr>
          <a:xfrm>
            <a:off x="640080" y="6510600"/>
            <a:ext cx="2742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9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Professor Miguél Suares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Box 6"/>
          <p:cNvSpPr/>
          <p:nvPr/>
        </p:nvSpPr>
        <p:spPr>
          <a:xfrm>
            <a:off x="640080" y="6693480"/>
            <a:ext cx="4571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8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UNIP • GTI – Oferta 2026 • Gestão e Análise de Dados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Box 7"/>
          <p:cNvSpPr/>
          <p:nvPr/>
        </p:nvSpPr>
        <p:spPr>
          <a:xfrm>
            <a:off x="11384280" y="6556320"/>
            <a:ext cx="319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8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11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Box 8"/>
          <p:cNvSpPr/>
          <p:nvPr/>
        </p:nvSpPr>
        <p:spPr>
          <a:xfrm>
            <a:off x="640080" y="6245280"/>
            <a:ext cx="106066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62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He et al. (2016), Deep Residual Learning for Image Recognition, CVPR.</a:t>
            </a:r>
            <a:endParaRPr lang="pt-BR" sz="6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Rounded Rectangle 9"/>
          <p:cNvSpPr/>
          <p:nvPr/>
        </p:nvSpPr>
        <p:spPr>
          <a:xfrm>
            <a:off x="914400" y="2971800"/>
            <a:ext cx="1325520" cy="822600"/>
          </a:xfrm>
          <a:prstGeom prst="roundRect">
            <a:avLst>
              <a:gd name="adj" fmla="val 16667"/>
            </a:avLst>
          </a:prstGeom>
          <a:solidFill>
            <a:srgbClr val="DBE8F8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7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x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7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entrada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24" name="Connector 10"/>
          <p:cNvCxnSpPr/>
          <p:nvPr/>
        </p:nvCxnSpPr>
        <p:spPr>
          <a:xfrm>
            <a:off x="2240280" y="3383280"/>
            <a:ext cx="686160" cy="360"/>
          </a:xfrm>
          <a:prstGeom prst="straightConnector1">
            <a:avLst/>
          </a:prstGeom>
          <a:ln w="25400">
            <a:solidFill>
              <a:srgbClr val="3268B8"/>
            </a:solidFill>
          </a:ln>
        </p:spPr>
      </p:cxnSp>
      <p:sp>
        <p:nvSpPr>
          <p:cNvPr id="325" name="Isosceles Triangle 11"/>
          <p:cNvSpPr/>
          <p:nvPr/>
        </p:nvSpPr>
        <p:spPr>
          <a:xfrm rot="5400000">
            <a:off x="2844360" y="331020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26" name="Rounded Rectangle 12"/>
          <p:cNvSpPr/>
          <p:nvPr/>
        </p:nvSpPr>
        <p:spPr>
          <a:xfrm>
            <a:off x="3035880" y="2971800"/>
            <a:ext cx="1508400" cy="822600"/>
          </a:xfrm>
          <a:prstGeom prst="roundRect">
            <a:avLst>
              <a:gd name="adj" fmla="val 16667"/>
            </a:avLst>
          </a:prstGeom>
          <a:solidFill>
            <a:srgbClr val="FFF20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6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Camada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27" name="Connector 13"/>
          <p:cNvCxnSpPr/>
          <p:nvPr/>
        </p:nvCxnSpPr>
        <p:spPr>
          <a:xfrm>
            <a:off x="4544280" y="3383280"/>
            <a:ext cx="622440" cy="360"/>
          </a:xfrm>
          <a:prstGeom prst="straightConnector1">
            <a:avLst/>
          </a:prstGeom>
          <a:ln w="25400">
            <a:solidFill>
              <a:srgbClr val="3268B8"/>
            </a:solidFill>
          </a:ln>
        </p:spPr>
      </p:cxnSp>
      <p:sp>
        <p:nvSpPr>
          <p:cNvPr id="328" name="Isosceles Triangle 14"/>
          <p:cNvSpPr/>
          <p:nvPr/>
        </p:nvSpPr>
        <p:spPr>
          <a:xfrm rot="5400000">
            <a:off x="5084640" y="331020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29" name="Rounded Rectangle 15"/>
          <p:cNvSpPr/>
          <p:nvPr/>
        </p:nvSpPr>
        <p:spPr>
          <a:xfrm>
            <a:off x="5285160" y="2971800"/>
            <a:ext cx="1508400" cy="822600"/>
          </a:xfrm>
          <a:prstGeom prst="roundRect">
            <a:avLst>
              <a:gd name="adj" fmla="val 16667"/>
            </a:avLst>
          </a:prstGeom>
          <a:solidFill>
            <a:srgbClr val="FFF20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6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Camada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30" name="Connector 16"/>
          <p:cNvCxnSpPr/>
          <p:nvPr/>
        </p:nvCxnSpPr>
        <p:spPr>
          <a:xfrm>
            <a:off x="6793920" y="3383280"/>
            <a:ext cx="613080" cy="360"/>
          </a:xfrm>
          <a:prstGeom prst="straightConnector1">
            <a:avLst/>
          </a:prstGeom>
          <a:ln w="25400">
            <a:solidFill>
              <a:srgbClr val="3268B8"/>
            </a:solidFill>
          </a:ln>
        </p:spPr>
      </p:cxnSp>
      <p:sp>
        <p:nvSpPr>
          <p:cNvPr id="331" name="Isosceles Triangle 17"/>
          <p:cNvSpPr/>
          <p:nvPr/>
        </p:nvSpPr>
        <p:spPr>
          <a:xfrm rot="5400000">
            <a:off x="7324920" y="331020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32" name="Rounded Rectangle 18"/>
          <p:cNvSpPr/>
          <p:nvPr/>
        </p:nvSpPr>
        <p:spPr>
          <a:xfrm>
            <a:off x="7543800" y="3017520"/>
            <a:ext cx="685440" cy="731160"/>
          </a:xfrm>
          <a:prstGeom prst="roundRect">
            <a:avLst>
              <a:gd name="adj" fmla="val 16667"/>
            </a:avLst>
          </a:prstGeom>
          <a:solidFill>
            <a:srgbClr val="6ED278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3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+</a:t>
            </a:r>
            <a:endParaRPr lang="pt-B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33" name="Connector 19"/>
          <p:cNvCxnSpPr/>
          <p:nvPr/>
        </p:nvCxnSpPr>
        <p:spPr>
          <a:xfrm>
            <a:off x="8229600" y="3383280"/>
            <a:ext cx="960480" cy="360"/>
          </a:xfrm>
          <a:prstGeom prst="straightConnector1">
            <a:avLst/>
          </a:prstGeom>
          <a:ln w="25400">
            <a:solidFill>
              <a:srgbClr val="3268B8"/>
            </a:solidFill>
          </a:ln>
        </p:spPr>
      </p:cxnSp>
      <p:sp>
        <p:nvSpPr>
          <p:cNvPr id="334" name="Isosceles Triangle 20"/>
          <p:cNvSpPr/>
          <p:nvPr/>
        </p:nvSpPr>
        <p:spPr>
          <a:xfrm rot="5400000">
            <a:off x="9108000" y="331020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35" name="Rounded Rectangle 21"/>
          <p:cNvSpPr/>
          <p:nvPr/>
        </p:nvSpPr>
        <p:spPr>
          <a:xfrm>
            <a:off x="9326880" y="2971800"/>
            <a:ext cx="1416960" cy="822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7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saída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36" name="Connector 22"/>
          <p:cNvCxnSpPr/>
          <p:nvPr/>
        </p:nvCxnSpPr>
        <p:spPr>
          <a:xfrm flipV="1">
            <a:off x="1572480" y="2331720"/>
            <a:ext cx="360" cy="594720"/>
          </a:xfrm>
          <a:prstGeom prst="straightConnector1">
            <a:avLst/>
          </a:prstGeom>
          <a:ln w="25400">
            <a:solidFill>
              <a:srgbClr val="3268B8"/>
            </a:solidFill>
          </a:ln>
        </p:spPr>
      </p:cxnSp>
      <p:cxnSp>
        <p:nvCxnSpPr>
          <p:cNvPr id="337" name="Connector 23"/>
          <p:cNvCxnSpPr/>
          <p:nvPr/>
        </p:nvCxnSpPr>
        <p:spPr>
          <a:xfrm>
            <a:off x="1572480" y="2331720"/>
            <a:ext cx="6309720" cy="360"/>
          </a:xfrm>
          <a:prstGeom prst="straightConnector1">
            <a:avLst/>
          </a:prstGeom>
          <a:ln w="25400">
            <a:solidFill>
              <a:srgbClr val="3268B8"/>
            </a:solidFill>
          </a:ln>
        </p:spPr>
      </p:cxnSp>
      <p:cxnSp>
        <p:nvCxnSpPr>
          <p:cNvPr id="338" name="Connector 24"/>
          <p:cNvCxnSpPr/>
          <p:nvPr/>
        </p:nvCxnSpPr>
        <p:spPr>
          <a:xfrm>
            <a:off x="7881840" y="2331720"/>
            <a:ext cx="360" cy="640440"/>
          </a:xfrm>
          <a:prstGeom prst="straightConnector1">
            <a:avLst/>
          </a:prstGeom>
          <a:ln w="25400">
            <a:solidFill>
              <a:srgbClr val="3268B8"/>
            </a:solidFill>
          </a:ln>
        </p:spPr>
      </p:cxnSp>
      <p:sp>
        <p:nvSpPr>
          <p:cNvPr id="339" name="Isosceles Triangle 25"/>
          <p:cNvSpPr/>
          <p:nvPr/>
        </p:nvSpPr>
        <p:spPr>
          <a:xfrm rot="10800000">
            <a:off x="7809480" y="289008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40" name="TextBox 26"/>
          <p:cNvSpPr/>
          <p:nvPr/>
        </p:nvSpPr>
        <p:spPr>
          <a:xfrm>
            <a:off x="4114800" y="1965960"/>
            <a:ext cx="1188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3268B8"/>
                </a:solidFill>
                <a:effectLst/>
                <a:uFillTx/>
                <a:latin typeface="Arial"/>
              </a:rPr>
              <a:t>ATALHO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Box 27"/>
          <p:cNvSpPr/>
          <p:nvPr/>
        </p:nvSpPr>
        <p:spPr>
          <a:xfrm>
            <a:off x="1188720" y="4709160"/>
            <a:ext cx="978372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21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A rede aprende a transformação necessária e soma a entrada original.</a:t>
            </a:r>
            <a:endParaRPr lang="pt-B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Picture 1" descr="unip_logo.png"/>
          <p:cNvPicPr/>
          <p:nvPr/>
        </p:nvPicPr>
        <p:blipFill>
          <a:blip r:embed="rId1"/>
          <a:stretch/>
        </p:blipFill>
        <p:spPr>
          <a:xfrm>
            <a:off x="228600" y="137160"/>
            <a:ext cx="2468520" cy="52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3" name="TextBox 2"/>
          <p:cNvSpPr/>
          <p:nvPr/>
        </p:nvSpPr>
        <p:spPr>
          <a:xfrm>
            <a:off x="255960" y="932760"/>
            <a:ext cx="4388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3268B8"/>
                </a:solidFill>
                <a:effectLst/>
                <a:uFillTx/>
                <a:latin typeface="Arial"/>
              </a:rPr>
              <a:t>3 • RESNET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Box 3"/>
          <p:cNvSpPr/>
          <p:nvPr/>
        </p:nvSpPr>
        <p:spPr>
          <a:xfrm>
            <a:off x="255960" y="1207080"/>
            <a:ext cx="114296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7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O que significa “residual”?</a:t>
            </a:r>
            <a:endParaRPr lang="pt-BR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Box 4"/>
          <p:cNvSpPr/>
          <p:nvPr/>
        </p:nvSpPr>
        <p:spPr>
          <a:xfrm>
            <a:off x="640080" y="6510600"/>
            <a:ext cx="2742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9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Professor Miguél Suares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Box 5"/>
          <p:cNvSpPr/>
          <p:nvPr/>
        </p:nvSpPr>
        <p:spPr>
          <a:xfrm>
            <a:off x="640080" y="6693480"/>
            <a:ext cx="4571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8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UNIP • GTI – Oferta 2026 • Gestão e Análise de Dados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Box 6"/>
          <p:cNvSpPr/>
          <p:nvPr/>
        </p:nvSpPr>
        <p:spPr>
          <a:xfrm>
            <a:off x="11384280" y="6556320"/>
            <a:ext cx="319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8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12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Box 7"/>
          <p:cNvSpPr/>
          <p:nvPr/>
        </p:nvSpPr>
        <p:spPr>
          <a:xfrm>
            <a:off x="914400" y="2240280"/>
            <a:ext cx="3840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700" b="1" u="none" strike="noStrike">
                <a:solidFill>
                  <a:srgbClr val="3268B8"/>
                </a:solidFill>
                <a:effectLst/>
                <a:uFillTx/>
                <a:latin typeface="Arial"/>
              </a:rPr>
              <a:t>Rede tradicional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Rounded Rectangle 8"/>
          <p:cNvSpPr/>
          <p:nvPr/>
        </p:nvSpPr>
        <p:spPr>
          <a:xfrm>
            <a:off x="1325880" y="2926080"/>
            <a:ext cx="822600" cy="712800"/>
          </a:xfrm>
          <a:prstGeom prst="roundRect">
            <a:avLst>
              <a:gd name="adj" fmla="val 16667"/>
            </a:avLst>
          </a:prstGeom>
          <a:solidFill>
            <a:srgbClr val="DBE8F8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0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x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50" name="Connector 9"/>
          <p:cNvCxnSpPr/>
          <p:nvPr/>
        </p:nvCxnSpPr>
        <p:spPr>
          <a:xfrm>
            <a:off x="2148840" y="3282480"/>
            <a:ext cx="731880" cy="360"/>
          </a:xfrm>
          <a:prstGeom prst="straightConnector1">
            <a:avLst/>
          </a:prstGeom>
          <a:ln w="25400">
            <a:solidFill>
              <a:srgbClr val="3268B8"/>
            </a:solidFill>
          </a:ln>
        </p:spPr>
      </p:cxnSp>
      <p:sp>
        <p:nvSpPr>
          <p:cNvPr id="351" name="Isosceles Triangle 10"/>
          <p:cNvSpPr/>
          <p:nvPr/>
        </p:nvSpPr>
        <p:spPr>
          <a:xfrm rot="5400000">
            <a:off x="2798640" y="320940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52" name="Rounded Rectangle 11"/>
          <p:cNvSpPr/>
          <p:nvPr/>
        </p:nvSpPr>
        <p:spPr>
          <a:xfrm>
            <a:off x="3017520" y="2926080"/>
            <a:ext cx="1142640" cy="712800"/>
          </a:xfrm>
          <a:prstGeom prst="roundRect">
            <a:avLst>
              <a:gd name="adj" fmla="val 16667"/>
            </a:avLst>
          </a:prstGeom>
          <a:solidFill>
            <a:srgbClr val="FFF20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0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F(x)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53" name="Connector 12"/>
          <p:cNvCxnSpPr/>
          <p:nvPr/>
        </p:nvCxnSpPr>
        <p:spPr>
          <a:xfrm>
            <a:off x="4160520" y="3282480"/>
            <a:ext cx="640440" cy="360"/>
          </a:xfrm>
          <a:prstGeom prst="straightConnector1">
            <a:avLst/>
          </a:prstGeom>
          <a:ln w="25400">
            <a:solidFill>
              <a:srgbClr val="3268B8"/>
            </a:solidFill>
          </a:ln>
        </p:spPr>
      </p:cxnSp>
      <p:sp>
        <p:nvSpPr>
          <p:cNvPr id="354" name="Isosceles Triangle 13"/>
          <p:cNvSpPr/>
          <p:nvPr/>
        </p:nvSpPr>
        <p:spPr>
          <a:xfrm rot="5400000">
            <a:off x="4718880" y="320940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55" name="Rounded Rectangle 14"/>
          <p:cNvSpPr/>
          <p:nvPr/>
        </p:nvSpPr>
        <p:spPr>
          <a:xfrm>
            <a:off x="4937760" y="2926080"/>
            <a:ext cx="1234080" cy="712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7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saída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Box 15"/>
          <p:cNvSpPr/>
          <p:nvPr/>
        </p:nvSpPr>
        <p:spPr>
          <a:xfrm>
            <a:off x="6629400" y="2240280"/>
            <a:ext cx="3840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700" b="1" u="none" strike="noStrike">
                <a:solidFill>
                  <a:srgbClr val="3268B8"/>
                </a:solidFill>
                <a:effectLst/>
                <a:uFillTx/>
                <a:latin typeface="Arial"/>
              </a:rPr>
              <a:t>Rede residual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Rounded Rectangle 16"/>
          <p:cNvSpPr/>
          <p:nvPr/>
        </p:nvSpPr>
        <p:spPr>
          <a:xfrm>
            <a:off x="6720840" y="2926080"/>
            <a:ext cx="822600" cy="712800"/>
          </a:xfrm>
          <a:prstGeom prst="roundRect">
            <a:avLst>
              <a:gd name="adj" fmla="val 16667"/>
            </a:avLst>
          </a:prstGeom>
          <a:solidFill>
            <a:srgbClr val="DBE8F8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0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x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58" name="Connector 17"/>
          <p:cNvCxnSpPr/>
          <p:nvPr/>
        </p:nvCxnSpPr>
        <p:spPr>
          <a:xfrm>
            <a:off x="7543800" y="3282480"/>
            <a:ext cx="731880" cy="360"/>
          </a:xfrm>
          <a:prstGeom prst="straightConnector1">
            <a:avLst/>
          </a:prstGeom>
          <a:ln w="25400">
            <a:solidFill>
              <a:srgbClr val="3268B8"/>
            </a:solidFill>
          </a:ln>
        </p:spPr>
      </p:cxnSp>
      <p:sp>
        <p:nvSpPr>
          <p:cNvPr id="359" name="Isosceles Triangle 18"/>
          <p:cNvSpPr/>
          <p:nvPr/>
        </p:nvSpPr>
        <p:spPr>
          <a:xfrm rot="5400000">
            <a:off x="8193600" y="320940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60" name="Rounded Rectangle 19"/>
          <p:cNvSpPr/>
          <p:nvPr/>
        </p:nvSpPr>
        <p:spPr>
          <a:xfrm>
            <a:off x="8412480" y="2926080"/>
            <a:ext cx="1142640" cy="712800"/>
          </a:xfrm>
          <a:prstGeom prst="roundRect">
            <a:avLst>
              <a:gd name="adj" fmla="val 16667"/>
            </a:avLst>
          </a:prstGeom>
          <a:solidFill>
            <a:srgbClr val="FFF20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0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F(x)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61" name="Connector 20"/>
          <p:cNvCxnSpPr/>
          <p:nvPr/>
        </p:nvCxnSpPr>
        <p:spPr>
          <a:xfrm>
            <a:off x="9555480" y="3282480"/>
            <a:ext cx="549000" cy="360"/>
          </a:xfrm>
          <a:prstGeom prst="straightConnector1">
            <a:avLst/>
          </a:prstGeom>
          <a:ln w="25400">
            <a:solidFill>
              <a:srgbClr val="3268B8"/>
            </a:solidFill>
          </a:ln>
        </p:spPr>
      </p:cxnSp>
      <p:sp>
        <p:nvSpPr>
          <p:cNvPr id="362" name="Isosceles Triangle 21"/>
          <p:cNvSpPr/>
          <p:nvPr/>
        </p:nvSpPr>
        <p:spPr>
          <a:xfrm rot="5400000">
            <a:off x="10022400" y="320940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63" name="Rounded Rectangle 22"/>
          <p:cNvSpPr/>
          <p:nvPr/>
        </p:nvSpPr>
        <p:spPr>
          <a:xfrm>
            <a:off x="10195560" y="2926080"/>
            <a:ext cx="685440" cy="712800"/>
          </a:xfrm>
          <a:prstGeom prst="roundRect">
            <a:avLst>
              <a:gd name="adj" fmla="val 16667"/>
            </a:avLst>
          </a:prstGeom>
          <a:solidFill>
            <a:srgbClr val="6ED278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2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+</a:t>
            </a:r>
            <a:endParaRPr lang="pt-B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64" name="Connector 23"/>
          <p:cNvCxnSpPr/>
          <p:nvPr/>
        </p:nvCxnSpPr>
        <p:spPr>
          <a:xfrm flipV="1">
            <a:off x="7132320" y="2606040"/>
            <a:ext cx="360" cy="274680"/>
          </a:xfrm>
          <a:prstGeom prst="straightConnector1">
            <a:avLst/>
          </a:prstGeom>
          <a:ln w="22860">
            <a:solidFill>
              <a:srgbClr val="3268B8"/>
            </a:solidFill>
          </a:ln>
        </p:spPr>
      </p:cxnSp>
      <p:cxnSp>
        <p:nvCxnSpPr>
          <p:cNvPr id="365" name="Connector 24"/>
          <p:cNvCxnSpPr/>
          <p:nvPr/>
        </p:nvCxnSpPr>
        <p:spPr>
          <a:xfrm>
            <a:off x="7132320" y="2606040"/>
            <a:ext cx="3383640" cy="360"/>
          </a:xfrm>
          <a:prstGeom prst="straightConnector1">
            <a:avLst/>
          </a:prstGeom>
          <a:ln w="22860">
            <a:solidFill>
              <a:srgbClr val="3268B8"/>
            </a:solidFill>
          </a:ln>
        </p:spPr>
      </p:cxnSp>
      <p:cxnSp>
        <p:nvCxnSpPr>
          <p:cNvPr id="366" name="Connector 25"/>
          <p:cNvCxnSpPr/>
          <p:nvPr/>
        </p:nvCxnSpPr>
        <p:spPr>
          <a:xfrm>
            <a:off x="10515600" y="2606040"/>
            <a:ext cx="360" cy="274680"/>
          </a:xfrm>
          <a:prstGeom prst="straightConnector1">
            <a:avLst/>
          </a:prstGeom>
          <a:ln w="22860">
            <a:solidFill>
              <a:srgbClr val="3268B8"/>
            </a:solidFill>
          </a:ln>
        </p:spPr>
      </p:cxnSp>
      <p:sp>
        <p:nvSpPr>
          <p:cNvPr id="367" name="Isosceles Triangle 26"/>
          <p:cNvSpPr/>
          <p:nvPr/>
        </p:nvSpPr>
        <p:spPr>
          <a:xfrm rot="10800000">
            <a:off x="10442880" y="279864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68" name="Rounded Rectangle 27"/>
          <p:cNvSpPr/>
          <p:nvPr/>
        </p:nvSpPr>
        <p:spPr>
          <a:xfrm>
            <a:off x="3840480" y="4617720"/>
            <a:ext cx="4525920" cy="712800"/>
          </a:xfrm>
          <a:prstGeom prst="roundRect">
            <a:avLst>
              <a:gd name="adj" fmla="val 16667"/>
            </a:avLst>
          </a:prstGeom>
          <a:solidFill>
            <a:srgbClr val="FFF20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5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saída = F(x) + x</a:t>
            </a:r>
            <a:endParaRPr lang="pt-B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Box 28"/>
          <p:cNvSpPr/>
          <p:nvPr/>
        </p:nvSpPr>
        <p:spPr>
          <a:xfrm>
            <a:off x="1828800" y="5486400"/>
            <a:ext cx="8503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7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A camada aprende “o que precisa mudar” em relação à entrada.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0" name="Picture 1" descr="unip_logo.png"/>
          <p:cNvPicPr/>
          <p:nvPr/>
        </p:nvPicPr>
        <p:blipFill>
          <a:blip r:embed="rId1"/>
          <a:stretch/>
        </p:blipFill>
        <p:spPr>
          <a:xfrm>
            <a:off x="228600" y="137160"/>
            <a:ext cx="2468520" cy="52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1" name="TextBox 2"/>
          <p:cNvSpPr/>
          <p:nvPr/>
        </p:nvSpPr>
        <p:spPr>
          <a:xfrm>
            <a:off x="255960" y="932760"/>
            <a:ext cx="4388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3268B8"/>
                </a:solidFill>
                <a:effectLst/>
                <a:uFillTx/>
                <a:latin typeface="Arial"/>
              </a:rPr>
              <a:t>3 • RESNET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TextBox 3"/>
          <p:cNvSpPr/>
          <p:nvPr/>
        </p:nvSpPr>
        <p:spPr>
          <a:xfrm>
            <a:off x="255960" y="1207080"/>
            <a:ext cx="114296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7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ResNet não começa em um número mágico de camadas</a:t>
            </a:r>
            <a:endParaRPr lang="pt-BR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TextBox 4"/>
          <p:cNvSpPr/>
          <p:nvPr/>
        </p:nvSpPr>
        <p:spPr>
          <a:xfrm>
            <a:off x="274320" y="1755720"/>
            <a:ext cx="111553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4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A mesma ideia residual aparece em redes de diferentes profundidades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TextBox 5"/>
          <p:cNvSpPr/>
          <p:nvPr/>
        </p:nvSpPr>
        <p:spPr>
          <a:xfrm>
            <a:off x="640080" y="6510600"/>
            <a:ext cx="2742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9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Professor Miguél Suares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Box 6"/>
          <p:cNvSpPr/>
          <p:nvPr/>
        </p:nvSpPr>
        <p:spPr>
          <a:xfrm>
            <a:off x="640080" y="6693480"/>
            <a:ext cx="4571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8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UNIP • GTI – Oferta 2026 • Gestão e Análise de Dados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Box 7"/>
          <p:cNvSpPr/>
          <p:nvPr/>
        </p:nvSpPr>
        <p:spPr>
          <a:xfrm>
            <a:off x="11384280" y="6556320"/>
            <a:ext cx="319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8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13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Rounded Rectangle 8"/>
          <p:cNvSpPr/>
          <p:nvPr/>
        </p:nvSpPr>
        <p:spPr>
          <a:xfrm>
            <a:off x="658440" y="2423160"/>
            <a:ext cx="1828440" cy="694440"/>
          </a:xfrm>
          <a:prstGeom prst="roundRect">
            <a:avLst>
              <a:gd name="adj" fmla="val 16667"/>
            </a:avLst>
          </a:prstGeom>
          <a:solidFill>
            <a:srgbClr val="DBE8F8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7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ResNet-18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Rectangle 9"/>
          <p:cNvSpPr/>
          <p:nvPr/>
        </p:nvSpPr>
        <p:spPr>
          <a:xfrm>
            <a:off x="822960" y="3520440"/>
            <a:ext cx="109440" cy="319680"/>
          </a:xfrm>
          <a:prstGeom prst="rect">
            <a:avLst/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79" name="Rectangle 10"/>
          <p:cNvSpPr/>
          <p:nvPr/>
        </p:nvSpPr>
        <p:spPr>
          <a:xfrm>
            <a:off x="1005840" y="3520440"/>
            <a:ext cx="109440" cy="429480"/>
          </a:xfrm>
          <a:prstGeom prst="rect">
            <a:avLst/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80" name="Rounded Rectangle 11"/>
          <p:cNvSpPr/>
          <p:nvPr/>
        </p:nvSpPr>
        <p:spPr>
          <a:xfrm>
            <a:off x="2917080" y="2423160"/>
            <a:ext cx="1828440" cy="69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7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ResNet-34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Rectangle 12"/>
          <p:cNvSpPr/>
          <p:nvPr/>
        </p:nvSpPr>
        <p:spPr>
          <a:xfrm>
            <a:off x="3081600" y="3520440"/>
            <a:ext cx="109440" cy="319680"/>
          </a:xfrm>
          <a:prstGeom prst="rect">
            <a:avLst/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82" name="Rectangle 13"/>
          <p:cNvSpPr/>
          <p:nvPr/>
        </p:nvSpPr>
        <p:spPr>
          <a:xfrm>
            <a:off x="3264480" y="3520440"/>
            <a:ext cx="109440" cy="429480"/>
          </a:xfrm>
          <a:prstGeom prst="rect">
            <a:avLst/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83" name="Rectangle 14"/>
          <p:cNvSpPr/>
          <p:nvPr/>
        </p:nvSpPr>
        <p:spPr>
          <a:xfrm>
            <a:off x="3447360" y="3520440"/>
            <a:ext cx="109440" cy="539280"/>
          </a:xfrm>
          <a:prstGeom prst="rect">
            <a:avLst/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84" name="Rounded Rectangle 15"/>
          <p:cNvSpPr/>
          <p:nvPr/>
        </p:nvSpPr>
        <p:spPr>
          <a:xfrm>
            <a:off x="5175360" y="2423160"/>
            <a:ext cx="1828440" cy="694440"/>
          </a:xfrm>
          <a:prstGeom prst="roundRect">
            <a:avLst>
              <a:gd name="adj" fmla="val 16667"/>
            </a:avLst>
          </a:prstGeom>
          <a:solidFill>
            <a:srgbClr val="FFF20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7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ResNet-50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Rectangle 16"/>
          <p:cNvSpPr/>
          <p:nvPr/>
        </p:nvSpPr>
        <p:spPr>
          <a:xfrm>
            <a:off x="5340240" y="3520440"/>
            <a:ext cx="109440" cy="319680"/>
          </a:xfrm>
          <a:prstGeom prst="rect">
            <a:avLst/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86" name="Rectangle 17"/>
          <p:cNvSpPr/>
          <p:nvPr/>
        </p:nvSpPr>
        <p:spPr>
          <a:xfrm>
            <a:off x="5523120" y="3520440"/>
            <a:ext cx="109440" cy="429480"/>
          </a:xfrm>
          <a:prstGeom prst="rect">
            <a:avLst/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87" name="Rectangle 18"/>
          <p:cNvSpPr/>
          <p:nvPr/>
        </p:nvSpPr>
        <p:spPr>
          <a:xfrm>
            <a:off x="5706000" y="3520440"/>
            <a:ext cx="109440" cy="539280"/>
          </a:xfrm>
          <a:prstGeom prst="rect">
            <a:avLst/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88" name="Rectangle 19"/>
          <p:cNvSpPr/>
          <p:nvPr/>
        </p:nvSpPr>
        <p:spPr>
          <a:xfrm>
            <a:off x="5888880" y="3520440"/>
            <a:ext cx="109440" cy="648720"/>
          </a:xfrm>
          <a:prstGeom prst="rect">
            <a:avLst/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89" name="Rounded Rectangle 20"/>
          <p:cNvSpPr/>
          <p:nvPr/>
        </p:nvSpPr>
        <p:spPr>
          <a:xfrm>
            <a:off x="7434000" y="2423160"/>
            <a:ext cx="1828440" cy="694440"/>
          </a:xfrm>
          <a:prstGeom prst="roundRect">
            <a:avLst>
              <a:gd name="adj" fmla="val 16667"/>
            </a:avLst>
          </a:prstGeom>
          <a:solidFill>
            <a:srgbClr val="FAE2D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7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ResNet-101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Rectangle 21"/>
          <p:cNvSpPr/>
          <p:nvPr/>
        </p:nvSpPr>
        <p:spPr>
          <a:xfrm>
            <a:off x="7598520" y="3520440"/>
            <a:ext cx="109440" cy="319680"/>
          </a:xfrm>
          <a:prstGeom prst="rect">
            <a:avLst/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91" name="Rectangle 22"/>
          <p:cNvSpPr/>
          <p:nvPr/>
        </p:nvSpPr>
        <p:spPr>
          <a:xfrm>
            <a:off x="7781400" y="3520440"/>
            <a:ext cx="109440" cy="429480"/>
          </a:xfrm>
          <a:prstGeom prst="rect">
            <a:avLst/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92" name="Rectangle 23"/>
          <p:cNvSpPr/>
          <p:nvPr/>
        </p:nvSpPr>
        <p:spPr>
          <a:xfrm>
            <a:off x="7964280" y="3520440"/>
            <a:ext cx="109440" cy="539280"/>
          </a:xfrm>
          <a:prstGeom prst="rect">
            <a:avLst/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93" name="Rectangle 24"/>
          <p:cNvSpPr/>
          <p:nvPr/>
        </p:nvSpPr>
        <p:spPr>
          <a:xfrm>
            <a:off x="8147160" y="3520440"/>
            <a:ext cx="109440" cy="648720"/>
          </a:xfrm>
          <a:prstGeom prst="rect">
            <a:avLst/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94" name="Rectangle 25"/>
          <p:cNvSpPr/>
          <p:nvPr/>
        </p:nvSpPr>
        <p:spPr>
          <a:xfrm>
            <a:off x="8330040" y="3520440"/>
            <a:ext cx="109440" cy="758520"/>
          </a:xfrm>
          <a:prstGeom prst="rect">
            <a:avLst/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95" name="Rounded Rectangle 26"/>
          <p:cNvSpPr/>
          <p:nvPr/>
        </p:nvSpPr>
        <p:spPr>
          <a:xfrm>
            <a:off x="9692640" y="2423160"/>
            <a:ext cx="1828440" cy="694440"/>
          </a:xfrm>
          <a:prstGeom prst="roundRect">
            <a:avLst>
              <a:gd name="adj" fmla="val 16667"/>
            </a:avLst>
          </a:prstGeom>
          <a:solidFill>
            <a:srgbClr val="6ED278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7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ResNet-152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Rectangle 27"/>
          <p:cNvSpPr/>
          <p:nvPr/>
        </p:nvSpPr>
        <p:spPr>
          <a:xfrm>
            <a:off x="9857160" y="3520440"/>
            <a:ext cx="109440" cy="319680"/>
          </a:xfrm>
          <a:prstGeom prst="rect">
            <a:avLst/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97" name="Rectangle 28"/>
          <p:cNvSpPr/>
          <p:nvPr/>
        </p:nvSpPr>
        <p:spPr>
          <a:xfrm>
            <a:off x="10040040" y="3520440"/>
            <a:ext cx="109440" cy="429480"/>
          </a:xfrm>
          <a:prstGeom prst="rect">
            <a:avLst/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98" name="Rectangle 29"/>
          <p:cNvSpPr/>
          <p:nvPr/>
        </p:nvSpPr>
        <p:spPr>
          <a:xfrm>
            <a:off x="10222920" y="3520440"/>
            <a:ext cx="109440" cy="539280"/>
          </a:xfrm>
          <a:prstGeom prst="rect">
            <a:avLst/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99" name="Rectangle 30"/>
          <p:cNvSpPr/>
          <p:nvPr/>
        </p:nvSpPr>
        <p:spPr>
          <a:xfrm>
            <a:off x="10405800" y="3520440"/>
            <a:ext cx="109440" cy="648720"/>
          </a:xfrm>
          <a:prstGeom prst="rect">
            <a:avLst/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00" name="Rectangle 31"/>
          <p:cNvSpPr/>
          <p:nvPr/>
        </p:nvSpPr>
        <p:spPr>
          <a:xfrm>
            <a:off x="10588680" y="3520440"/>
            <a:ext cx="109440" cy="758520"/>
          </a:xfrm>
          <a:prstGeom prst="rect">
            <a:avLst/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01" name="Rectangle 32"/>
          <p:cNvSpPr/>
          <p:nvPr/>
        </p:nvSpPr>
        <p:spPr>
          <a:xfrm>
            <a:off x="10771560" y="3520440"/>
            <a:ext cx="109440" cy="868320"/>
          </a:xfrm>
          <a:prstGeom prst="rect">
            <a:avLst/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02" name="TextBox 33"/>
          <p:cNvSpPr/>
          <p:nvPr/>
        </p:nvSpPr>
        <p:spPr>
          <a:xfrm>
            <a:off x="914400" y="4892040"/>
            <a:ext cx="10332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20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O objetivo é permitir que a rede fique muito profunda sem perder a capacidade de aprender.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TextBox 34"/>
          <p:cNvSpPr/>
          <p:nvPr/>
        </p:nvSpPr>
        <p:spPr>
          <a:xfrm>
            <a:off x="914400" y="5486400"/>
            <a:ext cx="103323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7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Por isso, a ideia residual virou um bloco básico de muitas arquiteturas modernas.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4" name="Picture 1" descr="unip_logo.png"/>
          <p:cNvPicPr/>
          <p:nvPr/>
        </p:nvPicPr>
        <p:blipFill>
          <a:blip r:embed="rId1"/>
          <a:stretch/>
        </p:blipFill>
        <p:spPr>
          <a:xfrm>
            <a:off x="228600" y="137160"/>
            <a:ext cx="2468520" cy="52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5" name="TextBox 2"/>
          <p:cNvSpPr/>
          <p:nvPr/>
        </p:nvSpPr>
        <p:spPr>
          <a:xfrm>
            <a:off x="255960" y="932760"/>
            <a:ext cx="4388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3268B8"/>
                </a:solidFill>
                <a:effectLst/>
                <a:uFillTx/>
                <a:latin typeface="Arial"/>
              </a:rPr>
              <a:t>4 • RNN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TextBox 3"/>
          <p:cNvSpPr/>
          <p:nvPr/>
        </p:nvSpPr>
        <p:spPr>
          <a:xfrm>
            <a:off x="255960" y="1207080"/>
            <a:ext cx="114296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7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Antes dos Transformers: redes recorrentes</a:t>
            </a:r>
            <a:endParaRPr lang="pt-BR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TextBox 5"/>
          <p:cNvSpPr/>
          <p:nvPr/>
        </p:nvSpPr>
        <p:spPr>
          <a:xfrm>
            <a:off x="640080" y="6510600"/>
            <a:ext cx="2742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9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Professor Miguél Suares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TextBox 6"/>
          <p:cNvSpPr/>
          <p:nvPr/>
        </p:nvSpPr>
        <p:spPr>
          <a:xfrm>
            <a:off x="640080" y="6693480"/>
            <a:ext cx="4571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8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UNIP • GTI – Oferta 2026 • Gestão e Análise de Dados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TextBox 7"/>
          <p:cNvSpPr/>
          <p:nvPr/>
        </p:nvSpPr>
        <p:spPr>
          <a:xfrm>
            <a:off x="11384280" y="6556320"/>
            <a:ext cx="319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8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14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TextBox 8"/>
          <p:cNvSpPr/>
          <p:nvPr/>
        </p:nvSpPr>
        <p:spPr>
          <a:xfrm>
            <a:off x="640080" y="6245280"/>
            <a:ext cx="106066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62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Jordão, A., Recurrent Neural Networks, POLI-USP.</a:t>
            </a:r>
            <a:endParaRPr lang="pt-BR" sz="6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1" name=""/>
          <p:cNvPicPr/>
          <p:nvPr/>
        </p:nvPicPr>
        <p:blipFill>
          <a:blip r:embed="rId2"/>
          <a:stretch/>
        </p:blipFill>
        <p:spPr>
          <a:xfrm>
            <a:off x="1839240" y="1656000"/>
            <a:ext cx="8600760" cy="4753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2" name="Picture 5" descr="unip_logo.png"/>
          <p:cNvPicPr/>
          <p:nvPr/>
        </p:nvPicPr>
        <p:blipFill>
          <a:blip r:embed="rId1"/>
          <a:stretch/>
        </p:blipFill>
        <p:spPr>
          <a:xfrm>
            <a:off x="228600" y="137160"/>
            <a:ext cx="2468520" cy="52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3" name="TextBox 55"/>
          <p:cNvSpPr/>
          <p:nvPr/>
        </p:nvSpPr>
        <p:spPr>
          <a:xfrm>
            <a:off x="255960" y="932760"/>
            <a:ext cx="438876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3268B8"/>
                </a:solidFill>
                <a:effectLst/>
                <a:uFillTx/>
                <a:latin typeface="Arial"/>
              </a:rPr>
              <a:t>4 • RNN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Box 56"/>
          <p:cNvSpPr/>
          <p:nvPr/>
        </p:nvSpPr>
        <p:spPr>
          <a:xfrm>
            <a:off x="255960" y="1207080"/>
            <a:ext cx="11429640" cy="46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7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Antes dos Transformers: redes recorrentes</a:t>
            </a:r>
            <a:endParaRPr lang="pt-BR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Box 58"/>
          <p:cNvSpPr/>
          <p:nvPr/>
        </p:nvSpPr>
        <p:spPr>
          <a:xfrm>
            <a:off x="274320" y="1755720"/>
            <a:ext cx="1115532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4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RNNs processam sequências passo a passo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Box 59"/>
          <p:cNvSpPr/>
          <p:nvPr/>
        </p:nvSpPr>
        <p:spPr>
          <a:xfrm>
            <a:off x="640080" y="6510600"/>
            <a:ext cx="2742840" cy="19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9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Professor Miguél Suares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Box 60"/>
          <p:cNvSpPr/>
          <p:nvPr/>
        </p:nvSpPr>
        <p:spPr>
          <a:xfrm>
            <a:off x="640080" y="6693480"/>
            <a:ext cx="457164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8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UNIP • GTI – Oferta 2026 • Gestão e Análise de Dados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TextBox 61"/>
          <p:cNvSpPr/>
          <p:nvPr/>
        </p:nvSpPr>
        <p:spPr>
          <a:xfrm>
            <a:off x="11384280" y="6556320"/>
            <a:ext cx="319680" cy="1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8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14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TextBox 62"/>
          <p:cNvSpPr/>
          <p:nvPr/>
        </p:nvSpPr>
        <p:spPr>
          <a:xfrm>
            <a:off x="640080" y="6245280"/>
            <a:ext cx="10606680" cy="14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62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Jordão, A., Recurrent Neural Networks, POLI-USP.</a:t>
            </a:r>
            <a:endParaRPr lang="pt-BR" sz="6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Rounded Rectangle 39"/>
          <p:cNvSpPr/>
          <p:nvPr/>
        </p:nvSpPr>
        <p:spPr>
          <a:xfrm>
            <a:off x="594360" y="2971800"/>
            <a:ext cx="1234080" cy="621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326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5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Eu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Rounded Rectangle 40"/>
          <p:cNvSpPr/>
          <p:nvPr/>
        </p:nvSpPr>
        <p:spPr>
          <a:xfrm>
            <a:off x="777240" y="3977640"/>
            <a:ext cx="868320" cy="529920"/>
          </a:xfrm>
          <a:prstGeom prst="roundRect">
            <a:avLst>
              <a:gd name="adj" fmla="val 16667"/>
            </a:avLst>
          </a:prstGeom>
          <a:solidFill>
            <a:srgbClr val="DBE8F8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h1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22" name="Connector 6"/>
          <p:cNvCxnSpPr/>
          <p:nvPr/>
        </p:nvCxnSpPr>
        <p:spPr>
          <a:xfrm>
            <a:off x="1211400" y="3593520"/>
            <a:ext cx="360" cy="366120"/>
          </a:xfrm>
          <a:prstGeom prst="straightConnector1">
            <a:avLst/>
          </a:prstGeom>
          <a:ln w="19050">
            <a:solidFill>
              <a:srgbClr val="3268B8"/>
            </a:solidFill>
          </a:ln>
        </p:spPr>
      </p:cxnSp>
      <p:sp>
        <p:nvSpPr>
          <p:cNvPr id="423" name="Isosceles Triangle 6"/>
          <p:cNvSpPr/>
          <p:nvPr/>
        </p:nvSpPr>
        <p:spPr>
          <a:xfrm rot="10800000">
            <a:off x="1139040" y="387756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cxnSp>
        <p:nvCxnSpPr>
          <p:cNvPr id="424" name="Connector 28"/>
          <p:cNvCxnSpPr/>
          <p:nvPr/>
        </p:nvCxnSpPr>
        <p:spPr>
          <a:xfrm>
            <a:off x="1783080" y="4242600"/>
            <a:ext cx="302040" cy="360"/>
          </a:xfrm>
          <a:prstGeom prst="straightConnector1">
            <a:avLst/>
          </a:prstGeom>
          <a:ln w="19050">
            <a:solidFill>
              <a:srgbClr val="4B5B69"/>
            </a:solidFill>
          </a:ln>
        </p:spPr>
      </p:cxnSp>
      <p:sp>
        <p:nvSpPr>
          <p:cNvPr id="425" name="Isosceles Triangle 7"/>
          <p:cNvSpPr/>
          <p:nvPr/>
        </p:nvSpPr>
        <p:spPr>
          <a:xfrm rot="5400000">
            <a:off x="2003040" y="416952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4B5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26" name="Rounded Rectangle 41"/>
          <p:cNvSpPr/>
          <p:nvPr/>
        </p:nvSpPr>
        <p:spPr>
          <a:xfrm>
            <a:off x="2212920" y="2971800"/>
            <a:ext cx="1234080" cy="621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326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5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gosto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Rounded Rectangle 47"/>
          <p:cNvSpPr/>
          <p:nvPr/>
        </p:nvSpPr>
        <p:spPr>
          <a:xfrm>
            <a:off x="2395800" y="3977640"/>
            <a:ext cx="868320" cy="529920"/>
          </a:xfrm>
          <a:prstGeom prst="roundRect">
            <a:avLst>
              <a:gd name="adj" fmla="val 16667"/>
            </a:avLst>
          </a:prstGeom>
          <a:solidFill>
            <a:srgbClr val="DBE8F8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h2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28" name="Connector 34"/>
          <p:cNvCxnSpPr/>
          <p:nvPr/>
        </p:nvCxnSpPr>
        <p:spPr>
          <a:xfrm>
            <a:off x="2829960" y="3593520"/>
            <a:ext cx="360" cy="366120"/>
          </a:xfrm>
          <a:prstGeom prst="straightConnector1">
            <a:avLst/>
          </a:prstGeom>
          <a:ln w="19050">
            <a:solidFill>
              <a:srgbClr val="3268B8"/>
            </a:solidFill>
          </a:ln>
        </p:spPr>
      </p:cxnSp>
      <p:sp>
        <p:nvSpPr>
          <p:cNvPr id="429" name="Isosceles Triangle 31"/>
          <p:cNvSpPr/>
          <p:nvPr/>
        </p:nvSpPr>
        <p:spPr>
          <a:xfrm rot="10800000">
            <a:off x="2757240" y="387756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cxnSp>
        <p:nvCxnSpPr>
          <p:cNvPr id="430" name="Connector 37"/>
          <p:cNvCxnSpPr/>
          <p:nvPr/>
        </p:nvCxnSpPr>
        <p:spPr>
          <a:xfrm>
            <a:off x="3401280" y="4242600"/>
            <a:ext cx="302400" cy="360"/>
          </a:xfrm>
          <a:prstGeom prst="straightConnector1">
            <a:avLst/>
          </a:prstGeom>
          <a:ln w="19050">
            <a:solidFill>
              <a:srgbClr val="4B5B69"/>
            </a:solidFill>
          </a:ln>
        </p:spPr>
      </p:cxnSp>
      <p:sp>
        <p:nvSpPr>
          <p:cNvPr id="431" name="Isosceles Triangle 33"/>
          <p:cNvSpPr/>
          <p:nvPr/>
        </p:nvSpPr>
        <p:spPr>
          <a:xfrm rot="5400000">
            <a:off x="3621600" y="416952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4B5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32" name="Rounded Rectangle 48"/>
          <p:cNvSpPr/>
          <p:nvPr/>
        </p:nvSpPr>
        <p:spPr>
          <a:xfrm>
            <a:off x="3831480" y="2971800"/>
            <a:ext cx="1234080" cy="621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326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5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de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Rounded Rectangle 49"/>
          <p:cNvSpPr/>
          <p:nvPr/>
        </p:nvSpPr>
        <p:spPr>
          <a:xfrm>
            <a:off x="4014360" y="3977640"/>
            <a:ext cx="868320" cy="529920"/>
          </a:xfrm>
          <a:prstGeom prst="roundRect">
            <a:avLst>
              <a:gd name="adj" fmla="val 16667"/>
            </a:avLst>
          </a:prstGeom>
          <a:solidFill>
            <a:srgbClr val="DBE8F8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h3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34" name="Connector 38"/>
          <p:cNvCxnSpPr/>
          <p:nvPr/>
        </p:nvCxnSpPr>
        <p:spPr>
          <a:xfrm>
            <a:off x="4448520" y="3593520"/>
            <a:ext cx="360" cy="366120"/>
          </a:xfrm>
          <a:prstGeom prst="straightConnector1">
            <a:avLst/>
          </a:prstGeom>
          <a:ln w="19050">
            <a:solidFill>
              <a:srgbClr val="3268B8"/>
            </a:solidFill>
          </a:ln>
        </p:spPr>
      </p:cxnSp>
      <p:sp>
        <p:nvSpPr>
          <p:cNvPr id="435" name="Isosceles Triangle 35"/>
          <p:cNvSpPr/>
          <p:nvPr/>
        </p:nvSpPr>
        <p:spPr>
          <a:xfrm rot="10800000">
            <a:off x="4375800" y="387756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cxnSp>
        <p:nvCxnSpPr>
          <p:cNvPr id="436" name="Connector 39"/>
          <p:cNvCxnSpPr/>
          <p:nvPr/>
        </p:nvCxnSpPr>
        <p:spPr>
          <a:xfrm>
            <a:off x="5019840" y="4242600"/>
            <a:ext cx="302040" cy="360"/>
          </a:xfrm>
          <a:prstGeom prst="straightConnector1">
            <a:avLst/>
          </a:prstGeom>
          <a:ln w="19050">
            <a:solidFill>
              <a:srgbClr val="4B5B69"/>
            </a:solidFill>
          </a:ln>
        </p:spPr>
      </p:cxnSp>
      <p:sp>
        <p:nvSpPr>
          <p:cNvPr id="437" name="Isosceles Triangle 38"/>
          <p:cNvSpPr/>
          <p:nvPr/>
        </p:nvSpPr>
        <p:spPr>
          <a:xfrm rot="5400000">
            <a:off x="5240160" y="416952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4B5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38" name="Rounded Rectangle 50"/>
          <p:cNvSpPr/>
          <p:nvPr/>
        </p:nvSpPr>
        <p:spPr>
          <a:xfrm>
            <a:off x="5449680" y="2971800"/>
            <a:ext cx="1828440" cy="621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326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5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inteligência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Rounded Rectangle 51"/>
          <p:cNvSpPr/>
          <p:nvPr/>
        </p:nvSpPr>
        <p:spPr>
          <a:xfrm>
            <a:off x="5632560" y="3977640"/>
            <a:ext cx="1462680" cy="529920"/>
          </a:xfrm>
          <a:prstGeom prst="roundRect">
            <a:avLst>
              <a:gd name="adj" fmla="val 16667"/>
            </a:avLst>
          </a:prstGeom>
          <a:solidFill>
            <a:srgbClr val="DBE8F8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h4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40" name="Connector 40"/>
          <p:cNvCxnSpPr/>
          <p:nvPr/>
        </p:nvCxnSpPr>
        <p:spPr>
          <a:xfrm>
            <a:off x="6364080" y="3593520"/>
            <a:ext cx="360" cy="366120"/>
          </a:xfrm>
          <a:prstGeom prst="straightConnector1">
            <a:avLst/>
          </a:prstGeom>
          <a:ln w="19050">
            <a:solidFill>
              <a:srgbClr val="3268B8"/>
            </a:solidFill>
          </a:ln>
        </p:spPr>
      </p:cxnSp>
      <p:sp>
        <p:nvSpPr>
          <p:cNvPr id="441" name="Isosceles Triangle 39"/>
          <p:cNvSpPr/>
          <p:nvPr/>
        </p:nvSpPr>
        <p:spPr>
          <a:xfrm rot="10800000">
            <a:off x="6291720" y="387756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cxnSp>
        <p:nvCxnSpPr>
          <p:cNvPr id="442" name="Connector 41"/>
          <p:cNvCxnSpPr/>
          <p:nvPr/>
        </p:nvCxnSpPr>
        <p:spPr>
          <a:xfrm>
            <a:off x="7232760" y="4242600"/>
            <a:ext cx="302040" cy="360"/>
          </a:xfrm>
          <a:prstGeom prst="straightConnector1">
            <a:avLst/>
          </a:prstGeom>
          <a:ln w="19050">
            <a:solidFill>
              <a:srgbClr val="4B5B69"/>
            </a:solidFill>
          </a:ln>
        </p:spPr>
      </p:cxnSp>
      <p:sp>
        <p:nvSpPr>
          <p:cNvPr id="443" name="Isosceles Triangle 40"/>
          <p:cNvSpPr/>
          <p:nvPr/>
        </p:nvSpPr>
        <p:spPr>
          <a:xfrm rot="5400000">
            <a:off x="7452720" y="416952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4B5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44" name="Rounded Rectangle 52"/>
          <p:cNvSpPr/>
          <p:nvPr/>
        </p:nvSpPr>
        <p:spPr>
          <a:xfrm>
            <a:off x="7662600" y="2971800"/>
            <a:ext cx="1828440" cy="621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326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5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artificial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Rounded Rectangle 53"/>
          <p:cNvSpPr/>
          <p:nvPr/>
        </p:nvSpPr>
        <p:spPr>
          <a:xfrm>
            <a:off x="7845480" y="3977640"/>
            <a:ext cx="1462680" cy="529920"/>
          </a:xfrm>
          <a:prstGeom prst="roundRect">
            <a:avLst>
              <a:gd name="adj" fmla="val 16667"/>
            </a:avLst>
          </a:prstGeom>
          <a:solidFill>
            <a:srgbClr val="DBE8F8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h5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46" name="Connector 42"/>
          <p:cNvCxnSpPr/>
          <p:nvPr/>
        </p:nvCxnSpPr>
        <p:spPr>
          <a:xfrm>
            <a:off x="8577000" y="3593520"/>
            <a:ext cx="360" cy="366120"/>
          </a:xfrm>
          <a:prstGeom prst="straightConnector1">
            <a:avLst/>
          </a:prstGeom>
          <a:ln w="19050">
            <a:solidFill>
              <a:srgbClr val="3268B8"/>
            </a:solidFill>
          </a:ln>
        </p:spPr>
      </p:cxnSp>
      <p:sp>
        <p:nvSpPr>
          <p:cNvPr id="447" name="Isosceles Triangle 41"/>
          <p:cNvSpPr/>
          <p:nvPr/>
        </p:nvSpPr>
        <p:spPr>
          <a:xfrm rot="10800000">
            <a:off x="8504280" y="387756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48" name="TextBox 63"/>
          <p:cNvSpPr/>
          <p:nvPr/>
        </p:nvSpPr>
        <p:spPr>
          <a:xfrm>
            <a:off x="914400" y="5166360"/>
            <a:ext cx="1033236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A saída de um passo influencia o próximo → existe memória, mas o processamento é sequencial.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9" name="Picture 1" descr="unip_logo.png"/>
          <p:cNvPicPr/>
          <p:nvPr/>
        </p:nvPicPr>
        <p:blipFill>
          <a:blip r:embed="rId1"/>
          <a:stretch/>
        </p:blipFill>
        <p:spPr>
          <a:xfrm>
            <a:off x="228600" y="137160"/>
            <a:ext cx="2468520" cy="52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0" name="TextBox 2"/>
          <p:cNvSpPr/>
          <p:nvPr/>
        </p:nvSpPr>
        <p:spPr>
          <a:xfrm>
            <a:off x="255960" y="932760"/>
            <a:ext cx="4388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3268B8"/>
                </a:solidFill>
                <a:effectLst/>
                <a:uFillTx/>
                <a:latin typeface="Arial"/>
              </a:rPr>
              <a:t>5 • TRANSFORMER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TextBox 3"/>
          <p:cNvSpPr/>
          <p:nvPr/>
        </p:nvSpPr>
        <p:spPr>
          <a:xfrm>
            <a:off x="255960" y="1207080"/>
            <a:ext cx="114296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7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2017: “Attention Is All You Need”</a:t>
            </a:r>
            <a:endParaRPr lang="pt-BR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Box 4"/>
          <p:cNvSpPr/>
          <p:nvPr/>
        </p:nvSpPr>
        <p:spPr>
          <a:xfrm>
            <a:off x="274320" y="1755720"/>
            <a:ext cx="111553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4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Uma arquitetura capaz de relacionar elementos de uma sequência sem depender de recorrência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TextBox 5"/>
          <p:cNvSpPr/>
          <p:nvPr/>
        </p:nvSpPr>
        <p:spPr>
          <a:xfrm>
            <a:off x="640080" y="6510600"/>
            <a:ext cx="2742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9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Professor Miguél Suares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TextBox 6"/>
          <p:cNvSpPr/>
          <p:nvPr/>
        </p:nvSpPr>
        <p:spPr>
          <a:xfrm>
            <a:off x="640080" y="6693480"/>
            <a:ext cx="4571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8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UNIP • GTI – Oferta 2026 • Gestão e Análise de Dados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TextBox 7"/>
          <p:cNvSpPr/>
          <p:nvPr/>
        </p:nvSpPr>
        <p:spPr>
          <a:xfrm>
            <a:off x="11384280" y="6556320"/>
            <a:ext cx="319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8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15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TextBox 8"/>
          <p:cNvSpPr/>
          <p:nvPr/>
        </p:nvSpPr>
        <p:spPr>
          <a:xfrm>
            <a:off x="640080" y="6245280"/>
            <a:ext cx="106066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62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Vaswani et al. (2017), Attention Is All You Need, NeurIPS.</a:t>
            </a:r>
            <a:endParaRPr lang="pt-BR" sz="6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7" name=""/>
          <p:cNvPicPr/>
          <p:nvPr/>
        </p:nvPicPr>
        <p:blipFill>
          <a:blip r:embed="rId2"/>
          <a:stretch/>
        </p:blipFill>
        <p:spPr>
          <a:xfrm>
            <a:off x="6660000" y="580320"/>
            <a:ext cx="4524120" cy="5829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8" name="Picture 6" descr="unip_logo.png"/>
          <p:cNvPicPr/>
          <p:nvPr/>
        </p:nvPicPr>
        <p:blipFill>
          <a:blip r:embed="rId1"/>
          <a:stretch/>
        </p:blipFill>
        <p:spPr>
          <a:xfrm>
            <a:off x="228600" y="137160"/>
            <a:ext cx="2468520" cy="52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9" name="TextBox 37"/>
          <p:cNvSpPr/>
          <p:nvPr/>
        </p:nvSpPr>
        <p:spPr>
          <a:xfrm>
            <a:off x="255960" y="932760"/>
            <a:ext cx="438876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3268B8"/>
                </a:solidFill>
                <a:effectLst/>
                <a:uFillTx/>
                <a:latin typeface="Arial"/>
              </a:rPr>
              <a:t>5 • TRANSFORMER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TextBox 64"/>
          <p:cNvSpPr/>
          <p:nvPr/>
        </p:nvSpPr>
        <p:spPr>
          <a:xfrm>
            <a:off x="255960" y="1207080"/>
            <a:ext cx="11429640" cy="46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7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2017: “Attention Is All You Need”</a:t>
            </a:r>
            <a:endParaRPr lang="pt-BR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TextBox 65"/>
          <p:cNvSpPr/>
          <p:nvPr/>
        </p:nvSpPr>
        <p:spPr>
          <a:xfrm>
            <a:off x="274320" y="1755720"/>
            <a:ext cx="1115532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4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Uma arquitetura capaz de relacionar elementos de uma sequência sem depender de recorrência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Box 66"/>
          <p:cNvSpPr/>
          <p:nvPr/>
        </p:nvSpPr>
        <p:spPr>
          <a:xfrm>
            <a:off x="640080" y="6510600"/>
            <a:ext cx="2742840" cy="19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9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Professor Miguél Suares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TextBox 67"/>
          <p:cNvSpPr/>
          <p:nvPr/>
        </p:nvSpPr>
        <p:spPr>
          <a:xfrm>
            <a:off x="640080" y="6693480"/>
            <a:ext cx="457164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8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UNIP • GTI – Oferta 2026 • Gestão e Análise de Dados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TextBox 68"/>
          <p:cNvSpPr/>
          <p:nvPr/>
        </p:nvSpPr>
        <p:spPr>
          <a:xfrm>
            <a:off x="11384280" y="6556320"/>
            <a:ext cx="319680" cy="1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8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15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TextBox 70"/>
          <p:cNvSpPr/>
          <p:nvPr/>
        </p:nvSpPr>
        <p:spPr>
          <a:xfrm>
            <a:off x="640080" y="6245280"/>
            <a:ext cx="10606680" cy="14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62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Vaswani et al. (2017), Attention Is All You Need, NeurIPS.</a:t>
            </a:r>
            <a:endParaRPr lang="pt-BR" sz="6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6" name="Rounded Rectangle 33"/>
          <p:cNvSpPr/>
          <p:nvPr/>
        </p:nvSpPr>
        <p:spPr>
          <a:xfrm>
            <a:off x="960120" y="2468880"/>
            <a:ext cx="2377080" cy="712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326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0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RNN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TextBox 71"/>
          <p:cNvSpPr/>
          <p:nvPr/>
        </p:nvSpPr>
        <p:spPr>
          <a:xfrm>
            <a:off x="960120" y="3337560"/>
            <a:ext cx="237708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passo a passo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68" name="Connector 31"/>
          <p:cNvCxnSpPr/>
          <p:nvPr/>
        </p:nvCxnSpPr>
        <p:spPr>
          <a:xfrm>
            <a:off x="3474720" y="2834640"/>
            <a:ext cx="1143360" cy="360"/>
          </a:xfrm>
          <a:prstGeom prst="straightConnector1">
            <a:avLst/>
          </a:prstGeom>
          <a:ln w="27940">
            <a:solidFill>
              <a:srgbClr val="3268B8"/>
            </a:solidFill>
          </a:ln>
        </p:spPr>
      </p:cxnSp>
      <p:sp>
        <p:nvSpPr>
          <p:cNvPr id="469" name="Isosceles Triangle 32"/>
          <p:cNvSpPr/>
          <p:nvPr/>
        </p:nvSpPr>
        <p:spPr>
          <a:xfrm rot="5400000">
            <a:off x="4536000" y="276156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70" name="Rounded Rectangle 34"/>
          <p:cNvSpPr/>
          <p:nvPr/>
        </p:nvSpPr>
        <p:spPr>
          <a:xfrm>
            <a:off x="4754880" y="2331720"/>
            <a:ext cx="2834280" cy="959760"/>
          </a:xfrm>
          <a:prstGeom prst="roundRect">
            <a:avLst>
              <a:gd name="adj" fmla="val 16667"/>
            </a:avLst>
          </a:prstGeom>
          <a:solidFill>
            <a:srgbClr val="FFF20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2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TRANSFORMER</a:t>
            </a:r>
            <a:endParaRPr lang="pt-B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71" name="Connector 35"/>
          <p:cNvCxnSpPr/>
          <p:nvPr/>
        </p:nvCxnSpPr>
        <p:spPr>
          <a:xfrm>
            <a:off x="7726320" y="2834640"/>
            <a:ext cx="1143720" cy="360"/>
          </a:xfrm>
          <a:prstGeom prst="straightConnector1">
            <a:avLst/>
          </a:prstGeom>
          <a:ln w="27940">
            <a:solidFill>
              <a:srgbClr val="3268B8"/>
            </a:solidFill>
          </a:ln>
        </p:spPr>
      </p:cxnSp>
      <p:sp>
        <p:nvSpPr>
          <p:cNvPr id="472" name="Isosceles Triangle 36"/>
          <p:cNvSpPr/>
          <p:nvPr/>
        </p:nvSpPr>
        <p:spPr>
          <a:xfrm rot="5400000">
            <a:off x="8787960" y="276156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73" name="Rounded Rectangle 54"/>
          <p:cNvSpPr/>
          <p:nvPr/>
        </p:nvSpPr>
        <p:spPr>
          <a:xfrm>
            <a:off x="9006840" y="2468880"/>
            <a:ext cx="2194200" cy="712800"/>
          </a:xfrm>
          <a:prstGeom prst="roundRect">
            <a:avLst>
              <a:gd name="adj" fmla="val 16667"/>
            </a:avLst>
          </a:prstGeom>
          <a:solidFill>
            <a:srgbClr val="FAE2D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0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ATENÇÃO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TextBox 72"/>
          <p:cNvSpPr/>
          <p:nvPr/>
        </p:nvSpPr>
        <p:spPr>
          <a:xfrm>
            <a:off x="8595360" y="3337560"/>
            <a:ext cx="29714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relações entre elementos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TextBox 74"/>
          <p:cNvSpPr/>
          <p:nvPr/>
        </p:nvSpPr>
        <p:spPr>
          <a:xfrm>
            <a:off x="914400" y="4663440"/>
            <a:ext cx="10332360" cy="69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21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A inovação central foi tornar o mecanismo de atenção o elemento principal da arquitetura.</a:t>
            </a:r>
            <a:endParaRPr lang="pt-B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6" name="Picture 1" descr="unip_logo.png"/>
          <p:cNvPicPr/>
          <p:nvPr/>
        </p:nvPicPr>
        <p:blipFill>
          <a:blip r:embed="rId1"/>
          <a:stretch/>
        </p:blipFill>
        <p:spPr>
          <a:xfrm>
            <a:off x="228600" y="137160"/>
            <a:ext cx="2468520" cy="52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7" name="TextBox 2"/>
          <p:cNvSpPr/>
          <p:nvPr/>
        </p:nvSpPr>
        <p:spPr>
          <a:xfrm>
            <a:off x="255960" y="932760"/>
            <a:ext cx="4388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3268B8"/>
                </a:solidFill>
                <a:effectLst/>
                <a:uFillTx/>
                <a:latin typeface="Arial"/>
              </a:rPr>
              <a:t>5 • TRANSFORMER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TextBox 3"/>
          <p:cNvSpPr/>
          <p:nvPr/>
        </p:nvSpPr>
        <p:spPr>
          <a:xfrm>
            <a:off x="255960" y="1207080"/>
            <a:ext cx="114296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7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Atenção: quais partes importam para entender esta parte?</a:t>
            </a:r>
            <a:endParaRPr lang="pt-BR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TextBox 4"/>
          <p:cNvSpPr/>
          <p:nvPr/>
        </p:nvSpPr>
        <p:spPr>
          <a:xfrm>
            <a:off x="640080" y="6510600"/>
            <a:ext cx="2742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9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Professor Miguél Suares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TextBox 5"/>
          <p:cNvSpPr/>
          <p:nvPr/>
        </p:nvSpPr>
        <p:spPr>
          <a:xfrm>
            <a:off x="640080" y="6693480"/>
            <a:ext cx="4571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8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UNIP • GTI – Oferta 2026 • Gestão e Análise de Dados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TextBox 6"/>
          <p:cNvSpPr/>
          <p:nvPr/>
        </p:nvSpPr>
        <p:spPr>
          <a:xfrm>
            <a:off x="11384280" y="6556320"/>
            <a:ext cx="319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8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16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TextBox 7"/>
          <p:cNvSpPr/>
          <p:nvPr/>
        </p:nvSpPr>
        <p:spPr>
          <a:xfrm>
            <a:off x="914400" y="2194560"/>
            <a:ext cx="103323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2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“O cachorro perseguiu o gato porque ele estava correndo.”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Rounded Rectangle 8"/>
          <p:cNvSpPr/>
          <p:nvPr/>
        </p:nvSpPr>
        <p:spPr>
          <a:xfrm>
            <a:off x="914400" y="3246120"/>
            <a:ext cx="1599840" cy="594000"/>
          </a:xfrm>
          <a:prstGeom prst="roundRect">
            <a:avLst>
              <a:gd name="adj" fmla="val 16667"/>
            </a:avLst>
          </a:prstGeom>
          <a:solidFill>
            <a:srgbClr val="DBE8F8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5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cachorro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4" name="Rounded Rectangle 9"/>
          <p:cNvSpPr/>
          <p:nvPr/>
        </p:nvSpPr>
        <p:spPr>
          <a:xfrm>
            <a:off x="3063240" y="3246120"/>
            <a:ext cx="1599840" cy="594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5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perseguiu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Rounded Rectangle 10"/>
          <p:cNvSpPr/>
          <p:nvPr/>
        </p:nvSpPr>
        <p:spPr>
          <a:xfrm>
            <a:off x="4983480" y="3246120"/>
            <a:ext cx="1599840" cy="594000"/>
          </a:xfrm>
          <a:prstGeom prst="roundRect">
            <a:avLst>
              <a:gd name="adj" fmla="val 16667"/>
            </a:avLst>
          </a:prstGeom>
          <a:solidFill>
            <a:srgbClr val="FAE2D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5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gato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Rounded Rectangle 11"/>
          <p:cNvSpPr/>
          <p:nvPr/>
        </p:nvSpPr>
        <p:spPr>
          <a:xfrm>
            <a:off x="6629400" y="3246120"/>
            <a:ext cx="1599840" cy="594000"/>
          </a:xfrm>
          <a:prstGeom prst="roundRect">
            <a:avLst>
              <a:gd name="adj" fmla="val 16667"/>
            </a:avLst>
          </a:prstGeom>
          <a:solidFill>
            <a:srgbClr val="FFF20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5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ele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Rounded Rectangle 12"/>
          <p:cNvSpPr/>
          <p:nvPr/>
        </p:nvSpPr>
        <p:spPr>
          <a:xfrm>
            <a:off x="8321040" y="3246120"/>
            <a:ext cx="1599840" cy="594000"/>
          </a:xfrm>
          <a:prstGeom prst="roundRect">
            <a:avLst>
              <a:gd name="adj" fmla="val 16667"/>
            </a:avLst>
          </a:prstGeom>
          <a:solidFill>
            <a:srgbClr val="6ED278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5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correndo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88" name="Connector 13"/>
          <p:cNvCxnSpPr/>
          <p:nvPr/>
        </p:nvCxnSpPr>
        <p:spPr>
          <a:xfrm>
            <a:off x="1714320" y="3840480"/>
            <a:ext cx="5715360" cy="686160"/>
          </a:xfrm>
          <a:prstGeom prst="straightConnector1">
            <a:avLst/>
          </a:prstGeom>
          <a:ln w="19050">
            <a:solidFill>
              <a:srgbClr val="3268B8"/>
            </a:solidFill>
          </a:ln>
        </p:spPr>
      </p:cxnSp>
      <p:cxnSp>
        <p:nvCxnSpPr>
          <p:cNvPr id="489" name="Connector 14"/>
          <p:cNvCxnSpPr/>
          <p:nvPr/>
        </p:nvCxnSpPr>
        <p:spPr>
          <a:xfrm>
            <a:off x="3863160" y="3840480"/>
            <a:ext cx="3566520" cy="686160"/>
          </a:xfrm>
          <a:prstGeom prst="straightConnector1">
            <a:avLst/>
          </a:prstGeom>
          <a:ln w="19050">
            <a:solidFill>
              <a:srgbClr val="3268B8"/>
            </a:solidFill>
          </a:ln>
        </p:spPr>
      </p:cxnSp>
      <p:cxnSp>
        <p:nvCxnSpPr>
          <p:cNvPr id="490" name="Connector 15"/>
          <p:cNvCxnSpPr/>
          <p:nvPr/>
        </p:nvCxnSpPr>
        <p:spPr>
          <a:xfrm>
            <a:off x="5783400" y="3840480"/>
            <a:ext cx="1646280" cy="686160"/>
          </a:xfrm>
          <a:prstGeom prst="straightConnector1">
            <a:avLst/>
          </a:prstGeom>
          <a:ln w="19050">
            <a:solidFill>
              <a:srgbClr val="3268B8"/>
            </a:solidFill>
          </a:ln>
        </p:spPr>
      </p:cxnSp>
      <p:cxnSp>
        <p:nvCxnSpPr>
          <p:cNvPr id="491" name="Connector 16"/>
          <p:cNvCxnSpPr/>
          <p:nvPr/>
        </p:nvCxnSpPr>
        <p:spPr>
          <a:xfrm flipH="1">
            <a:off x="7429320" y="3840480"/>
            <a:ext cx="1692000" cy="686160"/>
          </a:xfrm>
          <a:prstGeom prst="straightConnector1">
            <a:avLst/>
          </a:prstGeom>
          <a:ln w="19050">
            <a:solidFill>
              <a:srgbClr val="3268B8"/>
            </a:solidFill>
          </a:ln>
        </p:spPr>
      </p:cxnSp>
      <p:sp>
        <p:nvSpPr>
          <p:cNvPr id="492" name="Rounded Rectangle 17"/>
          <p:cNvSpPr/>
          <p:nvPr/>
        </p:nvSpPr>
        <p:spPr>
          <a:xfrm>
            <a:off x="6629400" y="4526280"/>
            <a:ext cx="1599840" cy="594000"/>
          </a:xfrm>
          <a:prstGeom prst="roundRect">
            <a:avLst>
              <a:gd name="adj" fmla="val 16667"/>
            </a:avLst>
          </a:prstGeom>
          <a:solidFill>
            <a:srgbClr val="FFF20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7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“ele”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TextBox 18"/>
          <p:cNvSpPr/>
          <p:nvPr/>
        </p:nvSpPr>
        <p:spPr>
          <a:xfrm>
            <a:off x="914400" y="5440680"/>
            <a:ext cx="103323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7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A rede aprende pesos de atenção: algumas relações recebem mais importância que outras.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4" name="Picture 1" descr="unip_logo.png"/>
          <p:cNvPicPr/>
          <p:nvPr/>
        </p:nvPicPr>
        <p:blipFill>
          <a:blip r:embed="rId1"/>
          <a:stretch/>
        </p:blipFill>
        <p:spPr>
          <a:xfrm>
            <a:off x="228600" y="137160"/>
            <a:ext cx="2468520" cy="52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5" name="TextBox 2"/>
          <p:cNvSpPr/>
          <p:nvPr/>
        </p:nvSpPr>
        <p:spPr>
          <a:xfrm>
            <a:off x="255960" y="932760"/>
            <a:ext cx="4388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3268B8"/>
                </a:solidFill>
                <a:effectLst/>
                <a:uFillTx/>
                <a:latin typeface="Arial"/>
              </a:rPr>
              <a:t>5 • TRANSFORMER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6" name="TextBox 3"/>
          <p:cNvSpPr/>
          <p:nvPr/>
        </p:nvSpPr>
        <p:spPr>
          <a:xfrm>
            <a:off x="255960" y="1207080"/>
            <a:ext cx="114296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7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Self-Attention: cada token pode “olhar” para os demais</a:t>
            </a:r>
            <a:endParaRPr lang="pt-BR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7" name="TextBox 4"/>
          <p:cNvSpPr/>
          <p:nvPr/>
        </p:nvSpPr>
        <p:spPr>
          <a:xfrm>
            <a:off x="274320" y="1755720"/>
            <a:ext cx="111553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4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Sem entrar na matemática: pense em uma tabela de relevâncias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8" name="TextBox 5"/>
          <p:cNvSpPr/>
          <p:nvPr/>
        </p:nvSpPr>
        <p:spPr>
          <a:xfrm>
            <a:off x="640080" y="6510600"/>
            <a:ext cx="2742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9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Professor Miguél Suares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TextBox 6"/>
          <p:cNvSpPr/>
          <p:nvPr/>
        </p:nvSpPr>
        <p:spPr>
          <a:xfrm>
            <a:off x="640080" y="6693480"/>
            <a:ext cx="4571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8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UNIP • GTI – Oferta 2026 • Gestão e Análise de Dados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TextBox 7"/>
          <p:cNvSpPr/>
          <p:nvPr/>
        </p:nvSpPr>
        <p:spPr>
          <a:xfrm>
            <a:off x="11384280" y="6556320"/>
            <a:ext cx="319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8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17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TextBox 8"/>
          <p:cNvSpPr/>
          <p:nvPr/>
        </p:nvSpPr>
        <p:spPr>
          <a:xfrm>
            <a:off x="640080" y="6245280"/>
            <a:ext cx="106066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62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Vaswani et al. (2017), Attention Is All You Need, NeurIPS.</a:t>
            </a:r>
            <a:endParaRPr lang="pt-BR" sz="6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2" name="TextBox 9"/>
          <p:cNvSpPr/>
          <p:nvPr/>
        </p:nvSpPr>
        <p:spPr>
          <a:xfrm>
            <a:off x="685800" y="2423160"/>
            <a:ext cx="11426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pt-BR" sz="11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Summer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3" name="TextBox 10"/>
          <p:cNvSpPr/>
          <p:nvPr/>
        </p:nvSpPr>
        <p:spPr>
          <a:xfrm>
            <a:off x="1810440" y="1974960"/>
            <a:ext cx="685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Summer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TextBox 11"/>
          <p:cNvSpPr/>
          <p:nvPr/>
        </p:nvSpPr>
        <p:spPr>
          <a:xfrm>
            <a:off x="685800" y="2898720"/>
            <a:ext cx="11426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pt-BR" sz="11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is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TextBox 12"/>
          <p:cNvSpPr/>
          <p:nvPr/>
        </p:nvSpPr>
        <p:spPr>
          <a:xfrm>
            <a:off x="2286000" y="1974960"/>
            <a:ext cx="685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is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6" name="TextBox 13"/>
          <p:cNvSpPr/>
          <p:nvPr/>
        </p:nvSpPr>
        <p:spPr>
          <a:xfrm>
            <a:off x="685800" y="3374280"/>
            <a:ext cx="11426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pt-BR" sz="11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warm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7" name="TextBox 14"/>
          <p:cNvSpPr/>
          <p:nvPr/>
        </p:nvSpPr>
        <p:spPr>
          <a:xfrm>
            <a:off x="2761560" y="1974960"/>
            <a:ext cx="685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warm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8" name="TextBox 15"/>
          <p:cNvSpPr/>
          <p:nvPr/>
        </p:nvSpPr>
        <p:spPr>
          <a:xfrm>
            <a:off x="685800" y="3849480"/>
            <a:ext cx="11426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pt-BR" sz="11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Winter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TextBox 16"/>
          <p:cNvSpPr/>
          <p:nvPr/>
        </p:nvSpPr>
        <p:spPr>
          <a:xfrm>
            <a:off x="3237120" y="1974960"/>
            <a:ext cx="685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Winter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TextBox 17"/>
          <p:cNvSpPr/>
          <p:nvPr/>
        </p:nvSpPr>
        <p:spPr>
          <a:xfrm>
            <a:off x="685800" y="4325040"/>
            <a:ext cx="11426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pt-BR" sz="11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cold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1" name="TextBox 18"/>
          <p:cNvSpPr/>
          <p:nvPr/>
        </p:nvSpPr>
        <p:spPr>
          <a:xfrm>
            <a:off x="3712320" y="1974960"/>
            <a:ext cx="685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cold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Rectangle 19"/>
          <p:cNvSpPr/>
          <p:nvPr/>
        </p:nvSpPr>
        <p:spPr>
          <a:xfrm>
            <a:off x="1920240" y="2331720"/>
            <a:ext cx="475200" cy="475200"/>
          </a:xfrm>
          <a:prstGeom prst="rect">
            <a:avLst/>
          </a:prstGeom>
          <a:solidFill>
            <a:srgbClr val="6ED27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13" name="Rectangle 20"/>
          <p:cNvSpPr/>
          <p:nvPr/>
        </p:nvSpPr>
        <p:spPr>
          <a:xfrm>
            <a:off x="2395800" y="2331720"/>
            <a:ext cx="475200" cy="475200"/>
          </a:xfrm>
          <a:prstGeom prst="rect">
            <a:avLst/>
          </a:prstGeom>
          <a:solidFill>
            <a:srgbClr val="FFF2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14" name="Rectangle 21"/>
          <p:cNvSpPr/>
          <p:nvPr/>
        </p:nvSpPr>
        <p:spPr>
          <a:xfrm>
            <a:off x="2871360" y="2331720"/>
            <a:ext cx="475200" cy="475200"/>
          </a:xfrm>
          <a:prstGeom prst="rect">
            <a:avLst/>
          </a:prstGeom>
          <a:solidFill>
            <a:srgbClr val="DBE8F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15" name="Rectangle 22"/>
          <p:cNvSpPr/>
          <p:nvPr/>
        </p:nvSpPr>
        <p:spPr>
          <a:xfrm>
            <a:off x="3346560" y="2331720"/>
            <a:ext cx="475200" cy="4752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16" name="Rectangle 23"/>
          <p:cNvSpPr/>
          <p:nvPr/>
        </p:nvSpPr>
        <p:spPr>
          <a:xfrm>
            <a:off x="3822120" y="2331720"/>
            <a:ext cx="475200" cy="4752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17" name="Rectangle 24"/>
          <p:cNvSpPr/>
          <p:nvPr/>
        </p:nvSpPr>
        <p:spPr>
          <a:xfrm>
            <a:off x="1920240" y="2807280"/>
            <a:ext cx="475200" cy="475200"/>
          </a:xfrm>
          <a:prstGeom prst="rect">
            <a:avLst/>
          </a:prstGeom>
          <a:solidFill>
            <a:srgbClr val="FFF2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18" name="Rectangle 25"/>
          <p:cNvSpPr/>
          <p:nvPr/>
        </p:nvSpPr>
        <p:spPr>
          <a:xfrm>
            <a:off x="2395800" y="2807280"/>
            <a:ext cx="475200" cy="475200"/>
          </a:xfrm>
          <a:prstGeom prst="rect">
            <a:avLst/>
          </a:prstGeom>
          <a:solidFill>
            <a:srgbClr val="6ED27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19" name="Rectangle 26"/>
          <p:cNvSpPr/>
          <p:nvPr/>
        </p:nvSpPr>
        <p:spPr>
          <a:xfrm>
            <a:off x="2871360" y="2807280"/>
            <a:ext cx="475200" cy="475200"/>
          </a:xfrm>
          <a:prstGeom prst="rect">
            <a:avLst/>
          </a:prstGeom>
          <a:solidFill>
            <a:srgbClr val="FFF2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20" name="Rectangle 27"/>
          <p:cNvSpPr/>
          <p:nvPr/>
        </p:nvSpPr>
        <p:spPr>
          <a:xfrm>
            <a:off x="3346560" y="2807280"/>
            <a:ext cx="475200" cy="475200"/>
          </a:xfrm>
          <a:prstGeom prst="rect">
            <a:avLst/>
          </a:prstGeom>
          <a:solidFill>
            <a:srgbClr val="DBE8F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21" name="Rectangle 28"/>
          <p:cNvSpPr/>
          <p:nvPr/>
        </p:nvSpPr>
        <p:spPr>
          <a:xfrm>
            <a:off x="3822120" y="2807280"/>
            <a:ext cx="475200" cy="4752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22" name="Rectangle 29"/>
          <p:cNvSpPr/>
          <p:nvPr/>
        </p:nvSpPr>
        <p:spPr>
          <a:xfrm>
            <a:off x="1920240" y="3282840"/>
            <a:ext cx="475200" cy="475200"/>
          </a:xfrm>
          <a:prstGeom prst="rect">
            <a:avLst/>
          </a:prstGeom>
          <a:solidFill>
            <a:srgbClr val="DBE8F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23" name="Rectangle 30"/>
          <p:cNvSpPr/>
          <p:nvPr/>
        </p:nvSpPr>
        <p:spPr>
          <a:xfrm>
            <a:off x="2395800" y="3282840"/>
            <a:ext cx="475200" cy="475200"/>
          </a:xfrm>
          <a:prstGeom prst="rect">
            <a:avLst/>
          </a:prstGeom>
          <a:solidFill>
            <a:srgbClr val="FFF2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24" name="Rectangle 31"/>
          <p:cNvSpPr/>
          <p:nvPr/>
        </p:nvSpPr>
        <p:spPr>
          <a:xfrm>
            <a:off x="2871360" y="3282840"/>
            <a:ext cx="475200" cy="475200"/>
          </a:xfrm>
          <a:prstGeom prst="rect">
            <a:avLst/>
          </a:prstGeom>
          <a:solidFill>
            <a:srgbClr val="6ED27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25" name="Rectangle 32"/>
          <p:cNvSpPr/>
          <p:nvPr/>
        </p:nvSpPr>
        <p:spPr>
          <a:xfrm>
            <a:off x="3346560" y="3282840"/>
            <a:ext cx="475200" cy="475200"/>
          </a:xfrm>
          <a:prstGeom prst="rect">
            <a:avLst/>
          </a:prstGeom>
          <a:solidFill>
            <a:srgbClr val="FFF2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26" name="Rectangle 33"/>
          <p:cNvSpPr/>
          <p:nvPr/>
        </p:nvSpPr>
        <p:spPr>
          <a:xfrm>
            <a:off x="3822120" y="3282840"/>
            <a:ext cx="475200" cy="475200"/>
          </a:xfrm>
          <a:prstGeom prst="rect">
            <a:avLst/>
          </a:prstGeom>
          <a:solidFill>
            <a:srgbClr val="DBE8F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27" name="Rectangle 34"/>
          <p:cNvSpPr/>
          <p:nvPr/>
        </p:nvSpPr>
        <p:spPr>
          <a:xfrm>
            <a:off x="1920240" y="3758040"/>
            <a:ext cx="475200" cy="4752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28" name="Rectangle 35"/>
          <p:cNvSpPr/>
          <p:nvPr/>
        </p:nvSpPr>
        <p:spPr>
          <a:xfrm>
            <a:off x="2395800" y="3758040"/>
            <a:ext cx="475200" cy="475200"/>
          </a:xfrm>
          <a:prstGeom prst="rect">
            <a:avLst/>
          </a:prstGeom>
          <a:solidFill>
            <a:srgbClr val="DBE8F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29" name="Rectangle 36"/>
          <p:cNvSpPr/>
          <p:nvPr/>
        </p:nvSpPr>
        <p:spPr>
          <a:xfrm>
            <a:off x="2871360" y="3758040"/>
            <a:ext cx="475200" cy="475200"/>
          </a:xfrm>
          <a:prstGeom prst="rect">
            <a:avLst/>
          </a:prstGeom>
          <a:solidFill>
            <a:srgbClr val="FFF2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30" name="Rectangle 37"/>
          <p:cNvSpPr/>
          <p:nvPr/>
        </p:nvSpPr>
        <p:spPr>
          <a:xfrm>
            <a:off x="3346560" y="3758040"/>
            <a:ext cx="475200" cy="475200"/>
          </a:xfrm>
          <a:prstGeom prst="rect">
            <a:avLst/>
          </a:prstGeom>
          <a:solidFill>
            <a:srgbClr val="6ED27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31" name="Rectangle 38"/>
          <p:cNvSpPr/>
          <p:nvPr/>
        </p:nvSpPr>
        <p:spPr>
          <a:xfrm>
            <a:off x="3822120" y="3758040"/>
            <a:ext cx="475200" cy="475200"/>
          </a:xfrm>
          <a:prstGeom prst="rect">
            <a:avLst/>
          </a:prstGeom>
          <a:solidFill>
            <a:srgbClr val="FFF2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32" name="Rectangle 39"/>
          <p:cNvSpPr/>
          <p:nvPr/>
        </p:nvSpPr>
        <p:spPr>
          <a:xfrm>
            <a:off x="1920240" y="4233600"/>
            <a:ext cx="475200" cy="4752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33" name="Rectangle 40"/>
          <p:cNvSpPr/>
          <p:nvPr/>
        </p:nvSpPr>
        <p:spPr>
          <a:xfrm>
            <a:off x="2395800" y="4233600"/>
            <a:ext cx="475200" cy="4752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34" name="Rectangle 41"/>
          <p:cNvSpPr/>
          <p:nvPr/>
        </p:nvSpPr>
        <p:spPr>
          <a:xfrm>
            <a:off x="2871360" y="4233600"/>
            <a:ext cx="475200" cy="475200"/>
          </a:xfrm>
          <a:prstGeom prst="rect">
            <a:avLst/>
          </a:prstGeom>
          <a:solidFill>
            <a:srgbClr val="DBE8F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35" name="Rectangle 42"/>
          <p:cNvSpPr/>
          <p:nvPr/>
        </p:nvSpPr>
        <p:spPr>
          <a:xfrm>
            <a:off x="3346560" y="4233600"/>
            <a:ext cx="475200" cy="475200"/>
          </a:xfrm>
          <a:prstGeom prst="rect">
            <a:avLst/>
          </a:prstGeom>
          <a:solidFill>
            <a:srgbClr val="FFF2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36" name="Rectangle 43"/>
          <p:cNvSpPr/>
          <p:nvPr/>
        </p:nvSpPr>
        <p:spPr>
          <a:xfrm>
            <a:off x="3822120" y="4233600"/>
            <a:ext cx="475200" cy="475200"/>
          </a:xfrm>
          <a:prstGeom prst="rect">
            <a:avLst/>
          </a:prstGeom>
          <a:solidFill>
            <a:srgbClr val="6ED27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37" name="Rounded Rectangle 44"/>
          <p:cNvSpPr/>
          <p:nvPr/>
        </p:nvSpPr>
        <p:spPr>
          <a:xfrm>
            <a:off x="5486400" y="2423160"/>
            <a:ext cx="5028840" cy="1325520"/>
          </a:xfrm>
          <a:prstGeom prst="roundRect">
            <a:avLst>
              <a:gd name="adj" fmla="val 16667"/>
            </a:avLst>
          </a:prstGeom>
          <a:solidFill>
            <a:srgbClr val="DBE8F8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Cada célula responde: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“quanto este token deve prestar atenção naquele?”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8" name="Rounded Rectangle 45"/>
          <p:cNvSpPr/>
          <p:nvPr/>
        </p:nvSpPr>
        <p:spPr>
          <a:xfrm>
            <a:off x="5486400" y="4069080"/>
            <a:ext cx="5028840" cy="1051200"/>
          </a:xfrm>
          <a:prstGeom prst="roundRect">
            <a:avLst>
              <a:gd name="adj" fmla="val 16667"/>
            </a:avLst>
          </a:prstGeom>
          <a:solidFill>
            <a:srgbClr val="FAE2D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Multi-Head Attention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= várias formas de observar relações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9" name="Picture 1" descr="unip_logo.png"/>
          <p:cNvPicPr/>
          <p:nvPr/>
        </p:nvPicPr>
        <p:blipFill>
          <a:blip r:embed="rId1"/>
          <a:stretch/>
        </p:blipFill>
        <p:spPr>
          <a:xfrm>
            <a:off x="228600" y="137160"/>
            <a:ext cx="2468520" cy="52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0" name="TextBox 2"/>
          <p:cNvSpPr/>
          <p:nvPr/>
        </p:nvSpPr>
        <p:spPr>
          <a:xfrm>
            <a:off x="255960" y="932760"/>
            <a:ext cx="4388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3268B8"/>
                </a:solidFill>
                <a:effectLst/>
                <a:uFillTx/>
                <a:latin typeface="Arial"/>
              </a:rPr>
              <a:t>5 • TRANSFORMER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1" name="TextBox 3"/>
          <p:cNvSpPr/>
          <p:nvPr/>
        </p:nvSpPr>
        <p:spPr>
          <a:xfrm>
            <a:off x="255960" y="1207080"/>
            <a:ext cx="114296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7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Transformer em uma visão simplificada</a:t>
            </a:r>
            <a:endParaRPr lang="pt-BR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2" name="TextBox 4"/>
          <p:cNvSpPr/>
          <p:nvPr/>
        </p:nvSpPr>
        <p:spPr>
          <a:xfrm>
            <a:off x="640080" y="6510600"/>
            <a:ext cx="2742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9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Professor Miguél Suares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3" name="TextBox 5"/>
          <p:cNvSpPr/>
          <p:nvPr/>
        </p:nvSpPr>
        <p:spPr>
          <a:xfrm>
            <a:off x="640080" y="6693480"/>
            <a:ext cx="4571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8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UNIP • GTI – Oferta 2026 • Gestão e Análise de Dados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4" name="TextBox 6"/>
          <p:cNvSpPr/>
          <p:nvPr/>
        </p:nvSpPr>
        <p:spPr>
          <a:xfrm>
            <a:off x="11384280" y="6556320"/>
            <a:ext cx="319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8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18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Rounded Rectangle 7"/>
          <p:cNvSpPr/>
          <p:nvPr/>
        </p:nvSpPr>
        <p:spPr>
          <a:xfrm>
            <a:off x="685800" y="2907720"/>
            <a:ext cx="1508400" cy="712800"/>
          </a:xfrm>
          <a:prstGeom prst="roundRect">
            <a:avLst>
              <a:gd name="adj" fmla="val 16667"/>
            </a:avLst>
          </a:prstGeom>
          <a:solidFill>
            <a:srgbClr val="DBE8F8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7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Tokens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46" name="Connector 8"/>
          <p:cNvCxnSpPr/>
          <p:nvPr/>
        </p:nvCxnSpPr>
        <p:spPr>
          <a:xfrm>
            <a:off x="2194560" y="3264120"/>
            <a:ext cx="622080" cy="360"/>
          </a:xfrm>
          <a:prstGeom prst="straightConnector1">
            <a:avLst/>
          </a:prstGeom>
          <a:ln w="25400">
            <a:solidFill>
              <a:srgbClr val="3268B8"/>
            </a:solidFill>
          </a:ln>
        </p:spPr>
      </p:cxnSp>
      <p:sp>
        <p:nvSpPr>
          <p:cNvPr id="547" name="Isosceles Triangle 9"/>
          <p:cNvSpPr/>
          <p:nvPr/>
        </p:nvSpPr>
        <p:spPr>
          <a:xfrm rot="5400000">
            <a:off x="2734560" y="319140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48" name="Rounded Rectangle 10"/>
          <p:cNvSpPr/>
          <p:nvPr/>
        </p:nvSpPr>
        <p:spPr>
          <a:xfrm>
            <a:off x="2926080" y="2788920"/>
            <a:ext cx="1828440" cy="9597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326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5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Embedding +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5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posição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49" name="Connector 11"/>
          <p:cNvCxnSpPr/>
          <p:nvPr/>
        </p:nvCxnSpPr>
        <p:spPr>
          <a:xfrm>
            <a:off x="4754880" y="3264120"/>
            <a:ext cx="603720" cy="360"/>
          </a:xfrm>
          <a:prstGeom prst="straightConnector1">
            <a:avLst/>
          </a:prstGeom>
          <a:ln w="25400">
            <a:solidFill>
              <a:srgbClr val="3268B8"/>
            </a:solidFill>
          </a:ln>
        </p:spPr>
      </p:cxnSp>
      <p:sp>
        <p:nvSpPr>
          <p:cNvPr id="550" name="Isosceles Triangle 12"/>
          <p:cNvSpPr/>
          <p:nvPr/>
        </p:nvSpPr>
        <p:spPr>
          <a:xfrm rot="5400000">
            <a:off x="5276520" y="319140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51" name="Rounded Rectangle 13"/>
          <p:cNvSpPr/>
          <p:nvPr/>
        </p:nvSpPr>
        <p:spPr>
          <a:xfrm>
            <a:off x="5468040" y="2788920"/>
            <a:ext cx="1919880" cy="959760"/>
          </a:xfrm>
          <a:prstGeom prst="roundRect">
            <a:avLst>
              <a:gd name="adj" fmla="val 16667"/>
            </a:avLst>
          </a:prstGeom>
          <a:solidFill>
            <a:srgbClr val="FFF20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7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Self-Attention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52" name="Connector 14"/>
          <p:cNvCxnSpPr/>
          <p:nvPr/>
        </p:nvCxnSpPr>
        <p:spPr>
          <a:xfrm>
            <a:off x="7388280" y="3264120"/>
            <a:ext cx="603720" cy="360"/>
          </a:xfrm>
          <a:prstGeom prst="straightConnector1">
            <a:avLst/>
          </a:prstGeom>
          <a:ln w="25400">
            <a:solidFill>
              <a:srgbClr val="3268B8"/>
            </a:solidFill>
          </a:ln>
        </p:spPr>
      </p:cxnSp>
      <p:sp>
        <p:nvSpPr>
          <p:cNvPr id="553" name="Isosceles Triangle 15"/>
          <p:cNvSpPr/>
          <p:nvPr/>
        </p:nvSpPr>
        <p:spPr>
          <a:xfrm rot="5400000">
            <a:off x="7909920" y="319140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54" name="Rounded Rectangle 16"/>
          <p:cNvSpPr/>
          <p:nvPr/>
        </p:nvSpPr>
        <p:spPr>
          <a:xfrm>
            <a:off x="8101440" y="2788920"/>
            <a:ext cx="1828440" cy="959760"/>
          </a:xfrm>
          <a:prstGeom prst="roundRect">
            <a:avLst>
              <a:gd name="adj" fmla="val 16667"/>
            </a:avLst>
          </a:prstGeom>
          <a:solidFill>
            <a:srgbClr val="FAE2D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6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MLP / Feed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6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Forward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55" name="Connector 17"/>
          <p:cNvCxnSpPr/>
          <p:nvPr/>
        </p:nvCxnSpPr>
        <p:spPr>
          <a:xfrm>
            <a:off x="9930240" y="3264120"/>
            <a:ext cx="585720" cy="360"/>
          </a:xfrm>
          <a:prstGeom prst="straightConnector1">
            <a:avLst/>
          </a:prstGeom>
          <a:ln w="25400">
            <a:solidFill>
              <a:srgbClr val="3268B8"/>
            </a:solidFill>
          </a:ln>
        </p:spPr>
      </p:cxnSp>
      <p:sp>
        <p:nvSpPr>
          <p:cNvPr id="556" name="Isosceles Triangle 18"/>
          <p:cNvSpPr/>
          <p:nvPr/>
        </p:nvSpPr>
        <p:spPr>
          <a:xfrm rot="5400000">
            <a:off x="10433880" y="319140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57" name="Rounded Rectangle 19"/>
          <p:cNvSpPr/>
          <p:nvPr/>
        </p:nvSpPr>
        <p:spPr>
          <a:xfrm>
            <a:off x="10607040" y="2907720"/>
            <a:ext cx="959760" cy="712800"/>
          </a:xfrm>
          <a:prstGeom prst="roundRect">
            <a:avLst>
              <a:gd name="adj" fmla="val 16667"/>
            </a:avLst>
          </a:prstGeom>
          <a:solidFill>
            <a:srgbClr val="6ED278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6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Saída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8" name="TextBox 20"/>
          <p:cNvSpPr/>
          <p:nvPr/>
        </p:nvSpPr>
        <p:spPr>
          <a:xfrm>
            <a:off x="2194560" y="4663440"/>
            <a:ext cx="786348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22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O bloco Attention + MLP é repetido várias vezes.</a:t>
            </a:r>
            <a:endParaRPr lang="pt-B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9" name="TextBox 21"/>
          <p:cNvSpPr/>
          <p:nvPr/>
        </p:nvSpPr>
        <p:spPr>
          <a:xfrm>
            <a:off x="914400" y="5303520"/>
            <a:ext cx="103323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7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Para esta aula, o importante é entender o papel da atenção — não calcular Query, Key e Value à mão.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0" name="Picture 1" descr="unip_logo.png"/>
          <p:cNvPicPr/>
          <p:nvPr/>
        </p:nvPicPr>
        <p:blipFill>
          <a:blip r:embed="rId1"/>
          <a:stretch/>
        </p:blipFill>
        <p:spPr>
          <a:xfrm>
            <a:off x="228600" y="137160"/>
            <a:ext cx="2468520" cy="52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1" name="TextBox 2"/>
          <p:cNvSpPr/>
          <p:nvPr/>
        </p:nvSpPr>
        <p:spPr>
          <a:xfrm>
            <a:off x="255960" y="932760"/>
            <a:ext cx="4388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3268B8"/>
                </a:solidFill>
                <a:effectLst/>
                <a:uFillTx/>
                <a:latin typeface="Arial"/>
              </a:rPr>
              <a:t>6 • VISION TRANSFORMER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2" name="TextBox 3"/>
          <p:cNvSpPr/>
          <p:nvPr/>
        </p:nvSpPr>
        <p:spPr>
          <a:xfrm>
            <a:off x="255960" y="1207080"/>
            <a:ext cx="114296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7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E se uma imagem virasse uma sequência de “tokens visuais”?</a:t>
            </a:r>
            <a:endParaRPr lang="pt-BR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3" name="TextBox 4"/>
          <p:cNvSpPr/>
          <p:nvPr/>
        </p:nvSpPr>
        <p:spPr>
          <a:xfrm>
            <a:off x="274320" y="1755720"/>
            <a:ext cx="111553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4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Vision Transformer (ViT)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4" name="TextBox 5"/>
          <p:cNvSpPr/>
          <p:nvPr/>
        </p:nvSpPr>
        <p:spPr>
          <a:xfrm>
            <a:off x="640080" y="6510600"/>
            <a:ext cx="2742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9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Professor Miguél Suares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5" name="TextBox 6"/>
          <p:cNvSpPr/>
          <p:nvPr/>
        </p:nvSpPr>
        <p:spPr>
          <a:xfrm>
            <a:off x="640080" y="6693480"/>
            <a:ext cx="4571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8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UNIP • GTI – Oferta 2026 • Gestão e Análise de Dados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6" name="TextBox 7"/>
          <p:cNvSpPr/>
          <p:nvPr/>
        </p:nvSpPr>
        <p:spPr>
          <a:xfrm>
            <a:off x="11384280" y="6556320"/>
            <a:ext cx="319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8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19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7" name="TextBox 8"/>
          <p:cNvSpPr/>
          <p:nvPr/>
        </p:nvSpPr>
        <p:spPr>
          <a:xfrm>
            <a:off x="640080" y="6245280"/>
            <a:ext cx="106066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62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Dosovitskiy et al. (2021), An Image is Worth 16x16 Words, ICLR.</a:t>
            </a:r>
            <a:endParaRPr lang="pt-BR" sz="6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Rectangle 9"/>
          <p:cNvSpPr/>
          <p:nvPr/>
        </p:nvSpPr>
        <p:spPr>
          <a:xfrm>
            <a:off x="777240" y="2331720"/>
            <a:ext cx="612360" cy="612360"/>
          </a:xfrm>
          <a:prstGeom prst="rect">
            <a:avLst/>
          </a:prstGeom>
          <a:solidFill>
            <a:srgbClr val="DBE8F8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01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Rectangle 10"/>
          <p:cNvSpPr/>
          <p:nvPr/>
        </p:nvSpPr>
        <p:spPr>
          <a:xfrm>
            <a:off x="1389960" y="2331720"/>
            <a:ext cx="612360" cy="612360"/>
          </a:xfrm>
          <a:prstGeom prst="rect">
            <a:avLst/>
          </a:prstGeom>
          <a:solidFill>
            <a:srgbClr val="FFFFFF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02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0" name="Rectangle 11"/>
          <p:cNvSpPr/>
          <p:nvPr/>
        </p:nvSpPr>
        <p:spPr>
          <a:xfrm>
            <a:off x="2002680" y="2331720"/>
            <a:ext cx="612360" cy="612360"/>
          </a:xfrm>
          <a:prstGeom prst="rect">
            <a:avLst/>
          </a:prstGeom>
          <a:solidFill>
            <a:srgbClr val="FFF20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03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1" name="Rectangle 12"/>
          <p:cNvSpPr/>
          <p:nvPr/>
        </p:nvSpPr>
        <p:spPr>
          <a:xfrm>
            <a:off x="2615040" y="2331720"/>
            <a:ext cx="612360" cy="612360"/>
          </a:xfrm>
          <a:prstGeom prst="rect">
            <a:avLst/>
          </a:prstGeom>
          <a:solidFill>
            <a:srgbClr val="FAE2D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04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2" name="Rectangle 13"/>
          <p:cNvSpPr/>
          <p:nvPr/>
        </p:nvSpPr>
        <p:spPr>
          <a:xfrm>
            <a:off x="777240" y="2944440"/>
            <a:ext cx="612360" cy="612360"/>
          </a:xfrm>
          <a:prstGeom prst="rect">
            <a:avLst/>
          </a:prstGeom>
          <a:solidFill>
            <a:srgbClr val="FFFFFF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05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3" name="Rectangle 14"/>
          <p:cNvSpPr/>
          <p:nvPr/>
        </p:nvSpPr>
        <p:spPr>
          <a:xfrm>
            <a:off x="1389960" y="2944440"/>
            <a:ext cx="612360" cy="612360"/>
          </a:xfrm>
          <a:prstGeom prst="rect">
            <a:avLst/>
          </a:prstGeom>
          <a:solidFill>
            <a:srgbClr val="FFF20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06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4" name="Rectangle 15"/>
          <p:cNvSpPr/>
          <p:nvPr/>
        </p:nvSpPr>
        <p:spPr>
          <a:xfrm>
            <a:off x="2002680" y="2944440"/>
            <a:ext cx="612360" cy="612360"/>
          </a:xfrm>
          <a:prstGeom prst="rect">
            <a:avLst/>
          </a:prstGeom>
          <a:solidFill>
            <a:srgbClr val="FAE2D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07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5" name="Rectangle 16"/>
          <p:cNvSpPr/>
          <p:nvPr/>
        </p:nvSpPr>
        <p:spPr>
          <a:xfrm>
            <a:off x="2615040" y="2944440"/>
            <a:ext cx="612360" cy="612360"/>
          </a:xfrm>
          <a:prstGeom prst="rect">
            <a:avLst/>
          </a:prstGeom>
          <a:solidFill>
            <a:srgbClr val="DBE8F8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08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6" name="Rectangle 17"/>
          <p:cNvSpPr/>
          <p:nvPr/>
        </p:nvSpPr>
        <p:spPr>
          <a:xfrm>
            <a:off x="777240" y="3557160"/>
            <a:ext cx="612360" cy="612360"/>
          </a:xfrm>
          <a:prstGeom prst="rect">
            <a:avLst/>
          </a:prstGeom>
          <a:solidFill>
            <a:srgbClr val="FFF20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09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7" name="Rectangle 18"/>
          <p:cNvSpPr/>
          <p:nvPr/>
        </p:nvSpPr>
        <p:spPr>
          <a:xfrm>
            <a:off x="1389960" y="3557160"/>
            <a:ext cx="612360" cy="612360"/>
          </a:xfrm>
          <a:prstGeom prst="rect">
            <a:avLst/>
          </a:prstGeom>
          <a:solidFill>
            <a:srgbClr val="FAE2D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10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8" name="Rectangle 19"/>
          <p:cNvSpPr/>
          <p:nvPr/>
        </p:nvSpPr>
        <p:spPr>
          <a:xfrm>
            <a:off x="2002680" y="3557160"/>
            <a:ext cx="612360" cy="612360"/>
          </a:xfrm>
          <a:prstGeom prst="rect">
            <a:avLst/>
          </a:prstGeom>
          <a:solidFill>
            <a:srgbClr val="DBE8F8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11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9" name="Rectangle 20"/>
          <p:cNvSpPr/>
          <p:nvPr/>
        </p:nvSpPr>
        <p:spPr>
          <a:xfrm>
            <a:off x="2615040" y="3557160"/>
            <a:ext cx="612360" cy="612360"/>
          </a:xfrm>
          <a:prstGeom prst="rect">
            <a:avLst/>
          </a:prstGeom>
          <a:solidFill>
            <a:srgbClr val="FFFFFF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12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0" name="Rectangle 21"/>
          <p:cNvSpPr/>
          <p:nvPr/>
        </p:nvSpPr>
        <p:spPr>
          <a:xfrm>
            <a:off x="777240" y="4169520"/>
            <a:ext cx="612360" cy="612360"/>
          </a:xfrm>
          <a:prstGeom prst="rect">
            <a:avLst/>
          </a:prstGeom>
          <a:solidFill>
            <a:srgbClr val="FAE2D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13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1" name="Rectangle 22"/>
          <p:cNvSpPr/>
          <p:nvPr/>
        </p:nvSpPr>
        <p:spPr>
          <a:xfrm>
            <a:off x="1389960" y="4169520"/>
            <a:ext cx="612360" cy="612360"/>
          </a:xfrm>
          <a:prstGeom prst="rect">
            <a:avLst/>
          </a:prstGeom>
          <a:solidFill>
            <a:srgbClr val="DBE8F8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14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2" name="Rectangle 23"/>
          <p:cNvSpPr/>
          <p:nvPr/>
        </p:nvSpPr>
        <p:spPr>
          <a:xfrm>
            <a:off x="2002680" y="4169520"/>
            <a:ext cx="612360" cy="612360"/>
          </a:xfrm>
          <a:prstGeom prst="rect">
            <a:avLst/>
          </a:prstGeom>
          <a:solidFill>
            <a:srgbClr val="FFFFFF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15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3" name="Rectangle 24"/>
          <p:cNvSpPr/>
          <p:nvPr/>
        </p:nvSpPr>
        <p:spPr>
          <a:xfrm>
            <a:off x="2615040" y="4169520"/>
            <a:ext cx="612360" cy="612360"/>
          </a:xfrm>
          <a:prstGeom prst="rect">
            <a:avLst/>
          </a:prstGeom>
          <a:solidFill>
            <a:srgbClr val="FFF20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16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4" name="TextBox 25"/>
          <p:cNvSpPr/>
          <p:nvPr/>
        </p:nvSpPr>
        <p:spPr>
          <a:xfrm>
            <a:off x="685800" y="4983480"/>
            <a:ext cx="27428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imagem dividida em patches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85" name="Connector 26"/>
          <p:cNvCxnSpPr/>
          <p:nvPr/>
        </p:nvCxnSpPr>
        <p:spPr>
          <a:xfrm>
            <a:off x="3703320" y="3566160"/>
            <a:ext cx="1051920" cy="360"/>
          </a:xfrm>
          <a:prstGeom prst="straightConnector1">
            <a:avLst/>
          </a:prstGeom>
          <a:ln w="25400">
            <a:solidFill>
              <a:srgbClr val="3268B8"/>
            </a:solidFill>
          </a:ln>
        </p:spPr>
      </p:cxnSp>
      <p:sp>
        <p:nvSpPr>
          <p:cNvPr id="586" name="Isosceles Triangle 27"/>
          <p:cNvSpPr/>
          <p:nvPr/>
        </p:nvSpPr>
        <p:spPr>
          <a:xfrm rot="5400000">
            <a:off x="4673160" y="349308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87" name="Rounded Rectangle 28"/>
          <p:cNvSpPr/>
          <p:nvPr/>
        </p:nvSpPr>
        <p:spPr>
          <a:xfrm>
            <a:off x="4983480" y="2423160"/>
            <a:ext cx="1416960" cy="429480"/>
          </a:xfrm>
          <a:prstGeom prst="roundRect">
            <a:avLst>
              <a:gd name="adj" fmla="val 16667"/>
            </a:avLst>
          </a:prstGeom>
          <a:solidFill>
            <a:srgbClr val="DBE8F8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patch 1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8" name="Rounded Rectangle 29"/>
          <p:cNvSpPr/>
          <p:nvPr/>
        </p:nvSpPr>
        <p:spPr>
          <a:xfrm>
            <a:off x="4983480" y="3081600"/>
            <a:ext cx="1416960" cy="429480"/>
          </a:xfrm>
          <a:prstGeom prst="roundRect">
            <a:avLst>
              <a:gd name="adj" fmla="val 16667"/>
            </a:avLst>
          </a:prstGeom>
          <a:solidFill>
            <a:srgbClr val="FFF20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patch 2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9" name="Rounded Rectangle 30"/>
          <p:cNvSpPr/>
          <p:nvPr/>
        </p:nvSpPr>
        <p:spPr>
          <a:xfrm>
            <a:off x="4983480" y="3740040"/>
            <a:ext cx="1416960" cy="429480"/>
          </a:xfrm>
          <a:prstGeom prst="roundRect">
            <a:avLst>
              <a:gd name="adj" fmla="val 16667"/>
            </a:avLst>
          </a:prstGeom>
          <a:solidFill>
            <a:srgbClr val="FAE2D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patch 3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0" name="Rounded Rectangle 31"/>
          <p:cNvSpPr/>
          <p:nvPr/>
        </p:nvSpPr>
        <p:spPr>
          <a:xfrm>
            <a:off x="4983480" y="4398120"/>
            <a:ext cx="1416960" cy="429480"/>
          </a:xfrm>
          <a:prstGeom prst="roundRect">
            <a:avLst>
              <a:gd name="adj" fmla="val 16667"/>
            </a:avLst>
          </a:prstGeom>
          <a:solidFill>
            <a:srgbClr val="6ED278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patch 4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1" name="TextBox 32"/>
          <p:cNvSpPr/>
          <p:nvPr/>
        </p:nvSpPr>
        <p:spPr>
          <a:xfrm>
            <a:off x="5394960" y="501084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...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92" name="Connector 33"/>
          <p:cNvCxnSpPr/>
          <p:nvPr/>
        </p:nvCxnSpPr>
        <p:spPr>
          <a:xfrm>
            <a:off x="6629400" y="3566160"/>
            <a:ext cx="1006200" cy="360"/>
          </a:xfrm>
          <a:prstGeom prst="straightConnector1">
            <a:avLst/>
          </a:prstGeom>
          <a:ln w="25400">
            <a:solidFill>
              <a:srgbClr val="3268B8"/>
            </a:solidFill>
          </a:ln>
        </p:spPr>
      </p:cxnSp>
      <p:sp>
        <p:nvSpPr>
          <p:cNvPr id="593" name="Isosceles Triangle 34"/>
          <p:cNvSpPr/>
          <p:nvPr/>
        </p:nvSpPr>
        <p:spPr>
          <a:xfrm rot="5400000">
            <a:off x="7553520" y="349308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94" name="Rounded Rectangle 35"/>
          <p:cNvSpPr/>
          <p:nvPr/>
        </p:nvSpPr>
        <p:spPr>
          <a:xfrm>
            <a:off x="7863840" y="2743200"/>
            <a:ext cx="2102760" cy="1599840"/>
          </a:xfrm>
          <a:prstGeom prst="roundRect">
            <a:avLst>
              <a:gd name="adj" fmla="val 16667"/>
            </a:avLst>
          </a:prstGeom>
          <a:solidFill>
            <a:srgbClr val="FFF20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1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Transformer</a:t>
            </a:r>
            <a:endParaRPr lang="pt-B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21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Encoder</a:t>
            </a:r>
            <a:endParaRPr lang="pt-B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95" name="Connector 36"/>
          <p:cNvCxnSpPr/>
          <p:nvPr/>
        </p:nvCxnSpPr>
        <p:spPr>
          <a:xfrm>
            <a:off x="9966960" y="3566160"/>
            <a:ext cx="549000" cy="360"/>
          </a:xfrm>
          <a:prstGeom prst="straightConnector1">
            <a:avLst/>
          </a:prstGeom>
          <a:ln w="25400">
            <a:solidFill>
              <a:srgbClr val="3268B8"/>
            </a:solidFill>
          </a:ln>
        </p:spPr>
      </p:cxnSp>
      <p:sp>
        <p:nvSpPr>
          <p:cNvPr id="596" name="Isosceles Triangle 37"/>
          <p:cNvSpPr/>
          <p:nvPr/>
        </p:nvSpPr>
        <p:spPr>
          <a:xfrm rot="5400000">
            <a:off x="10433880" y="349308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97" name="Rounded Rectangle 38"/>
          <p:cNvSpPr/>
          <p:nvPr/>
        </p:nvSpPr>
        <p:spPr>
          <a:xfrm>
            <a:off x="10607040" y="3090600"/>
            <a:ext cx="1142640" cy="914040"/>
          </a:xfrm>
          <a:prstGeom prst="roundRect">
            <a:avLst>
              <a:gd name="adj" fmla="val 16667"/>
            </a:avLst>
          </a:prstGeom>
          <a:solidFill>
            <a:srgbClr val="6ED278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0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🐱 / 🐶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8" name="Picture 1" descr="unip_logo.png"/>
          <p:cNvPicPr/>
          <p:nvPr/>
        </p:nvPicPr>
        <p:blipFill>
          <a:blip r:embed="rId1"/>
          <a:stretch/>
        </p:blipFill>
        <p:spPr>
          <a:xfrm>
            <a:off x="228600" y="137160"/>
            <a:ext cx="2468520" cy="52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9" name="TextBox 2"/>
          <p:cNvSpPr/>
          <p:nvPr/>
        </p:nvSpPr>
        <p:spPr>
          <a:xfrm>
            <a:off x="255960" y="932760"/>
            <a:ext cx="4388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3268B8"/>
                </a:solidFill>
                <a:effectLst/>
                <a:uFillTx/>
                <a:latin typeface="Arial"/>
              </a:rPr>
              <a:t>6 • COMPARAÇÃO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0" name="TextBox 3"/>
          <p:cNvSpPr/>
          <p:nvPr/>
        </p:nvSpPr>
        <p:spPr>
          <a:xfrm>
            <a:off x="255960" y="1207080"/>
            <a:ext cx="114296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7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CNN × Vision Transformer</a:t>
            </a:r>
            <a:endParaRPr lang="pt-BR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1" name="TextBox 4"/>
          <p:cNvSpPr/>
          <p:nvPr/>
        </p:nvSpPr>
        <p:spPr>
          <a:xfrm>
            <a:off x="274320" y="1755720"/>
            <a:ext cx="111553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4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Nenhuma arquitetura “vence sempre”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2" name="TextBox 5"/>
          <p:cNvSpPr/>
          <p:nvPr/>
        </p:nvSpPr>
        <p:spPr>
          <a:xfrm>
            <a:off x="640080" y="6510600"/>
            <a:ext cx="2742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9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Professor Miguél Suares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3" name="TextBox 6"/>
          <p:cNvSpPr/>
          <p:nvPr/>
        </p:nvSpPr>
        <p:spPr>
          <a:xfrm>
            <a:off x="640080" y="6693480"/>
            <a:ext cx="4571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8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UNIP • GTI – Oferta 2026 • Gestão e Análise de Dados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4" name="TextBox 7"/>
          <p:cNvSpPr/>
          <p:nvPr/>
        </p:nvSpPr>
        <p:spPr>
          <a:xfrm>
            <a:off x="11384280" y="6556320"/>
            <a:ext cx="319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8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20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5" name="TextBox 8"/>
          <p:cNvSpPr/>
          <p:nvPr/>
        </p:nvSpPr>
        <p:spPr>
          <a:xfrm>
            <a:off x="640080" y="6245280"/>
            <a:ext cx="106066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62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Dosovitskiy et al. (2021); Liu et al. (2021), Efficient Training of Visual Transformers with Small Datasets, NeurIPS.</a:t>
            </a:r>
            <a:endParaRPr lang="pt-BR" sz="6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6" name="Rectangle 9"/>
          <p:cNvSpPr/>
          <p:nvPr/>
        </p:nvSpPr>
        <p:spPr>
          <a:xfrm>
            <a:off x="731520" y="2240280"/>
            <a:ext cx="3017160" cy="566640"/>
          </a:xfrm>
          <a:prstGeom prst="rect">
            <a:avLst/>
          </a:prstGeom>
          <a:solidFill>
            <a:srgbClr val="0A1F3A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5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Característica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7" name="Rectangle 10"/>
          <p:cNvSpPr/>
          <p:nvPr/>
        </p:nvSpPr>
        <p:spPr>
          <a:xfrm>
            <a:off x="3749040" y="2240280"/>
            <a:ext cx="3565800" cy="566640"/>
          </a:xfrm>
          <a:prstGeom prst="rect">
            <a:avLst/>
          </a:prstGeom>
          <a:solidFill>
            <a:srgbClr val="3268B8"/>
          </a:solidFill>
          <a:ln w="17780">
            <a:solidFill>
              <a:srgbClr val="326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5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CNN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8" name="Rectangle 11"/>
          <p:cNvSpPr/>
          <p:nvPr/>
        </p:nvSpPr>
        <p:spPr>
          <a:xfrm>
            <a:off x="7315200" y="2240280"/>
            <a:ext cx="3977280" cy="566640"/>
          </a:xfrm>
          <a:prstGeom prst="rect">
            <a:avLst/>
          </a:prstGeom>
          <a:solidFill>
            <a:srgbClr val="0A1F3A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5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Transformer / ViT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9" name="Rectangle 12"/>
          <p:cNvSpPr/>
          <p:nvPr/>
        </p:nvSpPr>
        <p:spPr>
          <a:xfrm>
            <a:off x="731520" y="2807280"/>
            <a:ext cx="3017160" cy="639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1300" b="1" u="none" strike="noStrike">
                <a:solidFill>
                  <a:srgbClr val="1C2A37"/>
                </a:solidFill>
                <a:effectLst/>
                <a:uFillTx/>
                <a:latin typeface="Arial"/>
              </a:rPr>
              <a:t>Foco inicial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0" name="Rectangle 13"/>
          <p:cNvSpPr/>
          <p:nvPr/>
        </p:nvSpPr>
        <p:spPr>
          <a:xfrm>
            <a:off x="3749040" y="2807280"/>
            <a:ext cx="3565800" cy="639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300" b="0" u="none" strike="noStrike">
                <a:solidFill>
                  <a:srgbClr val="1C2A37"/>
                </a:solidFill>
                <a:effectLst/>
                <a:uFillTx/>
                <a:latin typeface="Arial"/>
              </a:rPr>
              <a:t>padrões locais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1" name="Rectangle 14"/>
          <p:cNvSpPr/>
          <p:nvPr/>
        </p:nvSpPr>
        <p:spPr>
          <a:xfrm>
            <a:off x="7315200" y="2807280"/>
            <a:ext cx="3977280" cy="639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300" b="0" u="none" strike="noStrike">
                <a:solidFill>
                  <a:srgbClr val="1C2A37"/>
                </a:solidFill>
                <a:effectLst/>
                <a:uFillTx/>
                <a:latin typeface="Arial"/>
              </a:rPr>
              <a:t>relações entre patches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2" name="Rectangle 15"/>
          <p:cNvSpPr/>
          <p:nvPr/>
        </p:nvSpPr>
        <p:spPr>
          <a:xfrm>
            <a:off x="731520" y="3447360"/>
            <a:ext cx="3017160" cy="639720"/>
          </a:xfrm>
          <a:prstGeom prst="rect">
            <a:avLst/>
          </a:prstGeom>
          <a:solidFill>
            <a:srgbClr val="F4F7FA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1300" b="1" u="none" strike="noStrike">
                <a:solidFill>
                  <a:srgbClr val="1C2A37"/>
                </a:solidFill>
                <a:effectLst/>
                <a:uFillTx/>
                <a:latin typeface="Arial"/>
              </a:rPr>
              <a:t>Mecanismo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Rectangle 16"/>
          <p:cNvSpPr/>
          <p:nvPr/>
        </p:nvSpPr>
        <p:spPr>
          <a:xfrm>
            <a:off x="3749040" y="3447360"/>
            <a:ext cx="3565800" cy="639720"/>
          </a:xfrm>
          <a:prstGeom prst="rect">
            <a:avLst/>
          </a:prstGeom>
          <a:solidFill>
            <a:srgbClr val="F4F7FA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300" b="0" u="none" strike="noStrike">
                <a:solidFill>
                  <a:srgbClr val="1C2A37"/>
                </a:solidFill>
                <a:effectLst/>
                <a:uFillTx/>
                <a:latin typeface="Arial"/>
              </a:rPr>
              <a:t>convolução / filtros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4" name="Rectangle 17"/>
          <p:cNvSpPr/>
          <p:nvPr/>
        </p:nvSpPr>
        <p:spPr>
          <a:xfrm>
            <a:off x="7315200" y="3447360"/>
            <a:ext cx="3977280" cy="639720"/>
          </a:xfrm>
          <a:prstGeom prst="rect">
            <a:avLst/>
          </a:prstGeom>
          <a:solidFill>
            <a:srgbClr val="F4F7FA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300" b="0" u="none" strike="noStrike">
                <a:solidFill>
                  <a:srgbClr val="1C2A37"/>
                </a:solidFill>
                <a:effectLst/>
                <a:uFillTx/>
                <a:latin typeface="Arial"/>
              </a:rPr>
              <a:t>self-attention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5" name="Rectangle 18"/>
          <p:cNvSpPr/>
          <p:nvPr/>
        </p:nvSpPr>
        <p:spPr>
          <a:xfrm>
            <a:off x="731520" y="4087440"/>
            <a:ext cx="3017160" cy="639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1300" b="1" u="none" strike="noStrike">
                <a:solidFill>
                  <a:srgbClr val="1C2A37"/>
                </a:solidFill>
                <a:effectLst/>
                <a:uFillTx/>
                <a:latin typeface="Arial"/>
              </a:rPr>
              <a:t>Dados pequenos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6" name="Rectangle 19"/>
          <p:cNvSpPr/>
          <p:nvPr/>
        </p:nvSpPr>
        <p:spPr>
          <a:xfrm>
            <a:off x="3749040" y="4087440"/>
            <a:ext cx="3565800" cy="639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300" b="0" u="none" strike="noStrike">
                <a:solidFill>
                  <a:srgbClr val="1C2A37"/>
                </a:solidFill>
                <a:effectLst/>
                <a:uFillTx/>
                <a:latin typeface="Arial"/>
              </a:rPr>
              <a:t>costuma aprender bem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Rectangle 20"/>
          <p:cNvSpPr/>
          <p:nvPr/>
        </p:nvSpPr>
        <p:spPr>
          <a:xfrm>
            <a:off x="7315200" y="4087440"/>
            <a:ext cx="3977280" cy="639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300" b="0" u="none" strike="noStrike">
                <a:solidFill>
                  <a:srgbClr val="1C2A37"/>
                </a:solidFill>
                <a:effectLst/>
                <a:uFillTx/>
                <a:latin typeface="Arial"/>
              </a:rPr>
              <a:t>pode precisar de mais dados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8" name="Rectangle 21"/>
          <p:cNvSpPr/>
          <p:nvPr/>
        </p:nvSpPr>
        <p:spPr>
          <a:xfrm>
            <a:off x="731520" y="4727520"/>
            <a:ext cx="3017160" cy="639720"/>
          </a:xfrm>
          <a:prstGeom prst="rect">
            <a:avLst/>
          </a:prstGeom>
          <a:solidFill>
            <a:srgbClr val="F4F7FA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1300" b="1" u="none" strike="noStrike">
                <a:solidFill>
                  <a:srgbClr val="1C2A37"/>
                </a:solidFill>
                <a:effectLst/>
                <a:uFillTx/>
                <a:latin typeface="Arial"/>
              </a:rPr>
              <a:t>Escala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9" name="Rectangle 22"/>
          <p:cNvSpPr/>
          <p:nvPr/>
        </p:nvSpPr>
        <p:spPr>
          <a:xfrm>
            <a:off x="3749040" y="4727520"/>
            <a:ext cx="3565800" cy="639720"/>
          </a:xfrm>
          <a:prstGeom prst="rect">
            <a:avLst/>
          </a:prstGeom>
          <a:solidFill>
            <a:srgbClr val="F4F7FA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300" b="0" u="none" strike="noStrike">
                <a:solidFill>
                  <a:srgbClr val="1C2A37"/>
                </a:solidFill>
                <a:effectLst/>
                <a:uFillTx/>
                <a:latin typeface="Arial"/>
              </a:rPr>
              <a:t>muito eficiente em visão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0" name="Rectangle 23"/>
          <p:cNvSpPr/>
          <p:nvPr/>
        </p:nvSpPr>
        <p:spPr>
          <a:xfrm>
            <a:off x="7315200" y="4727520"/>
            <a:ext cx="3977280" cy="639720"/>
          </a:xfrm>
          <a:prstGeom prst="rect">
            <a:avLst/>
          </a:prstGeom>
          <a:solidFill>
            <a:srgbClr val="F4F7FA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300" b="0" u="none" strike="noStrike">
                <a:solidFill>
                  <a:srgbClr val="1C2A37"/>
                </a:solidFill>
                <a:effectLst/>
                <a:uFillTx/>
                <a:latin typeface="Arial"/>
              </a:rPr>
              <a:t>ganha força com pré-treinamento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1" name="TextBox 24"/>
          <p:cNvSpPr/>
          <p:nvPr/>
        </p:nvSpPr>
        <p:spPr>
          <a:xfrm>
            <a:off x="914400" y="5440680"/>
            <a:ext cx="10332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700" b="1" u="none" strike="noStrike">
                <a:solidFill>
                  <a:srgbClr val="F56969"/>
                </a:solidFill>
                <a:effectLst/>
                <a:uFillTx/>
                <a:latin typeface="Arial"/>
              </a:rPr>
              <a:t>No nosso experimento curto, é perfeitamente possível a CNN superar o TinyViT.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2" name="Picture 1" descr="unip_logo.png"/>
          <p:cNvPicPr/>
          <p:nvPr/>
        </p:nvPicPr>
        <p:blipFill>
          <a:blip r:embed="rId1"/>
          <a:stretch/>
        </p:blipFill>
        <p:spPr>
          <a:xfrm>
            <a:off x="228600" y="137160"/>
            <a:ext cx="2468520" cy="52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3" name="TextBox 2"/>
          <p:cNvSpPr/>
          <p:nvPr/>
        </p:nvSpPr>
        <p:spPr>
          <a:xfrm>
            <a:off x="255960" y="932760"/>
            <a:ext cx="4388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3268B8"/>
                </a:solidFill>
                <a:effectLst/>
                <a:uFillTx/>
                <a:latin typeface="Arial"/>
              </a:rPr>
              <a:t>7 • MODELOS FUNDACIONAIS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4" name="TextBox 3"/>
          <p:cNvSpPr/>
          <p:nvPr/>
        </p:nvSpPr>
        <p:spPr>
          <a:xfrm>
            <a:off x="255960" y="1207080"/>
            <a:ext cx="114296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7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Da tarefa específica ao pré-treinamento geral</a:t>
            </a:r>
            <a:endParaRPr lang="pt-BR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5" name="TextBox 4"/>
          <p:cNvSpPr/>
          <p:nvPr/>
        </p:nvSpPr>
        <p:spPr>
          <a:xfrm>
            <a:off x="274320" y="1755720"/>
            <a:ext cx="111553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4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Foundation Model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6" name="TextBox 5"/>
          <p:cNvSpPr/>
          <p:nvPr/>
        </p:nvSpPr>
        <p:spPr>
          <a:xfrm>
            <a:off x="640080" y="6510600"/>
            <a:ext cx="2742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9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Professor Miguél Suares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7" name="TextBox 6"/>
          <p:cNvSpPr/>
          <p:nvPr/>
        </p:nvSpPr>
        <p:spPr>
          <a:xfrm>
            <a:off x="640080" y="6693480"/>
            <a:ext cx="4571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8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UNIP • GTI – Oferta 2026 • Gestão e Análise de Dados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8" name="TextBox 7"/>
          <p:cNvSpPr/>
          <p:nvPr/>
        </p:nvSpPr>
        <p:spPr>
          <a:xfrm>
            <a:off x="11384280" y="6556320"/>
            <a:ext cx="319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8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21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9" name="TextBox 8"/>
          <p:cNvSpPr/>
          <p:nvPr/>
        </p:nvSpPr>
        <p:spPr>
          <a:xfrm>
            <a:off x="640080" y="6245280"/>
            <a:ext cx="106066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62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Bommasani et al. (2021), On the Opportunities and Risks of Foundation Models, Stanford CRFM.</a:t>
            </a:r>
            <a:endParaRPr lang="pt-BR" sz="6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0" name="Rounded Rectangle 9"/>
          <p:cNvSpPr/>
          <p:nvPr/>
        </p:nvSpPr>
        <p:spPr>
          <a:xfrm>
            <a:off x="640080" y="2377440"/>
            <a:ext cx="2194200" cy="658080"/>
          </a:xfrm>
          <a:prstGeom prst="roundRect">
            <a:avLst>
              <a:gd name="adj" fmla="val 16667"/>
            </a:avLst>
          </a:prstGeom>
          <a:solidFill>
            <a:srgbClr val="DBE8F8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7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MUITOS DADOS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1" name="TextBox 10"/>
          <p:cNvSpPr/>
          <p:nvPr/>
        </p:nvSpPr>
        <p:spPr>
          <a:xfrm>
            <a:off x="2907720" y="2468880"/>
            <a:ext cx="456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2400" b="1" u="none" strike="noStrike">
                <a:solidFill>
                  <a:srgbClr val="3268B8"/>
                </a:solidFill>
                <a:effectLst/>
                <a:uFillTx/>
                <a:latin typeface="Arial"/>
              </a:rPr>
              <a:t>+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2" name="Rounded Rectangle 11"/>
          <p:cNvSpPr/>
          <p:nvPr/>
        </p:nvSpPr>
        <p:spPr>
          <a:xfrm>
            <a:off x="3401640" y="2377440"/>
            <a:ext cx="2422800" cy="658080"/>
          </a:xfrm>
          <a:prstGeom prst="roundRect">
            <a:avLst>
              <a:gd name="adj" fmla="val 16667"/>
            </a:avLst>
          </a:prstGeom>
          <a:solidFill>
            <a:srgbClr val="FFF20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7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MUITO COMPUTE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3" name="TextBox 12"/>
          <p:cNvSpPr/>
          <p:nvPr/>
        </p:nvSpPr>
        <p:spPr>
          <a:xfrm>
            <a:off x="5897880" y="2468880"/>
            <a:ext cx="456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2400" b="1" u="none" strike="noStrike">
                <a:solidFill>
                  <a:srgbClr val="3268B8"/>
                </a:solidFill>
                <a:effectLst/>
                <a:uFillTx/>
                <a:latin typeface="Arial"/>
              </a:rPr>
              <a:t>+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4" name="Rounded Rectangle 13"/>
          <p:cNvSpPr/>
          <p:nvPr/>
        </p:nvSpPr>
        <p:spPr>
          <a:xfrm>
            <a:off x="6400800" y="2377440"/>
            <a:ext cx="2468520" cy="658080"/>
          </a:xfrm>
          <a:prstGeom prst="roundRect">
            <a:avLst>
              <a:gd name="adj" fmla="val 16667"/>
            </a:avLst>
          </a:prstGeom>
          <a:solidFill>
            <a:srgbClr val="FAE2D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7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MODELO GRANDE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35" name="Connector 14"/>
          <p:cNvCxnSpPr/>
          <p:nvPr/>
        </p:nvCxnSpPr>
        <p:spPr>
          <a:xfrm>
            <a:off x="9006840" y="2706480"/>
            <a:ext cx="640440" cy="360"/>
          </a:xfrm>
          <a:prstGeom prst="straightConnector1">
            <a:avLst/>
          </a:prstGeom>
          <a:ln w="25400">
            <a:solidFill>
              <a:srgbClr val="3268B8"/>
            </a:solidFill>
          </a:ln>
        </p:spPr>
      </p:cxnSp>
      <p:sp>
        <p:nvSpPr>
          <p:cNvPr id="636" name="Isosceles Triangle 15"/>
          <p:cNvSpPr/>
          <p:nvPr/>
        </p:nvSpPr>
        <p:spPr>
          <a:xfrm rot="5400000">
            <a:off x="9565200" y="263340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637" name="Rounded Rectangle 16"/>
          <p:cNvSpPr/>
          <p:nvPr/>
        </p:nvSpPr>
        <p:spPr>
          <a:xfrm>
            <a:off x="9738360" y="2377440"/>
            <a:ext cx="1737000" cy="658080"/>
          </a:xfrm>
          <a:prstGeom prst="roundRect">
            <a:avLst>
              <a:gd name="adj" fmla="val 16667"/>
            </a:avLst>
          </a:prstGeom>
          <a:solidFill>
            <a:srgbClr val="6ED278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6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PRÉ-TREINO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38" name="Connector 17"/>
          <p:cNvCxnSpPr/>
          <p:nvPr/>
        </p:nvCxnSpPr>
        <p:spPr>
          <a:xfrm>
            <a:off x="6080760" y="3246120"/>
            <a:ext cx="360" cy="640440"/>
          </a:xfrm>
          <a:prstGeom prst="straightConnector1">
            <a:avLst/>
          </a:prstGeom>
          <a:ln w="25400">
            <a:solidFill>
              <a:srgbClr val="3268B8"/>
            </a:solidFill>
          </a:ln>
        </p:spPr>
      </p:cxnSp>
      <p:sp>
        <p:nvSpPr>
          <p:cNvPr id="639" name="Isosceles Triangle 18"/>
          <p:cNvSpPr/>
          <p:nvPr/>
        </p:nvSpPr>
        <p:spPr>
          <a:xfrm rot="10800000">
            <a:off x="6008040" y="380448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640" name="Rounded Rectangle 19"/>
          <p:cNvSpPr/>
          <p:nvPr/>
        </p:nvSpPr>
        <p:spPr>
          <a:xfrm>
            <a:off x="4160520" y="3977640"/>
            <a:ext cx="3840120" cy="712800"/>
          </a:xfrm>
          <a:prstGeom prst="roundRect">
            <a:avLst>
              <a:gd name="adj" fmla="val 16667"/>
            </a:avLst>
          </a:prstGeom>
          <a:solidFill>
            <a:srgbClr val="FFF20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0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MODELO FUNDACIONAL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41" name="Connector 20"/>
          <p:cNvCxnSpPr/>
          <p:nvPr/>
        </p:nvCxnSpPr>
        <p:spPr>
          <a:xfrm flipH="1">
            <a:off x="2651760" y="4690800"/>
            <a:ext cx="3429360" cy="384480"/>
          </a:xfrm>
          <a:prstGeom prst="straightConnector1">
            <a:avLst/>
          </a:prstGeom>
          <a:ln w="17780">
            <a:solidFill>
              <a:srgbClr val="4B5B69"/>
            </a:solidFill>
          </a:ln>
        </p:spPr>
      </p:cxnSp>
      <p:sp>
        <p:nvSpPr>
          <p:cNvPr id="642" name="Isosceles Triangle 21"/>
          <p:cNvSpPr/>
          <p:nvPr/>
        </p:nvSpPr>
        <p:spPr>
          <a:xfrm rot="16200000">
            <a:off x="2569320" y="500220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4B5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643" name="Rounded Rectangle 22"/>
          <p:cNvSpPr/>
          <p:nvPr/>
        </p:nvSpPr>
        <p:spPr>
          <a:xfrm>
            <a:off x="1828800" y="5102280"/>
            <a:ext cx="1645560" cy="5025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326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3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Resumo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44" name="Connector 23"/>
          <p:cNvCxnSpPr/>
          <p:nvPr/>
        </p:nvCxnSpPr>
        <p:spPr>
          <a:xfrm flipH="1">
            <a:off x="4800600" y="4690800"/>
            <a:ext cx="1280520" cy="384480"/>
          </a:xfrm>
          <a:prstGeom prst="straightConnector1">
            <a:avLst/>
          </a:prstGeom>
          <a:ln w="17780">
            <a:solidFill>
              <a:srgbClr val="4B5B69"/>
            </a:solidFill>
          </a:ln>
        </p:spPr>
      </p:cxnSp>
      <p:sp>
        <p:nvSpPr>
          <p:cNvPr id="645" name="Isosceles Triangle 24"/>
          <p:cNvSpPr/>
          <p:nvPr/>
        </p:nvSpPr>
        <p:spPr>
          <a:xfrm rot="16200000">
            <a:off x="4718160" y="500220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4B5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646" name="Rounded Rectangle 25"/>
          <p:cNvSpPr/>
          <p:nvPr/>
        </p:nvSpPr>
        <p:spPr>
          <a:xfrm>
            <a:off x="3977640" y="5102280"/>
            <a:ext cx="1645560" cy="5025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326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3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Tradução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47" name="Connector 26"/>
          <p:cNvCxnSpPr/>
          <p:nvPr/>
        </p:nvCxnSpPr>
        <p:spPr>
          <a:xfrm>
            <a:off x="6080760" y="4690800"/>
            <a:ext cx="869040" cy="384480"/>
          </a:xfrm>
          <a:prstGeom prst="straightConnector1">
            <a:avLst/>
          </a:prstGeom>
          <a:ln w="17780">
            <a:solidFill>
              <a:srgbClr val="4B5B69"/>
            </a:solidFill>
          </a:ln>
        </p:spPr>
      </p:cxnSp>
      <p:sp>
        <p:nvSpPr>
          <p:cNvPr id="648" name="Isosceles Triangle 27"/>
          <p:cNvSpPr/>
          <p:nvPr/>
        </p:nvSpPr>
        <p:spPr>
          <a:xfrm rot="5400000">
            <a:off x="6867720" y="500184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4B5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649" name="Rounded Rectangle 28"/>
          <p:cNvSpPr/>
          <p:nvPr/>
        </p:nvSpPr>
        <p:spPr>
          <a:xfrm>
            <a:off x="6126480" y="5102280"/>
            <a:ext cx="1645560" cy="5025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326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3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Código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50" name="Connector 29"/>
          <p:cNvCxnSpPr/>
          <p:nvPr/>
        </p:nvCxnSpPr>
        <p:spPr>
          <a:xfrm>
            <a:off x="6080760" y="4690800"/>
            <a:ext cx="3017880" cy="384480"/>
          </a:xfrm>
          <a:prstGeom prst="straightConnector1">
            <a:avLst/>
          </a:prstGeom>
          <a:ln w="17780">
            <a:solidFill>
              <a:srgbClr val="4B5B69"/>
            </a:solidFill>
          </a:ln>
        </p:spPr>
      </p:cxnSp>
      <p:sp>
        <p:nvSpPr>
          <p:cNvPr id="651" name="Isosceles Triangle 30"/>
          <p:cNvSpPr/>
          <p:nvPr/>
        </p:nvSpPr>
        <p:spPr>
          <a:xfrm rot="5400000">
            <a:off x="9016560" y="500184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4B5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652" name="Rounded Rectangle 31"/>
          <p:cNvSpPr/>
          <p:nvPr/>
        </p:nvSpPr>
        <p:spPr>
          <a:xfrm>
            <a:off x="8275320" y="5102280"/>
            <a:ext cx="1645560" cy="5025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326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3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Perguntas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3" name="Picture 1" descr="unip_logo.png"/>
          <p:cNvPicPr/>
          <p:nvPr/>
        </p:nvPicPr>
        <p:blipFill>
          <a:blip r:embed="rId1"/>
          <a:stretch/>
        </p:blipFill>
        <p:spPr>
          <a:xfrm>
            <a:off x="228600" y="137160"/>
            <a:ext cx="2468520" cy="52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4" name="TextBox 2"/>
          <p:cNvSpPr/>
          <p:nvPr/>
        </p:nvSpPr>
        <p:spPr>
          <a:xfrm>
            <a:off x="255960" y="932760"/>
            <a:ext cx="4388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3268B8"/>
                </a:solidFill>
                <a:effectLst/>
                <a:uFillTx/>
                <a:latin typeface="Arial"/>
              </a:rPr>
              <a:t>7 • LLM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5" name="TextBox 3"/>
          <p:cNvSpPr/>
          <p:nvPr/>
        </p:nvSpPr>
        <p:spPr>
          <a:xfrm>
            <a:off x="255960" y="1207080"/>
            <a:ext cx="114296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7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Large Language Model: Transformer em grande escala</a:t>
            </a:r>
            <a:endParaRPr lang="pt-BR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6" name="TextBox 4"/>
          <p:cNvSpPr/>
          <p:nvPr/>
        </p:nvSpPr>
        <p:spPr>
          <a:xfrm>
            <a:off x="640080" y="6510600"/>
            <a:ext cx="2742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9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Professor Miguél Suares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7" name="TextBox 5"/>
          <p:cNvSpPr/>
          <p:nvPr/>
        </p:nvSpPr>
        <p:spPr>
          <a:xfrm>
            <a:off x="640080" y="6693480"/>
            <a:ext cx="4571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8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UNIP • GTI – Oferta 2026 • Gestão e Análise de Dados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8" name="TextBox 6"/>
          <p:cNvSpPr/>
          <p:nvPr/>
        </p:nvSpPr>
        <p:spPr>
          <a:xfrm>
            <a:off x="11384280" y="6556320"/>
            <a:ext cx="319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8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22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59" name=""/>
          <p:cNvPicPr/>
          <p:nvPr/>
        </p:nvPicPr>
        <p:blipFill>
          <a:blip r:embed="rId2"/>
          <a:stretch/>
        </p:blipFill>
        <p:spPr>
          <a:xfrm>
            <a:off x="900000" y="1980000"/>
            <a:ext cx="9764640" cy="3960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0" name="Picture 7" descr="unip_logo.png"/>
          <p:cNvPicPr/>
          <p:nvPr/>
        </p:nvPicPr>
        <p:blipFill>
          <a:blip r:embed="rId1"/>
          <a:stretch/>
        </p:blipFill>
        <p:spPr>
          <a:xfrm>
            <a:off x="228600" y="137160"/>
            <a:ext cx="2468520" cy="52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61" name="TextBox 75"/>
          <p:cNvSpPr/>
          <p:nvPr/>
        </p:nvSpPr>
        <p:spPr>
          <a:xfrm>
            <a:off x="255960" y="932760"/>
            <a:ext cx="438876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3268B8"/>
                </a:solidFill>
                <a:effectLst/>
                <a:uFillTx/>
                <a:latin typeface="Arial"/>
              </a:rPr>
              <a:t>7 • LLM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2" name="TextBox 76"/>
          <p:cNvSpPr/>
          <p:nvPr/>
        </p:nvSpPr>
        <p:spPr>
          <a:xfrm>
            <a:off x="255960" y="1207080"/>
            <a:ext cx="11429640" cy="46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7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Large Language Model: Transformer em grande escala</a:t>
            </a:r>
            <a:endParaRPr lang="pt-BR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3" name="TextBox 77"/>
          <p:cNvSpPr/>
          <p:nvPr/>
        </p:nvSpPr>
        <p:spPr>
          <a:xfrm>
            <a:off x="640080" y="6510600"/>
            <a:ext cx="2742840" cy="19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9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Professor Miguél Suares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4" name="TextBox 78"/>
          <p:cNvSpPr/>
          <p:nvPr/>
        </p:nvSpPr>
        <p:spPr>
          <a:xfrm>
            <a:off x="640080" y="6693480"/>
            <a:ext cx="457164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8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UNIP • GTI – Oferta 2026 • Gestão e Análise de Dados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5" name="TextBox 79"/>
          <p:cNvSpPr/>
          <p:nvPr/>
        </p:nvSpPr>
        <p:spPr>
          <a:xfrm>
            <a:off x="11384280" y="6556320"/>
            <a:ext cx="319680" cy="1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8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22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6" name="Rounded Rectangle 55"/>
          <p:cNvSpPr/>
          <p:nvPr/>
        </p:nvSpPr>
        <p:spPr>
          <a:xfrm>
            <a:off x="640080" y="2926080"/>
            <a:ext cx="1234080" cy="658080"/>
          </a:xfrm>
          <a:prstGeom prst="roundRect">
            <a:avLst>
              <a:gd name="adj" fmla="val 16667"/>
            </a:avLst>
          </a:prstGeom>
          <a:solidFill>
            <a:srgbClr val="DBE8F8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7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Texto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67" name="Connector 43"/>
          <p:cNvCxnSpPr/>
          <p:nvPr/>
        </p:nvCxnSpPr>
        <p:spPr>
          <a:xfrm>
            <a:off x="1874160" y="3255120"/>
            <a:ext cx="503640" cy="360"/>
          </a:xfrm>
          <a:prstGeom prst="straightConnector1">
            <a:avLst/>
          </a:prstGeom>
          <a:ln w="25400">
            <a:solidFill>
              <a:srgbClr val="3268B8"/>
            </a:solidFill>
          </a:ln>
        </p:spPr>
      </p:cxnSp>
      <p:sp>
        <p:nvSpPr>
          <p:cNvPr id="668" name="Isosceles Triangle 42"/>
          <p:cNvSpPr/>
          <p:nvPr/>
        </p:nvSpPr>
        <p:spPr>
          <a:xfrm rot="5400000">
            <a:off x="2295720" y="318204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669" name="Rounded Rectangle 56"/>
          <p:cNvSpPr/>
          <p:nvPr/>
        </p:nvSpPr>
        <p:spPr>
          <a:xfrm>
            <a:off x="2487240" y="2926080"/>
            <a:ext cx="1325520" cy="658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326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7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Tokens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70" name="Connector 44"/>
          <p:cNvCxnSpPr/>
          <p:nvPr/>
        </p:nvCxnSpPr>
        <p:spPr>
          <a:xfrm>
            <a:off x="3812760" y="3255120"/>
            <a:ext cx="503280" cy="360"/>
          </a:xfrm>
          <a:prstGeom prst="straightConnector1">
            <a:avLst/>
          </a:prstGeom>
          <a:ln w="25400">
            <a:solidFill>
              <a:srgbClr val="3268B8"/>
            </a:solidFill>
          </a:ln>
        </p:spPr>
      </p:cxnSp>
      <p:sp>
        <p:nvSpPr>
          <p:cNvPr id="671" name="Isosceles Triangle 43"/>
          <p:cNvSpPr/>
          <p:nvPr/>
        </p:nvSpPr>
        <p:spPr>
          <a:xfrm rot="5400000">
            <a:off x="4234320" y="318204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672" name="Rounded Rectangle 57"/>
          <p:cNvSpPr/>
          <p:nvPr/>
        </p:nvSpPr>
        <p:spPr>
          <a:xfrm>
            <a:off x="4434840" y="2011680"/>
            <a:ext cx="2102760" cy="456840"/>
          </a:xfrm>
          <a:prstGeom prst="roundRect">
            <a:avLst>
              <a:gd name="adj" fmla="val 16667"/>
            </a:avLst>
          </a:prstGeom>
          <a:solidFill>
            <a:srgbClr val="FFF20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3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Transformer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3" name="Rounded Rectangle 58"/>
          <p:cNvSpPr/>
          <p:nvPr/>
        </p:nvSpPr>
        <p:spPr>
          <a:xfrm>
            <a:off x="4434840" y="2597040"/>
            <a:ext cx="2102760" cy="456840"/>
          </a:xfrm>
          <a:prstGeom prst="roundRect">
            <a:avLst>
              <a:gd name="adj" fmla="val 16667"/>
            </a:avLst>
          </a:prstGeom>
          <a:solidFill>
            <a:srgbClr val="FAE2D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3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Transformer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4" name="Rounded Rectangle 59"/>
          <p:cNvSpPr/>
          <p:nvPr/>
        </p:nvSpPr>
        <p:spPr>
          <a:xfrm>
            <a:off x="4434840" y="3182040"/>
            <a:ext cx="2102760" cy="456840"/>
          </a:xfrm>
          <a:prstGeom prst="roundRect">
            <a:avLst>
              <a:gd name="adj" fmla="val 16667"/>
            </a:avLst>
          </a:prstGeom>
          <a:solidFill>
            <a:srgbClr val="DBE8F8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3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Transformer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5" name="Rounded Rectangle 60"/>
          <p:cNvSpPr/>
          <p:nvPr/>
        </p:nvSpPr>
        <p:spPr>
          <a:xfrm>
            <a:off x="4434840" y="3767400"/>
            <a:ext cx="2102760" cy="4568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3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Transformer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6" name="Rounded Rectangle 61"/>
          <p:cNvSpPr/>
          <p:nvPr/>
        </p:nvSpPr>
        <p:spPr>
          <a:xfrm>
            <a:off x="4434840" y="4352400"/>
            <a:ext cx="2102760" cy="456840"/>
          </a:xfrm>
          <a:prstGeom prst="roundRect">
            <a:avLst>
              <a:gd name="adj" fmla="val 16667"/>
            </a:avLst>
          </a:prstGeom>
          <a:solidFill>
            <a:srgbClr val="6ED278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3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Transformer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77" name="Connector 45"/>
          <p:cNvCxnSpPr/>
          <p:nvPr/>
        </p:nvCxnSpPr>
        <p:spPr>
          <a:xfrm>
            <a:off x="6583680" y="3255120"/>
            <a:ext cx="549000" cy="360"/>
          </a:xfrm>
          <a:prstGeom prst="straightConnector1">
            <a:avLst/>
          </a:prstGeom>
          <a:ln w="25400">
            <a:solidFill>
              <a:srgbClr val="3268B8"/>
            </a:solidFill>
          </a:ln>
        </p:spPr>
      </p:cxnSp>
      <p:sp>
        <p:nvSpPr>
          <p:cNvPr id="678" name="Isosceles Triangle 44"/>
          <p:cNvSpPr/>
          <p:nvPr/>
        </p:nvSpPr>
        <p:spPr>
          <a:xfrm rot="5400000">
            <a:off x="7050600" y="318204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679" name="Rounded Rectangle 62"/>
          <p:cNvSpPr/>
          <p:nvPr/>
        </p:nvSpPr>
        <p:spPr>
          <a:xfrm>
            <a:off x="7269480" y="2834640"/>
            <a:ext cx="1508400" cy="840960"/>
          </a:xfrm>
          <a:prstGeom prst="roundRect">
            <a:avLst>
              <a:gd name="adj" fmla="val 16667"/>
            </a:avLst>
          </a:prstGeom>
          <a:solidFill>
            <a:srgbClr val="6ED278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6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Próximo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6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token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80" name="Connector 46"/>
          <p:cNvCxnSpPr/>
          <p:nvPr/>
        </p:nvCxnSpPr>
        <p:spPr>
          <a:xfrm>
            <a:off x="8778240" y="3255120"/>
            <a:ext cx="503280" cy="360"/>
          </a:xfrm>
          <a:prstGeom prst="straightConnector1">
            <a:avLst/>
          </a:prstGeom>
          <a:ln w="25400">
            <a:solidFill>
              <a:srgbClr val="3268B8"/>
            </a:solidFill>
          </a:ln>
        </p:spPr>
      </p:cxnSp>
      <p:sp>
        <p:nvSpPr>
          <p:cNvPr id="681" name="Isosceles Triangle 45"/>
          <p:cNvSpPr/>
          <p:nvPr/>
        </p:nvSpPr>
        <p:spPr>
          <a:xfrm rot="5400000">
            <a:off x="9199440" y="318204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682" name="Rounded Rectangle 63"/>
          <p:cNvSpPr/>
          <p:nvPr/>
        </p:nvSpPr>
        <p:spPr>
          <a:xfrm>
            <a:off x="9399960" y="2926080"/>
            <a:ext cx="1691280" cy="658080"/>
          </a:xfrm>
          <a:prstGeom prst="roundRect">
            <a:avLst>
              <a:gd name="adj" fmla="val 16667"/>
            </a:avLst>
          </a:prstGeom>
          <a:solidFill>
            <a:srgbClr val="FAE2D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7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Resposta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3" name="TextBox 80"/>
          <p:cNvSpPr/>
          <p:nvPr/>
        </p:nvSpPr>
        <p:spPr>
          <a:xfrm>
            <a:off x="914400" y="5257800"/>
            <a:ext cx="1033236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8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LLMs modernos são predominantemente baseados em Transformers e aprendem padrões estatísticos de linguagem em grande escala.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4" name="Picture 1" descr="unip_logo.png"/>
          <p:cNvPicPr/>
          <p:nvPr/>
        </p:nvPicPr>
        <p:blipFill>
          <a:blip r:embed="rId1"/>
          <a:stretch/>
        </p:blipFill>
        <p:spPr>
          <a:xfrm>
            <a:off x="228600" y="137160"/>
            <a:ext cx="2468520" cy="52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5" name="TextBox 2"/>
          <p:cNvSpPr/>
          <p:nvPr/>
        </p:nvSpPr>
        <p:spPr>
          <a:xfrm>
            <a:off x="255960" y="932760"/>
            <a:ext cx="4388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3268B8"/>
                </a:solidFill>
                <a:effectLst/>
                <a:uFillTx/>
                <a:latin typeface="Arial"/>
              </a:rPr>
              <a:t>7 • ESCALA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6" name="TextBox 3"/>
          <p:cNvSpPr/>
          <p:nvPr/>
        </p:nvSpPr>
        <p:spPr>
          <a:xfrm>
            <a:off x="255960" y="1207080"/>
            <a:ext cx="114296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7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Por que não treinamos um LLM de fronteira em sala?</a:t>
            </a:r>
            <a:endParaRPr lang="pt-BR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7" name="TextBox 4"/>
          <p:cNvSpPr/>
          <p:nvPr/>
        </p:nvSpPr>
        <p:spPr>
          <a:xfrm>
            <a:off x="274320" y="1755720"/>
            <a:ext cx="111553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4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A arquitetura pode ser estudada localmente; a escala de treinamento é outra história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8" name="TextBox 5"/>
          <p:cNvSpPr/>
          <p:nvPr/>
        </p:nvSpPr>
        <p:spPr>
          <a:xfrm>
            <a:off x="640080" y="6510600"/>
            <a:ext cx="2742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9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Professor Miguél Suares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9" name="TextBox 6"/>
          <p:cNvSpPr/>
          <p:nvPr/>
        </p:nvSpPr>
        <p:spPr>
          <a:xfrm>
            <a:off x="640080" y="6693480"/>
            <a:ext cx="4571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8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UNIP • GTI – Oferta 2026 • Gestão e Análise de Dados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0" name="TextBox 7"/>
          <p:cNvSpPr/>
          <p:nvPr/>
        </p:nvSpPr>
        <p:spPr>
          <a:xfrm>
            <a:off x="11384280" y="6556320"/>
            <a:ext cx="319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8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23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1" name="TextBox 8"/>
          <p:cNvSpPr/>
          <p:nvPr/>
        </p:nvSpPr>
        <p:spPr>
          <a:xfrm>
            <a:off x="640080" y="6245280"/>
            <a:ext cx="106066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62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Llama Team (2024), The Llama 3 Herd of Models; material de Transformers, POLI-USP.</a:t>
            </a:r>
            <a:endParaRPr lang="pt-BR" sz="6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2" name="Rounded Rectangle 9"/>
          <p:cNvSpPr/>
          <p:nvPr/>
        </p:nvSpPr>
        <p:spPr>
          <a:xfrm>
            <a:off x="685800" y="2240280"/>
            <a:ext cx="4983120" cy="621360"/>
          </a:xfrm>
          <a:prstGeom prst="roundRect">
            <a:avLst>
              <a:gd name="adj" fmla="val 16667"/>
            </a:avLst>
          </a:prstGeom>
          <a:solidFill>
            <a:srgbClr val="3268B8"/>
          </a:solidFill>
          <a:ln w="17780">
            <a:solidFill>
              <a:srgbClr val="326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NOSSO LABORATÓRIO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3" name="TextBox 10"/>
          <p:cNvSpPr/>
          <p:nvPr/>
        </p:nvSpPr>
        <p:spPr>
          <a:xfrm>
            <a:off x="960120" y="3108960"/>
            <a:ext cx="4388760" cy="191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  <a:spcAft>
                <a:spcPts val="700"/>
              </a:spcAft>
            </a:pPr>
            <a:r>
              <a:rPr lang="pt-BR" sz="1700" b="0" u="none" strike="noStrike">
                <a:solidFill>
                  <a:srgbClr val="1C2A37"/>
                </a:solidFill>
                <a:effectLst/>
                <a:uFillTx/>
                <a:latin typeface="Arial"/>
              </a:rPr>
              <a:t>• milhares de imagens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00"/>
              </a:spcAft>
            </a:pPr>
            <a:r>
              <a:rPr lang="pt-BR" sz="1700" b="0" u="none" strike="noStrike">
                <a:solidFill>
                  <a:srgbClr val="1C2A37"/>
                </a:solidFill>
                <a:effectLst/>
                <a:uFillTx/>
                <a:latin typeface="Arial"/>
              </a:rPr>
              <a:t>• modelos pequenos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00"/>
              </a:spcAft>
            </a:pPr>
            <a:r>
              <a:rPr lang="pt-BR" sz="1700" b="0" u="none" strike="noStrike">
                <a:solidFill>
                  <a:srgbClr val="1C2A37"/>
                </a:solidFill>
                <a:effectLst/>
                <a:uFillTx/>
                <a:latin typeface="Arial"/>
              </a:rPr>
              <a:t>• CPU ou uma GPU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00"/>
              </a:spcAft>
            </a:pPr>
            <a:r>
              <a:rPr lang="pt-BR" sz="1700" b="0" u="none" strike="noStrike">
                <a:solidFill>
                  <a:srgbClr val="1C2A37"/>
                </a:solidFill>
                <a:effectLst/>
                <a:uFillTx/>
                <a:latin typeface="Arial"/>
              </a:rPr>
              <a:t>• minutos / poucas épocas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4" name="Rounded Rectangle 11"/>
          <p:cNvSpPr/>
          <p:nvPr/>
        </p:nvSpPr>
        <p:spPr>
          <a:xfrm>
            <a:off x="6492240" y="2240280"/>
            <a:ext cx="4983120" cy="621360"/>
          </a:xfrm>
          <a:prstGeom prst="roundRect">
            <a:avLst>
              <a:gd name="adj" fmla="val 16667"/>
            </a:avLst>
          </a:prstGeom>
          <a:solidFill>
            <a:srgbClr val="0A1F3A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MODELO DE FRONTEIRA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5" name="TextBox 12"/>
          <p:cNvSpPr/>
          <p:nvPr/>
        </p:nvSpPr>
        <p:spPr>
          <a:xfrm>
            <a:off x="6766560" y="3108960"/>
            <a:ext cx="4388760" cy="191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  <a:spcAft>
                <a:spcPts val="700"/>
              </a:spcAft>
            </a:pPr>
            <a:r>
              <a:rPr lang="pt-BR" sz="1700" b="0" u="none" strike="noStrike">
                <a:solidFill>
                  <a:srgbClr val="1C2A37"/>
                </a:solidFill>
                <a:effectLst/>
                <a:uFillTx/>
                <a:latin typeface="Arial"/>
              </a:rPr>
              <a:t>• bilhões/trilhões de tokens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00"/>
              </a:spcAft>
            </a:pPr>
            <a:r>
              <a:rPr lang="pt-BR" sz="1700" b="0" u="none" strike="noStrike">
                <a:solidFill>
                  <a:srgbClr val="1C2A37"/>
                </a:solidFill>
                <a:effectLst/>
                <a:uFillTx/>
                <a:latin typeface="Arial"/>
              </a:rPr>
              <a:t>• bilhões de parâmetros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00"/>
              </a:spcAft>
            </a:pPr>
            <a:r>
              <a:rPr lang="pt-BR" sz="1700" b="0" u="none" strike="noStrike">
                <a:solidFill>
                  <a:srgbClr val="1C2A37"/>
                </a:solidFill>
                <a:effectLst/>
                <a:uFillTx/>
                <a:latin typeface="Arial"/>
              </a:rPr>
              <a:t>• grandes clusters de GPUs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00"/>
              </a:spcAft>
            </a:pPr>
            <a:r>
              <a:rPr lang="pt-BR" sz="1700" b="0" u="none" strike="noStrike">
                <a:solidFill>
                  <a:srgbClr val="1C2A37"/>
                </a:solidFill>
                <a:effectLst/>
                <a:uFillTx/>
                <a:latin typeface="Arial"/>
              </a:rPr>
              <a:t>• treinamento distribuído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6" name="TextBox 13"/>
          <p:cNvSpPr/>
          <p:nvPr/>
        </p:nvSpPr>
        <p:spPr>
          <a:xfrm>
            <a:off x="914400" y="5440680"/>
            <a:ext cx="1033236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2000" b="1" u="none" strike="noStrike">
                <a:solidFill>
                  <a:srgbClr val="F56969"/>
                </a:solidFill>
                <a:effectLst/>
                <a:uFillTx/>
                <a:latin typeface="Arial"/>
              </a:rPr>
              <a:t>Nós conseguimos reproduzir os PRINCÍPIOS. O que muda radicalmente é a ESCALA.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7" name="Picture 1" descr="unip_logo.png"/>
          <p:cNvPicPr/>
          <p:nvPr/>
        </p:nvPicPr>
        <p:blipFill>
          <a:blip r:embed="rId1"/>
          <a:stretch/>
        </p:blipFill>
        <p:spPr>
          <a:xfrm>
            <a:off x="228600" y="137160"/>
            <a:ext cx="2468520" cy="52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8" name="TextBox 2"/>
          <p:cNvSpPr/>
          <p:nvPr/>
        </p:nvSpPr>
        <p:spPr>
          <a:xfrm>
            <a:off x="255960" y="932760"/>
            <a:ext cx="4388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3268B8"/>
                </a:solidFill>
                <a:effectLst/>
                <a:uFillTx/>
                <a:latin typeface="Arial"/>
              </a:rPr>
              <a:t>8 • LABORATÓRIO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9" name="TextBox 3"/>
          <p:cNvSpPr/>
          <p:nvPr/>
        </p:nvSpPr>
        <p:spPr>
          <a:xfrm>
            <a:off x="255960" y="1207080"/>
            <a:ext cx="114296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7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Pergunta experimental: CNN × Tiny Vision Transformer</a:t>
            </a:r>
            <a:endParaRPr lang="pt-BR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0" name="TextBox 4"/>
          <p:cNvSpPr/>
          <p:nvPr/>
        </p:nvSpPr>
        <p:spPr>
          <a:xfrm>
            <a:off x="274320" y="1755720"/>
            <a:ext cx="111553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4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CIFAR-10 — somente gatos e cachorros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1" name="TextBox 5"/>
          <p:cNvSpPr/>
          <p:nvPr/>
        </p:nvSpPr>
        <p:spPr>
          <a:xfrm>
            <a:off x="640080" y="6510600"/>
            <a:ext cx="2742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9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Professor Miguél Suares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2" name="TextBox 6"/>
          <p:cNvSpPr/>
          <p:nvPr/>
        </p:nvSpPr>
        <p:spPr>
          <a:xfrm>
            <a:off x="640080" y="6693480"/>
            <a:ext cx="4571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8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UNIP • GTI – Oferta 2026 • Gestão e Análise de Dados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3" name="TextBox 7"/>
          <p:cNvSpPr/>
          <p:nvPr/>
        </p:nvSpPr>
        <p:spPr>
          <a:xfrm>
            <a:off x="11384280" y="6556320"/>
            <a:ext cx="319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8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24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4" name="TextBox 8"/>
          <p:cNvSpPr/>
          <p:nvPr/>
        </p:nvSpPr>
        <p:spPr>
          <a:xfrm>
            <a:off x="640080" y="6245280"/>
            <a:ext cx="106066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62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Krizhevsky, A. (2009), Learning Multiple Layers of Features from Tiny Images.</a:t>
            </a:r>
            <a:endParaRPr lang="pt-BR" sz="6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5" name="Rounded Rectangle 9"/>
          <p:cNvSpPr/>
          <p:nvPr/>
        </p:nvSpPr>
        <p:spPr>
          <a:xfrm>
            <a:off x="914400" y="2560320"/>
            <a:ext cx="4068720" cy="1051200"/>
          </a:xfrm>
          <a:prstGeom prst="roundRect">
            <a:avLst>
              <a:gd name="adj" fmla="val 16667"/>
            </a:avLst>
          </a:prstGeom>
          <a:solidFill>
            <a:srgbClr val="DBE8F8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5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CNN</a:t>
            </a:r>
            <a:endParaRPr lang="pt-B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6" name="Rounded Rectangle 10"/>
          <p:cNvSpPr/>
          <p:nvPr/>
        </p:nvSpPr>
        <p:spPr>
          <a:xfrm>
            <a:off x="6400800" y="2560320"/>
            <a:ext cx="4068720" cy="1051200"/>
          </a:xfrm>
          <a:prstGeom prst="roundRect">
            <a:avLst>
              <a:gd name="adj" fmla="val 16667"/>
            </a:avLst>
          </a:prstGeom>
          <a:solidFill>
            <a:srgbClr val="FFF20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3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Tiny Vision Transformer</a:t>
            </a:r>
            <a:endParaRPr lang="pt-B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7" name="TextBox 11"/>
          <p:cNvSpPr/>
          <p:nvPr/>
        </p:nvSpPr>
        <p:spPr>
          <a:xfrm>
            <a:off x="5166360" y="2788920"/>
            <a:ext cx="914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2700" b="1" u="none" strike="noStrike">
                <a:solidFill>
                  <a:srgbClr val="F56969"/>
                </a:solidFill>
                <a:effectLst/>
                <a:uFillTx/>
                <a:latin typeface="Arial"/>
              </a:rPr>
              <a:t>VS.</a:t>
            </a:r>
            <a:endParaRPr lang="pt-BR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8" name="TextBox 12"/>
          <p:cNvSpPr/>
          <p:nvPr/>
        </p:nvSpPr>
        <p:spPr>
          <a:xfrm>
            <a:off x="914400" y="4251960"/>
            <a:ext cx="103323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22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Qual modelo aprende melhor GATO × CACHORRO usando poucos dados e poucas épocas?</a:t>
            </a:r>
            <a:endParaRPr lang="pt-B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9" name="TextBox 13"/>
          <p:cNvSpPr/>
          <p:nvPr/>
        </p:nvSpPr>
        <p:spPr>
          <a:xfrm>
            <a:off x="914400" y="5074920"/>
            <a:ext cx="103323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7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Hipótese: a CNN pode ter vantagem porque já incorpora uma estrutura muito apropriada para imagens.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0" name="Picture 1" descr="unip_logo.png"/>
          <p:cNvPicPr/>
          <p:nvPr/>
        </p:nvPicPr>
        <p:blipFill>
          <a:blip r:embed="rId1"/>
          <a:stretch/>
        </p:blipFill>
        <p:spPr>
          <a:xfrm>
            <a:off x="228600" y="137160"/>
            <a:ext cx="2468520" cy="52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1" name="TextBox 2"/>
          <p:cNvSpPr/>
          <p:nvPr/>
        </p:nvSpPr>
        <p:spPr>
          <a:xfrm>
            <a:off x="255960" y="932760"/>
            <a:ext cx="4388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3268B8"/>
                </a:solidFill>
                <a:effectLst/>
                <a:uFillTx/>
                <a:latin typeface="Arial"/>
              </a:rPr>
              <a:t>8 • LABORATÓRIO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2" name="TextBox 3"/>
          <p:cNvSpPr/>
          <p:nvPr/>
        </p:nvSpPr>
        <p:spPr>
          <a:xfrm>
            <a:off x="255960" y="1207080"/>
            <a:ext cx="114296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7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Desenho do experimento</a:t>
            </a:r>
            <a:endParaRPr lang="pt-BR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3" name="TextBox 4"/>
          <p:cNvSpPr/>
          <p:nvPr/>
        </p:nvSpPr>
        <p:spPr>
          <a:xfrm>
            <a:off x="640080" y="6510600"/>
            <a:ext cx="2742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9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Professor Miguél Suares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4" name="TextBox 5"/>
          <p:cNvSpPr/>
          <p:nvPr/>
        </p:nvSpPr>
        <p:spPr>
          <a:xfrm>
            <a:off x="640080" y="6693480"/>
            <a:ext cx="4571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8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UNIP • GTI – Oferta 2026 • Gestão e Análise de Dados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5" name="TextBox 6"/>
          <p:cNvSpPr/>
          <p:nvPr/>
        </p:nvSpPr>
        <p:spPr>
          <a:xfrm>
            <a:off x="11384280" y="6556320"/>
            <a:ext cx="319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8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25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6" name="Rounded Rectangle 7"/>
          <p:cNvSpPr/>
          <p:nvPr/>
        </p:nvSpPr>
        <p:spPr>
          <a:xfrm>
            <a:off x="594360" y="2240280"/>
            <a:ext cx="3337200" cy="383760"/>
          </a:xfrm>
          <a:prstGeom prst="roundRect">
            <a:avLst>
              <a:gd name="adj" fmla="val 16667"/>
            </a:avLst>
          </a:prstGeom>
          <a:solidFill>
            <a:srgbClr val="0A1F3A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3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Dataset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7" name="Rounded Rectangle 8"/>
          <p:cNvSpPr/>
          <p:nvPr/>
        </p:nvSpPr>
        <p:spPr>
          <a:xfrm>
            <a:off x="594360" y="2624400"/>
            <a:ext cx="3337200" cy="776880"/>
          </a:xfrm>
          <a:prstGeom prst="roundRect">
            <a:avLst>
              <a:gd name="adj" fmla="val 16667"/>
            </a:avLst>
          </a:prstGeom>
          <a:solidFill>
            <a:srgbClr val="DBE8F8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CIFAR-10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8" name="Rounded Rectangle 9"/>
          <p:cNvSpPr/>
          <p:nvPr/>
        </p:nvSpPr>
        <p:spPr>
          <a:xfrm>
            <a:off x="4416480" y="2240280"/>
            <a:ext cx="3337200" cy="383760"/>
          </a:xfrm>
          <a:prstGeom prst="roundRect">
            <a:avLst>
              <a:gd name="adj" fmla="val 16667"/>
            </a:avLst>
          </a:prstGeom>
          <a:solidFill>
            <a:srgbClr val="0A1F3A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3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Classes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9" name="Rounded Rectangle 10"/>
          <p:cNvSpPr/>
          <p:nvPr/>
        </p:nvSpPr>
        <p:spPr>
          <a:xfrm>
            <a:off x="4416480" y="2624400"/>
            <a:ext cx="3337200" cy="776880"/>
          </a:xfrm>
          <a:prstGeom prst="roundRect">
            <a:avLst>
              <a:gd name="adj" fmla="val 16667"/>
            </a:avLst>
          </a:prstGeom>
          <a:solidFill>
            <a:srgbClr val="FFF20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3 = cat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5 = dog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0" name="Rounded Rectangle 11"/>
          <p:cNvSpPr/>
          <p:nvPr/>
        </p:nvSpPr>
        <p:spPr>
          <a:xfrm>
            <a:off x="8238600" y="2240280"/>
            <a:ext cx="3337200" cy="383760"/>
          </a:xfrm>
          <a:prstGeom prst="roundRect">
            <a:avLst>
              <a:gd name="adj" fmla="val 16667"/>
            </a:avLst>
          </a:prstGeom>
          <a:solidFill>
            <a:srgbClr val="0A1F3A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3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Treino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1" name="Rounded Rectangle 12"/>
          <p:cNvSpPr/>
          <p:nvPr/>
        </p:nvSpPr>
        <p:spPr>
          <a:xfrm>
            <a:off x="8238600" y="2624400"/>
            <a:ext cx="3337200" cy="776880"/>
          </a:xfrm>
          <a:prstGeom prst="roundRect">
            <a:avLst>
              <a:gd name="adj" fmla="val 16667"/>
            </a:avLst>
          </a:prstGeom>
          <a:solidFill>
            <a:srgbClr val="FAE2D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2.000 imagens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2" name="Rounded Rectangle 13"/>
          <p:cNvSpPr/>
          <p:nvPr/>
        </p:nvSpPr>
        <p:spPr>
          <a:xfrm>
            <a:off x="594360" y="3657600"/>
            <a:ext cx="3337200" cy="383760"/>
          </a:xfrm>
          <a:prstGeom prst="roundRect">
            <a:avLst>
              <a:gd name="adj" fmla="val 16667"/>
            </a:avLst>
          </a:prstGeom>
          <a:solidFill>
            <a:srgbClr val="0A1F3A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3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Teste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3" name="Rounded Rectangle 14"/>
          <p:cNvSpPr/>
          <p:nvPr/>
        </p:nvSpPr>
        <p:spPr>
          <a:xfrm>
            <a:off x="594360" y="4041720"/>
            <a:ext cx="3337200" cy="776880"/>
          </a:xfrm>
          <a:prstGeom prst="roundRect">
            <a:avLst>
              <a:gd name="adj" fmla="val 16667"/>
            </a:avLst>
          </a:prstGeom>
          <a:solidFill>
            <a:srgbClr val="6ED278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500 imagens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4" name="Rounded Rectangle 15"/>
          <p:cNvSpPr/>
          <p:nvPr/>
        </p:nvSpPr>
        <p:spPr>
          <a:xfrm>
            <a:off x="4416480" y="3657600"/>
            <a:ext cx="3337200" cy="383760"/>
          </a:xfrm>
          <a:prstGeom prst="roundRect">
            <a:avLst>
              <a:gd name="adj" fmla="val 16667"/>
            </a:avLst>
          </a:prstGeom>
          <a:solidFill>
            <a:srgbClr val="0A1F3A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3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Batch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5" name="Rounded Rectangle 16"/>
          <p:cNvSpPr/>
          <p:nvPr/>
        </p:nvSpPr>
        <p:spPr>
          <a:xfrm>
            <a:off x="4416480" y="4041720"/>
            <a:ext cx="3337200" cy="776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64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6" name="Rounded Rectangle 17"/>
          <p:cNvSpPr/>
          <p:nvPr/>
        </p:nvSpPr>
        <p:spPr>
          <a:xfrm>
            <a:off x="8238600" y="3657600"/>
            <a:ext cx="3337200" cy="383760"/>
          </a:xfrm>
          <a:prstGeom prst="roundRect">
            <a:avLst>
              <a:gd name="adj" fmla="val 16667"/>
            </a:avLst>
          </a:prstGeom>
          <a:solidFill>
            <a:srgbClr val="0A1F3A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3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Épocas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7" name="Rounded Rectangle 18"/>
          <p:cNvSpPr/>
          <p:nvPr/>
        </p:nvSpPr>
        <p:spPr>
          <a:xfrm>
            <a:off x="8238600" y="4041720"/>
            <a:ext cx="3337200" cy="776880"/>
          </a:xfrm>
          <a:prstGeom prst="roundRect">
            <a:avLst>
              <a:gd name="adj" fmla="val 16667"/>
            </a:avLst>
          </a:prstGeom>
          <a:solidFill>
            <a:srgbClr val="DBE8F8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3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8" name="TextBox 19"/>
          <p:cNvSpPr/>
          <p:nvPr/>
        </p:nvSpPr>
        <p:spPr>
          <a:xfrm>
            <a:off x="914400" y="5440680"/>
            <a:ext cx="103323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7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Mesmos dados, mesmo número de épocas e mesma métrica → comparação simples e didática.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9" name="Picture 1" descr="unip_logo.png"/>
          <p:cNvPicPr/>
          <p:nvPr/>
        </p:nvPicPr>
        <p:blipFill>
          <a:blip r:embed="rId1"/>
          <a:stretch/>
        </p:blipFill>
        <p:spPr>
          <a:xfrm>
            <a:off x="228600" y="137160"/>
            <a:ext cx="2468520" cy="52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0" name="TextBox 2"/>
          <p:cNvSpPr/>
          <p:nvPr/>
        </p:nvSpPr>
        <p:spPr>
          <a:xfrm>
            <a:off x="255960" y="932760"/>
            <a:ext cx="4388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3268B8"/>
                </a:solidFill>
                <a:effectLst/>
                <a:uFillTx/>
                <a:latin typeface="Arial"/>
              </a:rPr>
              <a:t>8 • LABORATÓRIO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1" name="TextBox 3"/>
          <p:cNvSpPr/>
          <p:nvPr/>
        </p:nvSpPr>
        <p:spPr>
          <a:xfrm>
            <a:off x="255960" y="1207080"/>
            <a:ext cx="114296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7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Modelo 1 — CNN pequena</a:t>
            </a:r>
            <a:endParaRPr lang="pt-BR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2" name="TextBox 4"/>
          <p:cNvSpPr/>
          <p:nvPr/>
        </p:nvSpPr>
        <p:spPr>
          <a:xfrm>
            <a:off x="640080" y="6510600"/>
            <a:ext cx="2742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9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Professor Miguél Suares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3" name="TextBox 5"/>
          <p:cNvSpPr/>
          <p:nvPr/>
        </p:nvSpPr>
        <p:spPr>
          <a:xfrm>
            <a:off x="640080" y="6693480"/>
            <a:ext cx="4571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8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UNIP • GTI – Oferta 2026 • Gestão e Análise de Dados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4" name="TextBox 6"/>
          <p:cNvSpPr/>
          <p:nvPr/>
        </p:nvSpPr>
        <p:spPr>
          <a:xfrm>
            <a:off x="11384280" y="6556320"/>
            <a:ext cx="319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8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26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5" name="Rounded Rectangle 7"/>
          <p:cNvSpPr/>
          <p:nvPr/>
        </p:nvSpPr>
        <p:spPr>
          <a:xfrm>
            <a:off x="411480" y="2743200"/>
            <a:ext cx="1416960" cy="959760"/>
          </a:xfrm>
          <a:prstGeom prst="roundRect">
            <a:avLst>
              <a:gd name="adj" fmla="val 16667"/>
            </a:avLst>
          </a:prstGeom>
          <a:solidFill>
            <a:srgbClr val="DBE8F8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Imagem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32×32×3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36" name="Connector 8"/>
          <p:cNvCxnSpPr/>
          <p:nvPr/>
        </p:nvCxnSpPr>
        <p:spPr>
          <a:xfrm>
            <a:off x="1828800" y="3227760"/>
            <a:ext cx="201240" cy="360"/>
          </a:xfrm>
          <a:prstGeom prst="straightConnector1">
            <a:avLst/>
          </a:prstGeom>
          <a:ln w="20320">
            <a:solidFill>
              <a:srgbClr val="3268B8"/>
            </a:solidFill>
          </a:ln>
        </p:spPr>
      </p:cxnSp>
      <p:sp>
        <p:nvSpPr>
          <p:cNvPr id="737" name="Isosceles Triangle 9"/>
          <p:cNvSpPr/>
          <p:nvPr/>
        </p:nvSpPr>
        <p:spPr>
          <a:xfrm rot="5400000">
            <a:off x="1948320" y="315468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38" name="Rounded Rectangle 10"/>
          <p:cNvSpPr/>
          <p:nvPr/>
        </p:nvSpPr>
        <p:spPr>
          <a:xfrm>
            <a:off x="2084760" y="2743200"/>
            <a:ext cx="1234080" cy="959760"/>
          </a:xfrm>
          <a:prstGeom prst="roundRect">
            <a:avLst>
              <a:gd name="adj" fmla="val 16667"/>
            </a:avLst>
          </a:prstGeom>
          <a:solidFill>
            <a:srgbClr val="FFF20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Conv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3→32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39" name="Connector 11"/>
          <p:cNvCxnSpPr/>
          <p:nvPr/>
        </p:nvCxnSpPr>
        <p:spPr>
          <a:xfrm>
            <a:off x="3319200" y="3227760"/>
            <a:ext cx="201600" cy="360"/>
          </a:xfrm>
          <a:prstGeom prst="straightConnector1">
            <a:avLst/>
          </a:prstGeom>
          <a:ln w="20320">
            <a:solidFill>
              <a:srgbClr val="3268B8"/>
            </a:solidFill>
          </a:ln>
        </p:spPr>
      </p:cxnSp>
      <p:sp>
        <p:nvSpPr>
          <p:cNvPr id="740" name="Isosceles Triangle 12"/>
          <p:cNvSpPr/>
          <p:nvPr/>
        </p:nvSpPr>
        <p:spPr>
          <a:xfrm rot="5400000">
            <a:off x="3438720" y="315468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41" name="Rounded Rectangle 13"/>
          <p:cNvSpPr/>
          <p:nvPr/>
        </p:nvSpPr>
        <p:spPr>
          <a:xfrm>
            <a:off x="3575160" y="2743200"/>
            <a:ext cx="1234080" cy="959760"/>
          </a:xfrm>
          <a:prstGeom prst="roundRect">
            <a:avLst>
              <a:gd name="adj" fmla="val 16667"/>
            </a:avLst>
          </a:prstGeom>
          <a:solidFill>
            <a:srgbClr val="FAE2D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Pool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42" name="Connector 14"/>
          <p:cNvCxnSpPr/>
          <p:nvPr/>
        </p:nvCxnSpPr>
        <p:spPr>
          <a:xfrm>
            <a:off x="4809600" y="3227760"/>
            <a:ext cx="201600" cy="360"/>
          </a:xfrm>
          <a:prstGeom prst="straightConnector1">
            <a:avLst/>
          </a:prstGeom>
          <a:ln w="20320">
            <a:solidFill>
              <a:srgbClr val="3268B8"/>
            </a:solidFill>
          </a:ln>
        </p:spPr>
      </p:cxnSp>
      <p:sp>
        <p:nvSpPr>
          <p:cNvPr id="743" name="Isosceles Triangle 15"/>
          <p:cNvSpPr/>
          <p:nvPr/>
        </p:nvSpPr>
        <p:spPr>
          <a:xfrm rot="5400000">
            <a:off x="4929120" y="315468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44" name="Rounded Rectangle 16"/>
          <p:cNvSpPr/>
          <p:nvPr/>
        </p:nvSpPr>
        <p:spPr>
          <a:xfrm>
            <a:off x="5065920" y="2743200"/>
            <a:ext cx="1416960" cy="959760"/>
          </a:xfrm>
          <a:prstGeom prst="roundRect">
            <a:avLst>
              <a:gd name="adj" fmla="val 16667"/>
            </a:avLst>
          </a:prstGeom>
          <a:solidFill>
            <a:srgbClr val="FFF20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Conv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32→64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45" name="Connector 17"/>
          <p:cNvCxnSpPr/>
          <p:nvPr/>
        </p:nvCxnSpPr>
        <p:spPr>
          <a:xfrm>
            <a:off x="6482880" y="3227760"/>
            <a:ext cx="201600" cy="360"/>
          </a:xfrm>
          <a:prstGeom prst="straightConnector1">
            <a:avLst/>
          </a:prstGeom>
          <a:ln w="20320">
            <a:solidFill>
              <a:srgbClr val="3268B8"/>
            </a:solidFill>
          </a:ln>
        </p:spPr>
      </p:cxnSp>
      <p:sp>
        <p:nvSpPr>
          <p:cNvPr id="746" name="Isosceles Triangle 18"/>
          <p:cNvSpPr/>
          <p:nvPr/>
        </p:nvSpPr>
        <p:spPr>
          <a:xfrm rot="5400000">
            <a:off x="6602400" y="315468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47" name="Rounded Rectangle 19"/>
          <p:cNvSpPr/>
          <p:nvPr/>
        </p:nvSpPr>
        <p:spPr>
          <a:xfrm>
            <a:off x="6739200" y="2743200"/>
            <a:ext cx="1234080" cy="959760"/>
          </a:xfrm>
          <a:prstGeom prst="roundRect">
            <a:avLst>
              <a:gd name="adj" fmla="val 16667"/>
            </a:avLst>
          </a:prstGeom>
          <a:solidFill>
            <a:srgbClr val="FAE2D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Pool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48" name="Connector 20"/>
          <p:cNvCxnSpPr/>
          <p:nvPr/>
        </p:nvCxnSpPr>
        <p:spPr>
          <a:xfrm>
            <a:off x="7973280" y="3227760"/>
            <a:ext cx="201600" cy="360"/>
          </a:xfrm>
          <a:prstGeom prst="straightConnector1">
            <a:avLst/>
          </a:prstGeom>
          <a:ln w="20320">
            <a:solidFill>
              <a:srgbClr val="3268B8"/>
            </a:solidFill>
          </a:ln>
        </p:spPr>
      </p:cxnSp>
      <p:sp>
        <p:nvSpPr>
          <p:cNvPr id="749" name="Isosceles Triangle 21"/>
          <p:cNvSpPr/>
          <p:nvPr/>
        </p:nvSpPr>
        <p:spPr>
          <a:xfrm rot="5400000">
            <a:off x="8092800" y="315468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50" name="Rounded Rectangle 22"/>
          <p:cNvSpPr/>
          <p:nvPr/>
        </p:nvSpPr>
        <p:spPr>
          <a:xfrm>
            <a:off x="8229600" y="2743200"/>
            <a:ext cx="1234080" cy="9597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Dense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128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51" name="Connector 23"/>
          <p:cNvCxnSpPr/>
          <p:nvPr/>
        </p:nvCxnSpPr>
        <p:spPr>
          <a:xfrm>
            <a:off x="9464040" y="3227760"/>
            <a:ext cx="201240" cy="360"/>
          </a:xfrm>
          <a:prstGeom prst="straightConnector1">
            <a:avLst/>
          </a:prstGeom>
          <a:ln w="20320">
            <a:solidFill>
              <a:srgbClr val="3268B8"/>
            </a:solidFill>
          </a:ln>
        </p:spPr>
      </p:cxnSp>
      <p:sp>
        <p:nvSpPr>
          <p:cNvPr id="752" name="Isosceles Triangle 24"/>
          <p:cNvSpPr/>
          <p:nvPr/>
        </p:nvSpPr>
        <p:spPr>
          <a:xfrm rot="5400000">
            <a:off x="9583560" y="315468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53" name="Rounded Rectangle 25"/>
          <p:cNvSpPr/>
          <p:nvPr/>
        </p:nvSpPr>
        <p:spPr>
          <a:xfrm>
            <a:off x="9720000" y="2743200"/>
            <a:ext cx="1234080" cy="959760"/>
          </a:xfrm>
          <a:prstGeom prst="roundRect">
            <a:avLst>
              <a:gd name="adj" fmla="val 16667"/>
            </a:avLst>
          </a:prstGeom>
          <a:solidFill>
            <a:srgbClr val="6ED278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Dense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2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4" name="TextBox 26"/>
          <p:cNvSpPr/>
          <p:nvPr/>
        </p:nvSpPr>
        <p:spPr>
          <a:xfrm>
            <a:off x="914400" y="4617720"/>
            <a:ext cx="1033236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21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A CNN reduz a imagem gradualmente e aprende filtros locais.</a:t>
            </a:r>
            <a:endParaRPr lang="pt-B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5" name="Rounded Rectangle 27"/>
          <p:cNvSpPr/>
          <p:nvPr/>
        </p:nvSpPr>
        <p:spPr>
          <a:xfrm>
            <a:off x="2834640" y="5257800"/>
            <a:ext cx="6537600" cy="5299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326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5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PyTorch: Conv2d + ReLU + MaxPool2d + Linear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6" name="Picture 1" descr="unip_logo.png"/>
          <p:cNvPicPr/>
          <p:nvPr/>
        </p:nvPicPr>
        <p:blipFill>
          <a:blip r:embed="rId1"/>
          <a:stretch/>
        </p:blipFill>
        <p:spPr>
          <a:xfrm>
            <a:off x="228600" y="137160"/>
            <a:ext cx="2468520" cy="52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7" name="TextBox 2"/>
          <p:cNvSpPr/>
          <p:nvPr/>
        </p:nvSpPr>
        <p:spPr>
          <a:xfrm>
            <a:off x="255960" y="932760"/>
            <a:ext cx="4388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3268B8"/>
                </a:solidFill>
                <a:effectLst/>
                <a:uFillTx/>
                <a:latin typeface="Arial"/>
              </a:rPr>
              <a:t>8 • LABORATÓRIO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8" name="TextBox 3"/>
          <p:cNvSpPr/>
          <p:nvPr/>
        </p:nvSpPr>
        <p:spPr>
          <a:xfrm>
            <a:off x="255960" y="1207080"/>
            <a:ext cx="114296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7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Modelo 2 — Tiny Vision Transformer</a:t>
            </a:r>
            <a:endParaRPr lang="pt-BR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9" name="TextBox 4"/>
          <p:cNvSpPr/>
          <p:nvPr/>
        </p:nvSpPr>
        <p:spPr>
          <a:xfrm>
            <a:off x="640080" y="6510600"/>
            <a:ext cx="2742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9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Professor Miguél Suares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0" name="TextBox 5"/>
          <p:cNvSpPr/>
          <p:nvPr/>
        </p:nvSpPr>
        <p:spPr>
          <a:xfrm>
            <a:off x="640080" y="6693480"/>
            <a:ext cx="4571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8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UNIP • GTI – Oferta 2026 • Gestão e Análise de Dados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1" name="TextBox 6"/>
          <p:cNvSpPr/>
          <p:nvPr/>
        </p:nvSpPr>
        <p:spPr>
          <a:xfrm>
            <a:off x="11384280" y="6556320"/>
            <a:ext cx="319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8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27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2" name="Rounded Rectangle 7"/>
          <p:cNvSpPr/>
          <p:nvPr/>
        </p:nvSpPr>
        <p:spPr>
          <a:xfrm>
            <a:off x="384120" y="2743200"/>
            <a:ext cx="1416960" cy="959760"/>
          </a:xfrm>
          <a:prstGeom prst="roundRect">
            <a:avLst>
              <a:gd name="adj" fmla="val 16667"/>
            </a:avLst>
          </a:prstGeom>
          <a:solidFill>
            <a:srgbClr val="DBE8F8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Imagem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32×32×3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63" name="Connector 8"/>
          <p:cNvCxnSpPr/>
          <p:nvPr/>
        </p:nvCxnSpPr>
        <p:spPr>
          <a:xfrm>
            <a:off x="1801080" y="3227760"/>
            <a:ext cx="183240" cy="360"/>
          </a:xfrm>
          <a:prstGeom prst="straightConnector1">
            <a:avLst/>
          </a:prstGeom>
          <a:ln w="20320">
            <a:solidFill>
              <a:srgbClr val="3268B8"/>
            </a:solidFill>
          </a:ln>
        </p:spPr>
      </p:cxnSp>
      <p:sp>
        <p:nvSpPr>
          <p:cNvPr id="764" name="Isosceles Triangle 9"/>
          <p:cNvSpPr/>
          <p:nvPr/>
        </p:nvSpPr>
        <p:spPr>
          <a:xfrm rot="5400000">
            <a:off x="1902600" y="315468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65" name="Rounded Rectangle 10"/>
          <p:cNvSpPr/>
          <p:nvPr/>
        </p:nvSpPr>
        <p:spPr>
          <a:xfrm>
            <a:off x="2039040" y="2743200"/>
            <a:ext cx="1279800" cy="959760"/>
          </a:xfrm>
          <a:prstGeom prst="roundRect">
            <a:avLst>
              <a:gd name="adj" fmla="val 16667"/>
            </a:avLst>
          </a:prstGeom>
          <a:solidFill>
            <a:srgbClr val="FAE2D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Patches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4×4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66" name="Connector 11"/>
          <p:cNvCxnSpPr/>
          <p:nvPr/>
        </p:nvCxnSpPr>
        <p:spPr>
          <a:xfrm>
            <a:off x="3319200" y="3227760"/>
            <a:ext cx="183240" cy="360"/>
          </a:xfrm>
          <a:prstGeom prst="straightConnector1">
            <a:avLst/>
          </a:prstGeom>
          <a:ln w="20320">
            <a:solidFill>
              <a:srgbClr val="3268B8"/>
            </a:solidFill>
          </a:ln>
        </p:spPr>
      </p:cxnSp>
      <p:sp>
        <p:nvSpPr>
          <p:cNvPr id="767" name="Isosceles Triangle 12"/>
          <p:cNvSpPr/>
          <p:nvPr/>
        </p:nvSpPr>
        <p:spPr>
          <a:xfrm rot="5400000">
            <a:off x="3420360" y="315468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68" name="Rounded Rectangle 13"/>
          <p:cNvSpPr/>
          <p:nvPr/>
        </p:nvSpPr>
        <p:spPr>
          <a:xfrm>
            <a:off x="3557160" y="2743200"/>
            <a:ext cx="1279800" cy="9597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Embedding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64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69" name="Connector 14"/>
          <p:cNvCxnSpPr/>
          <p:nvPr/>
        </p:nvCxnSpPr>
        <p:spPr>
          <a:xfrm>
            <a:off x="4836960" y="3227760"/>
            <a:ext cx="183240" cy="360"/>
          </a:xfrm>
          <a:prstGeom prst="straightConnector1">
            <a:avLst/>
          </a:prstGeom>
          <a:ln w="20320">
            <a:solidFill>
              <a:srgbClr val="3268B8"/>
            </a:solidFill>
          </a:ln>
        </p:spPr>
      </p:cxnSp>
      <p:sp>
        <p:nvSpPr>
          <p:cNvPr id="770" name="Isosceles Triangle 15"/>
          <p:cNvSpPr/>
          <p:nvPr/>
        </p:nvSpPr>
        <p:spPr>
          <a:xfrm rot="5400000">
            <a:off x="4938120" y="315468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71" name="Rounded Rectangle 16"/>
          <p:cNvSpPr/>
          <p:nvPr/>
        </p:nvSpPr>
        <p:spPr>
          <a:xfrm>
            <a:off x="5074920" y="2743200"/>
            <a:ext cx="1416960" cy="959760"/>
          </a:xfrm>
          <a:prstGeom prst="roundRect">
            <a:avLst>
              <a:gd name="adj" fmla="val 16667"/>
            </a:avLst>
          </a:prstGeom>
          <a:solidFill>
            <a:srgbClr val="FFF20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Attention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4 heads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72" name="Connector 17"/>
          <p:cNvCxnSpPr/>
          <p:nvPr/>
        </p:nvCxnSpPr>
        <p:spPr>
          <a:xfrm>
            <a:off x="6492240" y="3227760"/>
            <a:ext cx="183240" cy="360"/>
          </a:xfrm>
          <a:prstGeom prst="straightConnector1">
            <a:avLst/>
          </a:prstGeom>
          <a:ln w="20320">
            <a:solidFill>
              <a:srgbClr val="3268B8"/>
            </a:solidFill>
          </a:ln>
        </p:spPr>
      </p:cxnSp>
      <p:sp>
        <p:nvSpPr>
          <p:cNvPr id="773" name="Isosceles Triangle 18"/>
          <p:cNvSpPr/>
          <p:nvPr/>
        </p:nvSpPr>
        <p:spPr>
          <a:xfrm rot="5400000">
            <a:off x="6593400" y="315468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74" name="Rounded Rectangle 19"/>
          <p:cNvSpPr/>
          <p:nvPr/>
        </p:nvSpPr>
        <p:spPr>
          <a:xfrm>
            <a:off x="6729840" y="2743200"/>
            <a:ext cx="1279800" cy="959760"/>
          </a:xfrm>
          <a:prstGeom prst="roundRect">
            <a:avLst>
              <a:gd name="adj" fmla="val 16667"/>
            </a:avLst>
          </a:prstGeom>
          <a:solidFill>
            <a:srgbClr val="DBE8F8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Encoder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×2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75" name="Connector 20"/>
          <p:cNvCxnSpPr/>
          <p:nvPr/>
        </p:nvCxnSpPr>
        <p:spPr>
          <a:xfrm>
            <a:off x="8010000" y="3227760"/>
            <a:ext cx="183240" cy="360"/>
          </a:xfrm>
          <a:prstGeom prst="straightConnector1">
            <a:avLst/>
          </a:prstGeom>
          <a:ln w="20320">
            <a:solidFill>
              <a:srgbClr val="3268B8"/>
            </a:solidFill>
          </a:ln>
        </p:spPr>
      </p:cxnSp>
      <p:sp>
        <p:nvSpPr>
          <p:cNvPr id="776" name="Isosceles Triangle 21"/>
          <p:cNvSpPr/>
          <p:nvPr/>
        </p:nvSpPr>
        <p:spPr>
          <a:xfrm rot="5400000">
            <a:off x="8111160" y="315468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77" name="Rounded Rectangle 22"/>
          <p:cNvSpPr/>
          <p:nvPr/>
        </p:nvSpPr>
        <p:spPr>
          <a:xfrm>
            <a:off x="8247960" y="2743200"/>
            <a:ext cx="1279800" cy="9597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Média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dos tokens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78" name="Connector 23"/>
          <p:cNvCxnSpPr/>
          <p:nvPr/>
        </p:nvCxnSpPr>
        <p:spPr>
          <a:xfrm>
            <a:off x="9527760" y="3227760"/>
            <a:ext cx="183240" cy="360"/>
          </a:xfrm>
          <a:prstGeom prst="straightConnector1">
            <a:avLst/>
          </a:prstGeom>
          <a:ln w="20320">
            <a:solidFill>
              <a:srgbClr val="3268B8"/>
            </a:solidFill>
          </a:ln>
        </p:spPr>
      </p:cxnSp>
      <p:sp>
        <p:nvSpPr>
          <p:cNvPr id="779" name="Isosceles Triangle 24"/>
          <p:cNvSpPr/>
          <p:nvPr/>
        </p:nvSpPr>
        <p:spPr>
          <a:xfrm rot="5400000">
            <a:off x="9629280" y="315468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80" name="Rounded Rectangle 25"/>
          <p:cNvSpPr/>
          <p:nvPr/>
        </p:nvSpPr>
        <p:spPr>
          <a:xfrm>
            <a:off x="9765720" y="2743200"/>
            <a:ext cx="1279800" cy="959760"/>
          </a:xfrm>
          <a:prstGeom prst="roundRect">
            <a:avLst>
              <a:gd name="adj" fmla="val 16667"/>
            </a:avLst>
          </a:prstGeom>
          <a:solidFill>
            <a:srgbClr val="6ED278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Dense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2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1" name="TextBox 26"/>
          <p:cNvSpPr/>
          <p:nvPr/>
        </p:nvSpPr>
        <p:spPr>
          <a:xfrm>
            <a:off x="914400" y="4617720"/>
            <a:ext cx="1033236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21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O TinyViT trata patches da imagem como uma sequência de tokens visuais.</a:t>
            </a:r>
            <a:endParaRPr lang="pt-B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2" name="Rounded Rectangle 27"/>
          <p:cNvSpPr/>
          <p:nvPr/>
        </p:nvSpPr>
        <p:spPr>
          <a:xfrm>
            <a:off x="2514600" y="5257800"/>
            <a:ext cx="7177680" cy="5299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326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5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PyTorch: Conv2d (patches) + TransformerEncoder + Linear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3" name="Picture 1" descr="unip_logo.png"/>
          <p:cNvPicPr/>
          <p:nvPr/>
        </p:nvPicPr>
        <p:blipFill>
          <a:blip r:embed="rId1"/>
          <a:stretch/>
        </p:blipFill>
        <p:spPr>
          <a:xfrm>
            <a:off x="228600" y="137160"/>
            <a:ext cx="2468520" cy="52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4" name="TextBox 2"/>
          <p:cNvSpPr/>
          <p:nvPr/>
        </p:nvSpPr>
        <p:spPr>
          <a:xfrm>
            <a:off x="255960" y="932760"/>
            <a:ext cx="4388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3268B8"/>
                </a:solidFill>
                <a:effectLst/>
                <a:uFillTx/>
                <a:latin typeface="Arial"/>
              </a:rPr>
              <a:t>8 • LABORATÓRIO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5" name="TextBox 3"/>
          <p:cNvSpPr/>
          <p:nvPr/>
        </p:nvSpPr>
        <p:spPr>
          <a:xfrm>
            <a:off x="255960" y="1207080"/>
            <a:ext cx="114296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7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O mesmo ciclo de treinamento para os dois modelos</a:t>
            </a:r>
            <a:endParaRPr lang="pt-BR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6" name="TextBox 4"/>
          <p:cNvSpPr/>
          <p:nvPr/>
        </p:nvSpPr>
        <p:spPr>
          <a:xfrm>
            <a:off x="640080" y="6510600"/>
            <a:ext cx="2742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9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Professor Miguél Suares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7" name="TextBox 5"/>
          <p:cNvSpPr/>
          <p:nvPr/>
        </p:nvSpPr>
        <p:spPr>
          <a:xfrm>
            <a:off x="640080" y="6693480"/>
            <a:ext cx="4571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8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UNIP • GTI – Oferta 2026 • Gestão e Análise de Dados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8" name="TextBox 6"/>
          <p:cNvSpPr/>
          <p:nvPr/>
        </p:nvSpPr>
        <p:spPr>
          <a:xfrm>
            <a:off x="11384280" y="6556320"/>
            <a:ext cx="319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8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28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9" name="Rounded Rectangle 7"/>
          <p:cNvSpPr/>
          <p:nvPr/>
        </p:nvSpPr>
        <p:spPr>
          <a:xfrm>
            <a:off x="502920" y="2423160"/>
            <a:ext cx="502560" cy="502560"/>
          </a:xfrm>
          <a:prstGeom prst="roundRect">
            <a:avLst>
              <a:gd name="adj" fmla="val 16667"/>
            </a:avLst>
          </a:prstGeom>
          <a:solidFill>
            <a:srgbClr val="FFF20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6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1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0" name="Rounded Rectangle 8"/>
          <p:cNvSpPr/>
          <p:nvPr/>
        </p:nvSpPr>
        <p:spPr>
          <a:xfrm>
            <a:off x="411480" y="3063240"/>
            <a:ext cx="1599840" cy="658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326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Batch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91" name="Connector 9"/>
          <p:cNvCxnSpPr/>
          <p:nvPr/>
        </p:nvCxnSpPr>
        <p:spPr>
          <a:xfrm>
            <a:off x="2011680" y="3392280"/>
            <a:ext cx="274680" cy="360"/>
          </a:xfrm>
          <a:prstGeom prst="straightConnector1">
            <a:avLst/>
          </a:prstGeom>
          <a:ln w="19050">
            <a:solidFill>
              <a:srgbClr val="3268B8"/>
            </a:solidFill>
          </a:ln>
        </p:spPr>
      </p:cxnSp>
      <p:sp>
        <p:nvSpPr>
          <p:cNvPr id="792" name="Isosceles Triangle 10"/>
          <p:cNvSpPr/>
          <p:nvPr/>
        </p:nvSpPr>
        <p:spPr>
          <a:xfrm rot="5400000">
            <a:off x="2204280" y="331920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93" name="Rounded Rectangle 11"/>
          <p:cNvSpPr/>
          <p:nvPr/>
        </p:nvSpPr>
        <p:spPr>
          <a:xfrm>
            <a:off x="2377440" y="2423160"/>
            <a:ext cx="502560" cy="502560"/>
          </a:xfrm>
          <a:prstGeom prst="roundRect">
            <a:avLst>
              <a:gd name="adj" fmla="val 16667"/>
            </a:avLst>
          </a:prstGeom>
          <a:solidFill>
            <a:srgbClr val="FFF20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6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2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4" name="Rounded Rectangle 12"/>
          <p:cNvSpPr/>
          <p:nvPr/>
        </p:nvSpPr>
        <p:spPr>
          <a:xfrm>
            <a:off x="2286000" y="3063240"/>
            <a:ext cx="1599840" cy="658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326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Forward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95" name="Connector 13"/>
          <p:cNvCxnSpPr/>
          <p:nvPr/>
        </p:nvCxnSpPr>
        <p:spPr>
          <a:xfrm>
            <a:off x="3886200" y="3392280"/>
            <a:ext cx="274680" cy="360"/>
          </a:xfrm>
          <a:prstGeom prst="straightConnector1">
            <a:avLst/>
          </a:prstGeom>
          <a:ln w="19050">
            <a:solidFill>
              <a:srgbClr val="3268B8"/>
            </a:solidFill>
          </a:ln>
        </p:spPr>
      </p:cxnSp>
      <p:sp>
        <p:nvSpPr>
          <p:cNvPr id="796" name="Isosceles Triangle 14"/>
          <p:cNvSpPr/>
          <p:nvPr/>
        </p:nvSpPr>
        <p:spPr>
          <a:xfrm rot="5400000">
            <a:off x="4078800" y="331920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97" name="Rounded Rectangle 15"/>
          <p:cNvSpPr/>
          <p:nvPr/>
        </p:nvSpPr>
        <p:spPr>
          <a:xfrm>
            <a:off x="4251960" y="2423160"/>
            <a:ext cx="502560" cy="502560"/>
          </a:xfrm>
          <a:prstGeom prst="roundRect">
            <a:avLst>
              <a:gd name="adj" fmla="val 16667"/>
            </a:avLst>
          </a:prstGeom>
          <a:solidFill>
            <a:srgbClr val="FFF20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6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3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8" name="Rounded Rectangle 16"/>
          <p:cNvSpPr/>
          <p:nvPr/>
        </p:nvSpPr>
        <p:spPr>
          <a:xfrm>
            <a:off x="4160520" y="3063240"/>
            <a:ext cx="1599840" cy="658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326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Loss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99" name="Connector 17"/>
          <p:cNvCxnSpPr/>
          <p:nvPr/>
        </p:nvCxnSpPr>
        <p:spPr>
          <a:xfrm>
            <a:off x="5760360" y="3392280"/>
            <a:ext cx="275040" cy="360"/>
          </a:xfrm>
          <a:prstGeom prst="straightConnector1">
            <a:avLst/>
          </a:prstGeom>
          <a:ln w="19050">
            <a:solidFill>
              <a:srgbClr val="3268B8"/>
            </a:solidFill>
          </a:ln>
        </p:spPr>
      </p:cxnSp>
      <p:sp>
        <p:nvSpPr>
          <p:cNvPr id="800" name="Isosceles Triangle 18"/>
          <p:cNvSpPr/>
          <p:nvPr/>
        </p:nvSpPr>
        <p:spPr>
          <a:xfrm rot="5400000">
            <a:off x="5953320" y="331920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801" name="Rounded Rectangle 19"/>
          <p:cNvSpPr/>
          <p:nvPr/>
        </p:nvSpPr>
        <p:spPr>
          <a:xfrm>
            <a:off x="6126480" y="2423160"/>
            <a:ext cx="502560" cy="502560"/>
          </a:xfrm>
          <a:prstGeom prst="roundRect">
            <a:avLst>
              <a:gd name="adj" fmla="val 16667"/>
            </a:avLst>
          </a:prstGeom>
          <a:solidFill>
            <a:srgbClr val="FFF20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6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4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2" name="Rounded Rectangle 20"/>
          <p:cNvSpPr/>
          <p:nvPr/>
        </p:nvSpPr>
        <p:spPr>
          <a:xfrm>
            <a:off x="6035040" y="3063240"/>
            <a:ext cx="1599840" cy="658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326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Backprop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03" name="Connector 21"/>
          <p:cNvCxnSpPr/>
          <p:nvPr/>
        </p:nvCxnSpPr>
        <p:spPr>
          <a:xfrm>
            <a:off x="7635240" y="3392280"/>
            <a:ext cx="274320" cy="360"/>
          </a:xfrm>
          <a:prstGeom prst="straightConnector1">
            <a:avLst/>
          </a:prstGeom>
          <a:ln w="19050">
            <a:solidFill>
              <a:srgbClr val="3268B8"/>
            </a:solidFill>
          </a:ln>
        </p:spPr>
      </p:cxnSp>
      <p:sp>
        <p:nvSpPr>
          <p:cNvPr id="804" name="Isosceles Triangle 22"/>
          <p:cNvSpPr/>
          <p:nvPr/>
        </p:nvSpPr>
        <p:spPr>
          <a:xfrm rot="5400000">
            <a:off x="7827840" y="331920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805" name="Rounded Rectangle 23"/>
          <p:cNvSpPr/>
          <p:nvPr/>
        </p:nvSpPr>
        <p:spPr>
          <a:xfrm>
            <a:off x="8001000" y="2423160"/>
            <a:ext cx="502560" cy="502560"/>
          </a:xfrm>
          <a:prstGeom prst="roundRect">
            <a:avLst>
              <a:gd name="adj" fmla="val 16667"/>
            </a:avLst>
          </a:prstGeom>
          <a:solidFill>
            <a:srgbClr val="FFF20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6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5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6" name="Rounded Rectangle 24"/>
          <p:cNvSpPr/>
          <p:nvPr/>
        </p:nvSpPr>
        <p:spPr>
          <a:xfrm>
            <a:off x="7909560" y="3063240"/>
            <a:ext cx="1599840" cy="658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326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Optimizer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07" name="Connector 25"/>
          <p:cNvCxnSpPr/>
          <p:nvPr/>
        </p:nvCxnSpPr>
        <p:spPr>
          <a:xfrm>
            <a:off x="9509760" y="3392280"/>
            <a:ext cx="274680" cy="360"/>
          </a:xfrm>
          <a:prstGeom prst="straightConnector1">
            <a:avLst/>
          </a:prstGeom>
          <a:ln w="19050">
            <a:solidFill>
              <a:srgbClr val="3268B8"/>
            </a:solidFill>
          </a:ln>
        </p:spPr>
      </p:cxnSp>
      <p:sp>
        <p:nvSpPr>
          <p:cNvPr id="808" name="Isosceles Triangle 26"/>
          <p:cNvSpPr/>
          <p:nvPr/>
        </p:nvSpPr>
        <p:spPr>
          <a:xfrm rot="5400000">
            <a:off x="9702360" y="331920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809" name="Rounded Rectangle 27"/>
          <p:cNvSpPr/>
          <p:nvPr/>
        </p:nvSpPr>
        <p:spPr>
          <a:xfrm>
            <a:off x="9875520" y="2423160"/>
            <a:ext cx="502560" cy="502560"/>
          </a:xfrm>
          <a:prstGeom prst="roundRect">
            <a:avLst>
              <a:gd name="adj" fmla="val 16667"/>
            </a:avLst>
          </a:prstGeom>
          <a:solidFill>
            <a:srgbClr val="FFF20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6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6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0" name="Rounded Rectangle 28"/>
          <p:cNvSpPr/>
          <p:nvPr/>
        </p:nvSpPr>
        <p:spPr>
          <a:xfrm>
            <a:off x="9784080" y="3063240"/>
            <a:ext cx="1599840" cy="658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326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Próximo batch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1" name="TextBox 29"/>
          <p:cNvSpPr/>
          <p:nvPr/>
        </p:nvSpPr>
        <p:spPr>
          <a:xfrm>
            <a:off x="914400" y="4480560"/>
            <a:ext cx="103323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21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A arquitetura muda; o princípio de aprendizagem continua sendo o mesmo da aula anterior.</a:t>
            </a:r>
            <a:endParaRPr lang="pt-B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2" name="TextBox 30"/>
          <p:cNvSpPr/>
          <p:nvPr/>
        </p:nvSpPr>
        <p:spPr>
          <a:xfrm>
            <a:off x="914400" y="5212080"/>
            <a:ext cx="103323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7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Feed Forward → calcular erro → Backpropagation → atualizar pesos.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3" name="Picture 1" descr="unip_logo.png"/>
          <p:cNvPicPr/>
          <p:nvPr/>
        </p:nvPicPr>
        <p:blipFill>
          <a:blip r:embed="rId1"/>
          <a:stretch/>
        </p:blipFill>
        <p:spPr>
          <a:xfrm>
            <a:off x="228600" y="137160"/>
            <a:ext cx="2468520" cy="52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4" name="TextBox 2"/>
          <p:cNvSpPr/>
          <p:nvPr/>
        </p:nvSpPr>
        <p:spPr>
          <a:xfrm>
            <a:off x="255960" y="932760"/>
            <a:ext cx="4388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3268B8"/>
                </a:solidFill>
                <a:effectLst/>
                <a:uFillTx/>
                <a:latin typeface="Arial"/>
              </a:rPr>
              <a:t>8 • LABORATÓRIO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5" name="TextBox 3"/>
          <p:cNvSpPr/>
          <p:nvPr/>
        </p:nvSpPr>
        <p:spPr>
          <a:xfrm>
            <a:off x="255960" y="1207080"/>
            <a:ext cx="114296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7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O que vamos comparar?</a:t>
            </a:r>
            <a:endParaRPr lang="pt-BR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6" name="TextBox 4"/>
          <p:cNvSpPr/>
          <p:nvPr/>
        </p:nvSpPr>
        <p:spPr>
          <a:xfrm>
            <a:off x="640080" y="6510600"/>
            <a:ext cx="2742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9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Professor Miguél Suares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7" name="TextBox 5"/>
          <p:cNvSpPr/>
          <p:nvPr/>
        </p:nvSpPr>
        <p:spPr>
          <a:xfrm>
            <a:off x="640080" y="6693480"/>
            <a:ext cx="4571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8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UNIP • GTI – Oferta 2026 • Gestão e Análise de Dados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8" name="TextBox 6"/>
          <p:cNvSpPr/>
          <p:nvPr/>
        </p:nvSpPr>
        <p:spPr>
          <a:xfrm>
            <a:off x="11384280" y="6556320"/>
            <a:ext cx="319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8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29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9" name="Rectangle 7"/>
          <p:cNvSpPr/>
          <p:nvPr/>
        </p:nvSpPr>
        <p:spPr>
          <a:xfrm>
            <a:off x="777240" y="2331720"/>
            <a:ext cx="2742840" cy="594000"/>
          </a:xfrm>
          <a:prstGeom prst="rect">
            <a:avLst/>
          </a:prstGeom>
          <a:solidFill>
            <a:srgbClr val="0A1F3A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6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MODELO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0" name="Rectangle 8"/>
          <p:cNvSpPr/>
          <p:nvPr/>
        </p:nvSpPr>
        <p:spPr>
          <a:xfrm>
            <a:off x="3520440" y="2331720"/>
            <a:ext cx="2468520" cy="594000"/>
          </a:xfrm>
          <a:prstGeom prst="rect">
            <a:avLst/>
          </a:prstGeom>
          <a:solidFill>
            <a:srgbClr val="3268B8"/>
          </a:solidFill>
          <a:ln w="17780">
            <a:solidFill>
              <a:srgbClr val="326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6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ACURÁCIA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1" name="Rectangle 9"/>
          <p:cNvSpPr/>
          <p:nvPr/>
        </p:nvSpPr>
        <p:spPr>
          <a:xfrm>
            <a:off x="5989320" y="2331720"/>
            <a:ext cx="2468520" cy="594000"/>
          </a:xfrm>
          <a:prstGeom prst="rect">
            <a:avLst/>
          </a:prstGeom>
          <a:solidFill>
            <a:srgbClr val="0A1F3A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6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TEMPO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2" name="Rectangle 10"/>
          <p:cNvSpPr/>
          <p:nvPr/>
        </p:nvSpPr>
        <p:spPr>
          <a:xfrm>
            <a:off x="8458200" y="2331720"/>
            <a:ext cx="2880000" cy="594000"/>
          </a:xfrm>
          <a:prstGeom prst="rect">
            <a:avLst/>
          </a:prstGeom>
          <a:solidFill>
            <a:srgbClr val="3268B8"/>
          </a:solidFill>
          <a:ln w="17780">
            <a:solidFill>
              <a:srgbClr val="326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6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PARÂMETROS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3" name="Rectangle 11"/>
          <p:cNvSpPr/>
          <p:nvPr/>
        </p:nvSpPr>
        <p:spPr>
          <a:xfrm>
            <a:off x="777240" y="2926080"/>
            <a:ext cx="2742840" cy="822600"/>
          </a:xfrm>
          <a:prstGeom prst="rect">
            <a:avLst/>
          </a:prstGeom>
          <a:solidFill>
            <a:srgbClr val="DBE8F8"/>
          </a:solidFill>
          <a:ln w="1778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7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CNN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4" name="Rectangle 12"/>
          <p:cNvSpPr/>
          <p:nvPr/>
        </p:nvSpPr>
        <p:spPr>
          <a:xfrm>
            <a:off x="3520440" y="2926080"/>
            <a:ext cx="2468520" cy="822600"/>
          </a:xfrm>
          <a:prstGeom prst="rect">
            <a:avLst/>
          </a:prstGeom>
          <a:solidFill>
            <a:srgbClr val="FFFFFF"/>
          </a:solidFill>
          <a:ln w="1778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3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?</a:t>
            </a:r>
            <a:endParaRPr lang="pt-B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5" name="Rectangle 13"/>
          <p:cNvSpPr/>
          <p:nvPr/>
        </p:nvSpPr>
        <p:spPr>
          <a:xfrm>
            <a:off x="5989320" y="2926080"/>
            <a:ext cx="2468520" cy="822600"/>
          </a:xfrm>
          <a:prstGeom prst="rect">
            <a:avLst/>
          </a:prstGeom>
          <a:solidFill>
            <a:srgbClr val="FFFFFF"/>
          </a:solidFill>
          <a:ln w="1778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3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?</a:t>
            </a:r>
            <a:endParaRPr lang="pt-B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6" name="Rectangle 14"/>
          <p:cNvSpPr/>
          <p:nvPr/>
        </p:nvSpPr>
        <p:spPr>
          <a:xfrm>
            <a:off x="8458200" y="2926080"/>
            <a:ext cx="2880000" cy="822600"/>
          </a:xfrm>
          <a:prstGeom prst="rect">
            <a:avLst/>
          </a:prstGeom>
          <a:solidFill>
            <a:srgbClr val="FFFFFF"/>
          </a:solidFill>
          <a:ln w="1778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3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?</a:t>
            </a:r>
            <a:endParaRPr lang="pt-B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7" name="Rectangle 15"/>
          <p:cNvSpPr/>
          <p:nvPr/>
        </p:nvSpPr>
        <p:spPr>
          <a:xfrm>
            <a:off x="777240" y="3749040"/>
            <a:ext cx="2742840" cy="822600"/>
          </a:xfrm>
          <a:prstGeom prst="rect">
            <a:avLst/>
          </a:prstGeom>
          <a:solidFill>
            <a:srgbClr val="FFF200"/>
          </a:solidFill>
          <a:ln w="1778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7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TinyViT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8" name="Rectangle 16"/>
          <p:cNvSpPr/>
          <p:nvPr/>
        </p:nvSpPr>
        <p:spPr>
          <a:xfrm>
            <a:off x="3520440" y="3749040"/>
            <a:ext cx="2468520" cy="822600"/>
          </a:xfrm>
          <a:prstGeom prst="rect">
            <a:avLst/>
          </a:prstGeom>
          <a:solidFill>
            <a:srgbClr val="FFFFFF"/>
          </a:solidFill>
          <a:ln w="1778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3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?</a:t>
            </a:r>
            <a:endParaRPr lang="pt-B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9" name="Rectangle 17"/>
          <p:cNvSpPr/>
          <p:nvPr/>
        </p:nvSpPr>
        <p:spPr>
          <a:xfrm>
            <a:off x="5989320" y="3749040"/>
            <a:ext cx="2468520" cy="822600"/>
          </a:xfrm>
          <a:prstGeom prst="rect">
            <a:avLst/>
          </a:prstGeom>
          <a:solidFill>
            <a:srgbClr val="FFFFFF"/>
          </a:solidFill>
          <a:ln w="1778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3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?</a:t>
            </a:r>
            <a:endParaRPr lang="pt-B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0" name="Rectangle 18"/>
          <p:cNvSpPr/>
          <p:nvPr/>
        </p:nvSpPr>
        <p:spPr>
          <a:xfrm>
            <a:off x="8458200" y="3749040"/>
            <a:ext cx="2880000" cy="822600"/>
          </a:xfrm>
          <a:prstGeom prst="rect">
            <a:avLst/>
          </a:prstGeom>
          <a:solidFill>
            <a:srgbClr val="FFFFFF"/>
          </a:solidFill>
          <a:ln w="1778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3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?</a:t>
            </a:r>
            <a:endParaRPr lang="pt-B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1" name="TextBox 19"/>
          <p:cNvSpPr/>
          <p:nvPr/>
        </p:nvSpPr>
        <p:spPr>
          <a:xfrm>
            <a:off x="914400" y="5074920"/>
            <a:ext cx="10332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F56969"/>
                </a:solidFill>
                <a:effectLst/>
                <a:uFillTx/>
                <a:latin typeface="Arial"/>
              </a:rPr>
              <a:t>Não vamos escolher o “vencedor universal”. Vamos observar o comportamento neste experimento.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Picture 1" descr="unip_logo.png"/>
          <p:cNvPicPr/>
          <p:nvPr/>
        </p:nvPicPr>
        <p:blipFill>
          <a:blip r:embed="rId1"/>
          <a:stretch/>
        </p:blipFill>
        <p:spPr>
          <a:xfrm>
            <a:off x="228600" y="137160"/>
            <a:ext cx="2468520" cy="52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3" name="TextBox 2"/>
          <p:cNvSpPr/>
          <p:nvPr/>
        </p:nvSpPr>
        <p:spPr>
          <a:xfrm>
            <a:off x="255960" y="932760"/>
            <a:ext cx="4388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3268B8"/>
                </a:solidFill>
                <a:effectLst/>
                <a:uFillTx/>
                <a:latin typeface="Arial"/>
              </a:rPr>
              <a:t>8 • INTERPRETAÇÃO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4" name="TextBox 3"/>
          <p:cNvSpPr/>
          <p:nvPr/>
        </p:nvSpPr>
        <p:spPr>
          <a:xfrm>
            <a:off x="255960" y="1207080"/>
            <a:ext cx="114296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7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Se a CNN ganhar, o Transformer “falhou”?</a:t>
            </a:r>
            <a:endParaRPr lang="pt-BR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5" name="TextBox 4"/>
          <p:cNvSpPr/>
          <p:nvPr/>
        </p:nvSpPr>
        <p:spPr>
          <a:xfrm>
            <a:off x="640080" y="6510600"/>
            <a:ext cx="2742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9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Professor Miguél Suares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6" name="TextBox 5"/>
          <p:cNvSpPr/>
          <p:nvPr/>
        </p:nvSpPr>
        <p:spPr>
          <a:xfrm>
            <a:off x="640080" y="6693480"/>
            <a:ext cx="4571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8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UNIP • GTI – Oferta 2026 • Gestão e Análise de Dados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7" name="TextBox 6"/>
          <p:cNvSpPr/>
          <p:nvPr/>
        </p:nvSpPr>
        <p:spPr>
          <a:xfrm>
            <a:off x="11384280" y="6556320"/>
            <a:ext cx="319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8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30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8" name="Rounded Rectangle 7"/>
          <p:cNvSpPr/>
          <p:nvPr/>
        </p:nvSpPr>
        <p:spPr>
          <a:xfrm>
            <a:off x="777240" y="2514600"/>
            <a:ext cx="1828440" cy="914040"/>
          </a:xfrm>
          <a:prstGeom prst="roundRect">
            <a:avLst>
              <a:gd name="adj" fmla="val 16667"/>
            </a:avLst>
          </a:prstGeom>
          <a:solidFill>
            <a:srgbClr val="6ED278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8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NÃO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9" name="TextBox 8"/>
          <p:cNvSpPr/>
          <p:nvPr/>
        </p:nvSpPr>
        <p:spPr>
          <a:xfrm>
            <a:off x="2971800" y="2468880"/>
            <a:ext cx="813780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0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Um Transformer pequeno, treinado do zero e com poucos dados, não reproduz as condições em que grandes ViTs brilham.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0" name="Rounded Rectangle 9"/>
          <p:cNvSpPr/>
          <p:nvPr/>
        </p:nvSpPr>
        <p:spPr>
          <a:xfrm>
            <a:off x="914400" y="4251960"/>
            <a:ext cx="2925720" cy="639720"/>
          </a:xfrm>
          <a:prstGeom prst="roundRect">
            <a:avLst>
              <a:gd name="adj" fmla="val 16667"/>
            </a:avLst>
          </a:prstGeom>
          <a:solidFill>
            <a:srgbClr val="DBE8F8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CNN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1" name="TextBox 10"/>
          <p:cNvSpPr/>
          <p:nvPr/>
        </p:nvSpPr>
        <p:spPr>
          <a:xfrm>
            <a:off x="914400" y="5010840"/>
            <a:ext cx="292572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4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forte viés para padrões locais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2" name="Rounded Rectangle 11"/>
          <p:cNvSpPr/>
          <p:nvPr/>
        </p:nvSpPr>
        <p:spPr>
          <a:xfrm>
            <a:off x="4617720" y="4251960"/>
            <a:ext cx="2925720" cy="639720"/>
          </a:xfrm>
          <a:prstGeom prst="roundRect">
            <a:avLst>
              <a:gd name="adj" fmla="val 16667"/>
            </a:avLst>
          </a:prstGeom>
          <a:solidFill>
            <a:srgbClr val="FFF20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ViT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3" name="TextBox 12"/>
          <p:cNvSpPr/>
          <p:nvPr/>
        </p:nvSpPr>
        <p:spPr>
          <a:xfrm>
            <a:off x="4389120" y="5010840"/>
            <a:ext cx="338292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4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mais dependente de dados / pré-treino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4" name="Rounded Rectangle 13"/>
          <p:cNvSpPr/>
          <p:nvPr/>
        </p:nvSpPr>
        <p:spPr>
          <a:xfrm>
            <a:off x="8321040" y="4251960"/>
            <a:ext cx="2925720" cy="639720"/>
          </a:xfrm>
          <a:prstGeom prst="roundRect">
            <a:avLst>
              <a:gd name="adj" fmla="val 16667"/>
            </a:avLst>
          </a:prstGeom>
          <a:solidFill>
            <a:srgbClr val="FAE2D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Conclusão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5" name="TextBox 14"/>
          <p:cNvSpPr/>
          <p:nvPr/>
        </p:nvSpPr>
        <p:spPr>
          <a:xfrm>
            <a:off x="8321040" y="5010840"/>
            <a:ext cx="292572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4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contexto importa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6" name="Picture 1" descr="unip_logo.png"/>
          <p:cNvPicPr/>
          <p:nvPr/>
        </p:nvPicPr>
        <p:blipFill>
          <a:blip r:embed="rId1"/>
          <a:stretch/>
        </p:blipFill>
        <p:spPr>
          <a:xfrm>
            <a:off x="228600" y="137160"/>
            <a:ext cx="2468520" cy="52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47" name="TextBox 2"/>
          <p:cNvSpPr/>
          <p:nvPr/>
        </p:nvSpPr>
        <p:spPr>
          <a:xfrm>
            <a:off x="255960" y="932760"/>
            <a:ext cx="4388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400" b="1" u="none" strike="noStrike">
                <a:solidFill>
                  <a:srgbClr val="3268B8"/>
                </a:solidFill>
                <a:effectLst/>
                <a:uFillTx/>
                <a:latin typeface="Arial"/>
              </a:rPr>
              <a:t>RESUMO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8" name="TextBox 3"/>
          <p:cNvSpPr/>
          <p:nvPr/>
        </p:nvSpPr>
        <p:spPr>
          <a:xfrm>
            <a:off x="255960" y="1207080"/>
            <a:ext cx="114296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7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Da MLP aos Modelos Fundacionais</a:t>
            </a:r>
            <a:endParaRPr lang="pt-BR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9" name="TextBox 4"/>
          <p:cNvSpPr/>
          <p:nvPr/>
        </p:nvSpPr>
        <p:spPr>
          <a:xfrm>
            <a:off x="640080" y="6510600"/>
            <a:ext cx="2742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9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Professor Miguél Suares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0" name="TextBox 5"/>
          <p:cNvSpPr/>
          <p:nvPr/>
        </p:nvSpPr>
        <p:spPr>
          <a:xfrm>
            <a:off x="640080" y="6693480"/>
            <a:ext cx="4571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8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UNIP • GTI – Oferta 2026 • Gestão e Análise de Dados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1" name="TextBox 6"/>
          <p:cNvSpPr/>
          <p:nvPr/>
        </p:nvSpPr>
        <p:spPr>
          <a:xfrm>
            <a:off x="11384280" y="6556320"/>
            <a:ext cx="319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8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31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2" name="Rounded Rectangle 7"/>
          <p:cNvSpPr/>
          <p:nvPr/>
        </p:nvSpPr>
        <p:spPr>
          <a:xfrm>
            <a:off x="502920" y="2286000"/>
            <a:ext cx="1919880" cy="731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6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MLP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3" name="TextBox 8"/>
          <p:cNvSpPr/>
          <p:nvPr/>
        </p:nvSpPr>
        <p:spPr>
          <a:xfrm>
            <a:off x="502920" y="3154680"/>
            <a:ext cx="1919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3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todos com todos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54" name="Connector 9"/>
          <p:cNvCxnSpPr/>
          <p:nvPr/>
        </p:nvCxnSpPr>
        <p:spPr>
          <a:xfrm>
            <a:off x="2441160" y="2651760"/>
            <a:ext cx="238320" cy="360"/>
          </a:xfrm>
          <a:prstGeom prst="straightConnector1">
            <a:avLst/>
          </a:prstGeom>
          <a:ln w="21590">
            <a:solidFill>
              <a:srgbClr val="3268B8"/>
            </a:solidFill>
          </a:ln>
        </p:spPr>
      </p:cxnSp>
      <p:sp>
        <p:nvSpPr>
          <p:cNvPr id="855" name="Isosceles Triangle 10"/>
          <p:cNvSpPr/>
          <p:nvPr/>
        </p:nvSpPr>
        <p:spPr>
          <a:xfrm rot="5400000">
            <a:off x="2597400" y="257868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856" name="Rounded Rectangle 11"/>
          <p:cNvSpPr/>
          <p:nvPr/>
        </p:nvSpPr>
        <p:spPr>
          <a:xfrm>
            <a:off x="2807280" y="2286000"/>
            <a:ext cx="1919880" cy="731160"/>
          </a:xfrm>
          <a:prstGeom prst="roundRect">
            <a:avLst>
              <a:gd name="adj" fmla="val 16667"/>
            </a:avLst>
          </a:prstGeom>
          <a:solidFill>
            <a:srgbClr val="DBE8F8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6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CNN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7" name="TextBox 12"/>
          <p:cNvSpPr/>
          <p:nvPr/>
        </p:nvSpPr>
        <p:spPr>
          <a:xfrm>
            <a:off x="2807280" y="3154680"/>
            <a:ext cx="1919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3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padrões locais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58" name="Connector 13"/>
          <p:cNvCxnSpPr/>
          <p:nvPr/>
        </p:nvCxnSpPr>
        <p:spPr>
          <a:xfrm>
            <a:off x="4745520" y="2651760"/>
            <a:ext cx="238320" cy="360"/>
          </a:xfrm>
          <a:prstGeom prst="straightConnector1">
            <a:avLst/>
          </a:prstGeom>
          <a:ln w="21590">
            <a:solidFill>
              <a:srgbClr val="3268B8"/>
            </a:solidFill>
          </a:ln>
        </p:spPr>
      </p:cxnSp>
      <p:sp>
        <p:nvSpPr>
          <p:cNvPr id="859" name="Isosceles Triangle 14"/>
          <p:cNvSpPr/>
          <p:nvPr/>
        </p:nvSpPr>
        <p:spPr>
          <a:xfrm rot="5400000">
            <a:off x="4901760" y="257868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860" name="Rounded Rectangle 15"/>
          <p:cNvSpPr/>
          <p:nvPr/>
        </p:nvSpPr>
        <p:spPr>
          <a:xfrm>
            <a:off x="5111640" y="2286000"/>
            <a:ext cx="1919880" cy="731160"/>
          </a:xfrm>
          <a:prstGeom prst="roundRect">
            <a:avLst>
              <a:gd name="adj" fmla="val 16667"/>
            </a:avLst>
          </a:prstGeom>
          <a:solidFill>
            <a:srgbClr val="FFF20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6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ResNet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1" name="TextBox 16"/>
          <p:cNvSpPr/>
          <p:nvPr/>
        </p:nvSpPr>
        <p:spPr>
          <a:xfrm>
            <a:off x="5111640" y="3154680"/>
            <a:ext cx="1919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3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atalhos residuais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62" name="Connector 17"/>
          <p:cNvCxnSpPr/>
          <p:nvPr/>
        </p:nvCxnSpPr>
        <p:spPr>
          <a:xfrm>
            <a:off x="7049880" y="2651760"/>
            <a:ext cx="237960" cy="360"/>
          </a:xfrm>
          <a:prstGeom prst="straightConnector1">
            <a:avLst/>
          </a:prstGeom>
          <a:ln w="21590">
            <a:solidFill>
              <a:srgbClr val="3268B8"/>
            </a:solidFill>
          </a:ln>
        </p:spPr>
      </p:cxnSp>
      <p:sp>
        <p:nvSpPr>
          <p:cNvPr id="863" name="Isosceles Triangle 18"/>
          <p:cNvSpPr/>
          <p:nvPr/>
        </p:nvSpPr>
        <p:spPr>
          <a:xfrm rot="5400000">
            <a:off x="7206120" y="257868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864" name="Rounded Rectangle 19"/>
          <p:cNvSpPr/>
          <p:nvPr/>
        </p:nvSpPr>
        <p:spPr>
          <a:xfrm>
            <a:off x="7415640" y="2286000"/>
            <a:ext cx="1919880" cy="731160"/>
          </a:xfrm>
          <a:prstGeom prst="roundRect">
            <a:avLst>
              <a:gd name="adj" fmla="val 16667"/>
            </a:avLst>
          </a:prstGeom>
          <a:solidFill>
            <a:srgbClr val="FAE2D0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6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Transformer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5" name="TextBox 20"/>
          <p:cNvSpPr/>
          <p:nvPr/>
        </p:nvSpPr>
        <p:spPr>
          <a:xfrm>
            <a:off x="7415640" y="3154680"/>
            <a:ext cx="1919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3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self-attention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66" name="Connector 21"/>
          <p:cNvCxnSpPr/>
          <p:nvPr/>
        </p:nvCxnSpPr>
        <p:spPr>
          <a:xfrm>
            <a:off x="9354240" y="2651760"/>
            <a:ext cx="237960" cy="360"/>
          </a:xfrm>
          <a:prstGeom prst="straightConnector1">
            <a:avLst/>
          </a:prstGeom>
          <a:ln w="21590">
            <a:solidFill>
              <a:srgbClr val="3268B8"/>
            </a:solidFill>
          </a:ln>
        </p:spPr>
      </p:cxnSp>
      <p:sp>
        <p:nvSpPr>
          <p:cNvPr id="867" name="Isosceles Triangle 22"/>
          <p:cNvSpPr/>
          <p:nvPr/>
        </p:nvSpPr>
        <p:spPr>
          <a:xfrm rot="5400000">
            <a:off x="9510120" y="257868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326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868" name="Rounded Rectangle 23"/>
          <p:cNvSpPr/>
          <p:nvPr/>
        </p:nvSpPr>
        <p:spPr>
          <a:xfrm>
            <a:off x="9720000" y="2286000"/>
            <a:ext cx="1919880" cy="731160"/>
          </a:xfrm>
          <a:prstGeom prst="roundRect">
            <a:avLst>
              <a:gd name="adj" fmla="val 16667"/>
            </a:avLst>
          </a:prstGeom>
          <a:solidFill>
            <a:srgbClr val="6ED278"/>
          </a:solidFill>
          <a:ln w="17780">
            <a:solidFill>
              <a:srgbClr val="0A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tIns="45000" rIns="7308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6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Fundacional / LLM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9" name="TextBox 24"/>
          <p:cNvSpPr/>
          <p:nvPr/>
        </p:nvSpPr>
        <p:spPr>
          <a:xfrm>
            <a:off x="9720000" y="3154680"/>
            <a:ext cx="1919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300" b="1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pré-treino em escala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0" name="TextBox 25"/>
          <p:cNvSpPr/>
          <p:nvPr/>
        </p:nvSpPr>
        <p:spPr>
          <a:xfrm>
            <a:off x="822960" y="4251960"/>
            <a:ext cx="106066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2200" b="1" u="none" strike="noStrike">
                <a:solidFill>
                  <a:srgbClr val="0A1F3A"/>
                </a:solidFill>
                <a:effectLst/>
                <a:uFillTx/>
                <a:latin typeface="Arial"/>
              </a:rPr>
              <a:t>O neurônio continua sendo uma peça de LEGO. A arquitetura define como as peças são conectadas.</a:t>
            </a:r>
            <a:endParaRPr lang="pt-B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1" name="TextBox 26"/>
          <p:cNvSpPr/>
          <p:nvPr/>
        </p:nvSpPr>
        <p:spPr>
          <a:xfrm>
            <a:off x="914400" y="5166360"/>
            <a:ext cx="103323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700" b="0" u="none" strike="noStrike">
                <a:solidFill>
                  <a:srgbClr val="4B5B69"/>
                </a:solidFill>
                <a:effectLst/>
                <a:uFillTx/>
                <a:latin typeface="Arial"/>
              </a:rPr>
              <a:t>Próximo passo: executar o notebook, medir e interpretar os resultados CNN × TinyViT.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1_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customXml/_rels/item1.xml.rels><?xml version="1.0" encoding="UTF-8"?>
<Relationships xmlns="http://schemas.openxmlformats.org/package/2006/relationships"><Relationship Id="rId1" Type="http://schemas.openxmlformats.org/officeDocument/2006/relationships/customXmlProps" Target="itemProps1.xml"/>
</Relationships>
</file>

<file path=customXml/_rels/item2.xml.rels><?xml version="1.0" encoding="UTF-8"?>
<Relationships xmlns="http://schemas.openxmlformats.org/package/2006/relationships"><Relationship Id="rId1" Type="http://schemas.openxmlformats.org/officeDocument/2006/relationships/customXmlProps" Target="itemProps2.xml"/>
</Relationships>
</file>

<file path=customXml/_rels/item3.xml.rels><?xml version="1.0" encoding="UTF-8"?>
<Relationships xmlns="http://schemas.openxmlformats.org/package/2006/relationships"><Relationship Id="rId1" Type="http://schemas.openxmlformats.org/officeDocument/2006/relationships/customXmlProps" Target="itemProps3.xml"/>
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2E2876329B5D3B4FBA1D26A8667C2633" ma:contentTypeVersion="14" ma:contentTypeDescription="Crie um novo documento." ma:contentTypeScope="" ma:versionID="c18e529f75eeba5e3380f7426394bcf9">
  <xsd:schema xmlns:xsd="http://www.w3.org/2001/XMLSchema" xmlns:xs="http://www.w3.org/2001/XMLSchema" xmlns:p="http://schemas.microsoft.com/office/2006/metadata/properties" xmlns:ns3="1ea3c9c0-e698-4ea3-9529-a2c71b2c9eef" xmlns:ns4="38d922ee-4e44-47a7-a878-a22d9e8094bc" targetNamespace="http://schemas.microsoft.com/office/2006/metadata/properties" ma:root="true" ma:fieldsID="6a86d318e1343c5a9145aa5d09437703" ns3:_="" ns4:_="">
    <xsd:import namespace="1ea3c9c0-e698-4ea3-9529-a2c71b2c9eef"/>
    <xsd:import namespace="38d922ee-4e44-47a7-a878-a22d9e8094bc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SearchProperties" minOccurs="0"/>
                <xsd:element ref="ns3:MediaServiceDateTaken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ea3c9c0-e698-4ea3-9529-a2c71b2c9ee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1" nillable="true" ma:displayName="_activity" ma:hidden="true" ma:internalName="_activity">
      <xsd:simpleType>
        <xsd:restriction base="dms:Note"/>
      </xsd:simpleType>
    </xsd:element>
    <xsd:element name="MediaServiceSearchProperties" ma:index="1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SystemTags" ma:index="17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8d922ee-4e44-47a7-a878-a22d9e8094b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4" nillable="true" ma:displayName="Hash de Dica de Compartilhamento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1ea3c9c0-e698-4ea3-9529-a2c71b2c9eef" xsi:nil="true"/>
  </documentManagement>
</p:properties>
</file>

<file path=customXml/itemProps1.xml><?xml version="1.0" encoding="utf-8"?>
<ds:datastoreItem xmlns:ds="http://schemas.openxmlformats.org/officeDocument/2006/customXml" ds:itemID="{ED4652CD-F36D-4B45-A152-BCD8A2661B4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A2158D8-4C33-4132-A61E-E0532140A88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ea3c9c0-e698-4ea3-9529-a2c71b2c9eef"/>
    <ds:schemaRef ds:uri="38d922ee-4e44-47a7-a878-a22d9e8094b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D91E0874-EAAB-4A60-8F28-27A437EC07BB}">
  <ds:schemaRefs>
    <ds:schemaRef ds:uri="http://schemas.microsoft.com/office/2006/metadata/properties"/>
    <ds:schemaRef ds:uri="http://schemas.microsoft.com/office/infopath/2007/PartnerControls"/>
    <ds:schemaRef ds:uri="1ea3c9c0-e698-4ea3-9529-a2c71b2c9eef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1991</TotalTime>
  <Application>LibreOffice/26.2.5.2$Windows_X86_64 LibreOffice_project/cd7284b4cbbfeb507e630c1aac019f4157393acb</Application>
  <AppVersion>15.0000</AppVersion>
  <Words>2059</Words>
  <Paragraphs>408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2026-08-22T16:19:43Z</dcterms:created>
  <dc:creator>OpenAI</dc:creator>
  <dc:description/>
  <dc:language>pt-BR</dc:language>
  <cp:lastModifiedBy/>
  <dcterms:modified xsi:type="dcterms:W3CDTF">2026-10-27T17:17:52Z</dcterms:modified>
  <cp:revision>81</cp:revision>
  <dc:subject>Organização e Preparação de Dados; Regressão Logística e KNN</dc:subject>
  <dc:title>Aula 04 - Organização e Preparação de Dados; Regressão Logística e KNN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0x0101002E2876329B5D3B4FBA1D26A8667C2633</vt:lpwstr>
  </property>
  <property fmtid="{D5CDD505-2E9C-101B-9397-08002B2CF9AE}" pid="3" name="Notes">
    <vt:i4>2</vt:i4>
  </property>
  <property fmtid="{D5CDD505-2E9C-101B-9397-08002B2CF9AE}" pid="4" name="PresentationFormat">
    <vt:lpwstr>Widescreen</vt:lpwstr>
  </property>
  <property fmtid="{D5CDD505-2E9C-101B-9397-08002B2CF9AE}" pid="5" name="Slides">
    <vt:i4>31</vt:i4>
  </property>
</Properties>
</file>