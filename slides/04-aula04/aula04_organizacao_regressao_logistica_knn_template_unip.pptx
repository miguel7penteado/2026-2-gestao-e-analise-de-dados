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914400">
              <a:lnSpc>
                <a:spcPct val="90000"/>
              </a:lnSpc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3C562C2-014D-4B6E-90F6-65A90FCD9BFE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7115B3A1-E358-430A-813A-85CFC7F603F6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8074E12-D291-46D3-B86B-19611014A095}" type="slidenum"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6ED8B7A-8308-4959-9586-4BA6A17D2F7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ACD9A1C-E980-4DAB-9A38-48A165EC01A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38E7D4D-3BB0-4F7E-941C-26B70826881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DAACD81-EB06-4DD7-8D11-9CE7D7C5376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9AEBF52-97A3-403E-B5F0-CF6101282D1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0E70922-8CC8-4CB6-99CF-8A62A8F4711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A26BE2C-6437-466B-91EF-E98A1CB0C8B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DEC8769-1CE1-436A-95AD-4BC2A11111D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651ACCB-01B1-4A0E-93CE-76E3DB11E43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A3FAEF3-260A-42DF-8CF3-73F5F5D33C0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F8370F5-A284-45E2-9372-781EEE65793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D06098F-195C-4391-BCB7-FE2AE34664E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FC3EDB1-8F8C-4853-8F16-E70D1209A77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77D6C31-D0A1-4E9E-AF60-8098AD20812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F0B8C83-86B8-4117-B365-0CF7312ACD9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C8AE330-7AEE-4ED7-8033-FEE3BE106E6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CDBF939-1260-46BF-9803-9602B79016C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E39D82B-F31C-4C08-8F49-80603ECEBED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370C25B-F9A4-4A13-9AED-31BB6EF3DD1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004E3F0-5A6B-40B8-93B7-65AC5F9B19F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C72771D-2C29-4378-9AD2-CACCAED95D2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A14C4A5-9FA7-4CE9-AF2E-15B9B5372C89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562FE4C-B1C7-4107-9EAC-1362E2CF16B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07B8C5F-A5A3-4EA5-B950-1E757C0F593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1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2.png"/><Relationship Id="rId12" Type="http://schemas.openxmlformats.org/officeDocument/2006/relationships/image" Target="../media/image12.png"/><Relationship Id="rId13" Type="http://schemas.openxmlformats.org/officeDocument/2006/relationships/image" Target="../media/image12.png"/><Relationship Id="rId14" Type="http://schemas.openxmlformats.org/officeDocument/2006/relationships/image" Target="../media/image12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4.png"/><Relationship Id="rId7" Type="http://schemas.openxmlformats.org/officeDocument/2006/relationships/image" Target="../media/image14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6.png"/><Relationship Id="rId7" Type="http://schemas.openxmlformats.org/officeDocument/2006/relationships/image" Target="../media/image16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0.png"/><Relationship Id="rId4" Type="http://schemas.openxmlformats.org/officeDocument/2006/relationships/image" Target="../media/image30.png"/><Relationship Id="rId5" Type="http://schemas.openxmlformats.org/officeDocument/2006/relationships/image" Target="../media/image30.png"/><Relationship Id="rId6" Type="http://schemas.openxmlformats.org/officeDocument/2006/relationships/image" Target="../media/image30.png"/><Relationship Id="rId7" Type="http://schemas.openxmlformats.org/officeDocument/2006/relationships/image" Target="../media/image30.png"/><Relationship Id="rId8" Type="http://schemas.openxmlformats.org/officeDocument/2006/relationships/image" Target="../media/image30.png"/><Relationship Id="rId9" Type="http://schemas.openxmlformats.org/officeDocument/2006/relationships/image" Target="../media/image30.png"/><Relationship Id="rId10" Type="http://schemas.openxmlformats.org/officeDocument/2006/relationships/image" Target="../media/image30.png"/><Relationship Id="rId11" Type="http://schemas.openxmlformats.org/officeDocument/2006/relationships/image" Target="../media/image30.png"/><Relationship Id="rId12" Type="http://schemas.openxmlformats.org/officeDocument/2006/relationships/image" Target="../media/image30.png"/><Relationship Id="rId13" Type="http://schemas.openxmlformats.org/officeDocument/2006/relationships/image" Target="../media/image30.png"/><Relationship Id="rId14" Type="http://schemas.openxmlformats.org/officeDocument/2006/relationships/image" Target="../media/image30.png"/><Relationship Id="rId15" Type="http://schemas.openxmlformats.org/officeDocument/2006/relationships/image" Target="../media/image30.png"/><Relationship Id="rId16" Type="http://schemas.openxmlformats.org/officeDocument/2006/relationships/image" Target="../media/image30.png"/><Relationship Id="rId17" Type="http://schemas.openxmlformats.org/officeDocument/2006/relationships/image" Target="../media/image30.png"/><Relationship Id="rId18" Type="http://schemas.openxmlformats.org/officeDocument/2006/relationships/image" Target="../media/image30.png"/><Relationship Id="rId19" Type="http://schemas.openxmlformats.org/officeDocument/2006/relationships/image" Target="../media/image30.png"/><Relationship Id="rId20" Type="http://schemas.openxmlformats.org/officeDocument/2006/relationships/image" Target="../media/image30.png"/><Relationship Id="rId21" Type="http://schemas.openxmlformats.org/officeDocument/2006/relationships/image" Target="../media/image30.png"/><Relationship Id="rId22" Type="http://schemas.openxmlformats.org/officeDocument/2006/relationships/image" Target="../media/image30.png"/><Relationship Id="rId23" Type="http://schemas.openxmlformats.org/officeDocument/2006/relationships/image" Target="../media/image30.png"/><Relationship Id="rId24" Type="http://schemas.openxmlformats.org/officeDocument/2006/relationships/image" Target="../media/image30.png"/><Relationship Id="rId25" Type="http://schemas.openxmlformats.org/officeDocument/2006/relationships/image" Target="../media/image30.png"/><Relationship Id="rId26" Type="http://schemas.openxmlformats.org/officeDocument/2006/relationships/image" Target="../media/image30.png"/><Relationship Id="rId27" Type="http://schemas.openxmlformats.org/officeDocument/2006/relationships/image" Target="../media/image30.png"/><Relationship Id="rId28" Type="http://schemas.openxmlformats.org/officeDocument/2006/relationships/image" Target="../media/image30.png"/><Relationship Id="rId29" Type="http://schemas.openxmlformats.org/officeDocument/2006/relationships/image" Target="../media/image30.png"/><Relationship Id="rId30" Type="http://schemas.openxmlformats.org/officeDocument/2006/relationships/image" Target="../media/image30.png"/><Relationship Id="rId31" Type="http://schemas.openxmlformats.org/officeDocument/2006/relationships/image" Target="../media/image30.png"/><Relationship Id="rId32" Type="http://schemas.openxmlformats.org/officeDocument/2006/relationships/image" Target="../media/image30.png"/><Relationship Id="rId33" Type="http://schemas.openxmlformats.org/officeDocument/2006/relationships/image" Target="../media/image30.png"/><Relationship Id="rId34" Type="http://schemas.openxmlformats.org/officeDocument/2006/relationships/image" Target="../media/image30.png"/><Relationship Id="rId35" Type="http://schemas.openxmlformats.org/officeDocument/2006/relationships/image" Target="../media/image30.png"/><Relationship Id="rId36" Type="http://schemas.openxmlformats.org/officeDocument/2006/relationships/image" Target="../media/image30.png"/><Relationship Id="rId37" Type="http://schemas.openxmlformats.org/officeDocument/2006/relationships/image" Target="../media/image30.png"/><Relationship Id="rId38" Type="http://schemas.openxmlformats.org/officeDocument/2006/relationships/image" Target="../media/image30.png"/><Relationship Id="rId39" Type="http://schemas.openxmlformats.org/officeDocument/2006/relationships/image" Target="../media/image30.png"/><Relationship Id="rId40" Type="http://schemas.openxmlformats.org/officeDocument/2006/relationships/image" Target="../media/image30.png"/><Relationship Id="rId41" Type="http://schemas.openxmlformats.org/officeDocument/2006/relationships/image" Target="../media/image30.png"/><Relationship Id="rId42" Type="http://schemas.openxmlformats.org/officeDocument/2006/relationships/image" Target="../media/image30.pn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4"/>
          <p:cNvSpPr/>
          <p:nvPr/>
        </p:nvSpPr>
        <p:spPr>
          <a:xfrm>
            <a:off x="702360" y="712800"/>
            <a:ext cx="9300960" cy="20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Aula 04 – Organização e Preparação de dados, Regressão Logística e Agrupamentos com KNN</a:t>
            </a:r>
            <a:endParaRPr lang="pt-B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01280" y="2814840"/>
            <a:ext cx="2432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7EAFE"/>
                </a:solidFill>
                <a:effectLst/>
                <a:uFillTx/>
                <a:latin typeface="Aptos"/>
              </a:rPr>
              <a:t>Professor Miguél Suares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6942240" y="2559960"/>
            <a:ext cx="4219920" cy="948960"/>
          </a:xfrm>
          <a:prstGeom prst="roundRect">
            <a:avLst>
              <a:gd name="adj" fmla="val 9412"/>
            </a:avLst>
          </a:prstGeom>
          <a:blipFill rotWithShape="0">
            <a:blip r:embed="rId1"/>
            <a:srcRect/>
            <a:stretch/>
          </a:blipFill>
          <a:ln w="15240">
            <a:solidFill>
              <a:srgbClr val="4DA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551720" y="2633040"/>
            <a:ext cx="301680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endParaRPr lang="pt-B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537840" y="4189320"/>
            <a:ext cx="1188000" cy="45648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5240">
            <a:solidFill>
              <a:srgbClr val="EA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610920" y="4262400"/>
            <a:ext cx="10418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População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1785240" y="4417920"/>
            <a:ext cx="231120" cy="360"/>
          </a:xfrm>
          <a:prstGeom prst="line">
            <a:avLst/>
          </a:prstGeom>
          <a:ln w="1905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2094480" y="4188240"/>
            <a:ext cx="835920" cy="45648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5240">
            <a:solidFill>
              <a:srgbClr val="EA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2163240" y="4261320"/>
            <a:ext cx="6987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Estrato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2977200" y="4417920"/>
            <a:ext cx="231480" cy="360"/>
          </a:xfrm>
          <a:prstGeom prst="line">
            <a:avLst/>
          </a:prstGeom>
          <a:ln w="1905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3272760" y="4189320"/>
            <a:ext cx="835920" cy="45648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5240">
            <a:solidFill>
              <a:srgbClr val="EA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3272760" y="4262400"/>
            <a:ext cx="792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Proporção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749880" y="5039280"/>
            <a:ext cx="301680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BBD7FF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Retângulo 18"/>
          <p:cNvSpPr/>
          <p:nvPr/>
        </p:nvSpPr>
        <p:spPr>
          <a:xfrm>
            <a:off x="0" y="0"/>
            <a:ext cx="12191400" cy="71244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sp>
        <p:nvSpPr>
          <p:cNvPr id="26" name="Retângulo 20"/>
          <p:cNvSpPr/>
          <p:nvPr/>
        </p:nvSpPr>
        <p:spPr>
          <a:xfrm>
            <a:off x="-360" y="5852160"/>
            <a:ext cx="12191400" cy="71244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ptos"/>
            </a:endParaRPr>
          </a:p>
        </p:txBody>
      </p:sp>
      <p:pic>
        <p:nvPicPr>
          <p:cNvPr id="27" name="Imagem 25"/>
          <p:cNvPicPr/>
          <p:nvPr/>
        </p:nvPicPr>
        <p:blipFill>
          <a:blip r:embed="rId2"/>
          <a:stretch/>
        </p:blipFill>
        <p:spPr>
          <a:xfrm>
            <a:off x="4116960" y="0"/>
            <a:ext cx="3533040" cy="71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Shape 14"/>
          <p:cNvSpPr/>
          <p:nvPr/>
        </p:nvSpPr>
        <p:spPr>
          <a:xfrm>
            <a:off x="4477680" y="4189680"/>
            <a:ext cx="835920" cy="456480"/>
          </a:xfrm>
          <a:prstGeom prst="roundRect">
            <a:avLst>
              <a:gd name="adj" fmla="val 16000"/>
            </a:avLst>
          </a:prstGeom>
          <a:solidFill>
            <a:srgbClr val="EAF4FF"/>
          </a:solidFill>
          <a:ln w="15240">
            <a:solidFill>
              <a:srgbClr val="EAF4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4477680" y="4262760"/>
            <a:ext cx="792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Amostra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4184640" y="4413960"/>
            <a:ext cx="231840" cy="360"/>
          </a:xfrm>
          <a:prstGeom prst="line">
            <a:avLst/>
          </a:prstGeom>
          <a:ln w="1905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6942240" y="4090680"/>
            <a:ext cx="4219920" cy="776520"/>
          </a:xfrm>
          <a:prstGeom prst="roundRect">
            <a:avLst>
              <a:gd name="adj" fmla="val 9412"/>
            </a:avLst>
          </a:prstGeom>
          <a:solidFill>
            <a:srgbClr val="132F55"/>
          </a:solidFill>
          <a:ln w="15240">
            <a:solidFill>
              <a:srgbClr val="4DA3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7021440" y="4163760"/>
            <a:ext cx="4043160" cy="6303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2080" tIns="45000" rIns="8208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502920" y="511920"/>
            <a:ext cx="107892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AGENDA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502920" y="6446520"/>
            <a:ext cx="31996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Regressão Linear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11247120" y="6419160"/>
            <a:ext cx="456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01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6"/>
          <p:cNvSpPr/>
          <p:nvPr/>
        </p:nvSpPr>
        <p:spPr>
          <a:xfrm>
            <a:off x="731520" y="1234440"/>
            <a:ext cx="456480" cy="45648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731520" y="134424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8"/>
          <p:cNvSpPr/>
          <p:nvPr/>
        </p:nvSpPr>
        <p:spPr>
          <a:xfrm>
            <a:off x="1371600" y="1024200"/>
            <a:ext cx="6712200" cy="6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Organização e Preparação de Dados</a:t>
            </a: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População, Estrato , proporção e Amostra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9"/>
          <p:cNvSpPr/>
          <p:nvPr/>
        </p:nvSpPr>
        <p:spPr>
          <a:xfrm>
            <a:off x="731520" y="2057400"/>
            <a:ext cx="456480" cy="456480"/>
          </a:xfrm>
          <a:prstGeom prst="ellipse">
            <a:avLst/>
          </a:prstGeom>
          <a:solidFill>
            <a:srgbClr val="2563EB"/>
          </a:solidFill>
          <a:ln w="1524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731520" y="216720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1371600" y="2148840"/>
            <a:ext cx="6857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Amostra Balanceada e Amostra não Balanceada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2"/>
          <p:cNvSpPr/>
          <p:nvPr/>
        </p:nvSpPr>
        <p:spPr>
          <a:xfrm>
            <a:off x="731520" y="2880360"/>
            <a:ext cx="456480" cy="456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731520" y="299016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3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1371600" y="2971800"/>
            <a:ext cx="6857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Regressão Logística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5"/>
          <p:cNvSpPr/>
          <p:nvPr/>
        </p:nvSpPr>
        <p:spPr>
          <a:xfrm>
            <a:off x="731520" y="3703320"/>
            <a:ext cx="456480" cy="456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731520" y="381312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4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1371600" y="3794760"/>
            <a:ext cx="6857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KNN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8"/>
          <p:cNvSpPr/>
          <p:nvPr/>
        </p:nvSpPr>
        <p:spPr>
          <a:xfrm>
            <a:off x="731520" y="4526280"/>
            <a:ext cx="456480" cy="45648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9"/>
          <p:cNvSpPr/>
          <p:nvPr/>
        </p:nvSpPr>
        <p:spPr>
          <a:xfrm>
            <a:off x="731520" y="4636080"/>
            <a:ext cx="45648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Aptos"/>
              </a:rPr>
              <a:t>5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1371600" y="4617720"/>
            <a:ext cx="6857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Exemplos em Python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1"/>
          <p:cNvSpPr/>
          <p:nvPr/>
        </p:nvSpPr>
        <p:spPr>
          <a:xfrm>
            <a:off x="8412480" y="1280160"/>
            <a:ext cx="2651040" cy="776520"/>
          </a:xfrm>
          <a:prstGeom prst="roundRect">
            <a:avLst>
              <a:gd name="adj" fmla="val 9412"/>
            </a:avLst>
          </a:prstGeom>
          <a:solidFill>
            <a:srgbClr val="EAF4FF"/>
          </a:solidFill>
          <a:ln w="15240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2"/>
          <p:cNvSpPr/>
          <p:nvPr/>
        </p:nvSpPr>
        <p:spPr>
          <a:xfrm>
            <a:off x="8485560" y="1353240"/>
            <a:ext cx="250488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Parte 0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Funções → Modelos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3"/>
          <p:cNvSpPr/>
          <p:nvPr/>
        </p:nvSpPr>
        <p:spPr>
          <a:xfrm>
            <a:off x="8412480" y="2377440"/>
            <a:ext cx="265104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4"/>
          <p:cNvSpPr/>
          <p:nvPr/>
        </p:nvSpPr>
        <p:spPr>
          <a:xfrm>
            <a:off x="8485560" y="2450520"/>
            <a:ext cx="250488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Parte I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Problema de regressão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5"/>
          <p:cNvSpPr/>
          <p:nvPr/>
        </p:nvSpPr>
        <p:spPr>
          <a:xfrm>
            <a:off x="8412480" y="3474720"/>
            <a:ext cx="265104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6"/>
          <p:cNvSpPr/>
          <p:nvPr/>
        </p:nvSpPr>
        <p:spPr>
          <a:xfrm>
            <a:off x="8485560" y="3547800"/>
            <a:ext cx="250488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Parte II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Modelo, erro e otimização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7"/>
          <p:cNvSpPr/>
          <p:nvPr/>
        </p:nvSpPr>
        <p:spPr>
          <a:xfrm>
            <a:off x="8412480" y="4572000"/>
            <a:ext cx="2651040" cy="77652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24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8"/>
          <p:cNvSpPr/>
          <p:nvPr/>
        </p:nvSpPr>
        <p:spPr>
          <a:xfrm>
            <a:off x="8485560" y="4645080"/>
            <a:ext cx="250488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Parte III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Python e exercício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2"/>
          <p:cNvSpPr/>
          <p:nvPr/>
        </p:nvSpPr>
        <p:spPr>
          <a:xfrm>
            <a:off x="640800" y="1820520"/>
            <a:ext cx="10921680" cy="21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POPULAÇÃO, ESTRATOS E AMOSTRAS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10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age 0" descr="/mnt/data/template_extract/ppt/media/image1.png"/>
          <p:cNvPicPr/>
          <p:nvPr/>
        </p:nvPicPr>
        <p:blipFill>
          <a:blip r:embed="rId1"/>
          <a:stretch/>
        </p:blipFill>
        <p:spPr>
          <a:xfrm>
            <a:off x="511920" y="457200"/>
            <a:ext cx="242280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0"/>
          <p:cNvSpPr/>
          <p:nvPr/>
        </p:nvSpPr>
        <p:spPr>
          <a:xfrm>
            <a:off x="658440" y="13989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F69BF"/>
                </a:solidFill>
                <a:effectLst/>
                <a:uFillTx/>
                <a:latin typeface="Aptos"/>
              </a:rPr>
              <a:t>Aula 04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658440" y="1783080"/>
            <a:ext cx="5394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Organização e Preparação de Dados</a:t>
            </a:r>
            <a:r>
              <a:rPr lang="en-US" sz="2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: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População, Estrato , proporção e Amostra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658440" y="29444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População: 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658440" y="574236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Professor Miguél Suares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658440" y="605340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m 81"/>
          <p:cNvPicPr/>
          <p:nvPr/>
        </p:nvPicPr>
        <p:blipFill>
          <a:blip r:embed="rId2"/>
          <a:stretch/>
        </p:blipFill>
        <p:spPr>
          <a:xfrm>
            <a:off x="8428320" y="226440"/>
            <a:ext cx="3623760" cy="271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Imagem 83"/>
          <p:cNvPicPr/>
          <p:nvPr/>
        </p:nvPicPr>
        <p:blipFill>
          <a:blip r:embed="rId3"/>
          <a:stretch/>
        </p:blipFill>
        <p:spPr>
          <a:xfrm>
            <a:off x="8428320" y="3066840"/>
            <a:ext cx="3623760" cy="271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Imagem 85"/>
          <p:cNvPicPr/>
          <p:nvPr/>
        </p:nvPicPr>
        <p:blipFill>
          <a:blip r:embed="rId4"/>
          <a:stretch/>
        </p:blipFill>
        <p:spPr>
          <a:xfrm>
            <a:off x="5620680" y="3069000"/>
            <a:ext cx="2715840" cy="271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 0" descr="/mnt/data/template_extract/ppt/media/image1.png"/>
          <p:cNvPicPr/>
          <p:nvPr/>
        </p:nvPicPr>
        <p:blipFill>
          <a:blip r:embed="rId1"/>
          <a:stretch/>
        </p:blipFill>
        <p:spPr>
          <a:xfrm>
            <a:off x="511920" y="457200"/>
            <a:ext cx="242280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 0"/>
          <p:cNvSpPr/>
          <p:nvPr/>
        </p:nvSpPr>
        <p:spPr>
          <a:xfrm>
            <a:off x="658440" y="13989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F69BF"/>
                </a:solidFill>
                <a:effectLst/>
                <a:uFillTx/>
                <a:latin typeface="Aptos"/>
              </a:rPr>
              <a:t>Aula 04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658440" y="1783080"/>
            <a:ext cx="5394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Organização e Preparação de Dados</a:t>
            </a:r>
            <a:r>
              <a:rPr lang="en-US" sz="2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: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População, Estrato , proporção e Amostra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658440" y="2944440"/>
            <a:ext cx="5303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Estrato: 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658440" y="574236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Professor Miguél Suares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658440" y="605340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m 8"/>
          <p:cNvPicPr/>
          <p:nvPr/>
        </p:nvPicPr>
        <p:blipFill>
          <a:blip r:embed="rId2"/>
          <a:stretch/>
        </p:blipFill>
        <p:spPr>
          <a:xfrm>
            <a:off x="8909280" y="545400"/>
            <a:ext cx="2811600" cy="210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Imagem 10"/>
          <p:cNvPicPr/>
          <p:nvPr/>
        </p:nvPicPr>
        <p:blipFill>
          <a:blip r:embed="rId3"/>
          <a:stretch/>
        </p:blipFill>
        <p:spPr>
          <a:xfrm>
            <a:off x="8971920" y="3724920"/>
            <a:ext cx="2249640" cy="224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Imagem 12"/>
          <p:cNvPicPr/>
          <p:nvPr/>
        </p:nvPicPr>
        <p:blipFill>
          <a:blip r:embed="rId4"/>
          <a:stretch/>
        </p:blipFill>
        <p:spPr>
          <a:xfrm>
            <a:off x="6053400" y="3705480"/>
            <a:ext cx="2269080" cy="226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2"/>
          <p:cNvSpPr/>
          <p:nvPr/>
        </p:nvSpPr>
        <p:spPr>
          <a:xfrm>
            <a:off x="8909280" y="23040"/>
            <a:ext cx="2770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Estratificação por 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sexo da população: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8971920" y="3267720"/>
            <a:ext cx="2249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Estratificação por 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idade populacional: 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5633280" y="3180600"/>
            <a:ext cx="320508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Estratificação Cor ou Raça 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(IBGE CENSO DEMOGRÁFICO): 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 0" descr="/mnt/data/template_extract/ppt/media/image1.png"/>
          <p:cNvPicPr/>
          <p:nvPr/>
        </p:nvPicPr>
        <p:blipFill>
          <a:blip r:embed="rId1"/>
          <a:stretch/>
        </p:blipFill>
        <p:spPr>
          <a:xfrm>
            <a:off x="511920" y="44280"/>
            <a:ext cx="242280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Text 1"/>
          <p:cNvSpPr/>
          <p:nvPr/>
        </p:nvSpPr>
        <p:spPr>
          <a:xfrm>
            <a:off x="360000" y="644400"/>
            <a:ext cx="388800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Organização e Preparação de Dados</a:t>
            </a: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População, Estrato , proporção e Amostra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360000" y="1560240"/>
            <a:ext cx="2142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Proporção do estrato: 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180360" y="62794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Professor Miguél Suares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180360" y="659016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m 8"/>
          <p:cNvPicPr/>
          <p:nvPr/>
        </p:nvPicPr>
        <p:blipFill>
          <a:blip r:embed="rId2"/>
          <a:stretch/>
        </p:blipFill>
        <p:spPr>
          <a:xfrm>
            <a:off x="9278280" y="478440"/>
            <a:ext cx="2811600" cy="210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Imagem 10"/>
          <p:cNvPicPr/>
          <p:nvPr/>
        </p:nvPicPr>
        <p:blipFill>
          <a:blip r:embed="rId3"/>
          <a:stretch/>
        </p:blipFill>
        <p:spPr>
          <a:xfrm>
            <a:off x="9471240" y="3583800"/>
            <a:ext cx="2249640" cy="224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Imagem 12"/>
          <p:cNvPicPr/>
          <p:nvPr/>
        </p:nvPicPr>
        <p:blipFill>
          <a:blip r:embed="rId4"/>
          <a:stretch/>
        </p:blipFill>
        <p:spPr>
          <a:xfrm>
            <a:off x="3473280" y="2961000"/>
            <a:ext cx="2373840" cy="23738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93" name="Tabela 5"/>
          <p:cNvGraphicFramePr/>
          <p:nvPr/>
        </p:nvGraphicFramePr>
        <p:xfrm>
          <a:off x="5536800" y="468000"/>
          <a:ext cx="3741120" cy="1968480"/>
        </p:xfrm>
        <a:graphic>
          <a:graphicData uri="http://schemas.openxmlformats.org/drawingml/2006/table">
            <a:tbl>
              <a:tblPr/>
              <a:tblGrid>
                <a:gridCol w="905760"/>
                <a:gridCol w="905760"/>
                <a:gridCol w="1929240"/>
              </a:tblGrid>
              <a:tr h="601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População no 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Proporção na população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809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Masculino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5"/>
                      <a:stretch/>
                    </a:blipFill>
                  </a:tcPr>
                </a:tc>
              </a:tr>
              <a:tr h="4809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Feminino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6"/>
                      <a:stretch/>
                    </a:blipFill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Total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100%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Tabela 9"/>
          <p:cNvGraphicFramePr/>
          <p:nvPr/>
        </p:nvGraphicFramePr>
        <p:xfrm>
          <a:off x="5981400" y="3565080"/>
          <a:ext cx="3489480" cy="3011760"/>
        </p:xfrm>
        <a:graphic>
          <a:graphicData uri="http://schemas.openxmlformats.org/drawingml/2006/table">
            <a:tbl>
              <a:tblPr/>
              <a:tblGrid>
                <a:gridCol w="780120"/>
                <a:gridCol w="897480"/>
                <a:gridCol w="1811880"/>
              </a:tblGrid>
              <a:tr h="7869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População no 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Proporção na população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9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Crianças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7"/>
                      <a:stretch/>
                    </a:blipFill>
                  </a:tcPr>
                </a:tc>
              </a:tr>
              <a:tr h="59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Adultos jovens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8"/>
                      <a:stretch/>
                    </a:blipFill>
                  </a:tcPr>
                </a:tc>
              </a:tr>
              <a:tr h="591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Adultos idosos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9"/>
                      <a:stretch/>
                    </a:blipFill>
                  </a:tcPr>
                </a:tc>
              </a:tr>
              <a:tr h="449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Total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16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100%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Tabela 11"/>
          <p:cNvGraphicFramePr/>
          <p:nvPr/>
        </p:nvGraphicFramePr>
        <p:xfrm>
          <a:off x="181440" y="2961000"/>
          <a:ext cx="3291480" cy="3230640"/>
        </p:xfrm>
        <a:graphic>
          <a:graphicData uri="http://schemas.openxmlformats.org/drawingml/2006/table">
            <a:tbl>
              <a:tblPr/>
              <a:tblGrid>
                <a:gridCol w="766080"/>
                <a:gridCol w="964440"/>
                <a:gridCol w="15606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População no 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Proporção na população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84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Branca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0"/>
                      <a:stretch/>
                    </a:blipFill>
                  </a:tcPr>
                </a:tc>
              </a:tr>
              <a:tr h="4798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Preta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1"/>
                      <a:stretch/>
                    </a:blipFill>
                  </a:tcPr>
                </a:tc>
              </a:tr>
              <a:tr h="480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Parda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2"/>
                      <a:stretch/>
                    </a:blipFill>
                  </a:tcPr>
                </a:tc>
              </a:tr>
              <a:tr h="480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Amarela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3"/>
                      <a:stretch/>
                    </a:blipFill>
                  </a:tcPr>
                </a:tc>
              </a:tr>
              <a:tr h="4802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Indígena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4"/>
                      <a:stretch/>
                    </a:blipFill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Total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100%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6" name="Retângulo 13"/>
          <p:cNvSpPr/>
          <p:nvPr/>
        </p:nvSpPr>
        <p:spPr>
          <a:xfrm>
            <a:off x="181440" y="2961000"/>
            <a:ext cx="5665680" cy="3230280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algn="l" blurRad="50760" dist="38160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7" name="Retângulo 14"/>
          <p:cNvSpPr/>
          <p:nvPr/>
        </p:nvSpPr>
        <p:spPr>
          <a:xfrm>
            <a:off x="5536800" y="468000"/>
            <a:ext cx="6553080" cy="2108520"/>
          </a:xfrm>
          <a:prstGeom prst="rect">
            <a:avLst/>
          </a:prstGeom>
          <a:noFill/>
          <a:ln>
            <a:solidFill>
              <a:srgbClr val="4472C4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8" name="Retângulo 15"/>
          <p:cNvSpPr/>
          <p:nvPr/>
        </p:nvSpPr>
        <p:spPr>
          <a:xfrm>
            <a:off x="5981400" y="3565080"/>
            <a:ext cx="5739480" cy="3011760"/>
          </a:xfrm>
          <a:prstGeom prst="rect">
            <a:avLst/>
          </a:prstGeom>
          <a:noFill/>
          <a:ln>
            <a:solidFill>
              <a:srgbClr val="0070C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9" name="Text 2"/>
          <p:cNvSpPr/>
          <p:nvPr/>
        </p:nvSpPr>
        <p:spPr>
          <a:xfrm>
            <a:off x="214560" y="2544840"/>
            <a:ext cx="5456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Estratificação Cor ou Raça (IBGE CENSO DEMOGRÁFICO): 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5981400" y="3188880"/>
            <a:ext cx="403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Estratificação por idade populacional: 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5536800" y="69120"/>
            <a:ext cx="403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Estratificação por sexo da população: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2"/>
          <p:cNvSpPr/>
          <p:nvPr/>
        </p:nvSpPr>
        <p:spPr>
          <a:xfrm>
            <a:off x="640800" y="1820520"/>
            <a:ext cx="10921680" cy="21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AMOSTRAS BALANCEADAS E NÃO-BALANCEADAS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10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Image 0" descr="/mnt/data/template_extract/ppt/media/image1.png"/>
          <p:cNvPicPr/>
          <p:nvPr/>
        </p:nvPicPr>
        <p:blipFill>
          <a:blip r:embed="rId1"/>
          <a:stretch/>
        </p:blipFill>
        <p:spPr>
          <a:xfrm>
            <a:off x="511920" y="44280"/>
            <a:ext cx="242280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1"/>
          <p:cNvSpPr/>
          <p:nvPr/>
        </p:nvSpPr>
        <p:spPr>
          <a:xfrm>
            <a:off x="360000" y="644400"/>
            <a:ext cx="3888000" cy="6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Organização e Preparação de Dados</a:t>
            </a: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População, Estrato , proporção e Amostra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381240" y="1402560"/>
            <a:ext cx="115729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Amostra PROPORCIONAL: uma </a:t>
            </a:r>
            <a:r>
              <a:rPr lang="en-US" sz="17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amostra é proporcional </a:t>
            </a: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quando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 estratos (grupos ou classes) de interesse aparecem com quantidades proporcionais a aquelas encontradas nos estratos da população.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80360" y="62794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Professor Miguél Suares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180360" y="659016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m 8"/>
          <p:cNvPicPr/>
          <p:nvPr/>
        </p:nvPicPr>
        <p:blipFill>
          <a:blip r:embed="rId2"/>
          <a:stretch/>
        </p:blipFill>
        <p:spPr>
          <a:xfrm>
            <a:off x="4059720" y="2105640"/>
            <a:ext cx="2811600" cy="21085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11" name="Tabela 5"/>
          <p:cNvGraphicFramePr/>
          <p:nvPr/>
        </p:nvGraphicFramePr>
        <p:xfrm>
          <a:off x="318240" y="2095560"/>
          <a:ext cx="3741120" cy="1968480"/>
        </p:xfrm>
        <a:graphic>
          <a:graphicData uri="http://schemas.openxmlformats.org/drawingml/2006/table">
            <a:tbl>
              <a:tblPr/>
              <a:tblGrid>
                <a:gridCol w="905760"/>
                <a:gridCol w="905760"/>
                <a:gridCol w="1929240"/>
              </a:tblGrid>
              <a:tr h="601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População no 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Proporção na população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809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Masculino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"/>
                      <a:stretch/>
                    </a:blipFill>
                  </a:tcPr>
                </a:tc>
              </a:tr>
              <a:tr h="4809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Feminino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4"/>
                      <a:stretch/>
                    </a:blipFill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Total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100%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2" name="Retângulo 14"/>
          <p:cNvSpPr/>
          <p:nvPr/>
        </p:nvSpPr>
        <p:spPr>
          <a:xfrm>
            <a:off x="318240" y="2095560"/>
            <a:ext cx="6553080" cy="2108520"/>
          </a:xfrm>
          <a:prstGeom prst="rect">
            <a:avLst/>
          </a:prstGeom>
          <a:noFill/>
          <a:ln>
            <a:solidFill>
              <a:srgbClr val="4472C4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5536800" y="69120"/>
            <a:ext cx="403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Estratificação por sexo da população: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4" name="Tabela 2"/>
          <p:cNvGraphicFramePr/>
          <p:nvPr/>
        </p:nvGraphicFramePr>
        <p:xfrm>
          <a:off x="318240" y="4348440"/>
          <a:ext cx="6553080" cy="1972080"/>
        </p:xfrm>
        <a:graphic>
          <a:graphicData uri="http://schemas.openxmlformats.org/drawingml/2006/table">
            <a:tbl>
              <a:tblPr/>
              <a:tblGrid>
                <a:gridCol w="914760"/>
                <a:gridCol w="897480"/>
                <a:gridCol w="1920960"/>
                <a:gridCol w="1258200"/>
                <a:gridCol w="1561320"/>
              </a:tblGrid>
              <a:tr h="640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População no 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Proporção na população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Amostra</a:t>
                      </a: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 proporcional ((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n=9</a:t>
                      </a: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))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Proporção da amostra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4809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Masculino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5"/>
                      <a:stretch/>
                    </a:blip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6"/>
                      <a:stretch/>
                    </a:blipFill>
                  </a:tcPr>
                </a:tc>
              </a:tr>
              <a:tr h="484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Feminino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7"/>
                      <a:stretch/>
                    </a:blip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8"/>
                      <a:stretch/>
                    </a:blipFill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Total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100%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9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100%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15" name="Imagem 20"/>
          <p:cNvPicPr/>
          <p:nvPr/>
        </p:nvPicPr>
        <p:blipFill>
          <a:blip r:embed="rId9"/>
          <a:stretch/>
        </p:blipFill>
        <p:spPr>
          <a:xfrm>
            <a:off x="7401240" y="3298320"/>
            <a:ext cx="4388760" cy="3291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 0" descr="/mnt/data/template_extract/ppt/media/image1.png"/>
          <p:cNvPicPr/>
          <p:nvPr/>
        </p:nvPicPr>
        <p:blipFill>
          <a:blip r:embed="rId1"/>
          <a:stretch/>
        </p:blipFill>
        <p:spPr>
          <a:xfrm>
            <a:off x="511920" y="44280"/>
            <a:ext cx="2422800" cy="51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1"/>
          <p:cNvSpPr/>
          <p:nvPr/>
        </p:nvSpPr>
        <p:spPr>
          <a:xfrm>
            <a:off x="360000" y="644400"/>
            <a:ext cx="5319000" cy="75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Organização e Preparação de Dados</a:t>
            </a: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População, Estrato , proporção e Amostra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381240" y="1402560"/>
            <a:ext cx="1145052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Amostra </a:t>
            </a:r>
            <a:r>
              <a:rPr lang="en-US" sz="1700" b="1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BALANCEADA</a:t>
            </a: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: </a:t>
            </a: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Uma </a:t>
            </a:r>
            <a:r>
              <a:rPr lang="pt-BR" sz="16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amostra balanceada</a:t>
            </a: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é aquela em que os estratos (grupos ou classes) de interesse aparecem com quantidades iguais, ou aproximadamente iguais, na amostra.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180360" y="6279480"/>
            <a:ext cx="3291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Professor Miguél Suares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180360" y="6590160"/>
            <a:ext cx="4388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m 8"/>
          <p:cNvPicPr/>
          <p:nvPr/>
        </p:nvPicPr>
        <p:blipFill>
          <a:blip r:embed="rId2"/>
          <a:stretch/>
        </p:blipFill>
        <p:spPr>
          <a:xfrm>
            <a:off x="4059720" y="2105640"/>
            <a:ext cx="2811600" cy="210852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22" name="Tabela 5"/>
          <p:cNvGraphicFramePr/>
          <p:nvPr/>
        </p:nvGraphicFramePr>
        <p:xfrm>
          <a:off x="318240" y="2095560"/>
          <a:ext cx="3741120" cy="1968480"/>
        </p:xfrm>
        <a:graphic>
          <a:graphicData uri="http://schemas.openxmlformats.org/drawingml/2006/table">
            <a:tbl>
              <a:tblPr/>
              <a:tblGrid>
                <a:gridCol w="905760"/>
                <a:gridCol w="905760"/>
                <a:gridCol w="1929240"/>
              </a:tblGrid>
              <a:tr h="6015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População no 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Proporção na população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809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Masculino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"/>
                      <a:stretch/>
                    </a:blipFill>
                  </a:tcPr>
                </a:tc>
              </a:tr>
              <a:tr h="4809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Feminino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4"/>
                      <a:stretch/>
                    </a:blipFill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Total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100%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3" name="Retângulo 14"/>
          <p:cNvSpPr/>
          <p:nvPr/>
        </p:nvSpPr>
        <p:spPr>
          <a:xfrm>
            <a:off x="318240" y="2095560"/>
            <a:ext cx="6553080" cy="2108520"/>
          </a:xfrm>
          <a:prstGeom prst="rect">
            <a:avLst/>
          </a:prstGeom>
          <a:noFill/>
          <a:ln>
            <a:solidFill>
              <a:srgbClr val="4472C4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5536800" y="69120"/>
            <a:ext cx="4033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11827"/>
                </a:solidFill>
                <a:effectLst/>
                <a:uFillTx/>
                <a:latin typeface="Aptos"/>
              </a:rPr>
              <a:t>Estratificação por sexo da população: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5" name="Tabela 2"/>
          <p:cNvGraphicFramePr/>
          <p:nvPr/>
        </p:nvGraphicFramePr>
        <p:xfrm>
          <a:off x="318240" y="4348440"/>
          <a:ext cx="6553080" cy="1968480"/>
        </p:xfrm>
        <a:graphic>
          <a:graphicData uri="http://schemas.openxmlformats.org/drawingml/2006/table">
            <a:tbl>
              <a:tblPr/>
              <a:tblGrid>
                <a:gridCol w="914760"/>
                <a:gridCol w="897480"/>
                <a:gridCol w="1920960"/>
                <a:gridCol w="1258200"/>
                <a:gridCol w="1561320"/>
              </a:tblGrid>
              <a:tr h="6400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População no estrato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Proporção na população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Amostra balanceada ((n=8))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Proporção da amostra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480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Masculino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5"/>
                      <a:stretch/>
                    </a:blip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6"/>
                      <a:stretch/>
                    </a:blipFill>
                  </a:tcPr>
                </a:tc>
              </a:tr>
              <a:tr h="4809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Feminino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7"/>
                      <a:stretch/>
                    </a:blip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8"/>
                      <a:stretch/>
                    </a:blipFill>
                  </a:tcPr>
                </a:tc>
              </a:tr>
              <a:tr h="365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Total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100%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</a:pPr>
                      <a:r>
                        <a:rPr lang="pt-BR" sz="18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100%</a:t>
                      </a:r>
                      <a:endParaRPr lang="pt-B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26" name="Imagem 10"/>
          <p:cNvPicPr/>
          <p:nvPr/>
        </p:nvPicPr>
        <p:blipFill>
          <a:blip r:embed="rId9"/>
          <a:stretch/>
        </p:blipFill>
        <p:spPr>
          <a:xfrm>
            <a:off x="7288920" y="3261240"/>
            <a:ext cx="4438440" cy="332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Resumo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475560" y="49392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ptos Display"/>
                <a:ea typeface="Aptos Display"/>
              </a:rPr>
              <a:t>Organização e Preparação de dados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722520" y="1106280"/>
            <a:ext cx="10195200" cy="529920"/>
          </a:xfrm>
          <a:prstGeom prst="rect">
            <a:avLst/>
          </a:prstGeom>
          <a:solidFill>
            <a:srgbClr val="EAF2FF"/>
          </a:solidFill>
          <a:ln w="12700">
            <a:solidFill>
              <a:srgbClr val="2F69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 fontScale="85000" lnSpcReduction="9999"/>
          </a:bodyPr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Pergunta central: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Como preparar uma base de dados para </a:t>
            </a:r>
            <a:r>
              <a:rPr lang="en-US" sz="1200" b="1" u="sng" strike="noStrike">
                <a:solidFill>
                  <a:srgbClr val="0B1F3A"/>
                </a:solidFill>
                <a:effectLst/>
                <a:uFillTx/>
                <a:latin typeface="Aptos"/>
              </a:rPr>
              <a:t>representar corretamente a população</a:t>
            </a: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 antes de treinar um modelo de aprendizado de máquina?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CaixaDeTexto 24"/>
          <p:cNvSpPr/>
          <p:nvPr/>
        </p:nvSpPr>
        <p:spPr>
          <a:xfrm>
            <a:off x="689400" y="1875960"/>
            <a:ext cx="1019520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 ponto importante é que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balanceada não significa necessariamente representativa da população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. No exemplo acima, a população original é 44,4% masculina e 55,6% feminina.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Portanto: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amostra 50/50 é balanceada, mas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não preserva a proporção da população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;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amostra 44,4/55,6 é não balanceada, mas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é proporcional à população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CaixaDeTexto 26"/>
          <p:cNvSpPr/>
          <p:nvPr/>
        </p:nvSpPr>
        <p:spPr>
          <a:xfrm>
            <a:off x="722520" y="3892680"/>
            <a:ext cx="10128960" cy="23101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475560" y="49392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Organização e preparação de dados: O que é um DATASET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731520" y="1325880"/>
            <a:ext cx="324576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Unidade de análise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O que será observado?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Ex.: aluno, funcionário, imagem, transação.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4480560" y="1325880"/>
            <a:ext cx="324576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Quais atributos definem os estrato 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Ex.: idade, curso, renda, classe.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8229600" y="1325880"/>
            <a:ext cx="3245760" cy="100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Alvo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O que queremos explicar ou prever?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Ex.: aprovado, compra, fraude.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0"/>
          <p:cNvSpPr/>
          <p:nvPr/>
        </p:nvSpPr>
        <p:spPr>
          <a:xfrm>
            <a:off x="6108120" y="2606040"/>
            <a:ext cx="360" cy="548640"/>
          </a:xfrm>
          <a:prstGeom prst="line">
            <a:avLst/>
          </a:prstGeom>
          <a:ln w="19050">
            <a:solidFill>
              <a:srgbClr val="F08A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4434840" y="3291840"/>
            <a:ext cx="3337200" cy="347040"/>
          </a:xfrm>
          <a:prstGeom prst="rect">
            <a:avLst/>
          </a:prstGeom>
          <a:solidFill>
            <a:srgbClr val="F08A24"/>
          </a:solidFill>
          <a:ln w="0">
            <a:solidFill>
              <a:srgbClr val="F08A24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Preparar antes de modelar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2480040" y="4322160"/>
            <a:ext cx="7018200" cy="7369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55000" lnSpcReduction="19999"/>
          </a:bodyPr>
          <a:p>
            <a:pPr algn="just"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Um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DATASET</a:t>
            </a: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(ou conjunto de dados) é uma </a:t>
            </a: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coleção estruturada de informações organizadas para análise, pesquisa ou uso em inteligência artificial</a:t>
            </a: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. 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Ele funciona como uma tabela ou planilha grande, onde as linhas representam os registros individuais e as colunas descrevem as características ou atributos desses registros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4"/>
          <p:cNvSpPr/>
          <p:nvPr/>
        </p:nvSpPr>
        <p:spPr>
          <a:xfrm>
            <a:off x="1417320" y="521208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Um DATASET mal selecionada pode produzir conclusões ENVIESADAS (viciadas), mesmo usando bons algoritmos.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0"/>
          <p:cNvSpPr/>
          <p:nvPr/>
        </p:nvSpPr>
        <p:spPr>
          <a:xfrm>
            <a:off x="6095880" y="3706200"/>
            <a:ext cx="360" cy="548640"/>
          </a:xfrm>
          <a:prstGeom prst="line">
            <a:avLst/>
          </a:prstGeom>
          <a:ln w="19050">
            <a:solidFill>
              <a:srgbClr val="F08A24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75560" y="49392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Exemplo 1 — Alunos de uma universidade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5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777240" y="1143000"/>
            <a:ext cx="960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População: 10.000 alunos  •  Amostra desejada: 1.000 alunos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7"/>
          <p:cNvSpPr/>
          <p:nvPr/>
        </p:nvSpPr>
        <p:spPr>
          <a:xfrm>
            <a:off x="731520" y="1600200"/>
            <a:ext cx="2207880" cy="383760"/>
          </a:xfrm>
          <a:prstGeom prst="rect">
            <a:avLst/>
          </a:prstGeom>
          <a:solidFill>
            <a:srgbClr val="2F69B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Estrato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8"/>
          <p:cNvSpPr/>
          <p:nvPr/>
        </p:nvSpPr>
        <p:spPr>
          <a:xfrm>
            <a:off x="2939760" y="1600200"/>
            <a:ext cx="1577160" cy="383760"/>
          </a:xfrm>
          <a:prstGeom prst="rect">
            <a:avLst/>
          </a:prstGeom>
          <a:solidFill>
            <a:srgbClr val="2F69B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População no estrato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4517280" y="1600200"/>
            <a:ext cx="1135440" cy="383760"/>
          </a:xfrm>
          <a:prstGeom prst="rect">
            <a:avLst/>
          </a:prstGeom>
          <a:solidFill>
            <a:srgbClr val="2F69B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Proporção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5652720" y="1600200"/>
            <a:ext cx="1387800" cy="383760"/>
          </a:xfrm>
          <a:prstGeom prst="rect">
            <a:avLst/>
          </a:prstGeom>
          <a:solidFill>
            <a:srgbClr val="2F69B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Amostra proporcional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1"/>
          <p:cNvSpPr/>
          <p:nvPr/>
        </p:nvSpPr>
        <p:spPr>
          <a:xfrm>
            <a:off x="731520" y="1984320"/>
            <a:ext cx="220788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Engenharia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2"/>
          <p:cNvSpPr/>
          <p:nvPr/>
        </p:nvSpPr>
        <p:spPr>
          <a:xfrm>
            <a:off x="2939760" y="1984320"/>
            <a:ext cx="157716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3.000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4517280" y="1984320"/>
            <a:ext cx="113544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30%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4"/>
          <p:cNvSpPr/>
          <p:nvPr/>
        </p:nvSpPr>
        <p:spPr>
          <a:xfrm>
            <a:off x="5652720" y="1984320"/>
            <a:ext cx="138780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300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5"/>
          <p:cNvSpPr/>
          <p:nvPr/>
        </p:nvSpPr>
        <p:spPr>
          <a:xfrm>
            <a:off x="731520" y="2368440"/>
            <a:ext cx="220788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Administração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6"/>
          <p:cNvSpPr/>
          <p:nvPr/>
        </p:nvSpPr>
        <p:spPr>
          <a:xfrm>
            <a:off x="2939760" y="2368440"/>
            <a:ext cx="157716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2.500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7"/>
          <p:cNvSpPr/>
          <p:nvPr/>
        </p:nvSpPr>
        <p:spPr>
          <a:xfrm>
            <a:off x="4517280" y="2368440"/>
            <a:ext cx="113544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25%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8"/>
          <p:cNvSpPr/>
          <p:nvPr/>
        </p:nvSpPr>
        <p:spPr>
          <a:xfrm>
            <a:off x="5652720" y="2368440"/>
            <a:ext cx="138780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250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9"/>
          <p:cNvSpPr/>
          <p:nvPr/>
        </p:nvSpPr>
        <p:spPr>
          <a:xfrm>
            <a:off x="731520" y="2752200"/>
            <a:ext cx="220788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Direito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0"/>
          <p:cNvSpPr/>
          <p:nvPr/>
        </p:nvSpPr>
        <p:spPr>
          <a:xfrm>
            <a:off x="2939760" y="2752200"/>
            <a:ext cx="157716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2.000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1"/>
          <p:cNvSpPr/>
          <p:nvPr/>
        </p:nvSpPr>
        <p:spPr>
          <a:xfrm>
            <a:off x="4517280" y="2752200"/>
            <a:ext cx="113544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20%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2"/>
          <p:cNvSpPr/>
          <p:nvPr/>
        </p:nvSpPr>
        <p:spPr>
          <a:xfrm>
            <a:off x="5652720" y="2752200"/>
            <a:ext cx="138780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200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3"/>
          <p:cNvSpPr/>
          <p:nvPr/>
        </p:nvSpPr>
        <p:spPr>
          <a:xfrm>
            <a:off x="731520" y="3136320"/>
            <a:ext cx="220788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Saúde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4"/>
          <p:cNvSpPr/>
          <p:nvPr/>
        </p:nvSpPr>
        <p:spPr>
          <a:xfrm>
            <a:off x="2939760" y="3136320"/>
            <a:ext cx="157716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1.500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5"/>
          <p:cNvSpPr/>
          <p:nvPr/>
        </p:nvSpPr>
        <p:spPr>
          <a:xfrm>
            <a:off x="4517280" y="3136320"/>
            <a:ext cx="113544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15%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6"/>
          <p:cNvSpPr/>
          <p:nvPr/>
        </p:nvSpPr>
        <p:spPr>
          <a:xfrm>
            <a:off x="5652720" y="3136320"/>
            <a:ext cx="138780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150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7"/>
          <p:cNvSpPr/>
          <p:nvPr/>
        </p:nvSpPr>
        <p:spPr>
          <a:xfrm>
            <a:off x="731520" y="3520440"/>
            <a:ext cx="220788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Outros cursos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8"/>
          <p:cNvSpPr/>
          <p:nvPr/>
        </p:nvSpPr>
        <p:spPr>
          <a:xfrm>
            <a:off x="2939760" y="3520440"/>
            <a:ext cx="157716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1.000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9"/>
          <p:cNvSpPr/>
          <p:nvPr/>
        </p:nvSpPr>
        <p:spPr>
          <a:xfrm>
            <a:off x="4517280" y="3520440"/>
            <a:ext cx="113544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10%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0"/>
          <p:cNvSpPr/>
          <p:nvPr/>
        </p:nvSpPr>
        <p:spPr>
          <a:xfrm>
            <a:off x="5652720" y="3520440"/>
            <a:ext cx="138780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1"/>
          <p:cNvSpPr/>
          <p:nvPr/>
        </p:nvSpPr>
        <p:spPr>
          <a:xfrm>
            <a:off x="731520" y="3904560"/>
            <a:ext cx="220788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Total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2"/>
          <p:cNvSpPr/>
          <p:nvPr/>
        </p:nvSpPr>
        <p:spPr>
          <a:xfrm>
            <a:off x="2939760" y="3904560"/>
            <a:ext cx="157716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10.000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3"/>
          <p:cNvSpPr/>
          <p:nvPr/>
        </p:nvSpPr>
        <p:spPr>
          <a:xfrm>
            <a:off x="4517280" y="3904560"/>
            <a:ext cx="113544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100%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4"/>
          <p:cNvSpPr/>
          <p:nvPr/>
        </p:nvSpPr>
        <p:spPr>
          <a:xfrm>
            <a:off x="5652720" y="3904560"/>
            <a:ext cx="138780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1.000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5"/>
          <p:cNvSpPr/>
          <p:nvPr/>
        </p:nvSpPr>
        <p:spPr>
          <a:xfrm>
            <a:off x="7680960" y="1645920"/>
            <a:ext cx="1005480" cy="319680"/>
          </a:xfrm>
          <a:prstGeom prst="rect">
            <a:avLst/>
          </a:prstGeom>
          <a:solidFill>
            <a:srgbClr val="F08A24"/>
          </a:solidFill>
          <a:ln w="0">
            <a:solidFill>
              <a:srgbClr val="F08A24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Cálculo</a:t>
            </a:r>
            <a:endParaRPr lang="pt-BR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6"/>
          <p:cNvSpPr/>
          <p:nvPr/>
        </p:nvSpPr>
        <p:spPr>
          <a:xfrm>
            <a:off x="7498080" y="2240280"/>
            <a:ext cx="31086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08A24"/>
                </a:solidFill>
                <a:effectLst/>
                <a:uFillTx/>
                <a:latin typeface="Aptos"/>
              </a:rPr>
              <a:t>nₕ = n · Nₕ / N</a:t>
            </a:r>
            <a:endParaRPr lang="pt-BR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7"/>
          <p:cNvSpPr/>
          <p:nvPr/>
        </p:nvSpPr>
        <p:spPr>
          <a:xfrm>
            <a:off x="7635240" y="3063240"/>
            <a:ext cx="315432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Engenharia: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1.000 × 3.000 / 10.000 = 300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8"/>
          <p:cNvSpPr/>
          <p:nvPr/>
        </p:nvSpPr>
        <p:spPr>
          <a:xfrm>
            <a:off x="7635240" y="4160520"/>
            <a:ext cx="3154320" cy="529920"/>
          </a:xfrm>
          <a:prstGeom prst="rect">
            <a:avLst/>
          </a:prstGeom>
          <a:solidFill>
            <a:srgbClr val="EAF2FF"/>
          </a:solidFill>
          <a:ln w="12700">
            <a:solidFill>
              <a:srgbClr val="2F69B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 amostra mantém a composição da universidade.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75560" y="49392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Exemplo 2 — Funcionários de uma empresa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6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777240" y="1143000"/>
            <a:ext cx="960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População: 2.000 funcionários  •  Amostra desejada: 200 funcionários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731520" y="1600200"/>
            <a:ext cx="2207880" cy="383760"/>
          </a:xfrm>
          <a:prstGeom prst="rect">
            <a:avLst/>
          </a:prstGeom>
          <a:solidFill>
            <a:srgbClr val="2F69B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Estrato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2939760" y="1600200"/>
            <a:ext cx="1387800" cy="383760"/>
          </a:xfrm>
          <a:prstGeom prst="rect">
            <a:avLst/>
          </a:prstGeom>
          <a:solidFill>
            <a:srgbClr val="2F69B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População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9"/>
          <p:cNvSpPr/>
          <p:nvPr/>
        </p:nvSpPr>
        <p:spPr>
          <a:xfrm>
            <a:off x="4327920" y="1600200"/>
            <a:ext cx="1135440" cy="383760"/>
          </a:xfrm>
          <a:prstGeom prst="rect">
            <a:avLst/>
          </a:prstGeom>
          <a:solidFill>
            <a:srgbClr val="2F69B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Proporção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0"/>
          <p:cNvSpPr/>
          <p:nvPr/>
        </p:nvSpPr>
        <p:spPr>
          <a:xfrm>
            <a:off x="5463720" y="1600200"/>
            <a:ext cx="1577160" cy="383760"/>
          </a:xfrm>
          <a:prstGeom prst="rect">
            <a:avLst/>
          </a:prstGeom>
          <a:solidFill>
            <a:srgbClr val="2F69B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Amostra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1"/>
          <p:cNvSpPr/>
          <p:nvPr/>
        </p:nvSpPr>
        <p:spPr>
          <a:xfrm>
            <a:off x="731520" y="1984320"/>
            <a:ext cx="220788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Produção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2"/>
          <p:cNvSpPr/>
          <p:nvPr/>
        </p:nvSpPr>
        <p:spPr>
          <a:xfrm>
            <a:off x="2939760" y="1984320"/>
            <a:ext cx="138780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900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3"/>
          <p:cNvSpPr/>
          <p:nvPr/>
        </p:nvSpPr>
        <p:spPr>
          <a:xfrm>
            <a:off x="4327920" y="1984320"/>
            <a:ext cx="113544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45%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4"/>
          <p:cNvSpPr/>
          <p:nvPr/>
        </p:nvSpPr>
        <p:spPr>
          <a:xfrm>
            <a:off x="5463720" y="1984320"/>
            <a:ext cx="157716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90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5"/>
          <p:cNvSpPr/>
          <p:nvPr/>
        </p:nvSpPr>
        <p:spPr>
          <a:xfrm>
            <a:off x="731520" y="2368440"/>
            <a:ext cx="220788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Administrativo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6"/>
          <p:cNvSpPr/>
          <p:nvPr/>
        </p:nvSpPr>
        <p:spPr>
          <a:xfrm>
            <a:off x="2939760" y="2368440"/>
            <a:ext cx="138780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400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7"/>
          <p:cNvSpPr/>
          <p:nvPr/>
        </p:nvSpPr>
        <p:spPr>
          <a:xfrm>
            <a:off x="4327920" y="2368440"/>
            <a:ext cx="113544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20%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8"/>
          <p:cNvSpPr/>
          <p:nvPr/>
        </p:nvSpPr>
        <p:spPr>
          <a:xfrm>
            <a:off x="5463720" y="2368440"/>
            <a:ext cx="157716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40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9"/>
          <p:cNvSpPr/>
          <p:nvPr/>
        </p:nvSpPr>
        <p:spPr>
          <a:xfrm>
            <a:off x="731520" y="2752200"/>
            <a:ext cx="220788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Comercial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0"/>
          <p:cNvSpPr/>
          <p:nvPr/>
        </p:nvSpPr>
        <p:spPr>
          <a:xfrm>
            <a:off x="2939760" y="2752200"/>
            <a:ext cx="138780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300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1"/>
          <p:cNvSpPr/>
          <p:nvPr/>
        </p:nvSpPr>
        <p:spPr>
          <a:xfrm>
            <a:off x="4327920" y="2752200"/>
            <a:ext cx="113544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15%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2"/>
          <p:cNvSpPr/>
          <p:nvPr/>
        </p:nvSpPr>
        <p:spPr>
          <a:xfrm>
            <a:off x="5463720" y="2752200"/>
            <a:ext cx="157716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30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23"/>
          <p:cNvSpPr/>
          <p:nvPr/>
        </p:nvSpPr>
        <p:spPr>
          <a:xfrm>
            <a:off x="731520" y="3136320"/>
            <a:ext cx="220788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Tecnologia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4"/>
          <p:cNvSpPr/>
          <p:nvPr/>
        </p:nvSpPr>
        <p:spPr>
          <a:xfrm>
            <a:off x="2939760" y="3136320"/>
            <a:ext cx="138780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250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5"/>
          <p:cNvSpPr/>
          <p:nvPr/>
        </p:nvSpPr>
        <p:spPr>
          <a:xfrm>
            <a:off x="4327920" y="3136320"/>
            <a:ext cx="113544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12,5%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6"/>
          <p:cNvSpPr/>
          <p:nvPr/>
        </p:nvSpPr>
        <p:spPr>
          <a:xfrm>
            <a:off x="5463720" y="3136320"/>
            <a:ext cx="157716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25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7"/>
          <p:cNvSpPr/>
          <p:nvPr/>
        </p:nvSpPr>
        <p:spPr>
          <a:xfrm>
            <a:off x="731520" y="3520440"/>
            <a:ext cx="220788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Diretoria/Gestão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8"/>
          <p:cNvSpPr/>
          <p:nvPr/>
        </p:nvSpPr>
        <p:spPr>
          <a:xfrm>
            <a:off x="2939760" y="3520440"/>
            <a:ext cx="138780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150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9"/>
          <p:cNvSpPr/>
          <p:nvPr/>
        </p:nvSpPr>
        <p:spPr>
          <a:xfrm>
            <a:off x="4327920" y="3520440"/>
            <a:ext cx="113544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7,5%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30"/>
          <p:cNvSpPr/>
          <p:nvPr/>
        </p:nvSpPr>
        <p:spPr>
          <a:xfrm>
            <a:off x="5463720" y="3520440"/>
            <a:ext cx="1577160" cy="383760"/>
          </a:xfrm>
          <a:prstGeom prst="rect">
            <a:avLst/>
          </a:prstGeom>
          <a:solidFill>
            <a:srgbClr val="E9EEF7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15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1"/>
          <p:cNvSpPr/>
          <p:nvPr/>
        </p:nvSpPr>
        <p:spPr>
          <a:xfrm>
            <a:off x="731520" y="3904560"/>
            <a:ext cx="220788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Total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2"/>
          <p:cNvSpPr/>
          <p:nvPr/>
        </p:nvSpPr>
        <p:spPr>
          <a:xfrm>
            <a:off x="2939760" y="3904560"/>
            <a:ext cx="138780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2.000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3"/>
          <p:cNvSpPr/>
          <p:nvPr/>
        </p:nvSpPr>
        <p:spPr>
          <a:xfrm>
            <a:off x="4327920" y="3904560"/>
            <a:ext cx="113544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100%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4"/>
          <p:cNvSpPr/>
          <p:nvPr/>
        </p:nvSpPr>
        <p:spPr>
          <a:xfrm>
            <a:off x="5463720" y="3904560"/>
            <a:ext cx="1577160" cy="38376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200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5"/>
          <p:cNvSpPr/>
          <p:nvPr/>
        </p:nvSpPr>
        <p:spPr>
          <a:xfrm>
            <a:off x="7635240" y="1645920"/>
            <a:ext cx="868320" cy="319680"/>
          </a:xfrm>
          <a:prstGeom prst="rect">
            <a:avLst/>
          </a:prstGeom>
          <a:solidFill>
            <a:srgbClr val="2E9D62"/>
          </a:solidFill>
          <a:ln w="0">
            <a:solidFill>
              <a:srgbClr val="2E9D62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Leitura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36"/>
          <p:cNvSpPr/>
          <p:nvPr/>
        </p:nvSpPr>
        <p:spPr>
          <a:xfrm>
            <a:off x="7543800" y="2148840"/>
            <a:ext cx="1481040" cy="347040"/>
          </a:xfrm>
          <a:prstGeom prst="rect">
            <a:avLst/>
          </a:prstGeom>
          <a:solidFill>
            <a:srgbClr val="2F69BF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7"/>
          <p:cNvSpPr/>
          <p:nvPr/>
        </p:nvSpPr>
        <p:spPr>
          <a:xfrm>
            <a:off x="7543800" y="2569320"/>
            <a:ext cx="148104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Produção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38"/>
          <p:cNvSpPr/>
          <p:nvPr/>
        </p:nvSpPr>
        <p:spPr>
          <a:xfrm>
            <a:off x="9025200" y="2148840"/>
            <a:ext cx="658080" cy="347040"/>
          </a:xfrm>
          <a:prstGeom prst="rect">
            <a:avLst/>
          </a:prstGeom>
          <a:solidFill>
            <a:srgbClr val="2E9D62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39"/>
          <p:cNvSpPr/>
          <p:nvPr/>
        </p:nvSpPr>
        <p:spPr>
          <a:xfrm>
            <a:off x="9025200" y="2569320"/>
            <a:ext cx="6580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Adm.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40"/>
          <p:cNvSpPr/>
          <p:nvPr/>
        </p:nvSpPr>
        <p:spPr>
          <a:xfrm>
            <a:off x="9683640" y="2148840"/>
            <a:ext cx="493560" cy="347040"/>
          </a:xfrm>
          <a:prstGeom prst="rect">
            <a:avLst/>
          </a:prstGeom>
          <a:solidFill>
            <a:srgbClr val="F08A24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41"/>
          <p:cNvSpPr/>
          <p:nvPr/>
        </p:nvSpPr>
        <p:spPr>
          <a:xfrm>
            <a:off x="9683640" y="2569320"/>
            <a:ext cx="49356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" b="0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Com.</a:t>
            </a:r>
            <a:endParaRPr lang="pt-BR" sz="7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42"/>
          <p:cNvSpPr/>
          <p:nvPr/>
        </p:nvSpPr>
        <p:spPr>
          <a:xfrm>
            <a:off x="10177200" y="2148840"/>
            <a:ext cx="411120" cy="347040"/>
          </a:xfrm>
          <a:prstGeom prst="rect">
            <a:avLst/>
          </a:prstGeom>
          <a:solidFill>
            <a:srgbClr val="6554C0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43"/>
          <p:cNvSpPr/>
          <p:nvPr/>
        </p:nvSpPr>
        <p:spPr>
          <a:xfrm>
            <a:off x="10588680" y="2148840"/>
            <a:ext cx="246600" cy="347040"/>
          </a:xfrm>
          <a:prstGeom prst="rect">
            <a:avLst/>
          </a:prstGeom>
          <a:solidFill>
            <a:srgbClr val="36A2A6"/>
          </a:solidFill>
          <a:ln w="635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4"/>
          <p:cNvSpPr/>
          <p:nvPr/>
        </p:nvSpPr>
        <p:spPr>
          <a:xfrm>
            <a:off x="7543800" y="3063240"/>
            <a:ext cx="3428640" cy="68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Produção representa 45% da empresa, então recebe 45% da amostra: 90 pessoas.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45"/>
          <p:cNvSpPr/>
          <p:nvPr/>
        </p:nvSpPr>
        <p:spPr>
          <a:xfrm>
            <a:off x="7543800" y="4069080"/>
            <a:ext cx="3428640" cy="685440"/>
          </a:xfrm>
          <a:prstGeom prst="rect">
            <a:avLst/>
          </a:prstGeom>
          <a:solidFill>
            <a:srgbClr val="FFF1E6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 amostra proporcional não iguala os setores: ela preserva as diferenças da população.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2"/>
          <p:cNvSpPr/>
          <p:nvPr/>
        </p:nvSpPr>
        <p:spPr>
          <a:xfrm>
            <a:off x="1787400" y="2701800"/>
            <a:ext cx="7842600" cy="12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Regressão Logística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10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III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475560" y="49392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Regressão Logística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10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475560" y="1012320"/>
            <a:ext cx="9875160" cy="16182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rmAutofit/>
          </a:bodyPr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Na 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Regressão Linear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utilizamos o algoritmo de machine learning para descobrir um 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valor numérico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contínuo. Chamado valor 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QUANTITATIVO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Na 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Regressão Logística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utilizamos o algoritmo de machine learning para descobrir um 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valor de classificação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.Chamado valor 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QUALITATIVO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5" name="Tabela 33"/>
          <p:cNvGraphicFramePr/>
          <p:nvPr/>
        </p:nvGraphicFramePr>
        <p:xfrm>
          <a:off x="515160" y="2707560"/>
          <a:ext cx="9835560" cy="4099320"/>
        </p:xfrm>
        <a:graphic>
          <a:graphicData uri="http://schemas.openxmlformats.org/drawingml/2006/table">
            <a:tbl>
              <a:tblPr/>
              <a:tblGrid>
                <a:gridCol w="1669320"/>
                <a:gridCol w="3809520"/>
                <a:gridCol w="4356360"/>
              </a:tblGrid>
              <a:tr h="370800">
                <a:tc>
                  <a:txBody>
                    <a:bodyPr lIns="152280" tIns="114120" rIns="152280" bIns="114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Inter"/>
                        </a:rPr>
                        <a:t>Contexto / Área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152280" tIns="114120" rIns="152280" bIns="114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Inter"/>
                        </a:rPr>
                        <a:t>Valores Qualitativos (Características / Categorias)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152280" tIns="114120" rIns="152280" bIns="114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Inter"/>
                        </a:rPr>
                        <a:t>Valores Quantitativos (Medidas / Números)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7080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Perfil Pessoal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Estado civil: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Solteiro, Casado, Viuvo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Cor dos olhos: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Negros, castanhos, verdes, azuis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Sexo: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Masculino, Feminino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Idade: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25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 anos);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Altura: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1,75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 m);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Número de filhos: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2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0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Avaliação de Produtos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Nível de satisfação: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Ruim, Bom, Excelente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Marca: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Chevrolet, VolksWagen, Toyota, BYD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Cor: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amarelo, verde, roxo, marrom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Nota de avaliação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4.5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 de 5);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Preço (R$ 99,90); - Peso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500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g);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4D7FF"/>
                    </a:solidFill>
                  </a:tcPr>
                </a:tc>
              </a:tr>
              <a:tr h="37080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Saúde e Medicina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Tipo sanguíneo: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O+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Diagnóstico: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Hipertensão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Sintomas: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Coceira, Dor de barriga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Pressão arterial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120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/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80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 mmHg);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Batimentos cardíacos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75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 bpm);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080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Educação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Conceito escolar: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Aprovado, Reprovado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Matéria favorita: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ciências, matemática, português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Nota da prova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8,5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Faltas no ano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3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); 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71360" indent="-171360" defTabSz="914400">
                        <a:lnSpc>
                          <a:spcPct val="100000"/>
                        </a:lnSpc>
                        <a:buClr>
                          <a:srgbClr val="4B5563"/>
                        </a:buClr>
                        <a:buFont typeface="OpenSymbol"/>
                        <a:buChar char="-"/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Tempo de estudo (</a:t>
                      </a: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Inter"/>
                        </a:rPr>
                        <a:t>2</a:t>
                      </a: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h);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4D7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III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475560" y="49392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Regressão Logística — probabilidade e limiar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11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7"/>
          <p:cNvSpPr/>
          <p:nvPr/>
        </p:nvSpPr>
        <p:spPr>
          <a:xfrm>
            <a:off x="722520" y="1078920"/>
            <a:ext cx="10954080" cy="234972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8"/>
          <p:cNvSpPr/>
          <p:nvPr/>
        </p:nvSpPr>
        <p:spPr>
          <a:xfrm>
            <a:off x="722520" y="3808080"/>
            <a:ext cx="3840120" cy="1023840"/>
          </a:xfrm>
          <a:prstGeom prst="rect">
            <a:avLst/>
          </a:prstGeom>
          <a:solidFill>
            <a:srgbClr val="FFF1E6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 fontScale="92500" lnSpcReduction="9999"/>
          </a:bodyPr>
          <a:p>
            <a:pPr algn="ctr" defTabSz="914400">
              <a:lnSpc>
                <a:spcPct val="100000"/>
              </a:lnSpc>
            </a:pPr>
            <a:r>
              <a:rPr lang="pt-BR" sz="4000" b="1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Y  </a:t>
            </a: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=  </a:t>
            </a:r>
            <a:r>
              <a:rPr lang="pt-BR" sz="4000" b="1" i="1" u="none" strike="noStrike">
                <a:solidFill>
                  <a:srgbClr val="8B0000"/>
                </a:solidFill>
                <a:effectLst/>
                <a:uFillTx/>
                <a:latin typeface="Aptos"/>
              </a:rPr>
              <a:t>w</a:t>
            </a: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(</a:t>
            </a:r>
            <a:r>
              <a:rPr lang="pt-BR" sz="4000" b="1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X</a:t>
            </a: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)  +  </a:t>
            </a:r>
            <a:r>
              <a:rPr lang="pt-BR" sz="4000" b="1" i="1" u="none" strike="noStrike">
                <a:solidFill>
                  <a:srgbClr val="8B0000"/>
                </a:solidFill>
                <a:effectLst/>
                <a:uFillTx/>
                <a:latin typeface="Aptos"/>
              </a:rPr>
              <a:t>b</a:t>
            </a: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;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m 41"/>
          <p:cNvPicPr/>
          <p:nvPr/>
        </p:nvPicPr>
        <p:blipFill>
          <a:blip r:embed="rId2"/>
          <a:stretch/>
        </p:blipFill>
        <p:spPr>
          <a:xfrm>
            <a:off x="5419440" y="3593160"/>
            <a:ext cx="5474160" cy="241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Seta: para a Direita 42"/>
          <p:cNvSpPr/>
          <p:nvPr/>
        </p:nvSpPr>
        <p:spPr>
          <a:xfrm>
            <a:off x="4756680" y="4102200"/>
            <a:ext cx="553320" cy="427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III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475560" y="49392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Regressão Logística — probabilidade e limiar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11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7"/>
          <p:cNvSpPr/>
          <p:nvPr/>
        </p:nvSpPr>
        <p:spPr>
          <a:xfrm>
            <a:off x="722520" y="1078920"/>
            <a:ext cx="10171080" cy="1142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 fontScale="85000" lnSpcReduction="9999"/>
          </a:bodyPr>
          <a:p>
            <a:pPr defTabSz="914400">
              <a:lnSpc>
                <a:spcPct val="15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Vamos agora buscar uma função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que desenhe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um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“S”.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 desafio continua sendo descobrir os valores de “w” e “b”. 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38"/>
          <p:cNvSpPr/>
          <p:nvPr/>
        </p:nvSpPr>
        <p:spPr>
          <a:xfrm>
            <a:off x="5338080" y="2615040"/>
            <a:ext cx="3840120" cy="1023840"/>
          </a:xfrm>
          <a:prstGeom prst="rect">
            <a:avLst/>
          </a:prstGeom>
          <a:solidFill>
            <a:srgbClr val="FFF1E6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 fontScale="92500" lnSpcReduction="9999"/>
          </a:bodyPr>
          <a:p>
            <a:pPr algn="ctr" defTabSz="914400">
              <a:lnSpc>
                <a:spcPct val="100000"/>
              </a:lnSpc>
            </a:pPr>
            <a:r>
              <a:rPr lang="pt-BR" sz="4000" b="1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  </a:t>
            </a: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=  </a:t>
            </a:r>
            <a:r>
              <a:rPr lang="pt-BR" sz="4000" b="1" i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w</a:t>
            </a: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(</a:t>
            </a:r>
            <a:r>
              <a:rPr lang="pt-BR" sz="4000" b="1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X</a:t>
            </a: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)  +  </a:t>
            </a:r>
            <a:r>
              <a:rPr lang="pt-BR" sz="4000" b="1" i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b</a:t>
            </a: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;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CaixaDeTexto 7"/>
          <p:cNvSpPr/>
          <p:nvPr/>
        </p:nvSpPr>
        <p:spPr>
          <a:xfrm>
            <a:off x="722520" y="2381040"/>
            <a:ext cx="4026240" cy="14918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eta: para a Esquerda 8"/>
          <p:cNvSpPr/>
          <p:nvPr/>
        </p:nvSpPr>
        <p:spPr>
          <a:xfrm rot="20709000">
            <a:off x="4410360" y="2985480"/>
            <a:ext cx="1220040" cy="50544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66" name="CaixaDeTexto 10"/>
          <p:cNvSpPr/>
          <p:nvPr/>
        </p:nvSpPr>
        <p:spPr>
          <a:xfrm>
            <a:off x="722520" y="4641120"/>
            <a:ext cx="5594040" cy="150588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eta: para Baixo 11"/>
          <p:cNvSpPr/>
          <p:nvPr/>
        </p:nvSpPr>
        <p:spPr>
          <a:xfrm>
            <a:off x="2659320" y="4025520"/>
            <a:ext cx="645480" cy="4633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68" name="Seta: para a Direita 14"/>
          <p:cNvSpPr/>
          <p:nvPr/>
        </p:nvSpPr>
        <p:spPr>
          <a:xfrm>
            <a:off x="6685920" y="5157360"/>
            <a:ext cx="695880" cy="5259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269" name="Imagem 16"/>
          <p:cNvPicPr/>
          <p:nvPr/>
        </p:nvPicPr>
        <p:blipFill>
          <a:blip r:embed="rId3"/>
          <a:stretch/>
        </p:blipFill>
        <p:spPr>
          <a:xfrm>
            <a:off x="7654680" y="3988800"/>
            <a:ext cx="3729960" cy="2332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III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"/>
          <p:cNvSpPr/>
          <p:nvPr/>
        </p:nvSpPr>
        <p:spPr>
          <a:xfrm>
            <a:off x="475560" y="49392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Regressão Logística — probabilidade e limiar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11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37"/>
          <p:cNvSpPr/>
          <p:nvPr/>
        </p:nvSpPr>
        <p:spPr>
          <a:xfrm>
            <a:off x="722520" y="1078920"/>
            <a:ext cx="10171080" cy="119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 fontScale="85000" lnSpcReduction="9999"/>
          </a:bodyPr>
          <a:p>
            <a:pPr defTabSz="914400">
              <a:lnSpc>
                <a:spcPct val="12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Vamos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inserir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formula da reta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dentro de uma função </a:t>
            </a: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que transforme a reta 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em um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“S”.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Devemos ainda garantir que: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2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 valores no eixo “x” variam de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ifinito negativo 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ifinito positivo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 indent="-571680" defTabSz="914400">
              <a:lnSpc>
                <a:spcPct val="12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Os valores no eixo “y” variam de “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0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” a “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1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”;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8"/>
          <p:cNvSpPr/>
          <p:nvPr/>
        </p:nvSpPr>
        <p:spPr>
          <a:xfrm>
            <a:off x="722520" y="2788920"/>
            <a:ext cx="3840120" cy="1023840"/>
          </a:xfrm>
          <a:prstGeom prst="rect">
            <a:avLst/>
          </a:prstGeom>
          <a:solidFill>
            <a:srgbClr val="FFF1E6"/>
          </a:solidFill>
          <a:ln w="12700">
            <a:solidFill>
              <a:srgbClr val="F08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 fontScale="92500" lnSpcReduction="9999"/>
          </a:bodyPr>
          <a:p>
            <a:pPr algn="ctr" defTabSz="914400">
              <a:lnSpc>
                <a:spcPct val="100000"/>
              </a:lnSpc>
            </a:pPr>
            <a:r>
              <a:rPr lang="pt-BR" sz="4000" b="1" i="1" u="none" strike="noStrike">
                <a:solidFill>
                  <a:srgbClr val="4472C4"/>
                </a:solidFill>
                <a:effectLst/>
                <a:uFillTx/>
                <a:latin typeface="Aptos"/>
              </a:rPr>
              <a:t>Z</a:t>
            </a:r>
            <a:r>
              <a:rPr lang="pt-BR" sz="4000" b="1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 </a:t>
            </a: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=  </a:t>
            </a:r>
            <a:r>
              <a:rPr lang="pt-BR" sz="4000" b="1" i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w</a:t>
            </a: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(</a:t>
            </a:r>
            <a:r>
              <a:rPr lang="pt-BR" sz="4000" b="1" i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X</a:t>
            </a: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)  +  </a:t>
            </a:r>
            <a:r>
              <a:rPr lang="pt-BR" sz="4000" b="1" i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b</a:t>
            </a: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;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CaixaDeTexto 7"/>
          <p:cNvSpPr/>
          <p:nvPr/>
        </p:nvSpPr>
        <p:spPr>
          <a:xfrm>
            <a:off x="722520" y="4581000"/>
            <a:ext cx="4026240" cy="14918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9" name="Imagem 16"/>
          <p:cNvPicPr/>
          <p:nvPr/>
        </p:nvPicPr>
        <p:blipFill>
          <a:blip r:embed="rId2"/>
          <a:stretch/>
        </p:blipFill>
        <p:spPr>
          <a:xfrm>
            <a:off x="6095880" y="4581000"/>
            <a:ext cx="2453400" cy="153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0" name="Imagem 12"/>
          <p:cNvPicPr/>
          <p:nvPr/>
        </p:nvPicPr>
        <p:blipFill>
          <a:blip r:embed="rId3"/>
          <a:stretch/>
        </p:blipFill>
        <p:spPr>
          <a:xfrm>
            <a:off x="6095880" y="2594160"/>
            <a:ext cx="2376360" cy="183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Seta: para a Direita 13"/>
          <p:cNvSpPr/>
          <p:nvPr/>
        </p:nvSpPr>
        <p:spPr>
          <a:xfrm>
            <a:off x="4865760" y="3103920"/>
            <a:ext cx="1064880" cy="324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82" name="Seta: para a Direita 15"/>
          <p:cNvSpPr/>
          <p:nvPr/>
        </p:nvSpPr>
        <p:spPr>
          <a:xfrm>
            <a:off x="4941000" y="5201280"/>
            <a:ext cx="989640" cy="324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83" name="CaixaDeTexto 17"/>
          <p:cNvSpPr/>
          <p:nvPr/>
        </p:nvSpPr>
        <p:spPr>
          <a:xfrm>
            <a:off x="8967960" y="3157560"/>
            <a:ext cx="283752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4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Forma RETA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CaixaDeTexto 19"/>
          <p:cNvSpPr/>
          <p:nvPr/>
        </p:nvSpPr>
        <p:spPr>
          <a:xfrm>
            <a:off x="8967960" y="4973040"/>
            <a:ext cx="305820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Forma Sigmoide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CaixaDeTexto 20"/>
          <p:cNvSpPr/>
          <p:nvPr/>
        </p:nvSpPr>
        <p:spPr>
          <a:xfrm>
            <a:off x="1597680" y="2319480"/>
            <a:ext cx="18702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Equação da Reta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CaixaDeTexto 22"/>
          <p:cNvSpPr/>
          <p:nvPr/>
        </p:nvSpPr>
        <p:spPr>
          <a:xfrm>
            <a:off x="1707480" y="4102200"/>
            <a:ext cx="23122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Equação “S” logística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III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"/>
          <p:cNvSpPr/>
          <p:nvPr/>
        </p:nvSpPr>
        <p:spPr>
          <a:xfrm>
            <a:off x="475560" y="49392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Regressão Logística — fronteira de decisão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4"/>
          <p:cNvSpPr/>
          <p:nvPr/>
        </p:nvSpPr>
        <p:spPr>
          <a:xfrm>
            <a:off x="7138440" y="845280"/>
            <a:ext cx="393156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A fronteira separa regiões do espaço de variáveis.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De um lado, o modelo tende a prever classe 0; do outro, classe 1.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5"/>
          <p:cNvSpPr/>
          <p:nvPr/>
        </p:nvSpPr>
        <p:spPr>
          <a:xfrm>
            <a:off x="2633760" y="1090800"/>
            <a:ext cx="3931560" cy="749520"/>
          </a:xfrm>
          <a:prstGeom prst="rect">
            <a:avLst/>
          </a:prstGeom>
          <a:solidFill>
            <a:srgbClr val="EAF7EF"/>
          </a:solidFill>
          <a:ln w="12700">
            <a:solidFill>
              <a:srgbClr val="2E9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B1F3A"/>
                </a:solidFill>
                <a:effectLst/>
                <a:uFillTx/>
                <a:latin typeface="Aptos"/>
              </a:rPr>
              <a:t>Boa preparação dos dados ajuda a fronteira a representar melhor a população.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CaixaDeTexto 27"/>
          <p:cNvSpPr/>
          <p:nvPr/>
        </p:nvSpPr>
        <p:spPr>
          <a:xfrm>
            <a:off x="475560" y="2416680"/>
            <a:ext cx="10564560" cy="38768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III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475560" y="49392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Regressão Logística — EXEMPLO 01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4"/>
          <p:cNvSpPr/>
          <p:nvPr/>
        </p:nvSpPr>
        <p:spPr>
          <a:xfrm>
            <a:off x="5103720" y="629640"/>
            <a:ext cx="675792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todos os alunos que tiverem mais de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50% de chances de passar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, marque o aluno como "Aprovado".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Caso constrário, marque-o como Reprovado.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5"/>
          <p:cNvSpPr/>
          <p:nvPr/>
        </p:nvSpPr>
        <p:spPr>
          <a:xfrm>
            <a:off x="475560" y="1492920"/>
            <a:ext cx="11386080" cy="749520"/>
          </a:xfrm>
          <a:prstGeom prst="rect">
            <a:avLst/>
          </a:prstGeom>
          <a:solidFill>
            <a:srgbClr val="EAF7EF"/>
          </a:solidFill>
          <a:ln w="12700">
            <a:solidFill>
              <a:srgbClr val="2E9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Exemplo 01 - Considere os dados dos alunos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do ultimo semestre. Construa um modelo para avaliar quais as chances dele passar na disciplina.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CaixaDeTexto 27"/>
          <p:cNvSpPr/>
          <p:nvPr/>
        </p:nvSpPr>
        <p:spPr>
          <a:xfrm>
            <a:off x="475560" y="1091160"/>
            <a:ext cx="4498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Bom, vamos entender usando um exemplo: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5" name="Tabela 7"/>
          <p:cNvGraphicFramePr/>
          <p:nvPr/>
        </p:nvGraphicFramePr>
        <p:xfrm>
          <a:off x="475560" y="2275560"/>
          <a:ext cx="11386080" cy="4327560"/>
        </p:xfrm>
        <a:graphic>
          <a:graphicData uri="http://schemas.openxmlformats.org/drawingml/2006/table">
            <a:tbl>
              <a:tblPr/>
              <a:tblGrid>
                <a:gridCol w="1369800"/>
                <a:gridCol w="2348640"/>
                <a:gridCol w="3380760"/>
                <a:gridCol w="4286520"/>
              </a:tblGrid>
              <a:tr h="380160">
                <a:tc>
                  <a:txBody>
                    <a:bodyPr lIns="152280" tIns="114120" rIns="152280" bIns="114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Inter"/>
                        </a:rPr>
                        <a:t>RA do aluno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152280" tIns="114120" rIns="152280" bIns="114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Inter"/>
                        </a:rPr>
                        <a:t>Entrada (X1) -&gt; Horas de Estudo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152280" tIns="114120" rIns="152280" bIns="114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Inter"/>
                        </a:rPr>
                        <a:t>Saída (y) -&gt; verdadeiro 1, falso 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lIns="152280" tIns="114120" rIns="152280" bIns="11412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Inter"/>
                        </a:rPr>
                        <a:t>Descrição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44880"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2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Reprovado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B6B6"/>
                    </a:solidFill>
                  </a:tcPr>
                </a:tc>
              </a:tr>
              <a:tr h="344880"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2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3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Reprovado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B6B6"/>
                    </a:solidFill>
                  </a:tcPr>
                </a:tc>
              </a:tr>
              <a:tr h="344880"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3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5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7C80"/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Reprovado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B6B6"/>
                    </a:solidFill>
                  </a:tcPr>
                </a:tc>
              </a:tr>
              <a:tr h="344880"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4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6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Aprovado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44880"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5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8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Aprovado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44880"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6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9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Aprovado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44880"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7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B6B6"/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Reprovado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B6B6"/>
                    </a:solidFill>
                  </a:tcPr>
                </a:tc>
              </a:tr>
              <a:tr h="344880"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8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4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B6B6"/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Reprovado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B6B6"/>
                    </a:solidFill>
                  </a:tcPr>
                </a:tc>
              </a:tr>
              <a:tr h="344880"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9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7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Aprovado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344880"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Inter"/>
                        </a:rPr>
                        <a:t>Aprovado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III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"/>
          <p:cNvSpPr/>
          <p:nvPr/>
        </p:nvSpPr>
        <p:spPr>
          <a:xfrm>
            <a:off x="475560" y="49392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Regressão Logística — EXEMPLO 01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4"/>
          <p:cNvSpPr/>
          <p:nvPr/>
        </p:nvSpPr>
        <p:spPr>
          <a:xfrm>
            <a:off x="5036760" y="999360"/>
            <a:ext cx="675792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todos os alunos que tiverem mais de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50% de chances de passar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, marque o aluno como "Aprovado".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Caso constrário, marque-o como Reprovado.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CaixaDeTexto 27"/>
          <p:cNvSpPr/>
          <p:nvPr/>
        </p:nvSpPr>
        <p:spPr>
          <a:xfrm>
            <a:off x="475560" y="1091160"/>
            <a:ext cx="4498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Bom, vamos entender usando um exemplo: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CaixaDeTexto 9"/>
          <p:cNvSpPr/>
          <p:nvPr/>
        </p:nvSpPr>
        <p:spPr>
          <a:xfrm>
            <a:off x="475560" y="1757880"/>
            <a:ext cx="6094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a) Calcule os “</a:t>
            </a:r>
            <a:r>
              <a:rPr lang="pt-BR" sz="1800" b="1" u="none" strike="noStrike">
                <a:solidFill>
                  <a:srgbClr val="8B0000"/>
                </a:solidFill>
                <a:effectLst/>
                <a:uFillTx/>
                <a:latin typeface="Aptos"/>
              </a:rPr>
              <a:t>w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” e “</a:t>
            </a:r>
            <a:r>
              <a:rPr lang="pt-BR" sz="1800" b="1" u="none" strike="noStrike">
                <a:solidFill>
                  <a:srgbClr val="8B0000"/>
                </a:solidFill>
                <a:effectLst/>
                <a:uFillTx/>
                <a:latin typeface="Aptos"/>
              </a:rPr>
              <a:t>b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” da equação </a:t>
            </a:r>
            <a:r>
              <a:rPr lang="pt-BR" sz="18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Aptos"/>
              </a:rPr>
              <a:t>Z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= </a:t>
            </a:r>
            <a:r>
              <a:rPr lang="pt-BR" sz="1800" b="1" u="none" strike="noStrike">
                <a:solidFill>
                  <a:srgbClr val="8B0000"/>
                </a:solidFill>
                <a:effectLst/>
                <a:uFillTx/>
                <a:latin typeface="Aptos"/>
              </a:rPr>
              <a:t>w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(X) + </a:t>
            </a:r>
            <a:r>
              <a:rPr lang="pt-BR" sz="1800" b="1" u="none" strike="noStrike">
                <a:solidFill>
                  <a:srgbClr val="8B0000"/>
                </a:solidFill>
                <a:effectLst/>
                <a:uFillTx/>
                <a:latin typeface="Aptos"/>
              </a:rPr>
              <a:t>b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CaixaDeTexto 12"/>
          <p:cNvSpPr/>
          <p:nvPr/>
        </p:nvSpPr>
        <p:spPr>
          <a:xfrm>
            <a:off x="472680" y="2355120"/>
            <a:ext cx="35863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b) Faça a Regressão Logística. Use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5"/>
          <p:cNvSpPr/>
          <p:nvPr/>
        </p:nvSpPr>
        <p:spPr>
          <a:xfrm>
            <a:off x="4213440" y="2164680"/>
            <a:ext cx="3764520" cy="74952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solidFill>
              <a:srgbClr val="2E9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III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"/>
          <p:cNvSpPr/>
          <p:nvPr/>
        </p:nvSpPr>
        <p:spPr>
          <a:xfrm>
            <a:off x="475560" y="49392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Regressão Logística — EXEMPLO 01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24"/>
          <p:cNvSpPr/>
          <p:nvPr/>
        </p:nvSpPr>
        <p:spPr>
          <a:xfrm>
            <a:off x="5036760" y="999360"/>
            <a:ext cx="675792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todos os alunos que tiverem mais de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50% de chances de passar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, marque o aluno como "Aprovado".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Caso constrário, marque-o como Reprovado.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CaixaDeTexto 27"/>
          <p:cNvSpPr/>
          <p:nvPr/>
        </p:nvSpPr>
        <p:spPr>
          <a:xfrm>
            <a:off x="475560" y="1091160"/>
            <a:ext cx="4498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Bom, vamos entender usando um exemplo: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CaixaDeTexto 9"/>
          <p:cNvSpPr/>
          <p:nvPr/>
        </p:nvSpPr>
        <p:spPr>
          <a:xfrm>
            <a:off x="475560" y="1757880"/>
            <a:ext cx="6094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a) Calcule os “</a:t>
            </a:r>
            <a:r>
              <a:rPr lang="pt-BR" sz="1800" b="1" u="none" strike="noStrike">
                <a:solidFill>
                  <a:srgbClr val="8B0000"/>
                </a:solidFill>
                <a:effectLst/>
                <a:uFillTx/>
                <a:latin typeface="Aptos"/>
              </a:rPr>
              <a:t>w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” e “</a:t>
            </a:r>
            <a:r>
              <a:rPr lang="pt-BR" sz="1800" b="1" u="none" strike="noStrike">
                <a:solidFill>
                  <a:srgbClr val="8B0000"/>
                </a:solidFill>
                <a:effectLst/>
                <a:uFillTx/>
                <a:latin typeface="Aptos"/>
              </a:rPr>
              <a:t>b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” da equação Z = </a:t>
            </a:r>
            <a:r>
              <a:rPr lang="pt-BR" sz="1800" b="1" u="none" strike="noStrike">
                <a:solidFill>
                  <a:srgbClr val="8B0000"/>
                </a:solidFill>
                <a:effectLst/>
                <a:uFillTx/>
                <a:latin typeface="Aptos"/>
              </a:rPr>
              <a:t>w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(X) + </a:t>
            </a:r>
            <a:r>
              <a:rPr lang="pt-BR" sz="1800" b="1" u="none" strike="noStrike">
                <a:solidFill>
                  <a:srgbClr val="8B0000"/>
                </a:solidFill>
                <a:effectLst/>
                <a:uFillTx/>
                <a:latin typeface="Aptos"/>
              </a:rPr>
              <a:t>b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5"/>
          <p:cNvSpPr/>
          <p:nvPr/>
        </p:nvSpPr>
        <p:spPr>
          <a:xfrm>
            <a:off x="567000" y="4062240"/>
            <a:ext cx="8517960" cy="1035720"/>
          </a:xfrm>
          <a:prstGeom prst="rect">
            <a:avLst/>
          </a:prstGeom>
          <a:solidFill>
            <a:srgbClr val="EAF7EF"/>
          </a:solidFill>
          <a:ln w="12700">
            <a:solidFill>
              <a:srgbClr val="2E9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 = </a:t>
            </a:r>
            <a:r>
              <a:rPr lang="pt-BR" sz="1800" b="1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w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(X) + </a:t>
            </a:r>
            <a:r>
              <a:rPr lang="pt-BR" sz="1800" b="1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b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w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= 1,19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1" u="none" strike="noStrike">
                <a:solidFill>
                  <a:srgbClr val="C00000"/>
                </a:solidFill>
                <a:effectLst/>
                <a:uFillTx/>
                <a:latin typeface="Aptos"/>
              </a:rPr>
              <a:t>b</a:t>
            </a: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= -6,52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5"/>
          <p:cNvSpPr/>
          <p:nvPr/>
        </p:nvSpPr>
        <p:spPr>
          <a:xfrm>
            <a:off x="591480" y="2333160"/>
            <a:ext cx="8517960" cy="124200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solidFill>
              <a:srgbClr val="2E9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III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"/>
          <p:cNvSpPr/>
          <p:nvPr/>
        </p:nvSpPr>
        <p:spPr>
          <a:xfrm>
            <a:off x="475560" y="54576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Regressão Logística — EXEMPLO 01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3"/>
          <p:cNvSpPr/>
          <p:nvPr/>
        </p:nvSpPr>
        <p:spPr>
          <a:xfrm>
            <a:off x="475200" y="932400"/>
            <a:ext cx="1124712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4"/>
          <p:cNvSpPr/>
          <p:nvPr/>
        </p:nvSpPr>
        <p:spPr>
          <a:xfrm>
            <a:off x="5036760" y="113760"/>
            <a:ext cx="6757920" cy="74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/>
          </a:bodyPr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todos os alunos que tiverem mais de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50% de chances de passar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, marque o aluno como "Aprovado".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Caso constrário, marque-o como Reprovado.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CaixaDeTexto 27"/>
          <p:cNvSpPr/>
          <p:nvPr/>
        </p:nvSpPr>
        <p:spPr>
          <a:xfrm>
            <a:off x="475560" y="1091160"/>
            <a:ext cx="449856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Bom, vamos entender usando um exemplo: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CaixaDeTexto 9"/>
          <p:cNvSpPr/>
          <p:nvPr/>
        </p:nvSpPr>
        <p:spPr>
          <a:xfrm>
            <a:off x="475560" y="1567800"/>
            <a:ext cx="609408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b) Faça a Regressão Logística;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5"/>
          <p:cNvSpPr/>
          <p:nvPr/>
        </p:nvSpPr>
        <p:spPr>
          <a:xfrm>
            <a:off x="5036760" y="970920"/>
            <a:ext cx="3764520" cy="74952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solidFill>
              <a:srgbClr val="2E9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38" name="Tabela 7"/>
          <p:cNvGraphicFramePr/>
          <p:nvPr/>
        </p:nvGraphicFramePr>
        <p:xfrm>
          <a:off x="397080" y="0"/>
          <a:ext cx="11246760" cy="6761160"/>
        </p:xfrm>
        <a:graphic>
          <a:graphicData uri="http://schemas.openxmlformats.org/drawingml/2006/table">
            <a:tbl>
              <a:tblPr/>
              <a:tblGrid>
                <a:gridCol w="869760"/>
                <a:gridCol w="1328040"/>
                <a:gridCol w="914400"/>
                <a:gridCol w="2390760"/>
                <a:gridCol w="1065240"/>
                <a:gridCol w="3128760"/>
                <a:gridCol w="1549080"/>
              </a:tblGrid>
              <a:tr h="777240">
                <a:tc>
                  <a:txBody>
                    <a:bodyPr lIns="152280" tIns="114120" rIns="15228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ID do Aluno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lIns="152280" tIns="114120" rIns="15228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Entrada (X1)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Horas de Estudo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lIns="152280" tIns="114120" rIns="15228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Saída (y)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Status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lIns="152280" tIns="114120" rIns="15228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Cálculo de </a:t>
                      </a:r>
                      <a:r>
                        <a:rPr lang="pt-BR" sz="16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z </a:t>
                      </a: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= </a:t>
                      </a:r>
                      <a:r>
                        <a:rPr lang="pt-BR" sz="1600" b="1" u="none" strike="noStrike">
                          <a:solidFill>
                            <a:srgbClr val="B90000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w </a:t>
                      </a: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* (X_i) + </a:t>
                      </a:r>
                      <a:r>
                        <a:rPr lang="pt-BR" sz="1600" b="1" u="none" strike="noStrike">
                          <a:solidFill>
                            <a:srgbClr val="B90000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b</a:t>
                      </a:r>
                      <a:endParaRPr lang="pt-BR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lIns="152280" tIns="114120" rIns="15228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Valor de “Z”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 lIns="152280" tIns="114120" rIns="152280" bIns="114120" anchor="ctr">
                      <a:noAutofit/>
                    </a:bodyPr>
                    <a:p>
                      <a:endParaRPr lang="pt-BR" sz="180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"/>
                      <a:stretch/>
                    </a:blipFill>
                  </a:tcPr>
                </a:tc>
                <a:tc>
                  <a:txBody>
                    <a:bodyPr lIns="152280" tIns="114120" rIns="152280" bIns="11412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374151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Probabilidade Calculada - Saída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114120" marB="1141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9832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B90000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2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4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5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6"/>
                      <a:stretch/>
                    </a:blipFill>
                  </a:tcPr>
                </a:tc>
              </a:tr>
              <a:tr h="59832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2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B90000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3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7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8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9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0"/>
                      <a:stretch/>
                    </a:blipFill>
                  </a:tcPr>
                </a:tc>
              </a:tr>
              <a:tr h="59832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3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B90000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5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1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2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3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4"/>
                      <a:stretch/>
                    </a:blipFill>
                  </a:tcPr>
                </a:tc>
              </a:tr>
              <a:tr h="59832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4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B90000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6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5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6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7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8"/>
                      <a:stretch/>
                    </a:blipFill>
                  </a:tcPr>
                </a:tc>
              </a:tr>
              <a:tr h="59832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5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B90000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8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19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0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1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2"/>
                      <a:stretch/>
                    </a:blipFill>
                  </a:tcPr>
                </a:tc>
              </a:tr>
              <a:tr h="59832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6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B90000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9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3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4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5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6"/>
                      <a:stretch/>
                    </a:blipFill>
                  </a:tcPr>
                </a:tc>
              </a:tr>
              <a:tr h="59832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7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B90000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7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8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29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0"/>
                      <a:stretch/>
                    </a:blipFill>
                  </a:tcPr>
                </a:tc>
              </a:tr>
              <a:tr h="59832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8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B90000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4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1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2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3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4"/>
                      <a:stretch/>
                    </a:blipFill>
                  </a:tcPr>
                </a:tc>
              </a:tr>
              <a:tr h="59832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9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B90000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7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5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6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7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8"/>
                      <a:stretch/>
                    </a:blipFill>
                  </a:tcPr>
                </a:tc>
              </a:tr>
              <a:tr h="598320"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10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1" u="none" strike="noStrike">
                          <a:solidFill>
                            <a:srgbClr val="B90000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10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pt-BR" sz="1200" b="0" u="none" strike="noStrike">
                          <a:solidFill>
                            <a:srgbClr val="4B5563"/>
                          </a:solidFill>
                          <a:effectLst/>
                          <a:uFillTx/>
                          <a:latin typeface="Cambria Math"/>
                          <a:ea typeface="Cambria Math"/>
                        </a:rPr>
                        <a:t>1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39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40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41"/>
                      <a:stretch/>
                    </a:blipFill>
                  </a:tcPr>
                </a:tc>
                <a:tc>
                  <a:txBody>
                    <a:bodyPr lIns="152280" tIns="95040" rIns="152280" bIns="95040" anchor="ctr">
                      <a:noAutofit/>
                    </a:bodyPr>
                    <a:p>
                      <a:endParaRPr lang="pt-BR" sz="18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Aptos"/>
                      </a:endParaRPr>
                    </a:p>
                  </a:txBody>
                  <a:tcPr anchor="ctr" marL="152280" marR="152280" marT="95040" marB="950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blipFill rotWithShape="0">
                      <a:blip r:embed="rId42"/>
                      <a:stretch/>
                    </a:blip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III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475560" y="54576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2"/>
          <p:cNvSpPr/>
          <p:nvPr/>
        </p:nvSpPr>
        <p:spPr>
          <a:xfrm>
            <a:off x="1024200" y="502920"/>
            <a:ext cx="10423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Regressão Logística — EXEMPLO 01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-4046040" y="933840"/>
            <a:ext cx="1124676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4"/>
          <p:cNvSpPr/>
          <p:nvPr/>
        </p:nvSpPr>
        <p:spPr>
          <a:xfrm>
            <a:off x="386640" y="1050120"/>
            <a:ext cx="2706480" cy="10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" tIns="1080" rIns="1080" bIns="108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 todos os alunos que tiverem mais de </a:t>
            </a:r>
            <a:r>
              <a:rPr lang="pt-BR" sz="1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50% de chances de passar</a:t>
            </a: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, marque o aluno como "Aprovado".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Caso constrário, marque-o como Reprovado.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25"/>
          <p:cNvSpPr/>
          <p:nvPr/>
        </p:nvSpPr>
        <p:spPr>
          <a:xfrm>
            <a:off x="4814280" y="184320"/>
            <a:ext cx="3764520" cy="74952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solidFill>
              <a:srgbClr val="2E9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7" name="Imagem 10"/>
          <p:cNvPicPr/>
          <p:nvPr/>
        </p:nvPicPr>
        <p:blipFill>
          <a:blip r:embed="rId2"/>
          <a:stretch/>
        </p:blipFill>
        <p:spPr>
          <a:xfrm>
            <a:off x="4520880" y="1257120"/>
            <a:ext cx="7479720" cy="52898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348" name="Tabela 13"/>
          <p:cNvGraphicFramePr/>
          <p:nvPr/>
        </p:nvGraphicFramePr>
        <p:xfrm>
          <a:off x="386640" y="2146680"/>
          <a:ext cx="4133880" cy="4848120"/>
        </p:xfrm>
        <a:graphic>
          <a:graphicData uri="http://schemas.openxmlformats.org/drawingml/2006/table">
            <a:tbl>
              <a:tblPr/>
              <a:tblGrid>
                <a:gridCol w="345600"/>
                <a:gridCol w="609120"/>
                <a:gridCol w="504000"/>
                <a:gridCol w="854280"/>
                <a:gridCol w="871560"/>
                <a:gridCol w="948240"/>
              </a:tblGrid>
              <a:tr h="395280"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ID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Entrada (X1)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Status Real (y)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8B0000"/>
                          </a:solidFill>
                          <a:effectLst/>
                          <a:uFillTx/>
                          <a:latin typeface="Aptos"/>
                        </a:rPr>
                        <a:t>Par Ordenado 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8B0000"/>
                          </a:solidFill>
                          <a:effectLst/>
                          <a:uFillTx/>
                          <a:latin typeface="Aptos"/>
                        </a:rPr>
                        <a:t>Real (X,Y)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Probab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P( Y = 1 ∣ X 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rgbClr val="008000"/>
                          </a:solidFill>
                          <a:effectLst/>
                          <a:uFillTx/>
                          <a:latin typeface="Aptos"/>
                        </a:rPr>
                        <a:t>Par Ordenado Previsto (X,P)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95280"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8B0000"/>
                          </a:solidFill>
                          <a:effectLst/>
                          <a:uFillTx/>
                          <a:latin typeface="Aptos"/>
                        </a:rPr>
                        <a:t>(1,0)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0,005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8000"/>
                          </a:solidFill>
                          <a:effectLst/>
                          <a:uFillTx/>
                          <a:latin typeface="Aptos"/>
                        </a:rPr>
                        <a:t>(1; 0,005)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5280"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8B0000"/>
                          </a:solidFill>
                          <a:effectLst/>
                          <a:uFillTx/>
                          <a:latin typeface="Aptos"/>
                        </a:rPr>
                        <a:t>(2,0)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0,015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8000"/>
                          </a:solidFill>
                          <a:effectLst/>
                          <a:uFillTx/>
                          <a:latin typeface="Aptos"/>
                        </a:rPr>
                        <a:t>(2; 0,015)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5280"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8B0000"/>
                          </a:solidFill>
                          <a:effectLst/>
                          <a:uFillTx/>
                          <a:latin typeface="Aptos"/>
                        </a:rPr>
                        <a:t>(3,0)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0,049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8000"/>
                          </a:solidFill>
                          <a:effectLst/>
                          <a:uFillTx/>
                          <a:latin typeface="Aptos"/>
                        </a:rPr>
                        <a:t>(3; 0,049)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5280"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8B0000"/>
                          </a:solidFill>
                          <a:effectLst/>
                          <a:uFillTx/>
                          <a:latin typeface="Aptos"/>
                        </a:rPr>
                        <a:t>(4,0)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0,147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8000"/>
                          </a:solidFill>
                          <a:effectLst/>
                          <a:uFillTx/>
                          <a:latin typeface="Aptos"/>
                        </a:rPr>
                        <a:t>(4; 0,147)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5280"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8B0000"/>
                          </a:solidFill>
                          <a:effectLst/>
                          <a:uFillTx/>
                          <a:latin typeface="Aptos"/>
                        </a:rPr>
                        <a:t>(5,0)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0,361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8000"/>
                          </a:solidFill>
                          <a:effectLst/>
                          <a:uFillTx/>
                          <a:latin typeface="Aptos"/>
                        </a:rPr>
                        <a:t>(5; 0,361)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5280"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8B0000"/>
                          </a:solidFill>
                          <a:effectLst/>
                          <a:uFillTx/>
                          <a:latin typeface="Aptos"/>
                        </a:rPr>
                        <a:t>(6,1)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0,65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8000"/>
                          </a:solidFill>
                          <a:effectLst/>
                          <a:uFillTx/>
                          <a:latin typeface="Aptos"/>
                        </a:rPr>
                        <a:t>(6; 0,650)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5280"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9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8B0000"/>
                          </a:solidFill>
                          <a:effectLst/>
                          <a:uFillTx/>
                          <a:latin typeface="Aptos"/>
                        </a:rPr>
                        <a:t>(7,1)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0,86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8000"/>
                          </a:solidFill>
                          <a:effectLst/>
                          <a:uFillTx/>
                          <a:latin typeface="Aptos"/>
                        </a:rPr>
                        <a:t>(7; 0,860)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5280"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8B0000"/>
                          </a:solidFill>
                          <a:effectLst/>
                          <a:uFillTx/>
                          <a:latin typeface="Aptos"/>
                        </a:rPr>
                        <a:t>(8,1)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0,952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8000"/>
                          </a:solidFill>
                          <a:effectLst/>
                          <a:uFillTx/>
                          <a:latin typeface="Aptos"/>
                        </a:rPr>
                        <a:t>(8; 0,952)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5280"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9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8B0000"/>
                          </a:solidFill>
                          <a:effectLst/>
                          <a:uFillTx/>
                          <a:latin typeface="Aptos"/>
                        </a:rPr>
                        <a:t>(9,1)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0,985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8000"/>
                          </a:solidFill>
                          <a:effectLst/>
                          <a:uFillTx/>
                          <a:latin typeface="Aptos"/>
                        </a:rPr>
                        <a:t>(9; 0,985)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95280"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8B0000"/>
                          </a:solidFill>
                          <a:effectLst/>
                          <a:uFillTx/>
                          <a:latin typeface="Aptos"/>
                        </a:rPr>
                        <a:t>(10,1)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0,995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56160" tIns="28080" rIns="56160" bIns="28080" anchor="b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100" b="1" u="none" strike="noStrike">
                          <a:solidFill>
                            <a:srgbClr val="008000"/>
                          </a:solidFill>
                          <a:effectLst/>
                          <a:uFillTx/>
                          <a:latin typeface="Aptos"/>
                        </a:rPr>
                        <a:t>(10; 0,995)</a:t>
                      </a:r>
                      <a:endParaRPr lang="pt-B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b" marL="56160" marR="56160" marT="28080" marB="28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 0"/>
          <p:cNvSpPr/>
          <p:nvPr/>
        </p:nvSpPr>
        <p:spPr>
          <a:xfrm>
            <a:off x="475560" y="29268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667085"/>
                </a:solidFill>
                <a:effectLst/>
                <a:uFillTx/>
                <a:latin typeface="Aptos"/>
                <a:ea typeface="Aptos"/>
              </a:rPr>
              <a:t>Parte III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"/>
          <p:cNvSpPr/>
          <p:nvPr/>
        </p:nvSpPr>
        <p:spPr>
          <a:xfrm>
            <a:off x="475560" y="545760"/>
            <a:ext cx="493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F69BF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"/>
          <p:cNvSpPr/>
          <p:nvPr/>
        </p:nvSpPr>
        <p:spPr>
          <a:xfrm>
            <a:off x="1024200" y="502920"/>
            <a:ext cx="34192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Regressão Logística — EXEMPLO 01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3"/>
          <p:cNvSpPr/>
          <p:nvPr/>
        </p:nvSpPr>
        <p:spPr>
          <a:xfrm>
            <a:off x="-4046040" y="933840"/>
            <a:ext cx="11246760" cy="360"/>
          </a:xfrm>
          <a:prstGeom prst="line">
            <a:avLst/>
          </a:prstGeom>
          <a:ln w="12700">
            <a:solidFill>
              <a:srgbClr val="D9DE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4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5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5"/>
          <p:cNvSpPr/>
          <p:nvPr/>
        </p:nvSpPr>
        <p:spPr>
          <a:xfrm>
            <a:off x="4814280" y="184320"/>
            <a:ext cx="3764520" cy="74952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solidFill>
              <a:srgbClr val="2E9D6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FFFFFF">
                    <a:alpha val="1000"/>
                  </a:srgbClr>
                </a:solidFill>
                <a:effectLst/>
                <a:uFillTx/>
                <a:latin typeface="Aptos"/>
              </a:rPr>
              <a:t> 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CaixaDeTexto 21"/>
          <p:cNvSpPr/>
          <p:nvPr/>
        </p:nvSpPr>
        <p:spPr>
          <a:xfrm>
            <a:off x="234000" y="1936800"/>
            <a:ext cx="5021280" cy="3765960"/>
          </a:xfrm>
          <a:prstGeom prst="rect">
            <a:avLst/>
          </a:prstGeom>
          <a:solidFill>
            <a:srgbClr val="F5F5F5"/>
          </a:solidFill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import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numpy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as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np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import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pandas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as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pd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D81B60"/>
                </a:solidFill>
                <a:effectLst/>
                <a:uFillTx/>
                <a:latin typeface="Roboto Mono"/>
              </a:rPr>
              <a:t># Definindo os dados da tabela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dados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{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    'id_aluno'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: [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1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2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3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4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5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6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7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8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9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10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],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    'horas_estudo'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: [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2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3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5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6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8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9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1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4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7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10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],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    'status_real'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: [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0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0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0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1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1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1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0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0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1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, 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1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}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df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pd.DataFrame(dados)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D81B60"/>
                </a:solidFill>
                <a:effectLst/>
                <a:uFillTx/>
                <a:latin typeface="Roboto Mono"/>
              </a:rPr>
              <a:t># Parâmetros do modelo obtidos (w e b)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w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 1.19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b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= -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6.52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008000"/>
                </a:solidFill>
                <a:effectLst/>
                <a:uFillTx/>
                <a:latin typeface="Roboto Mono"/>
              </a:rPr>
              <a:t># Continua</a:t>
            </a:r>
            <a:r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Roboto Mono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CaixaDeTexto 23"/>
          <p:cNvSpPr/>
          <p:nvPr/>
        </p:nvSpPr>
        <p:spPr>
          <a:xfrm>
            <a:off x="5477760" y="1128960"/>
            <a:ext cx="6599520" cy="53820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008000"/>
                </a:solidFill>
                <a:effectLst/>
                <a:uFillTx/>
                <a:latin typeface="Roboto Mono"/>
              </a:rPr>
              <a:t># Continuação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D81B60"/>
                </a:solidFill>
                <a:effectLst/>
                <a:uFillTx/>
                <a:latin typeface="Roboto Mono"/>
              </a:rPr>
              <a:t># 1. Calculando o valor de z: z = w * X_1 + b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df[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'valor_z'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(w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*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df[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'horas_estudo'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])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+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b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D81B60"/>
                </a:solidFill>
                <a:effectLst/>
                <a:uFillTx/>
                <a:latin typeface="Roboto Mono"/>
              </a:rPr>
              <a:t># 2. Calculando a Probabilidade via Função Sigmoide: P(y=1) = 1 / (1 + e^-z)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df[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'probabilidade'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 1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 /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(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1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 +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np.exp(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-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df[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'valor_z'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]))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D81B60"/>
                </a:solidFill>
                <a:effectLst/>
                <a:uFillTx/>
                <a:latin typeface="Roboto Mono"/>
              </a:rPr>
              <a:t># 3. Formatando a probabilidade para exibição em porcentagem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df[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'probabilidade_pct'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(df[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'probabilidade'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*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 100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).round(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1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).astype(str)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+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 '%'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D81B60"/>
                </a:solidFill>
                <a:effectLst/>
                <a:uFillTx/>
                <a:latin typeface="Roboto Mono"/>
              </a:rPr>
              <a:t># Exibindo o resultado formatado de forma limpa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tabela_resultado 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 pd.DataFrame({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    'ID do Aluno'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: df[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'id_aluno'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],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    'Horas de Estudo (X1)'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: df[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'horas_estudo'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],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    'Status Real (y)'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: df[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'status_real'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],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    'Valor de z'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: df[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'valor_z'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].round(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2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),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    'Probabilidade Calculada'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: df[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'probabilidade_pct'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],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    'Probabilidade (Decimal)'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: df[</a:t>
            </a:r>
            <a:r>
              <a:rPr lang="pt-BR" sz="1200" b="0" u="none" strike="noStrike">
                <a:solidFill>
                  <a:srgbClr val="388E3C"/>
                </a:solidFill>
                <a:effectLst/>
                <a:uFillTx/>
                <a:latin typeface="Roboto Mono"/>
              </a:rPr>
              <a:t>'probabilidade'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].round(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3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})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print(tabela_resultado.to_string(</a:t>
            </a:r>
            <a:r>
              <a:rPr lang="pt-BR" sz="1200" b="0" u="none" strike="noStrike">
                <a:solidFill>
                  <a:srgbClr val="0097A7"/>
                </a:solidFill>
                <a:effectLst/>
                <a:uFillTx/>
                <a:latin typeface="Roboto Mono"/>
              </a:rPr>
              <a:t>index</a:t>
            </a:r>
            <a:r>
              <a:rPr lang="pt-BR" sz="1200" b="0" u="none" strike="noStrike">
                <a:solidFill>
                  <a:srgbClr val="3F51B5"/>
                </a:solidFill>
                <a:effectLst/>
                <a:uFillTx/>
                <a:latin typeface="Roboto Mono"/>
              </a:rPr>
              <a:t>=</a:t>
            </a:r>
            <a:r>
              <a:rPr lang="pt-BR" sz="1200" b="0" u="none" strike="noStrike">
                <a:solidFill>
                  <a:srgbClr val="C53929"/>
                </a:solidFill>
                <a:effectLst/>
                <a:uFillTx/>
                <a:latin typeface="Roboto Mono"/>
              </a:rPr>
              <a:t>False</a:t>
            </a:r>
            <a:r>
              <a:rPr lang="pt-BR" sz="1200" b="0" u="none" strike="noStrike">
                <a:solidFill>
                  <a:srgbClr val="37474F"/>
                </a:solidFill>
                <a:effectLst/>
                <a:uFillTx/>
                <a:latin typeface="Roboto Mono"/>
              </a:rPr>
              <a:t>))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"/>
          <p:cNvSpPr/>
          <p:nvPr/>
        </p:nvSpPr>
        <p:spPr>
          <a:xfrm>
            <a:off x="475560" y="1154880"/>
            <a:ext cx="408672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Implementação em Python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 40"/>
          <p:cNvSpPr/>
          <p:nvPr/>
        </p:nvSpPr>
        <p:spPr>
          <a:xfrm>
            <a:off x="1787400" y="2701800"/>
            <a:ext cx="7842600" cy="12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Agrupamento com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0B1F3A"/>
                </a:solidFill>
                <a:effectLst/>
                <a:uFillTx/>
                <a:latin typeface="Aptos Display"/>
                <a:ea typeface="Aptos Display"/>
              </a:rPr>
              <a:t>K-NN</a:t>
            </a:r>
            <a:endParaRPr lang="pt-BR" sz="7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42"/>
          <p:cNvSpPr/>
          <p:nvPr/>
        </p:nvSpPr>
        <p:spPr>
          <a:xfrm>
            <a:off x="475560" y="6546960"/>
            <a:ext cx="7772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UNIP • GTI – Oferta 2026 - Gestão e Análise de Dados</a:t>
            </a:r>
            <a:endParaRPr lang="pt-B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43"/>
          <p:cNvSpPr/>
          <p:nvPr/>
        </p:nvSpPr>
        <p:spPr>
          <a:xfrm>
            <a:off x="11448360" y="6519600"/>
            <a:ext cx="228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67085"/>
                </a:solidFill>
                <a:effectLst/>
                <a:uFillTx/>
                <a:latin typeface="Aptos"/>
              </a:rPr>
              <a:t>10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E2876329B5D3B4FBA1D26A8667C2633" ma:contentTypeVersion="14" ma:contentTypeDescription="Crie um novo documento." ma:contentTypeScope="" ma:versionID="c18e529f75eeba5e3380f7426394bcf9">
  <xsd:schema xmlns:xsd="http://www.w3.org/2001/XMLSchema" xmlns:xs="http://www.w3.org/2001/XMLSchema" xmlns:p="http://schemas.microsoft.com/office/2006/metadata/properties" xmlns:ns3="1ea3c9c0-e698-4ea3-9529-a2c71b2c9eef" xmlns:ns4="38d922ee-4e44-47a7-a878-a22d9e8094bc" targetNamespace="http://schemas.microsoft.com/office/2006/metadata/properties" ma:root="true" ma:fieldsID="6a86d318e1343c5a9145aa5d09437703" ns3:_="" ns4:_="">
    <xsd:import namespace="1ea3c9c0-e698-4ea3-9529-a2c71b2c9eef"/>
    <xsd:import namespace="38d922ee-4e44-47a7-a878-a22d9e8094b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3c9c0-e698-4ea3-9529-a2c71b2c9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922ee-4e44-47a7-a878-a22d9e8094b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a3c9c0-e698-4ea3-9529-a2c71b2c9ee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2158D8-4C33-4132-A61E-E0532140A8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3c9c0-e698-4ea3-9529-a2c71b2c9eef"/>
    <ds:schemaRef ds:uri="38d922ee-4e44-47a7-a878-a22d9e8094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1E0874-EAAB-4A60-8F28-27A437EC07BB}">
  <ds:schemaRefs>
    <ds:schemaRef ds:uri="http://schemas.microsoft.com/office/2006/metadata/properties"/>
    <ds:schemaRef ds:uri="http://schemas.microsoft.com/office/infopath/2007/PartnerControls"/>
    <ds:schemaRef ds:uri="1ea3c9c0-e698-4ea3-9529-a2c71b2c9eef"/>
  </ds:schemaRefs>
</ds:datastoreItem>
</file>

<file path=customXml/itemProps3.xml><?xml version="1.0" encoding="utf-8"?>
<ds:datastoreItem xmlns:ds="http://schemas.openxmlformats.org/officeDocument/2006/customXml" ds:itemID="{ED4652CD-F36D-4B45-A152-BCD8A2661B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666</TotalTime>
  <Application>LibreOffice/26.2.4.2$Windows_X86_64 LibreOffice_project/0229ac93fcf0d7cbc6376066c6f35021cef002dc</Application>
  <AppVersion>15.0000</AppVersion>
  <Words>3116</Words>
  <Paragraphs>704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2026-08-22T16:19:43Z</dcterms:created>
  <dc:creator>OpenAI</dc:creator>
  <dc:description/>
  <dc:language>pt-BR</dc:language>
  <cp:lastModifiedBy/>
  <dcterms:modified xsi:type="dcterms:W3CDTF">2026-08-26T15:09:22Z</dcterms:modified>
  <cp:revision>24</cp:revision>
  <dc:subject>Organização e Preparação de Dados; Regressão Logística e KNN</dc:subject>
  <dc:title>Aula 04 - Organização e Preparação de Dados; Regressão Logística e KNN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0x0101002E2876329B5D3B4FBA1D26A8667C2633</vt:lpwstr>
  </property>
  <property fmtid="{D5CDD505-2E9C-101B-9397-08002B2CF9AE}" pid="3" name="Notes">
    <vt:i4>25</vt:i4>
  </property>
  <property fmtid="{D5CDD505-2E9C-101B-9397-08002B2CF9AE}" pid="4" name="PresentationFormat">
    <vt:lpwstr>Widescreen</vt:lpwstr>
  </property>
  <property fmtid="{D5CDD505-2E9C-101B-9397-08002B2CF9AE}" pid="5" name="Slides">
    <vt:i4>25</vt:i4>
  </property>
</Properties>
</file>