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650" r:id="rId5"/>
  </p:sldMasterIdLst>
  <p:notesMasterIdLst>
    <p:notesMasterId r:id="rId31"/>
  </p:notesMasterIdLst>
  <p:sldIdLst>
    <p:sldId id="273" r:id="rId6"/>
    <p:sldId id="274" r:id="rId7"/>
    <p:sldId id="266" r:id="rId8"/>
    <p:sldId id="256" r:id="rId9"/>
    <p:sldId id="275" r:id="rId10"/>
    <p:sldId id="276" r:id="rId11"/>
    <p:sldId id="281" r:id="rId12"/>
    <p:sldId id="277" r:id="rId13"/>
    <p:sldId id="278" r:id="rId14"/>
    <p:sldId id="257" r:id="rId15"/>
    <p:sldId id="258" r:id="rId16"/>
    <p:sldId id="261" r:id="rId17"/>
    <p:sldId id="262" r:id="rId18"/>
    <p:sldId id="280" r:id="rId19"/>
    <p:sldId id="279" r:id="rId20"/>
    <p:sldId id="267" r:id="rId21"/>
    <p:sldId id="282" r:id="rId22"/>
    <p:sldId id="283" r:id="rId23"/>
    <p:sldId id="268" r:id="rId24"/>
    <p:sldId id="284" r:id="rId25"/>
    <p:sldId id="285" r:id="rId26"/>
    <p:sldId id="289" r:id="rId27"/>
    <p:sldId id="286" r:id="rId28"/>
    <p:sldId id="287" r:id="rId29"/>
    <p:sldId id="288" r:id="rId3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A33C"/>
    <a:srgbClr val="8B0000"/>
    <a:srgbClr val="008000"/>
    <a:srgbClr val="F5F5F5"/>
    <a:srgbClr val="B90000"/>
    <a:srgbClr val="006C00"/>
    <a:srgbClr val="FFB6B6"/>
    <a:srgbClr val="339966"/>
    <a:srgbClr val="FF7C8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10"/>
  </p:normalViewPr>
  <p:slideViewPr>
    <p:cSldViewPr snapToGrid="0" snapToObjects="1">
      <p:cViewPr varScale="1">
        <p:scale>
          <a:sx n="112" d="100"/>
          <a:sy n="112" d="100"/>
        </p:scale>
        <p:origin x="90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" Type="http://schemas.openxmlformats.org/officeDocument/2006/relationships/customXml" Target="../customXml/item3.xml"/><Relationship Id="rId21" Type="http://schemas.openxmlformats.org/officeDocument/2006/relationships/slide" Target="slides/slide16.xml"/><Relationship Id="rId34" Type="http://schemas.openxmlformats.org/officeDocument/2006/relationships/theme" Target="theme/theme1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29" Type="http://schemas.openxmlformats.org/officeDocument/2006/relationships/slide" Target="slides/slide24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presProps" Target="presProps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tableStyles" Target="tableStyles.xml"/><Relationship Id="rId8" Type="http://schemas.openxmlformats.org/officeDocument/2006/relationships/slide" Target="slides/slide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556629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1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3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6F0D617-58B0-48D7-90B7-0ABD06AE6839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DejaVu Sans"/>
                <a:cs typeface="DejaVu San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DejaVu Sans"/>
              <a:cs typeface="DejaVu Sans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1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6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CF82339-5E22-4774-A41C-D5077A7CFDFF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DejaVu Sans"/>
                <a:cs typeface="DejaVu San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DejaVu Sans"/>
              <a:cs typeface="DejaVu Sans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4834A3-0D05-5EDC-B610-F00E9FFDC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1BC1DE-D2EE-98CF-E1E7-700DB0DC62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B2AD98-D497-213D-337C-A50DE48554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A16D8E-91C5-2FF6-D681-5633224DC03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72917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60CC94-4415-64F9-50CF-6B422CED2A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DFF5DF-D8AA-8BC0-4EC9-6E74E07399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5735EB-F7D1-17AD-D3FF-D12D4A1C49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02654C-3BB9-CF1C-4D74-B12666E564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007102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9C544B-85F6-7469-9719-7D089BDEEB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7EB4CE-5CC6-1C5A-B6F3-244B97E6E1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1C7E26-334F-AF12-791D-56468FA54C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E68C4D-7834-B2C8-8613-7DBBB25DC8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626998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87425-A340-7889-990C-A0AC8B423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1AAD0E-FB32-433F-10B1-E58995BB38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ADB8BF-5AE5-A3ED-0F0A-4145B7C2EB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F36AF0-0A4A-9B81-9988-2552C6F5DD1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831392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43FDE0-34AF-0572-8F54-B3523425BD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80FF88-2007-E97B-F0F2-2336E6298B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ADD795-29E9-E331-A26C-48240B2F9A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9453D6-D89F-E6E1-D267-97B89BFF90F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591319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7B3903-530F-8A9D-486A-4B9F71647F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3AF3CD-FD3F-B7D2-9217-2FED216991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74C4EB8-10A3-BB52-1F9B-C6C12E9315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97665F-6352-026C-CE50-DFDF1DFAAD5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741521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CE63ED-837B-FFE9-F604-DAB1F32CFB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71F947-BCF4-BB1A-BAF3-7F97A1E351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9A75CD-7E35-3D73-C283-81B3DFC674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A3ADD6-BFDF-065E-D6AF-C5D6C0C3898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06560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5DC0AB-AAB9-4BBB-ED10-522BF23B9C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330E12-A785-53DD-1F80-D2AA129961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A96C80-89A9-7DCC-1FA2-98204E9879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171EE4-F05A-0B5A-9CD4-30E3BCF758E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50444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42E0BB-5B6E-ED96-1E40-5ACE7120C1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E393AB-9CAA-C988-0671-5DFE8EF2B1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DFE9A8-2E75-1780-07FD-CBB88B5022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A0946A-786F-4F65-95C6-65B9A5759CA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052493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FE1238-ADCB-F60F-F8CF-26CC44A9EF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28D953-E850-40F2-5A20-D39C8115B3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3F7036-D372-F52B-EFA0-2E10342CE3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50E3EA-147C-D088-FFA0-48AD9E8D41B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564181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12CF8F-7E26-35E4-F31B-991319C67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C7A8F9-8BEF-61FA-D067-2F5CD51DEB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0C1C6F-E915-A900-F2EA-8F0152749B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4B4232-E054-BC45-FAEE-0FF5C89866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32782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D4BFBE-3307-0D3F-8703-1A649542F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5DFB51-C4CA-4CA7-37B4-0D6AABCAC4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0A759A-32AF-D08D-5C56-9C3B26D5EA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C62D1E-315F-8D46-5A5C-42FD59D44C6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984420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3A8CB3-96A9-230A-B4DF-A385A84CD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08627B-2377-A7C7-5529-7538DACB8D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A5C71C-BA58-724A-1FE9-9CE15B3AAC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44B811-9A7B-AABA-34FD-5AA01094EE1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891301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4A4061-A8E1-C7A4-AAC4-93F79E843D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AF5910-C313-BA3A-372F-BE477BB218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64A91B-E97A-6EB5-6C24-10EF5BD851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3F2686-0982-A488-2615-2D9624BA821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460852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B000BA-AF31-5D64-1984-DA05D380A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32A07F-300D-E97C-BA61-F98E0D066E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49461D-9C09-213F-9776-F849960721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9B53B0-915F-A5DF-6B05-65141177504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13784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35219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>
              <a:buNone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 formato do texto do título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 formato de texto dos tópicos</a:t>
            </a: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2.º nível de tópicos</a:t>
            </a: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3.º nível de tópicos</a:t>
            </a: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4.º nível de tópicos</a:t>
            </a: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5.º nível de tópicos</a:t>
            </a: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6.º nível de tópicos</a:t>
            </a: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7.º nível de tópicos</a:t>
            </a:r>
          </a:p>
        </p:txBody>
      </p:sp>
    </p:spTree>
    <p:extLst>
      <p:ext uri="{BB962C8B-B14F-4D97-AF65-F5344CB8AC3E}">
        <p14:creationId xmlns:p14="http://schemas.microsoft.com/office/powerpoint/2010/main" val="16230705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2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3.png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5.png"/><Relationship Id="rId4" Type="http://schemas.openxmlformats.org/officeDocument/2006/relationships/image" Target="../media/image2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4"/>
          <p:cNvSpPr/>
          <p:nvPr/>
        </p:nvSpPr>
        <p:spPr>
          <a:xfrm>
            <a:off x="702360" y="712800"/>
            <a:ext cx="9301332" cy="202873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/>
                <a:ea typeface="Aptos Display"/>
                <a:cs typeface="+mn-cs"/>
              </a:rPr>
              <a:t>Aula 04 – </a:t>
            </a:r>
            <a:r>
              <a:rPr kumimoji="0" lang="en-US" sz="44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/>
                <a:ea typeface="Aptos Display"/>
                <a:cs typeface="+mn-cs"/>
              </a:rPr>
              <a:t>Organização</a:t>
            </a: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/>
                <a:ea typeface="Aptos Display"/>
                <a:cs typeface="+mn-cs"/>
              </a:rPr>
              <a:t> e </a:t>
            </a:r>
            <a:r>
              <a:rPr kumimoji="0" lang="en-US" sz="44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/>
                <a:ea typeface="Aptos Display"/>
                <a:cs typeface="+mn-cs"/>
              </a:rPr>
              <a:t>Preparação</a:t>
            </a: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/>
                <a:ea typeface="Aptos Display"/>
                <a:cs typeface="+mn-cs"/>
              </a:rPr>
              <a:t> de dados, </a:t>
            </a:r>
            <a:r>
              <a:rPr kumimoji="0" lang="en-US" sz="44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/>
                <a:ea typeface="Aptos Display"/>
                <a:cs typeface="+mn-cs"/>
              </a:rPr>
              <a:t>Regressão</a:t>
            </a: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/>
                <a:ea typeface="Aptos Display"/>
                <a:cs typeface="+mn-cs"/>
              </a:rPr>
              <a:t> </a:t>
            </a:r>
            <a:r>
              <a:rPr kumimoji="0" lang="en-US" sz="44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/>
                <a:ea typeface="Aptos Display"/>
                <a:cs typeface="+mn-cs"/>
              </a:rPr>
              <a:t>Logística</a:t>
            </a: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/>
                <a:ea typeface="Aptos Display"/>
                <a:cs typeface="+mn-cs"/>
              </a:rPr>
              <a:t> e </a:t>
            </a:r>
            <a:r>
              <a:rPr kumimoji="0" lang="en-US" sz="44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/>
                <a:ea typeface="Aptos Display"/>
                <a:cs typeface="+mn-cs"/>
              </a:rPr>
              <a:t>Agrupamentos</a:t>
            </a: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/>
                <a:ea typeface="Aptos Display"/>
                <a:cs typeface="+mn-cs"/>
              </a:rPr>
              <a:t> com KNN</a:t>
            </a:r>
            <a:endParaRPr kumimoji="0" lang="pt-BR" sz="44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" name="Text 5"/>
          <p:cNvSpPr/>
          <p:nvPr/>
        </p:nvSpPr>
        <p:spPr>
          <a:xfrm>
            <a:off x="701280" y="2814972"/>
            <a:ext cx="2432689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D7EAFE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Professor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D7EAFE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Miguél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D7EAFE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Suares</a:t>
            </a:r>
            <a:endParaRPr kumimoji="0" lang="pt-BR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Shape 6"/>
              <p:cNvSpPr/>
              <p:nvPr/>
            </p:nvSpPr>
            <p:spPr>
              <a:xfrm>
                <a:off x="6942166" y="2559846"/>
                <a:ext cx="4220307" cy="949262"/>
              </a:xfrm>
              <a:prstGeom prst="roundRect">
                <a:avLst>
                  <a:gd name="adj" fmla="val 9412"/>
                </a:avLst>
              </a:prstGeom>
              <a:solidFill>
                <a:srgbClr val="132F55"/>
              </a:solidFill>
              <a:ln w="15240">
                <a:solidFill>
                  <a:srgbClr val="4DA3FF"/>
                </a:solidFill>
                <a:round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pPr lvl="0"/>
                <a14:m>
                  <m:oMathPara xmlns:m="http://schemas.openxmlformats.org/officeDocument/2006/math">
                    <m:oMath>
                      <m:r>
                        <m:rPr>
                          <m:nor/>
                        </m:rPr>
                        <a:rPr lang="en-US" sz="2400" i="0" dirty="0">
                          <a:solidFill>
                            <a:srgbClr val="FFFFFF"/>
                          </a:solidFill>
                          <a:latin typeface="Cambria Math"/>
                          <a:ea typeface="Cambria Math"/>
                        </a:rPr>
                        <m:t>ŷ</m:t>
                      </m:r>
                      <m:r>
                        <a:rPr kumimoji="0" lang="pt-BR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pt-BR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pt-BR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pt-BR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1+</m:t>
                          </m:r>
                          <m:sSup>
                            <m:sSupPr>
                              <m:ctrlPr>
                                <a:rPr kumimoji="0" lang="pt-BR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FFFF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pt-BR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FFFF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𝑒</m:t>
                              </m:r>
                            </m:e>
                            <m:sup>
                              <m:r>
                                <a:rPr kumimoji="0" lang="pt-BR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FFFF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−</m:t>
                              </m:r>
                              <m:d>
                                <m:dPr>
                                  <m:ctrlPr>
                                    <a:rPr kumimoji="0" lang="pt-BR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rgbClr val="FFFFFF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kumimoji="0" lang="pt-BR" sz="24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srgbClr val="FFFFFF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pt-BR" sz="24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srgbClr val="FFFFFF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𝛽</m:t>
                                      </m:r>
                                    </m:e>
                                    <m:sub>
                                      <m:r>
                                        <a:rPr kumimoji="0" lang="pt-BR" sz="24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srgbClr val="FFFFFF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0</m:t>
                                      </m:r>
                                    </m:sub>
                                  </m:sSub>
                                  <m:r>
                                    <a:rPr kumimoji="0" lang="pt-BR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rgbClr val="FFFFFF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kumimoji="0" lang="pt-BR" sz="24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srgbClr val="FFFFFF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pt-BR" sz="24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srgbClr val="FFFFFF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𝛽</m:t>
                                      </m:r>
                                    </m:e>
                                    <m:sub>
                                      <m:r>
                                        <a:rPr kumimoji="0" lang="pt-BR" sz="24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srgbClr val="FFFFFF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1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kumimoji="0" lang="pt-BR" sz="24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srgbClr val="FFFFFF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pt-BR" sz="24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srgbClr val="FFFFFF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kumimoji="0" lang="pt-BR" sz="24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srgbClr val="FFFFFF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kumimoji="0" lang="pt-BR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rgbClr val="FFFFFF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+…+</m:t>
                                  </m:r>
                                  <m:sSub>
                                    <m:sSubPr>
                                      <m:ctrlPr>
                                        <a:rPr kumimoji="0" lang="pt-BR" sz="24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srgbClr val="FFFFFF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pt-BR" sz="24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srgbClr val="FFFFFF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𝛽</m:t>
                                      </m:r>
                                    </m:e>
                                    <m:sub>
                                      <m:r>
                                        <a:rPr kumimoji="0" lang="pt-BR" sz="24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srgbClr val="FFFFFF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kumimoji="0" lang="pt-BR" sz="24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srgbClr val="FFFFFF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pt-BR" sz="24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srgbClr val="FFFFFF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kumimoji="0" lang="pt-BR" sz="24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srgbClr val="FFFFFF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𝑛</m:t>
                                      </m:r>
                                    </m:sub>
                                  </m:sSub>
                                </m:e>
                              </m:d>
                            </m:sup>
                          </m:sSup>
                        </m:den>
                      </m:f>
                    </m:oMath>
                  </m:oMathPara>
                </a14:m>
                <a:endParaRPr kumimoji="0" lang="pt-BR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3" name="Shap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2166" y="2559846"/>
                <a:ext cx="4220307" cy="949262"/>
              </a:xfrm>
              <a:prstGeom prst="roundRect">
                <a:avLst>
                  <a:gd name="adj" fmla="val 9412"/>
                </a:avLst>
              </a:prstGeom>
              <a:blipFill>
                <a:blip r:embed="rId3"/>
                <a:stretch>
                  <a:fillRect/>
                </a:stretch>
              </a:blipFill>
              <a:ln w="15240">
                <a:solidFill>
                  <a:srgbClr val="4DA3FF"/>
                </a:solidFill>
                <a:round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 7"/>
          <p:cNvSpPr/>
          <p:nvPr/>
        </p:nvSpPr>
        <p:spPr>
          <a:xfrm>
            <a:off x="7551732" y="2632926"/>
            <a:ext cx="3017160" cy="63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lvl="0" algn="ctr">
              <a:tabLst>
                <a:tab pos="0" algn="l"/>
              </a:tabLst>
            </a:pPr>
            <a:endParaRPr kumimoji="0" lang="pt-BR" sz="2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5" name="Shape 8"/>
          <p:cNvSpPr/>
          <p:nvPr/>
        </p:nvSpPr>
        <p:spPr>
          <a:xfrm>
            <a:off x="537698" y="4189320"/>
            <a:ext cx="1188360" cy="456840"/>
          </a:xfrm>
          <a:prstGeom prst="roundRect">
            <a:avLst>
              <a:gd name="adj" fmla="val 16000"/>
            </a:avLst>
          </a:prstGeom>
          <a:solidFill>
            <a:srgbClr val="EAF4FF"/>
          </a:solidFill>
          <a:ln w="15240">
            <a:solidFill>
              <a:srgbClr val="EAF4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6" name="Text 9"/>
          <p:cNvSpPr/>
          <p:nvPr/>
        </p:nvSpPr>
        <p:spPr>
          <a:xfrm>
            <a:off x="610778" y="4262400"/>
            <a:ext cx="104220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0" normalizeH="0" baseline="0" noProof="0" dirty="0" err="1">
                <a:ln>
                  <a:noFill/>
                </a:ln>
                <a:solidFill>
                  <a:srgbClr val="0B1F3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População</a:t>
            </a:r>
            <a:endParaRPr kumimoji="0" lang="pt-BR" sz="14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7" name="Shape 10"/>
          <p:cNvSpPr/>
          <p:nvPr/>
        </p:nvSpPr>
        <p:spPr>
          <a:xfrm>
            <a:off x="1785428" y="4417920"/>
            <a:ext cx="230945" cy="0"/>
          </a:xfrm>
          <a:prstGeom prst="line">
            <a:avLst/>
          </a:prstGeom>
          <a:ln w="19050">
            <a:solidFill>
              <a:srgbClr val="FFFFFF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8" name="Shape 11"/>
          <p:cNvSpPr/>
          <p:nvPr/>
        </p:nvSpPr>
        <p:spPr>
          <a:xfrm>
            <a:off x="2094523" y="4188186"/>
            <a:ext cx="836246" cy="456840"/>
          </a:xfrm>
          <a:prstGeom prst="roundRect">
            <a:avLst>
              <a:gd name="adj" fmla="val 16000"/>
            </a:avLst>
          </a:prstGeom>
          <a:solidFill>
            <a:srgbClr val="EAF4FF"/>
          </a:solidFill>
          <a:ln w="15240">
            <a:solidFill>
              <a:srgbClr val="EAF4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9" name="Text 12"/>
          <p:cNvSpPr/>
          <p:nvPr/>
        </p:nvSpPr>
        <p:spPr>
          <a:xfrm>
            <a:off x="2163133" y="4261266"/>
            <a:ext cx="699045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0" normalizeH="0" baseline="0" noProof="0" dirty="0" err="1">
                <a:ln>
                  <a:noFill/>
                </a:ln>
                <a:solidFill>
                  <a:srgbClr val="0B1F3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Estrato</a:t>
            </a:r>
            <a:endParaRPr kumimoji="0" lang="pt-BR" sz="14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0" name="Shape 13"/>
          <p:cNvSpPr/>
          <p:nvPr/>
        </p:nvSpPr>
        <p:spPr>
          <a:xfrm>
            <a:off x="2977281" y="4418091"/>
            <a:ext cx="231727" cy="0"/>
          </a:xfrm>
          <a:prstGeom prst="line">
            <a:avLst/>
          </a:prstGeom>
          <a:ln w="19050">
            <a:solidFill>
              <a:srgbClr val="FFFFFF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1" name="Shape 14"/>
          <p:cNvSpPr/>
          <p:nvPr/>
        </p:nvSpPr>
        <p:spPr>
          <a:xfrm>
            <a:off x="3272913" y="4189320"/>
            <a:ext cx="836247" cy="456840"/>
          </a:xfrm>
          <a:prstGeom prst="roundRect">
            <a:avLst>
              <a:gd name="adj" fmla="val 16000"/>
            </a:avLst>
          </a:prstGeom>
          <a:solidFill>
            <a:srgbClr val="EAF4FF"/>
          </a:solidFill>
          <a:ln w="15240">
            <a:solidFill>
              <a:srgbClr val="EAF4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2" name="Text 15"/>
          <p:cNvSpPr/>
          <p:nvPr/>
        </p:nvSpPr>
        <p:spPr>
          <a:xfrm>
            <a:off x="3272913" y="4262400"/>
            <a:ext cx="792715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 fontScale="92500"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0" normalizeH="0" baseline="0" noProof="0" dirty="0" err="1">
                <a:ln>
                  <a:noFill/>
                </a:ln>
                <a:solidFill>
                  <a:srgbClr val="0B1F3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Proporção</a:t>
            </a:r>
            <a:endParaRPr kumimoji="0" lang="pt-BR" sz="14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3" name="Text 16"/>
          <p:cNvSpPr/>
          <p:nvPr/>
        </p:nvSpPr>
        <p:spPr>
          <a:xfrm>
            <a:off x="749880" y="5039280"/>
            <a:ext cx="30171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BBD7F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UNIP • GTI – Oferta 2026 - Gestão e Análise de Dados</a:t>
            </a:r>
            <a:endParaRPr kumimoji="0" lang="pt-BR" sz="10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4" name="Retângulo 18"/>
          <p:cNvSpPr/>
          <p:nvPr/>
        </p:nvSpPr>
        <p:spPr>
          <a:xfrm>
            <a:off x="0" y="0"/>
            <a:ext cx="12191760" cy="712800"/>
          </a:xfrm>
          <a:prstGeom prst="rect">
            <a:avLst/>
          </a:prstGeom>
          <a:solidFill>
            <a:srgbClr val="4472C4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5" name="Retângulo 20"/>
          <p:cNvSpPr/>
          <p:nvPr/>
        </p:nvSpPr>
        <p:spPr>
          <a:xfrm>
            <a:off x="-360" y="5852160"/>
            <a:ext cx="12191760" cy="712800"/>
          </a:xfrm>
          <a:prstGeom prst="rect">
            <a:avLst/>
          </a:prstGeom>
          <a:solidFill>
            <a:srgbClr val="4472C4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26" name="Imagem 25"/>
          <p:cNvPicPr/>
          <p:nvPr/>
        </p:nvPicPr>
        <p:blipFill>
          <a:blip r:embed="rId4"/>
          <a:stretch/>
        </p:blipFill>
        <p:spPr>
          <a:xfrm>
            <a:off x="4116960" y="0"/>
            <a:ext cx="3533400" cy="712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Shape 14">
            <a:extLst>
              <a:ext uri="{FF2B5EF4-FFF2-40B4-BE49-F238E27FC236}">
                <a16:creationId xmlns:a16="http://schemas.microsoft.com/office/drawing/2014/main" id="{159F20C1-21F3-15F3-A4A0-2329B7122AF5}"/>
              </a:ext>
            </a:extLst>
          </p:cNvPr>
          <p:cNvSpPr/>
          <p:nvPr/>
        </p:nvSpPr>
        <p:spPr>
          <a:xfrm>
            <a:off x="4477624" y="4189671"/>
            <a:ext cx="836247" cy="456840"/>
          </a:xfrm>
          <a:prstGeom prst="roundRect">
            <a:avLst>
              <a:gd name="adj" fmla="val 16000"/>
            </a:avLst>
          </a:prstGeom>
          <a:solidFill>
            <a:srgbClr val="EAF4FF"/>
          </a:solidFill>
          <a:ln w="15240">
            <a:solidFill>
              <a:srgbClr val="EAF4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" name="Text 15">
            <a:extLst>
              <a:ext uri="{FF2B5EF4-FFF2-40B4-BE49-F238E27FC236}">
                <a16:creationId xmlns:a16="http://schemas.microsoft.com/office/drawing/2014/main" id="{5D8A1016-2A44-C929-ACBF-2BC36BEE5495}"/>
              </a:ext>
            </a:extLst>
          </p:cNvPr>
          <p:cNvSpPr/>
          <p:nvPr/>
        </p:nvSpPr>
        <p:spPr>
          <a:xfrm>
            <a:off x="4477624" y="4262751"/>
            <a:ext cx="792715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0" normalizeH="0" baseline="0" noProof="0" dirty="0" err="1">
                <a:ln>
                  <a:noFill/>
                </a:ln>
                <a:solidFill>
                  <a:srgbClr val="0B1F3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Amostra</a:t>
            </a:r>
            <a:endParaRPr kumimoji="0" lang="pt-BR" sz="14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" name="Shape 13">
            <a:extLst>
              <a:ext uri="{FF2B5EF4-FFF2-40B4-BE49-F238E27FC236}">
                <a16:creationId xmlns:a16="http://schemas.microsoft.com/office/drawing/2014/main" id="{DF024D0B-016C-16B0-E6D1-2D6EBEC0E55D}"/>
              </a:ext>
            </a:extLst>
          </p:cNvPr>
          <p:cNvSpPr/>
          <p:nvPr/>
        </p:nvSpPr>
        <p:spPr>
          <a:xfrm>
            <a:off x="4184754" y="4414191"/>
            <a:ext cx="231727" cy="0"/>
          </a:xfrm>
          <a:prstGeom prst="line">
            <a:avLst/>
          </a:prstGeom>
          <a:ln w="19050">
            <a:solidFill>
              <a:srgbClr val="FFFFFF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97C5F692-AE42-214C-C3EF-AE62453E5EBA}"/>
              </a:ext>
            </a:extLst>
          </p:cNvPr>
          <p:cNvSpPr/>
          <p:nvPr/>
        </p:nvSpPr>
        <p:spPr>
          <a:xfrm>
            <a:off x="6942166" y="4090769"/>
            <a:ext cx="4220306" cy="776880"/>
          </a:xfrm>
          <a:prstGeom prst="roundRect">
            <a:avLst>
              <a:gd name="adj" fmla="val 9412"/>
            </a:avLst>
          </a:prstGeom>
          <a:solidFill>
            <a:srgbClr val="132F55"/>
          </a:solidFill>
          <a:ln w="15240">
            <a:solidFill>
              <a:srgbClr val="4DA3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 7">
                <a:extLst>
                  <a:ext uri="{FF2B5EF4-FFF2-40B4-BE49-F238E27FC236}">
                    <a16:creationId xmlns:a16="http://schemas.microsoft.com/office/drawing/2014/main" id="{34AAE648-BB1E-45E7-F484-AE16157E41D8}"/>
                  </a:ext>
                </a:extLst>
              </p:cNvPr>
              <p:cNvSpPr/>
              <p:nvPr/>
            </p:nvSpPr>
            <p:spPr>
              <a:xfrm>
                <a:off x="7021585" y="4163849"/>
                <a:ext cx="4043494" cy="63072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360" tIns="360" rIns="360" bIns="360" anchor="ctr">
                <a:normAutofit fontScale="77500" lnSpcReduction="20000"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>
                    <a:tab pos="0" algn="l"/>
                  </a:tabLst>
                  <a:defRPr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kumimoji="0" lang="pt-BR" sz="2800" b="0" i="0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/>
                              <a:cs typeface="+mn-cs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kumimoji="0" lang="pt-BR" sz="2800" b="0" i="0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/>
                              <a:cs typeface="+mn-cs"/>
                            </a:rPr>
                            <m:t>cateto</m:t>
                          </m:r>
                        </m:e>
                        <m:sup>
                          <m:r>
                            <a:rPr kumimoji="0" lang="en-US" sz="2800" b="0" i="0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/>
                              <a:cs typeface="+mn-cs"/>
                            </a:rPr>
                            <m:t>2</m:t>
                          </m:r>
                        </m:sup>
                      </m:sSup>
                      <m:r>
                        <a:rPr kumimoji="0" lang="en-US" sz="2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/>
                          <a:cs typeface="+mn-cs"/>
                        </a:rPr>
                        <m:t>+</m:t>
                      </m:r>
                      <m:sSup>
                        <m:sSupPr>
                          <m:ctrlPr>
                            <a:rPr kumimoji="0" lang="pt-BR" sz="2800" b="0" i="0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/>
                              <a:cs typeface="+mn-cs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kumimoji="0" lang="pt-BR" sz="2800" b="0" i="0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/>
                              <a:cs typeface="+mn-cs"/>
                            </a:rPr>
                            <m:t>cateto</m:t>
                          </m:r>
                        </m:e>
                        <m:sup>
                          <m:r>
                            <a:rPr kumimoji="0" lang="en-US" sz="2800" b="0" i="0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/>
                              <a:cs typeface="+mn-cs"/>
                            </a:rPr>
                            <m:t>2</m:t>
                          </m:r>
                        </m:sup>
                      </m:sSup>
                      <m:r>
                        <a:rPr kumimoji="0" lang="en-US" sz="2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/>
                          <a:cs typeface="+mn-cs"/>
                        </a:rPr>
                        <m:t>=</m:t>
                      </m:r>
                      <m:sSup>
                        <m:sSupPr>
                          <m:ctrlPr>
                            <a:rPr kumimoji="0" lang="pt-BR" sz="2800" b="0" i="0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/>
                              <a:cs typeface="+mn-cs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kumimoji="0" lang="pt-BR" sz="2800" b="0" i="0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/>
                              <a:cs typeface="+mn-cs"/>
                            </a:rPr>
                            <m:t>hipotenusa</m:t>
                          </m:r>
                        </m:e>
                        <m:sup>
                          <m:r>
                            <a:rPr kumimoji="0" lang="en-US" sz="2800" b="0" i="0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/>
                              <a:cs typeface="+mn-cs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kumimoji="0" lang="pt-BR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28" name="Text 7">
                <a:extLst>
                  <a:ext uri="{FF2B5EF4-FFF2-40B4-BE49-F238E27FC236}">
                    <a16:creationId xmlns:a16="http://schemas.microsoft.com/office/drawing/2014/main" id="{34AAE648-BB1E-45E7-F484-AE16157E41D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1585" y="4163849"/>
                <a:ext cx="4043494" cy="630720"/>
              </a:xfrm>
              <a:prstGeom prst="rect">
                <a:avLst/>
              </a:prstGeom>
              <a:blipFill>
                <a:blip r:embed="rId5"/>
                <a:stretch>
                  <a:fillRect l="-1207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Shape 0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" name="Shape 1"/>
          <p:cNvSpPr/>
          <p:nvPr/>
        </p:nvSpPr>
        <p:spPr>
          <a:xfrm>
            <a:off x="0" y="0"/>
            <a:ext cx="164160" cy="68576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" name="Text 3"/>
          <p:cNvSpPr/>
          <p:nvPr/>
        </p:nvSpPr>
        <p:spPr>
          <a:xfrm>
            <a:off x="502920" y="511920"/>
            <a:ext cx="10789560" cy="47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2800" b="1" i="0" u="none" strike="noStrike" kern="1200" cap="none" spc="0" normalizeH="0" baseline="0" noProof="0">
                <a:ln>
                  <a:noFill/>
                </a:ln>
                <a:solidFill>
                  <a:srgbClr val="0B1F3A"/>
                </a:solidFill>
                <a:effectLst/>
                <a:uLnTx/>
                <a:uFillTx/>
                <a:latin typeface="Aptos Display"/>
                <a:ea typeface="Aptos Display"/>
                <a:cs typeface="+mn-cs"/>
              </a:rPr>
              <a:t>AGENDA</a:t>
            </a:r>
            <a:endParaRPr kumimoji="0" lang="pt-BR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" name="Text 4"/>
          <p:cNvSpPr/>
          <p:nvPr/>
        </p:nvSpPr>
        <p:spPr>
          <a:xfrm>
            <a:off x="502920" y="6446520"/>
            <a:ext cx="32000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Regressão Linear</a:t>
            </a:r>
            <a:endParaRPr kumimoji="0" lang="pt-BR" sz="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" name="Text 5"/>
          <p:cNvSpPr/>
          <p:nvPr/>
        </p:nvSpPr>
        <p:spPr>
          <a:xfrm>
            <a:off x="11247120" y="641916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01</a:t>
            </a:r>
            <a:endParaRPr kumimoji="0" lang="pt-BR" sz="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" name="Shape 6"/>
          <p:cNvSpPr/>
          <p:nvPr/>
        </p:nvSpPr>
        <p:spPr>
          <a:xfrm>
            <a:off x="731520" y="1234440"/>
            <a:ext cx="456840" cy="456840"/>
          </a:xfrm>
          <a:prstGeom prst="ellipse">
            <a:avLst/>
          </a:prstGeom>
          <a:solidFill>
            <a:srgbClr val="2563EB"/>
          </a:solidFill>
          <a:ln w="1524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" name="Text 7"/>
          <p:cNvSpPr/>
          <p:nvPr/>
        </p:nvSpPr>
        <p:spPr>
          <a:xfrm>
            <a:off x="731520" y="1344240"/>
            <a:ext cx="45684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1</a:t>
            </a: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" name="Text 8"/>
          <p:cNvSpPr/>
          <p:nvPr/>
        </p:nvSpPr>
        <p:spPr>
          <a:xfrm>
            <a:off x="1371600" y="1024200"/>
            <a:ext cx="6712560" cy="667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t">
            <a:normAutofit/>
          </a:bodyPr>
          <a:lstStyle/>
          <a:p>
            <a:pPr>
              <a:tabLst>
                <a:tab pos="0" algn="l"/>
              </a:tabLst>
              <a:defRPr/>
            </a:pPr>
            <a:r>
              <a:rPr lang="en-US" b="1" dirty="0" err="1">
                <a:solidFill>
                  <a:srgbClr val="0B1F3A"/>
                </a:solidFill>
              </a:rPr>
              <a:t>Organização</a:t>
            </a:r>
            <a:r>
              <a:rPr lang="en-US" b="1" dirty="0">
                <a:solidFill>
                  <a:srgbClr val="0B1F3A"/>
                </a:solidFill>
              </a:rPr>
              <a:t> e </a:t>
            </a:r>
            <a:r>
              <a:rPr lang="en-US" b="1" dirty="0" err="1">
                <a:solidFill>
                  <a:srgbClr val="0B1F3A"/>
                </a:solidFill>
              </a:rPr>
              <a:t>Preparação</a:t>
            </a:r>
            <a:r>
              <a:rPr lang="en-US" b="1" dirty="0">
                <a:solidFill>
                  <a:srgbClr val="0B1F3A"/>
                </a:solidFill>
              </a:rPr>
              <a:t> de Dados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:</a:t>
            </a:r>
          </a:p>
          <a:p>
            <a:pPr>
              <a:tabLst>
                <a:tab pos="0" algn="l"/>
              </a:tabLst>
              <a:defRPr/>
            </a:pP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População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, </a:t>
            </a: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Estrato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, </a:t>
            </a: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proporção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e </a:t>
            </a: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Amostra</a:t>
            </a:r>
            <a:endParaRPr kumimoji="0" lang="pt-BR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" name="Shape 9"/>
          <p:cNvSpPr/>
          <p:nvPr/>
        </p:nvSpPr>
        <p:spPr>
          <a:xfrm>
            <a:off x="731520" y="2057400"/>
            <a:ext cx="456840" cy="456840"/>
          </a:xfrm>
          <a:prstGeom prst="ellipse">
            <a:avLst/>
          </a:prstGeom>
          <a:solidFill>
            <a:srgbClr val="2563EB"/>
          </a:solidFill>
          <a:ln w="1524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6" name="Text 10"/>
          <p:cNvSpPr/>
          <p:nvPr/>
        </p:nvSpPr>
        <p:spPr>
          <a:xfrm>
            <a:off x="731520" y="2167200"/>
            <a:ext cx="45684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2</a:t>
            </a: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7" name="Text 11"/>
          <p:cNvSpPr/>
          <p:nvPr/>
        </p:nvSpPr>
        <p:spPr>
          <a:xfrm>
            <a:off x="1371600" y="2148840"/>
            <a:ext cx="68576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Amostra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</a:t>
            </a: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Balanceada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e </a:t>
            </a: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Amostra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</a:t>
            </a: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não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</a:t>
            </a: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Balanceada</a:t>
            </a:r>
            <a:endParaRPr kumimoji="0" lang="pt-BR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8" name="Shape 12"/>
          <p:cNvSpPr/>
          <p:nvPr/>
        </p:nvSpPr>
        <p:spPr>
          <a:xfrm>
            <a:off x="731520" y="2880360"/>
            <a:ext cx="456840" cy="45684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9" name="Text 13"/>
          <p:cNvSpPr/>
          <p:nvPr/>
        </p:nvSpPr>
        <p:spPr>
          <a:xfrm>
            <a:off x="731520" y="2990160"/>
            <a:ext cx="45684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2563EB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3</a:t>
            </a: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0" name="Text 14"/>
          <p:cNvSpPr/>
          <p:nvPr/>
        </p:nvSpPr>
        <p:spPr>
          <a:xfrm>
            <a:off x="1371600" y="2971800"/>
            <a:ext cx="68576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Regressão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</a:t>
            </a: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Logística</a:t>
            </a:r>
            <a:endParaRPr kumimoji="0" lang="pt-BR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1" name="Shape 15"/>
          <p:cNvSpPr/>
          <p:nvPr/>
        </p:nvSpPr>
        <p:spPr>
          <a:xfrm>
            <a:off x="731520" y="3703320"/>
            <a:ext cx="456840" cy="45684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2" name="Text 16"/>
          <p:cNvSpPr/>
          <p:nvPr/>
        </p:nvSpPr>
        <p:spPr>
          <a:xfrm>
            <a:off x="731520" y="3813120"/>
            <a:ext cx="45684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2563EB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4</a:t>
            </a: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3" name="Text 17"/>
          <p:cNvSpPr/>
          <p:nvPr/>
        </p:nvSpPr>
        <p:spPr>
          <a:xfrm>
            <a:off x="1371600" y="3794760"/>
            <a:ext cx="68576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KNN</a:t>
            </a:r>
            <a:endParaRPr kumimoji="0" lang="pt-BR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4" name="Shape 18"/>
          <p:cNvSpPr/>
          <p:nvPr/>
        </p:nvSpPr>
        <p:spPr>
          <a:xfrm>
            <a:off x="731520" y="4526280"/>
            <a:ext cx="456840" cy="45684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5" name="Text 19"/>
          <p:cNvSpPr/>
          <p:nvPr/>
        </p:nvSpPr>
        <p:spPr>
          <a:xfrm>
            <a:off x="731520" y="4636080"/>
            <a:ext cx="45684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2563EB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5</a:t>
            </a: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6" name="Text 20"/>
          <p:cNvSpPr/>
          <p:nvPr/>
        </p:nvSpPr>
        <p:spPr>
          <a:xfrm>
            <a:off x="1371600" y="4617720"/>
            <a:ext cx="68576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Exemplos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</a:t>
            </a: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em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Python</a:t>
            </a:r>
            <a:endParaRPr kumimoji="0" lang="pt-BR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7" name="Shape 21"/>
          <p:cNvSpPr/>
          <p:nvPr/>
        </p:nvSpPr>
        <p:spPr>
          <a:xfrm>
            <a:off x="8412480" y="1280160"/>
            <a:ext cx="2651400" cy="776880"/>
          </a:xfrm>
          <a:prstGeom prst="roundRect">
            <a:avLst>
              <a:gd name="adj" fmla="val 9412"/>
            </a:avLst>
          </a:prstGeom>
          <a:solidFill>
            <a:srgbClr val="EAF4FF"/>
          </a:solidFill>
          <a:ln w="1524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8" name="Text 22"/>
          <p:cNvSpPr/>
          <p:nvPr/>
        </p:nvSpPr>
        <p:spPr>
          <a:xfrm>
            <a:off x="8485560" y="1353240"/>
            <a:ext cx="2505240" cy="63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0B1F3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Parte 0</a:t>
            </a:r>
            <a:endParaRPr kumimoji="0" lang="pt-BR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0B1F3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Funções → Modelos</a:t>
            </a:r>
            <a:endParaRPr kumimoji="0" lang="pt-BR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9" name="Shape 23"/>
          <p:cNvSpPr/>
          <p:nvPr/>
        </p:nvSpPr>
        <p:spPr>
          <a:xfrm>
            <a:off x="8412480" y="2377440"/>
            <a:ext cx="2651400" cy="77688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0" name="Text 24"/>
          <p:cNvSpPr/>
          <p:nvPr/>
        </p:nvSpPr>
        <p:spPr>
          <a:xfrm>
            <a:off x="8485560" y="2450520"/>
            <a:ext cx="2505240" cy="63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0B1F3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Parte I</a:t>
            </a:r>
            <a:endParaRPr kumimoji="0" lang="pt-BR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0B1F3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Problema de regressão</a:t>
            </a:r>
            <a:endParaRPr kumimoji="0" lang="pt-BR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1" name="Shape 25"/>
          <p:cNvSpPr/>
          <p:nvPr/>
        </p:nvSpPr>
        <p:spPr>
          <a:xfrm>
            <a:off x="8412480" y="3474720"/>
            <a:ext cx="2651400" cy="77688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2" name="Text 26"/>
          <p:cNvSpPr/>
          <p:nvPr/>
        </p:nvSpPr>
        <p:spPr>
          <a:xfrm>
            <a:off x="8485560" y="3547800"/>
            <a:ext cx="2505240" cy="63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0B1F3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Parte II</a:t>
            </a:r>
            <a:endParaRPr kumimoji="0" lang="pt-BR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0B1F3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Modelo, erro e otimização</a:t>
            </a:r>
            <a:endParaRPr kumimoji="0" lang="pt-BR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3" name="Shape 27"/>
          <p:cNvSpPr/>
          <p:nvPr/>
        </p:nvSpPr>
        <p:spPr>
          <a:xfrm>
            <a:off x="8412480" y="4572000"/>
            <a:ext cx="2651400" cy="77688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4" name="Text 28"/>
          <p:cNvSpPr/>
          <p:nvPr/>
        </p:nvSpPr>
        <p:spPr>
          <a:xfrm>
            <a:off x="8485560" y="4645080"/>
            <a:ext cx="2505240" cy="63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0B1F3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Parte III</a:t>
            </a:r>
            <a:endParaRPr kumimoji="0" lang="pt-BR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0B1F3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Python e exercício</a:t>
            </a:r>
            <a:endParaRPr kumimoji="0" lang="pt-BR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640710" y="1820411"/>
            <a:ext cx="10921878" cy="21234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POPULAÇÃO, ESTRATOS E AMOSTRAS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template_extract/ppt/media/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" y="457200"/>
            <a:ext cx="2423160" cy="51206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13990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F69BF"/>
                </a:solidFill>
              </a:rPr>
              <a:t>Aula 04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658368" y="1783080"/>
            <a:ext cx="5394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tabLst>
                <a:tab pos="0" algn="l"/>
              </a:tabLst>
              <a:defRPr/>
            </a:pPr>
            <a:r>
              <a:rPr lang="en-US" sz="2400" b="1" dirty="0" err="1">
                <a:solidFill>
                  <a:srgbClr val="0B1F3A"/>
                </a:solidFill>
              </a:rPr>
              <a:t>Organização</a:t>
            </a:r>
            <a:r>
              <a:rPr lang="en-US" sz="2400" b="1" dirty="0">
                <a:solidFill>
                  <a:srgbClr val="0B1F3A"/>
                </a:solidFill>
              </a:rPr>
              <a:t> e </a:t>
            </a:r>
            <a:r>
              <a:rPr lang="en-US" sz="2400" b="1" dirty="0" err="1">
                <a:solidFill>
                  <a:srgbClr val="0B1F3A"/>
                </a:solidFill>
              </a:rPr>
              <a:t>Preparação</a:t>
            </a:r>
            <a:r>
              <a:rPr lang="en-US" sz="2400" b="1" dirty="0">
                <a:solidFill>
                  <a:srgbClr val="0B1F3A"/>
                </a:solidFill>
              </a:rPr>
              <a:t> de Dados</a:t>
            </a:r>
            <a:r>
              <a:rPr lang="en-US" sz="2400" b="1" dirty="0">
                <a:solidFill>
                  <a:srgbClr val="111827"/>
                </a:solidFill>
              </a:rPr>
              <a:t>:</a:t>
            </a:r>
          </a:p>
          <a:p>
            <a:pPr>
              <a:tabLst>
                <a:tab pos="0" algn="l"/>
              </a:tabLst>
              <a:defRPr/>
            </a:pPr>
            <a:r>
              <a:rPr lang="en-US" sz="2400" b="1" dirty="0" err="1">
                <a:solidFill>
                  <a:srgbClr val="111827"/>
                </a:solidFill>
              </a:rPr>
              <a:t>População</a:t>
            </a:r>
            <a:r>
              <a:rPr lang="en-US" sz="2400" b="1" dirty="0">
                <a:solidFill>
                  <a:srgbClr val="111827"/>
                </a:solidFill>
              </a:rPr>
              <a:t>, </a:t>
            </a:r>
            <a:r>
              <a:rPr lang="en-US" sz="2400" b="1" dirty="0" err="1">
                <a:solidFill>
                  <a:srgbClr val="111827"/>
                </a:solidFill>
              </a:rPr>
              <a:t>Estrato</a:t>
            </a:r>
            <a:r>
              <a:rPr lang="en-US" sz="2400" b="1" dirty="0">
                <a:solidFill>
                  <a:srgbClr val="111827"/>
                </a:solidFill>
              </a:rPr>
              <a:t> , </a:t>
            </a:r>
            <a:r>
              <a:rPr lang="en-US" sz="2400" b="1" dirty="0" err="1">
                <a:solidFill>
                  <a:srgbClr val="111827"/>
                </a:solidFill>
              </a:rPr>
              <a:t>proporção</a:t>
            </a:r>
            <a:r>
              <a:rPr lang="en-US" sz="2400" b="1" dirty="0">
                <a:solidFill>
                  <a:srgbClr val="111827"/>
                </a:solidFill>
              </a:rPr>
              <a:t> e </a:t>
            </a:r>
            <a:r>
              <a:rPr lang="en-US" sz="2400" b="1" dirty="0" err="1">
                <a:solidFill>
                  <a:srgbClr val="111827"/>
                </a:solidFill>
              </a:rPr>
              <a:t>Amostra</a:t>
            </a:r>
            <a:endParaRPr lang="pt-BR" sz="24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Text 2"/>
          <p:cNvSpPr/>
          <p:nvPr/>
        </p:nvSpPr>
        <p:spPr>
          <a:xfrm>
            <a:off x="658368" y="2944368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 err="1">
                <a:solidFill>
                  <a:srgbClr val="111827"/>
                </a:solidFill>
              </a:rPr>
              <a:t>População</a:t>
            </a:r>
            <a:r>
              <a:rPr lang="en-US" sz="1700" dirty="0">
                <a:solidFill>
                  <a:srgbClr val="111827"/>
                </a:solidFill>
              </a:rPr>
              <a:t>: 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658368" y="574243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</a:rPr>
              <a:t>Professor Miguél Suares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58368" y="6053328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850" dirty="0"/>
          </a:p>
        </p:txBody>
      </p:sp>
      <p:pic>
        <p:nvPicPr>
          <p:cNvPr id="82" name="Imagem 81">
            <a:extLst>
              <a:ext uri="{FF2B5EF4-FFF2-40B4-BE49-F238E27FC236}">
                <a16:creationId xmlns:a16="http://schemas.microsoft.com/office/drawing/2014/main" id="{275D7EA1-71EC-BA8A-7429-38EFA39EC5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28140" y="226335"/>
            <a:ext cx="3624044" cy="2718033"/>
          </a:xfrm>
          <a:prstGeom prst="rect">
            <a:avLst/>
          </a:prstGeom>
        </p:spPr>
      </p:pic>
      <p:pic>
        <p:nvPicPr>
          <p:cNvPr id="84" name="Imagem 83">
            <a:extLst>
              <a:ext uri="{FF2B5EF4-FFF2-40B4-BE49-F238E27FC236}">
                <a16:creationId xmlns:a16="http://schemas.microsoft.com/office/drawing/2014/main" id="{C8FAE4D5-F2F0-3696-2B17-05819D2D68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28140" y="3067015"/>
            <a:ext cx="3624044" cy="2718033"/>
          </a:xfrm>
          <a:prstGeom prst="rect">
            <a:avLst/>
          </a:prstGeom>
        </p:spPr>
      </p:pic>
      <p:pic>
        <p:nvPicPr>
          <p:cNvPr id="86" name="Imagem 85">
            <a:extLst>
              <a:ext uri="{FF2B5EF4-FFF2-40B4-BE49-F238E27FC236}">
                <a16:creationId xmlns:a16="http://schemas.microsoft.com/office/drawing/2014/main" id="{77EE33E2-4C04-67EA-5341-5F6CCD187B2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20624" y="3068972"/>
            <a:ext cx="2716076" cy="271607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C0BCFA-6CBA-4049-0780-7E2C40578E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template_extract/ppt/media/image1.png">
            <a:extLst>
              <a:ext uri="{FF2B5EF4-FFF2-40B4-BE49-F238E27FC236}">
                <a16:creationId xmlns:a16="http://schemas.microsoft.com/office/drawing/2014/main" id="{E0AB3C18-0B8D-7422-588D-A722694C84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" y="457200"/>
            <a:ext cx="2423160" cy="512064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567D955F-E961-F834-D21B-36B8074E3554}"/>
              </a:ext>
            </a:extLst>
          </p:cNvPr>
          <p:cNvSpPr/>
          <p:nvPr/>
        </p:nvSpPr>
        <p:spPr>
          <a:xfrm>
            <a:off x="658368" y="13990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F69BF"/>
                </a:solidFill>
              </a:rPr>
              <a:t>Aula 04</a:t>
            </a:r>
            <a:endParaRPr lang="en-US" sz="1300" dirty="0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68B07564-AE0C-762C-7B31-911DE6C3CFD7}"/>
              </a:ext>
            </a:extLst>
          </p:cNvPr>
          <p:cNvSpPr/>
          <p:nvPr/>
        </p:nvSpPr>
        <p:spPr>
          <a:xfrm>
            <a:off x="658368" y="1783080"/>
            <a:ext cx="5394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tabLst>
                <a:tab pos="0" algn="l"/>
              </a:tabLst>
              <a:defRPr/>
            </a:pPr>
            <a:r>
              <a:rPr lang="en-US" sz="2400" b="1" dirty="0" err="1">
                <a:solidFill>
                  <a:srgbClr val="0B1F3A"/>
                </a:solidFill>
              </a:rPr>
              <a:t>Organização</a:t>
            </a:r>
            <a:r>
              <a:rPr lang="en-US" sz="2400" b="1" dirty="0">
                <a:solidFill>
                  <a:srgbClr val="0B1F3A"/>
                </a:solidFill>
              </a:rPr>
              <a:t> e </a:t>
            </a:r>
            <a:r>
              <a:rPr lang="en-US" sz="2400" b="1" dirty="0" err="1">
                <a:solidFill>
                  <a:srgbClr val="0B1F3A"/>
                </a:solidFill>
              </a:rPr>
              <a:t>Preparação</a:t>
            </a:r>
            <a:r>
              <a:rPr lang="en-US" sz="2400" b="1" dirty="0">
                <a:solidFill>
                  <a:srgbClr val="0B1F3A"/>
                </a:solidFill>
              </a:rPr>
              <a:t> de Dados</a:t>
            </a:r>
            <a:r>
              <a:rPr lang="en-US" sz="2400" b="1" dirty="0">
                <a:solidFill>
                  <a:srgbClr val="111827"/>
                </a:solidFill>
              </a:rPr>
              <a:t>:</a:t>
            </a:r>
          </a:p>
          <a:p>
            <a:pPr>
              <a:tabLst>
                <a:tab pos="0" algn="l"/>
              </a:tabLst>
              <a:defRPr/>
            </a:pPr>
            <a:r>
              <a:rPr lang="en-US" sz="2400" b="1" dirty="0" err="1">
                <a:solidFill>
                  <a:srgbClr val="111827"/>
                </a:solidFill>
              </a:rPr>
              <a:t>População</a:t>
            </a:r>
            <a:r>
              <a:rPr lang="en-US" sz="2400" b="1" dirty="0">
                <a:solidFill>
                  <a:srgbClr val="111827"/>
                </a:solidFill>
              </a:rPr>
              <a:t>, </a:t>
            </a:r>
            <a:r>
              <a:rPr lang="en-US" sz="2400" b="1" dirty="0" err="1">
                <a:solidFill>
                  <a:srgbClr val="111827"/>
                </a:solidFill>
              </a:rPr>
              <a:t>Estrato</a:t>
            </a:r>
            <a:r>
              <a:rPr lang="en-US" sz="2400" b="1" dirty="0">
                <a:solidFill>
                  <a:srgbClr val="111827"/>
                </a:solidFill>
              </a:rPr>
              <a:t> , </a:t>
            </a:r>
            <a:r>
              <a:rPr lang="en-US" sz="2400" b="1" dirty="0" err="1">
                <a:solidFill>
                  <a:srgbClr val="111827"/>
                </a:solidFill>
              </a:rPr>
              <a:t>proporção</a:t>
            </a:r>
            <a:r>
              <a:rPr lang="en-US" sz="2400" b="1" dirty="0">
                <a:solidFill>
                  <a:srgbClr val="111827"/>
                </a:solidFill>
              </a:rPr>
              <a:t> e </a:t>
            </a:r>
            <a:r>
              <a:rPr lang="en-US" sz="2400" b="1" dirty="0" err="1">
                <a:solidFill>
                  <a:srgbClr val="111827"/>
                </a:solidFill>
              </a:rPr>
              <a:t>Amostra</a:t>
            </a:r>
            <a:endParaRPr lang="pt-BR" sz="24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D16EFC8B-D8A7-326B-564A-9872743E71F6}"/>
              </a:ext>
            </a:extLst>
          </p:cNvPr>
          <p:cNvSpPr/>
          <p:nvPr/>
        </p:nvSpPr>
        <p:spPr>
          <a:xfrm>
            <a:off x="658368" y="2944368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 err="1">
                <a:solidFill>
                  <a:srgbClr val="111827"/>
                </a:solidFill>
              </a:rPr>
              <a:t>Estrato</a:t>
            </a:r>
            <a:r>
              <a:rPr lang="en-US" sz="1700" dirty="0">
                <a:solidFill>
                  <a:srgbClr val="111827"/>
                </a:solidFill>
              </a:rPr>
              <a:t>: </a:t>
            </a:r>
            <a:endParaRPr lang="en-US" sz="170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B15E194A-956B-A1D3-20AB-77E4FB40B4A4}"/>
              </a:ext>
            </a:extLst>
          </p:cNvPr>
          <p:cNvSpPr/>
          <p:nvPr/>
        </p:nvSpPr>
        <p:spPr>
          <a:xfrm>
            <a:off x="658368" y="574243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</a:rPr>
              <a:t>Professor Miguél Suares</a:t>
            </a:r>
            <a:endParaRPr lang="en-US" sz="11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4E2154F2-B365-B16F-7657-5A40300AFC9A}"/>
              </a:ext>
            </a:extLst>
          </p:cNvPr>
          <p:cNvSpPr/>
          <p:nvPr/>
        </p:nvSpPr>
        <p:spPr>
          <a:xfrm>
            <a:off x="658368" y="6053328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850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81A6E200-3807-B315-0B0C-794EB966D8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09108" y="545452"/>
            <a:ext cx="2811988" cy="2108991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1CB8E0B1-1A67-FA86-BD0A-3EC0A8024A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72025" y="3724984"/>
            <a:ext cx="2249925" cy="2249925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969A65EE-317A-D359-C12A-F238FD6E3E6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53328" y="3705550"/>
            <a:ext cx="2269359" cy="2269359"/>
          </a:xfrm>
          <a:prstGeom prst="rect">
            <a:avLst/>
          </a:prstGeom>
        </p:spPr>
      </p:pic>
      <p:sp>
        <p:nvSpPr>
          <p:cNvPr id="15" name="Text 2">
            <a:extLst>
              <a:ext uri="{FF2B5EF4-FFF2-40B4-BE49-F238E27FC236}">
                <a16:creationId xmlns:a16="http://schemas.microsoft.com/office/drawing/2014/main" id="{23E15EC4-C439-35CF-213F-748C2BE2CCAD}"/>
              </a:ext>
            </a:extLst>
          </p:cNvPr>
          <p:cNvSpPr/>
          <p:nvPr/>
        </p:nvSpPr>
        <p:spPr>
          <a:xfrm>
            <a:off x="8909108" y="23129"/>
            <a:ext cx="27708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 err="1">
                <a:solidFill>
                  <a:srgbClr val="111827"/>
                </a:solidFill>
              </a:rPr>
              <a:t>Estratificação</a:t>
            </a:r>
            <a:r>
              <a:rPr lang="en-US" sz="1700" dirty="0">
                <a:solidFill>
                  <a:srgbClr val="111827"/>
                </a:solidFill>
              </a:rPr>
              <a:t> </a:t>
            </a:r>
            <a:r>
              <a:rPr lang="en-US" sz="1700" dirty="0" err="1">
                <a:solidFill>
                  <a:srgbClr val="111827"/>
                </a:solidFill>
              </a:rPr>
              <a:t>por</a:t>
            </a:r>
            <a:r>
              <a:rPr lang="en-US" sz="1700" dirty="0">
                <a:solidFill>
                  <a:srgbClr val="111827"/>
                </a:solidFill>
              </a:rPr>
              <a:t> </a:t>
            </a:r>
          </a:p>
          <a:p>
            <a:pPr marL="0" indent="0" algn="ctr">
              <a:buNone/>
            </a:pPr>
            <a:r>
              <a:rPr lang="en-US" sz="1700" dirty="0" err="1">
                <a:solidFill>
                  <a:srgbClr val="111827"/>
                </a:solidFill>
              </a:rPr>
              <a:t>sexo</a:t>
            </a:r>
            <a:r>
              <a:rPr lang="en-US" sz="1700" dirty="0">
                <a:solidFill>
                  <a:srgbClr val="111827"/>
                </a:solidFill>
              </a:rPr>
              <a:t> da </a:t>
            </a:r>
            <a:r>
              <a:rPr lang="en-US" sz="1700" dirty="0" err="1">
                <a:solidFill>
                  <a:srgbClr val="111827"/>
                </a:solidFill>
              </a:rPr>
              <a:t>população</a:t>
            </a:r>
            <a:r>
              <a:rPr lang="en-US" sz="1700" dirty="0">
                <a:solidFill>
                  <a:srgbClr val="111827"/>
                </a:solidFill>
              </a:rPr>
              <a:t>:</a:t>
            </a:r>
            <a:endParaRPr lang="en-US" sz="1700" dirty="0"/>
          </a:p>
        </p:txBody>
      </p:sp>
      <p:sp>
        <p:nvSpPr>
          <p:cNvPr id="19" name="Text 2">
            <a:extLst>
              <a:ext uri="{FF2B5EF4-FFF2-40B4-BE49-F238E27FC236}">
                <a16:creationId xmlns:a16="http://schemas.microsoft.com/office/drawing/2014/main" id="{7FA3D225-D9F1-D0EB-8D53-35D39FEF7E06}"/>
              </a:ext>
            </a:extLst>
          </p:cNvPr>
          <p:cNvSpPr/>
          <p:nvPr/>
        </p:nvSpPr>
        <p:spPr>
          <a:xfrm>
            <a:off x="8972025" y="3267592"/>
            <a:ext cx="22499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 err="1">
                <a:solidFill>
                  <a:srgbClr val="111827"/>
                </a:solidFill>
              </a:rPr>
              <a:t>Estratificação</a:t>
            </a:r>
            <a:r>
              <a:rPr lang="en-US" sz="1700" dirty="0">
                <a:solidFill>
                  <a:srgbClr val="111827"/>
                </a:solidFill>
              </a:rPr>
              <a:t> </a:t>
            </a:r>
            <a:r>
              <a:rPr lang="en-US" sz="1700" dirty="0" err="1">
                <a:solidFill>
                  <a:srgbClr val="111827"/>
                </a:solidFill>
              </a:rPr>
              <a:t>por</a:t>
            </a:r>
            <a:r>
              <a:rPr lang="en-US" sz="1700" dirty="0">
                <a:solidFill>
                  <a:srgbClr val="111827"/>
                </a:solidFill>
              </a:rPr>
              <a:t> </a:t>
            </a:r>
          </a:p>
          <a:p>
            <a:pPr marL="0" indent="0" algn="ctr">
              <a:buNone/>
            </a:pPr>
            <a:r>
              <a:rPr lang="en-US" sz="1700" dirty="0" err="1">
                <a:solidFill>
                  <a:srgbClr val="111827"/>
                </a:solidFill>
              </a:rPr>
              <a:t>idade</a:t>
            </a:r>
            <a:r>
              <a:rPr lang="en-US" sz="1700" dirty="0">
                <a:solidFill>
                  <a:srgbClr val="111827"/>
                </a:solidFill>
              </a:rPr>
              <a:t> </a:t>
            </a:r>
            <a:r>
              <a:rPr lang="en-US" sz="1700" dirty="0" err="1">
                <a:solidFill>
                  <a:srgbClr val="111827"/>
                </a:solidFill>
              </a:rPr>
              <a:t>populacional</a:t>
            </a:r>
            <a:r>
              <a:rPr lang="en-US" sz="1700" dirty="0">
                <a:solidFill>
                  <a:srgbClr val="111827"/>
                </a:solidFill>
              </a:rPr>
              <a:t>: </a:t>
            </a:r>
            <a:endParaRPr lang="en-US" sz="1700" dirty="0"/>
          </a:p>
        </p:txBody>
      </p:sp>
      <p:sp>
        <p:nvSpPr>
          <p:cNvPr id="21" name="Text 2">
            <a:extLst>
              <a:ext uri="{FF2B5EF4-FFF2-40B4-BE49-F238E27FC236}">
                <a16:creationId xmlns:a16="http://schemas.microsoft.com/office/drawing/2014/main" id="{80602B2E-EDB6-AE80-3356-B6E875B166BF}"/>
              </a:ext>
            </a:extLst>
          </p:cNvPr>
          <p:cNvSpPr/>
          <p:nvPr/>
        </p:nvSpPr>
        <p:spPr>
          <a:xfrm>
            <a:off x="5633146" y="3180743"/>
            <a:ext cx="3205476" cy="4923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 err="1">
                <a:solidFill>
                  <a:srgbClr val="111827"/>
                </a:solidFill>
              </a:rPr>
              <a:t>Estratificação</a:t>
            </a:r>
            <a:r>
              <a:rPr lang="en-US" sz="1700" dirty="0">
                <a:solidFill>
                  <a:srgbClr val="111827"/>
                </a:solidFill>
              </a:rPr>
              <a:t> Cor </a:t>
            </a:r>
            <a:r>
              <a:rPr lang="en-US" sz="1700" dirty="0" err="1">
                <a:solidFill>
                  <a:srgbClr val="111827"/>
                </a:solidFill>
              </a:rPr>
              <a:t>ou</a:t>
            </a:r>
            <a:r>
              <a:rPr lang="en-US" sz="1700" dirty="0">
                <a:solidFill>
                  <a:srgbClr val="111827"/>
                </a:solidFill>
              </a:rPr>
              <a:t> </a:t>
            </a:r>
            <a:r>
              <a:rPr lang="en-US" sz="1700" dirty="0" err="1">
                <a:solidFill>
                  <a:srgbClr val="111827"/>
                </a:solidFill>
              </a:rPr>
              <a:t>Raça</a:t>
            </a:r>
            <a:r>
              <a:rPr lang="en-US" sz="1700" dirty="0">
                <a:solidFill>
                  <a:srgbClr val="111827"/>
                </a:solidFill>
              </a:rPr>
              <a:t> </a:t>
            </a:r>
          </a:p>
          <a:p>
            <a:pPr marL="0" indent="0" algn="ctr">
              <a:buNone/>
            </a:pPr>
            <a:r>
              <a:rPr lang="en-US" sz="1700" dirty="0">
                <a:solidFill>
                  <a:srgbClr val="111827"/>
                </a:solidFill>
              </a:rPr>
              <a:t>(IBGE CENSO DEMOGRÁFICO): </a:t>
            </a:r>
            <a:endParaRPr lang="en-US" sz="1700" dirty="0"/>
          </a:p>
        </p:txBody>
      </p:sp>
    </p:spTree>
    <p:extLst>
      <p:ext uri="{BB962C8B-B14F-4D97-AF65-F5344CB8AC3E}">
        <p14:creationId xmlns:p14="http://schemas.microsoft.com/office/powerpoint/2010/main" val="22261211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BFB95E-35D2-4F29-43DD-366610AE91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template_extract/ppt/media/image1.png">
            <a:extLst>
              <a:ext uri="{FF2B5EF4-FFF2-40B4-BE49-F238E27FC236}">
                <a16:creationId xmlns:a16="http://schemas.microsoft.com/office/drawing/2014/main" id="{DEE26815-3A9B-5742-A7F0-9ECB8AFCAB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" y="44367"/>
            <a:ext cx="2423160" cy="512064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E0B68325-FAEB-1F22-B22A-DE1CF41AB8C1}"/>
              </a:ext>
            </a:extLst>
          </p:cNvPr>
          <p:cNvSpPr/>
          <p:nvPr/>
        </p:nvSpPr>
        <p:spPr>
          <a:xfrm>
            <a:off x="360055" y="644282"/>
            <a:ext cx="3888465" cy="890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tabLst>
                <a:tab pos="0" algn="l"/>
              </a:tabLst>
              <a:defRPr/>
            </a:pPr>
            <a:r>
              <a:rPr lang="en-US" b="1" dirty="0" err="1">
                <a:solidFill>
                  <a:srgbClr val="0B1F3A"/>
                </a:solidFill>
              </a:rPr>
              <a:t>Organização</a:t>
            </a:r>
            <a:r>
              <a:rPr lang="en-US" b="1" dirty="0">
                <a:solidFill>
                  <a:srgbClr val="0B1F3A"/>
                </a:solidFill>
              </a:rPr>
              <a:t> e </a:t>
            </a:r>
            <a:r>
              <a:rPr lang="en-US" b="1" dirty="0" err="1">
                <a:solidFill>
                  <a:srgbClr val="0B1F3A"/>
                </a:solidFill>
              </a:rPr>
              <a:t>Preparação</a:t>
            </a:r>
            <a:r>
              <a:rPr lang="en-US" b="1" dirty="0">
                <a:solidFill>
                  <a:srgbClr val="0B1F3A"/>
                </a:solidFill>
              </a:rPr>
              <a:t> de Dados</a:t>
            </a:r>
            <a:r>
              <a:rPr lang="en-US" b="1" dirty="0">
                <a:solidFill>
                  <a:srgbClr val="111827"/>
                </a:solidFill>
              </a:rPr>
              <a:t>:</a:t>
            </a:r>
          </a:p>
          <a:p>
            <a:pPr>
              <a:tabLst>
                <a:tab pos="0" algn="l"/>
              </a:tabLst>
              <a:defRPr/>
            </a:pPr>
            <a:r>
              <a:rPr lang="en-US" b="1" dirty="0" err="1">
                <a:solidFill>
                  <a:srgbClr val="111827"/>
                </a:solidFill>
              </a:rPr>
              <a:t>População</a:t>
            </a:r>
            <a:r>
              <a:rPr lang="en-US" b="1" dirty="0">
                <a:solidFill>
                  <a:srgbClr val="111827"/>
                </a:solidFill>
              </a:rPr>
              <a:t>, </a:t>
            </a:r>
            <a:r>
              <a:rPr lang="en-US" b="1" dirty="0" err="1">
                <a:solidFill>
                  <a:srgbClr val="111827"/>
                </a:solidFill>
              </a:rPr>
              <a:t>Estrato</a:t>
            </a:r>
            <a:r>
              <a:rPr lang="en-US" b="1" dirty="0">
                <a:solidFill>
                  <a:srgbClr val="111827"/>
                </a:solidFill>
              </a:rPr>
              <a:t> , </a:t>
            </a:r>
            <a:r>
              <a:rPr lang="en-US" b="1" dirty="0" err="1">
                <a:solidFill>
                  <a:srgbClr val="111827"/>
                </a:solidFill>
              </a:rPr>
              <a:t>proporção</a:t>
            </a:r>
            <a:r>
              <a:rPr lang="en-US" b="1" dirty="0">
                <a:solidFill>
                  <a:srgbClr val="111827"/>
                </a:solidFill>
              </a:rPr>
              <a:t> e </a:t>
            </a:r>
            <a:r>
              <a:rPr lang="en-US" b="1" dirty="0" err="1">
                <a:solidFill>
                  <a:srgbClr val="111827"/>
                </a:solidFill>
              </a:rPr>
              <a:t>Amostra</a:t>
            </a:r>
            <a:endParaRPr lang="pt-BR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AC3E9A74-7A94-CD05-31C0-DD91AED976F3}"/>
              </a:ext>
            </a:extLst>
          </p:cNvPr>
          <p:cNvSpPr/>
          <p:nvPr/>
        </p:nvSpPr>
        <p:spPr>
          <a:xfrm>
            <a:off x="360055" y="1560061"/>
            <a:ext cx="2142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 err="1">
                <a:solidFill>
                  <a:srgbClr val="111827"/>
                </a:solidFill>
              </a:rPr>
              <a:t>Proporção</a:t>
            </a:r>
            <a:r>
              <a:rPr lang="en-US" sz="1700" dirty="0">
                <a:solidFill>
                  <a:srgbClr val="111827"/>
                </a:solidFill>
              </a:rPr>
              <a:t> do </a:t>
            </a:r>
            <a:r>
              <a:rPr lang="en-US" sz="1700" dirty="0" err="1">
                <a:solidFill>
                  <a:srgbClr val="111827"/>
                </a:solidFill>
              </a:rPr>
              <a:t>estrato</a:t>
            </a:r>
            <a:r>
              <a:rPr lang="en-US" sz="1700" dirty="0">
                <a:solidFill>
                  <a:srgbClr val="111827"/>
                </a:solidFill>
              </a:rPr>
              <a:t>: </a:t>
            </a:r>
            <a:endParaRPr lang="en-US" sz="170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D2CBBD45-CFB5-0F33-B2D5-D3AE302C1E19}"/>
              </a:ext>
            </a:extLst>
          </p:cNvPr>
          <p:cNvSpPr/>
          <p:nvPr/>
        </p:nvSpPr>
        <p:spPr>
          <a:xfrm>
            <a:off x="180195" y="62793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</a:rPr>
              <a:t>Professor Miguél Suares</a:t>
            </a:r>
            <a:endParaRPr lang="en-US" sz="11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ED2BD48F-9548-38B4-82EF-18557FDC5B92}"/>
              </a:ext>
            </a:extLst>
          </p:cNvPr>
          <p:cNvSpPr/>
          <p:nvPr/>
        </p:nvSpPr>
        <p:spPr>
          <a:xfrm>
            <a:off x="180195" y="6590224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850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070464FE-14EF-EC62-48D8-9554792E25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78224" y="478340"/>
            <a:ext cx="2811988" cy="2108991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8BE5B3A4-5C42-F322-4C62-236F929AA1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71171" y="3583698"/>
            <a:ext cx="2249925" cy="2249925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2D75614A-4B5F-06B1-879C-499FF88A05D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73378" y="2960977"/>
            <a:ext cx="2374085" cy="237408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ela 5">
                <a:extLst>
                  <a:ext uri="{FF2B5EF4-FFF2-40B4-BE49-F238E27FC236}">
                    <a16:creationId xmlns:a16="http://schemas.microsoft.com/office/drawing/2014/main" id="{72D40DAB-A688-E6B7-C096-8BAC040D520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83643613"/>
                  </p:ext>
                </p:extLst>
              </p:nvPr>
            </p:nvGraphicFramePr>
            <p:xfrm>
              <a:off x="5536733" y="468018"/>
              <a:ext cx="3741491" cy="1929950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906011">
                      <a:extLst>
                        <a:ext uri="{9D8B030D-6E8A-4147-A177-3AD203B41FA5}">
                          <a16:colId xmlns:a16="http://schemas.microsoft.com/office/drawing/2014/main" val="2623616122"/>
                        </a:ext>
                      </a:extLst>
                    </a:gridCol>
                    <a:gridCol w="906011">
                      <a:extLst>
                        <a:ext uri="{9D8B030D-6E8A-4147-A177-3AD203B41FA5}">
                          <a16:colId xmlns:a16="http://schemas.microsoft.com/office/drawing/2014/main" val="633702682"/>
                        </a:ext>
                      </a:extLst>
                    </a:gridCol>
                    <a:gridCol w="1929469">
                      <a:extLst>
                        <a:ext uri="{9D8B030D-6E8A-4147-A177-3AD203B41FA5}">
                          <a16:colId xmlns:a16="http://schemas.microsoft.com/office/drawing/2014/main" val="1457167182"/>
                        </a:ext>
                      </a:extLst>
                    </a:gridCol>
                  </a:tblGrid>
                  <a:tr h="601784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População no 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Proporção na população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20703876"/>
                      </a:ext>
                    </a:extLst>
                  </a:tr>
                  <a:tr h="359316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Masculino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dirty="0"/>
                            <a:t>8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num>
                                <m:den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18</m:t>
                                  </m:r>
                                </m:den>
                              </m:f>
                            </m:oMath>
                          </a14:m>
                          <a:r>
                            <a:rPr lang="pt-BR" dirty="0"/>
                            <a:t>   =&gt;  </a:t>
                          </a:r>
                          <a:r>
                            <a:rPr lang="pt-BR" b="1" dirty="0">
                              <a:solidFill>
                                <a:srgbClr val="FF0000"/>
                              </a:solidFill>
                            </a:rPr>
                            <a:t>44,44%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969474747"/>
                      </a:ext>
                    </a:extLst>
                  </a:tr>
                  <a:tr h="359316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Feminino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/>
                            <a:t>10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num>
                                <m:den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18</m:t>
                                  </m:r>
                                </m:den>
                              </m:f>
                            </m:oMath>
                          </a14:m>
                          <a:r>
                            <a:rPr lang="pt-BR" dirty="0"/>
                            <a:t>   =&gt;  </a:t>
                          </a:r>
                          <a:r>
                            <a:rPr lang="pt-BR" b="1" dirty="0">
                              <a:solidFill>
                                <a:srgbClr val="FF0000"/>
                              </a:solidFill>
                            </a:rPr>
                            <a:t>55,56%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62729573"/>
                      </a:ext>
                    </a:extLst>
                  </a:tr>
                  <a:tr h="359316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b="1" dirty="0"/>
                            <a:t>Total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18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100%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10301151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ela 5">
                <a:extLst>
                  <a:ext uri="{FF2B5EF4-FFF2-40B4-BE49-F238E27FC236}">
                    <a16:creationId xmlns:a16="http://schemas.microsoft.com/office/drawing/2014/main" id="{72D40DAB-A688-E6B7-C096-8BAC040D520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83643613"/>
                  </p:ext>
                </p:extLst>
              </p:nvPr>
            </p:nvGraphicFramePr>
            <p:xfrm>
              <a:off x="5536733" y="468018"/>
              <a:ext cx="3741491" cy="1929950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906011">
                      <a:extLst>
                        <a:ext uri="{9D8B030D-6E8A-4147-A177-3AD203B41FA5}">
                          <a16:colId xmlns:a16="http://schemas.microsoft.com/office/drawing/2014/main" val="2623616122"/>
                        </a:ext>
                      </a:extLst>
                    </a:gridCol>
                    <a:gridCol w="906011">
                      <a:extLst>
                        <a:ext uri="{9D8B030D-6E8A-4147-A177-3AD203B41FA5}">
                          <a16:colId xmlns:a16="http://schemas.microsoft.com/office/drawing/2014/main" val="633702682"/>
                        </a:ext>
                      </a:extLst>
                    </a:gridCol>
                    <a:gridCol w="1929469">
                      <a:extLst>
                        <a:ext uri="{9D8B030D-6E8A-4147-A177-3AD203B41FA5}">
                          <a16:colId xmlns:a16="http://schemas.microsoft.com/office/drawing/2014/main" val="1457167182"/>
                        </a:ext>
                      </a:extLst>
                    </a:gridCol>
                  </a:tblGrid>
                  <a:tr h="601784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População no 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Proporção na população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20703876"/>
                      </a:ext>
                    </a:extLst>
                  </a:tr>
                  <a:tr h="481203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Masculino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dirty="0"/>
                            <a:t>8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7"/>
                          <a:stretch>
                            <a:fillRect l="-94322" t="-126582" r="-631" b="-19746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69474747"/>
                      </a:ext>
                    </a:extLst>
                  </a:tr>
                  <a:tr h="481203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Feminino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/>
                            <a:t>10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7"/>
                          <a:stretch>
                            <a:fillRect l="-94322" t="-223750" r="-631" b="-95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62729573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b="1" dirty="0"/>
                            <a:t>Total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18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100%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10301151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0" name="Tabela 9">
                <a:extLst>
                  <a:ext uri="{FF2B5EF4-FFF2-40B4-BE49-F238E27FC236}">
                    <a16:creationId xmlns:a16="http://schemas.microsoft.com/office/drawing/2014/main" id="{F43D50B2-4074-331F-CFD9-D4F87361460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48713823"/>
                  </p:ext>
                </p:extLst>
              </p:nvPr>
            </p:nvGraphicFramePr>
            <p:xfrm>
              <a:off x="5981349" y="3564983"/>
              <a:ext cx="3489821" cy="3011987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780178">
                      <a:extLst>
                        <a:ext uri="{9D8B030D-6E8A-4147-A177-3AD203B41FA5}">
                          <a16:colId xmlns:a16="http://schemas.microsoft.com/office/drawing/2014/main" val="2226377696"/>
                        </a:ext>
                      </a:extLst>
                    </a:gridCol>
                    <a:gridCol w="897622">
                      <a:extLst>
                        <a:ext uri="{9D8B030D-6E8A-4147-A177-3AD203B41FA5}">
                          <a16:colId xmlns:a16="http://schemas.microsoft.com/office/drawing/2014/main" val="1515602878"/>
                        </a:ext>
                      </a:extLst>
                    </a:gridCol>
                    <a:gridCol w="1812021">
                      <a:extLst>
                        <a:ext uri="{9D8B030D-6E8A-4147-A177-3AD203B41FA5}">
                          <a16:colId xmlns:a16="http://schemas.microsoft.com/office/drawing/2014/main" val="2517524203"/>
                        </a:ext>
                      </a:extLst>
                    </a:gridCol>
                  </a:tblGrid>
                  <a:tr h="787202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População no 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Proporção na população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03216136"/>
                      </a:ext>
                    </a:extLst>
                  </a:tr>
                  <a:tr h="591652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pt-BR" sz="1200" dirty="0"/>
                            <a:t>Crianças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/>
                            <a:t>6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6</m:t>
                                  </m:r>
                                </m:num>
                                <m:den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16</m:t>
                                  </m:r>
                                </m:den>
                              </m:f>
                            </m:oMath>
                          </a14:m>
                          <a:r>
                            <a:rPr lang="pt-BR" dirty="0"/>
                            <a:t>    =&gt;   </a:t>
                          </a:r>
                          <a:r>
                            <a:rPr lang="pt-BR" b="1" dirty="0">
                              <a:solidFill>
                                <a:srgbClr val="FF0000"/>
                              </a:solidFill>
                            </a:rPr>
                            <a:t>37,50%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595441628"/>
                      </a:ext>
                    </a:extLst>
                  </a:tr>
                  <a:tr h="591652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pt-BR" sz="1200" dirty="0"/>
                            <a:t>Adultos jovens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dirty="0"/>
                            <a:t>8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num>
                                <m:den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16</m:t>
                                  </m:r>
                                </m:den>
                              </m:f>
                            </m:oMath>
                          </a14:m>
                          <a:r>
                            <a:rPr lang="pt-BR" dirty="0"/>
                            <a:t>   =&gt;   </a:t>
                          </a:r>
                          <a:r>
                            <a:rPr lang="pt-BR" b="1" dirty="0">
                              <a:solidFill>
                                <a:srgbClr val="FF0000"/>
                              </a:solidFill>
                            </a:rPr>
                            <a:t>50,00%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569240490"/>
                      </a:ext>
                    </a:extLst>
                  </a:tr>
                  <a:tr h="591652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pt-BR" sz="1200" dirty="0"/>
                            <a:t>Adultos idosos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/>
                            <a:t>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num>
                                <m:den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16</m:t>
                                  </m:r>
                                </m:den>
                              </m:f>
                            </m:oMath>
                          </a14:m>
                          <a:r>
                            <a:rPr lang="pt-BR" dirty="0"/>
                            <a:t>   =&gt;   </a:t>
                          </a:r>
                          <a:r>
                            <a:rPr lang="pt-BR" b="1" dirty="0">
                              <a:solidFill>
                                <a:srgbClr val="FF0000"/>
                              </a:solidFill>
                            </a:rPr>
                            <a:t>12,50%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29410062"/>
                      </a:ext>
                    </a:extLst>
                  </a:tr>
                  <a:tr h="449829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pt-BR" sz="1200" b="1" dirty="0"/>
                            <a:t>Total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16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100%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6911308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0" name="Tabela 9">
                <a:extLst>
                  <a:ext uri="{FF2B5EF4-FFF2-40B4-BE49-F238E27FC236}">
                    <a16:creationId xmlns:a16="http://schemas.microsoft.com/office/drawing/2014/main" id="{F43D50B2-4074-331F-CFD9-D4F87361460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48713823"/>
                  </p:ext>
                </p:extLst>
              </p:nvPr>
            </p:nvGraphicFramePr>
            <p:xfrm>
              <a:off x="5981349" y="3564983"/>
              <a:ext cx="3489821" cy="3011987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780178">
                      <a:extLst>
                        <a:ext uri="{9D8B030D-6E8A-4147-A177-3AD203B41FA5}">
                          <a16:colId xmlns:a16="http://schemas.microsoft.com/office/drawing/2014/main" val="2226377696"/>
                        </a:ext>
                      </a:extLst>
                    </a:gridCol>
                    <a:gridCol w="897622">
                      <a:extLst>
                        <a:ext uri="{9D8B030D-6E8A-4147-A177-3AD203B41FA5}">
                          <a16:colId xmlns:a16="http://schemas.microsoft.com/office/drawing/2014/main" val="1515602878"/>
                        </a:ext>
                      </a:extLst>
                    </a:gridCol>
                    <a:gridCol w="1812021">
                      <a:extLst>
                        <a:ext uri="{9D8B030D-6E8A-4147-A177-3AD203B41FA5}">
                          <a16:colId xmlns:a16="http://schemas.microsoft.com/office/drawing/2014/main" val="2517524203"/>
                        </a:ext>
                      </a:extLst>
                    </a:gridCol>
                  </a:tblGrid>
                  <a:tr h="787202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População no 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Proporção na população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03216136"/>
                      </a:ext>
                    </a:extLst>
                  </a:tr>
                  <a:tr h="591652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pt-BR" sz="1200" dirty="0"/>
                            <a:t>Crianças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/>
                            <a:t>6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8"/>
                          <a:stretch>
                            <a:fillRect l="-92617" t="-132653" r="-671" b="-28367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95441628"/>
                      </a:ext>
                    </a:extLst>
                  </a:tr>
                  <a:tr h="591652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pt-BR" sz="1200" dirty="0"/>
                            <a:t>Adultos jovens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dirty="0"/>
                            <a:t>8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8"/>
                          <a:stretch>
                            <a:fillRect l="-92617" t="-235052" r="-671" b="-18659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69240490"/>
                      </a:ext>
                    </a:extLst>
                  </a:tr>
                  <a:tr h="591652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pt-BR" sz="1200" dirty="0"/>
                            <a:t>Adultos idosos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/>
                            <a:t>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8"/>
                          <a:stretch>
                            <a:fillRect l="-92617" t="-335052" r="-671" b="-8659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9410062"/>
                      </a:ext>
                    </a:extLst>
                  </a:tr>
                  <a:tr h="449829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pt-BR" sz="1200" b="1" dirty="0"/>
                            <a:t>Total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16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100%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69113083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2" name="Tabela 11">
                <a:extLst>
                  <a:ext uri="{FF2B5EF4-FFF2-40B4-BE49-F238E27FC236}">
                    <a16:creationId xmlns:a16="http://schemas.microsoft.com/office/drawing/2014/main" id="{B023BCCD-3A3D-F3F7-622A-6BD16E87546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01467461"/>
                  </p:ext>
                </p:extLst>
              </p:nvPr>
            </p:nvGraphicFramePr>
            <p:xfrm>
              <a:off x="181538" y="2960977"/>
              <a:ext cx="3291840" cy="3230500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766418">
                      <a:extLst>
                        <a:ext uri="{9D8B030D-6E8A-4147-A177-3AD203B41FA5}">
                          <a16:colId xmlns:a16="http://schemas.microsoft.com/office/drawing/2014/main" val="2084369836"/>
                        </a:ext>
                      </a:extLst>
                    </a:gridCol>
                    <a:gridCol w="964734">
                      <a:extLst>
                        <a:ext uri="{9D8B030D-6E8A-4147-A177-3AD203B41FA5}">
                          <a16:colId xmlns:a16="http://schemas.microsoft.com/office/drawing/2014/main" val="2688386803"/>
                        </a:ext>
                      </a:extLst>
                    </a:gridCol>
                    <a:gridCol w="1560688">
                      <a:extLst>
                        <a:ext uri="{9D8B030D-6E8A-4147-A177-3AD203B41FA5}">
                          <a16:colId xmlns:a16="http://schemas.microsoft.com/office/drawing/2014/main" val="726722638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População no 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Proporção na população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4250087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dirty="0"/>
                            <a:t>Branca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dirty="0"/>
                            <a:t>5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</m:num>
                                <m:den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20</m:t>
                                  </m:r>
                                </m:den>
                              </m:f>
                            </m:oMath>
                          </a14:m>
                          <a:r>
                            <a:rPr lang="pt-BR" dirty="0"/>
                            <a:t> = </a:t>
                          </a:r>
                          <a:r>
                            <a:rPr lang="pt-BR" b="1" dirty="0">
                              <a:solidFill>
                                <a:srgbClr val="FF0000"/>
                              </a:solidFill>
                            </a:rPr>
                            <a:t>25,00%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17470346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dirty="0"/>
                            <a:t>Preta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dirty="0"/>
                            <a:t>4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num>
                                <m:den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20</m:t>
                                  </m:r>
                                </m:den>
                              </m:f>
                            </m:oMath>
                          </a14:m>
                          <a:r>
                            <a:rPr lang="pt-BR" dirty="0"/>
                            <a:t> = </a:t>
                          </a:r>
                          <a:r>
                            <a:rPr lang="pt-BR" b="1" dirty="0">
                              <a:solidFill>
                                <a:srgbClr val="FF0000"/>
                              </a:solidFill>
                            </a:rPr>
                            <a:t>20,00%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2240836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dirty="0"/>
                            <a:t>Parda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dirty="0"/>
                            <a:t>8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num>
                                <m:den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20</m:t>
                                  </m:r>
                                </m:den>
                              </m:f>
                            </m:oMath>
                          </a14:m>
                          <a:r>
                            <a:rPr lang="pt-BR" dirty="0"/>
                            <a:t> = </a:t>
                          </a:r>
                          <a:r>
                            <a:rPr lang="pt-BR" b="1" dirty="0">
                              <a:solidFill>
                                <a:srgbClr val="FF0000"/>
                              </a:solidFill>
                            </a:rPr>
                            <a:t>40,00%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89373157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dirty="0"/>
                            <a:t>Amarela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dirty="0"/>
                            <a:t>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num>
                                <m:den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20</m:t>
                                  </m:r>
                                </m:den>
                              </m:f>
                            </m:oMath>
                          </a14:m>
                          <a:r>
                            <a:rPr lang="pt-BR" dirty="0"/>
                            <a:t> = </a:t>
                          </a:r>
                          <a:r>
                            <a:rPr lang="pt-BR" b="1" dirty="0">
                              <a:solidFill>
                                <a:srgbClr val="FF0000"/>
                              </a:solidFill>
                            </a:rPr>
                            <a:t>10,00%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2450121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dirty="0"/>
                            <a:t>Indígena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dirty="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20</m:t>
                                  </m:r>
                                </m:den>
                              </m:f>
                            </m:oMath>
                          </a14:m>
                          <a:r>
                            <a:rPr lang="pt-BR" dirty="0"/>
                            <a:t> = </a:t>
                          </a:r>
                          <a:r>
                            <a:rPr lang="pt-BR" b="1" dirty="0">
                              <a:solidFill>
                                <a:srgbClr val="FF0000"/>
                              </a:solidFill>
                            </a:rPr>
                            <a:t>5,00%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902536933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b="1" dirty="0"/>
                            <a:t>Total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20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100%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9126905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2" name="Tabela 11">
                <a:extLst>
                  <a:ext uri="{FF2B5EF4-FFF2-40B4-BE49-F238E27FC236}">
                    <a16:creationId xmlns:a16="http://schemas.microsoft.com/office/drawing/2014/main" id="{B023BCCD-3A3D-F3F7-622A-6BD16E87546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01467461"/>
                  </p:ext>
                </p:extLst>
              </p:nvPr>
            </p:nvGraphicFramePr>
            <p:xfrm>
              <a:off x="181538" y="2960977"/>
              <a:ext cx="3291840" cy="3230500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766418">
                      <a:extLst>
                        <a:ext uri="{9D8B030D-6E8A-4147-A177-3AD203B41FA5}">
                          <a16:colId xmlns:a16="http://schemas.microsoft.com/office/drawing/2014/main" val="2084369836"/>
                        </a:ext>
                      </a:extLst>
                    </a:gridCol>
                    <a:gridCol w="964734">
                      <a:extLst>
                        <a:ext uri="{9D8B030D-6E8A-4147-A177-3AD203B41FA5}">
                          <a16:colId xmlns:a16="http://schemas.microsoft.com/office/drawing/2014/main" val="2688386803"/>
                        </a:ext>
                      </a:extLst>
                    </a:gridCol>
                    <a:gridCol w="1560688">
                      <a:extLst>
                        <a:ext uri="{9D8B030D-6E8A-4147-A177-3AD203B41FA5}">
                          <a16:colId xmlns:a16="http://schemas.microsoft.com/office/drawing/2014/main" val="726722638"/>
                        </a:ext>
                      </a:extLst>
                    </a:gridCol>
                  </a:tblGrid>
                  <a:tr h="45720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População no 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Proporção na população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4250087"/>
                      </a:ext>
                    </a:extLst>
                  </a:tr>
                  <a:tr h="48495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dirty="0"/>
                            <a:t>Branca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dirty="0"/>
                            <a:t>5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9"/>
                          <a:stretch>
                            <a:fillRect l="-111719" t="-95000" r="-781" b="-49125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17470346"/>
                      </a:ext>
                    </a:extLst>
                  </a:tr>
                  <a:tr h="479933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dirty="0"/>
                            <a:t>Preta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dirty="0"/>
                            <a:t>4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9"/>
                          <a:stretch>
                            <a:fillRect l="-111719" t="-197468" r="-781" b="-39746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240836"/>
                      </a:ext>
                    </a:extLst>
                  </a:tr>
                  <a:tr h="481076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dirty="0"/>
                            <a:t>Parda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dirty="0"/>
                            <a:t>8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9"/>
                          <a:stretch>
                            <a:fillRect l="-111719" t="-297468" r="-781" b="-29746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89373157"/>
                      </a:ext>
                    </a:extLst>
                  </a:tr>
                  <a:tr h="481076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dirty="0"/>
                            <a:t>Amarela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dirty="0"/>
                            <a:t>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9"/>
                          <a:stretch>
                            <a:fillRect l="-111719" t="-397468" r="-781" b="-19746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2450121"/>
                      </a:ext>
                    </a:extLst>
                  </a:tr>
                  <a:tr h="48050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dirty="0"/>
                            <a:t>Indígena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dirty="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9"/>
                          <a:stretch>
                            <a:fillRect l="-111719" t="-497468" r="-781" b="-9746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02536933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b="1" dirty="0"/>
                            <a:t>Total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20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100%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91269057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4" name="Retângulo 13">
            <a:extLst>
              <a:ext uri="{FF2B5EF4-FFF2-40B4-BE49-F238E27FC236}">
                <a16:creationId xmlns:a16="http://schemas.microsoft.com/office/drawing/2014/main" id="{1CC45CE6-4188-F736-A399-E2D9FB5CB3B0}"/>
              </a:ext>
            </a:extLst>
          </p:cNvPr>
          <p:cNvSpPr/>
          <p:nvPr/>
        </p:nvSpPr>
        <p:spPr>
          <a:xfrm>
            <a:off x="181538" y="2960977"/>
            <a:ext cx="5665925" cy="3230500"/>
          </a:xfrm>
          <a:prstGeom prst="rect">
            <a:avLst/>
          </a:prstGeom>
          <a:noFill/>
          <a:ln>
            <a:solidFill>
              <a:srgbClr val="0070C0"/>
            </a:solidFill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F2A78D4D-A91A-BEA5-2586-01C4BBE4430D}"/>
              </a:ext>
            </a:extLst>
          </p:cNvPr>
          <p:cNvSpPr/>
          <p:nvPr/>
        </p:nvSpPr>
        <p:spPr>
          <a:xfrm>
            <a:off x="5536733" y="468018"/>
            <a:ext cx="6553479" cy="2108991"/>
          </a:xfrm>
          <a:prstGeom prst="rect">
            <a:avLst/>
          </a:prstGeom>
          <a:noFill/>
          <a:ln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7B9CB8D3-3E4B-482C-C226-4EDCA948D14A}"/>
              </a:ext>
            </a:extLst>
          </p:cNvPr>
          <p:cNvSpPr/>
          <p:nvPr/>
        </p:nvSpPr>
        <p:spPr>
          <a:xfrm>
            <a:off x="5981349" y="3564983"/>
            <a:ext cx="5739747" cy="3011987"/>
          </a:xfrm>
          <a:prstGeom prst="rect">
            <a:avLst/>
          </a:prstGeom>
          <a:noFill/>
          <a:ln>
            <a:solidFill>
              <a:srgbClr val="0070C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9" name="Text 2">
            <a:extLst>
              <a:ext uri="{FF2B5EF4-FFF2-40B4-BE49-F238E27FC236}">
                <a16:creationId xmlns:a16="http://schemas.microsoft.com/office/drawing/2014/main" id="{257F7CB5-1E30-5312-A373-76B3DF2C0E7B}"/>
              </a:ext>
            </a:extLst>
          </p:cNvPr>
          <p:cNvSpPr/>
          <p:nvPr/>
        </p:nvSpPr>
        <p:spPr>
          <a:xfrm>
            <a:off x="214437" y="2544883"/>
            <a:ext cx="54565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 err="1">
                <a:solidFill>
                  <a:srgbClr val="111827"/>
                </a:solidFill>
              </a:rPr>
              <a:t>Estratificação</a:t>
            </a:r>
            <a:r>
              <a:rPr lang="en-US" sz="1700" dirty="0">
                <a:solidFill>
                  <a:srgbClr val="111827"/>
                </a:solidFill>
              </a:rPr>
              <a:t> Cor </a:t>
            </a:r>
            <a:r>
              <a:rPr lang="en-US" sz="1700" dirty="0" err="1">
                <a:solidFill>
                  <a:srgbClr val="111827"/>
                </a:solidFill>
              </a:rPr>
              <a:t>ou</a:t>
            </a:r>
            <a:r>
              <a:rPr lang="en-US" sz="1700" dirty="0">
                <a:solidFill>
                  <a:srgbClr val="111827"/>
                </a:solidFill>
              </a:rPr>
              <a:t> </a:t>
            </a:r>
            <a:r>
              <a:rPr lang="en-US" sz="1700" dirty="0" err="1">
                <a:solidFill>
                  <a:srgbClr val="111827"/>
                </a:solidFill>
              </a:rPr>
              <a:t>Raça</a:t>
            </a:r>
            <a:r>
              <a:rPr lang="en-US" sz="1700" dirty="0">
                <a:solidFill>
                  <a:srgbClr val="111827"/>
                </a:solidFill>
              </a:rPr>
              <a:t> (IBGE CENSO DEMOGRÁFICO): </a:t>
            </a:r>
            <a:endParaRPr lang="en-US" sz="1700" dirty="0"/>
          </a:p>
        </p:txBody>
      </p:sp>
      <p:sp>
        <p:nvSpPr>
          <p:cNvPr id="22" name="Text 2">
            <a:extLst>
              <a:ext uri="{FF2B5EF4-FFF2-40B4-BE49-F238E27FC236}">
                <a16:creationId xmlns:a16="http://schemas.microsoft.com/office/drawing/2014/main" id="{65CE3FA1-0D49-232A-2F48-6E116A73AF53}"/>
              </a:ext>
            </a:extLst>
          </p:cNvPr>
          <p:cNvSpPr/>
          <p:nvPr/>
        </p:nvSpPr>
        <p:spPr>
          <a:xfrm>
            <a:off x="5981349" y="3188901"/>
            <a:ext cx="40340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 err="1">
                <a:solidFill>
                  <a:srgbClr val="111827"/>
                </a:solidFill>
              </a:rPr>
              <a:t>Estratificação</a:t>
            </a:r>
            <a:r>
              <a:rPr lang="en-US" sz="1700" dirty="0">
                <a:solidFill>
                  <a:srgbClr val="111827"/>
                </a:solidFill>
              </a:rPr>
              <a:t> </a:t>
            </a:r>
            <a:r>
              <a:rPr lang="en-US" sz="1700" dirty="0" err="1">
                <a:solidFill>
                  <a:srgbClr val="111827"/>
                </a:solidFill>
              </a:rPr>
              <a:t>por</a:t>
            </a:r>
            <a:r>
              <a:rPr lang="en-US" sz="1700" dirty="0">
                <a:solidFill>
                  <a:srgbClr val="111827"/>
                </a:solidFill>
              </a:rPr>
              <a:t> </a:t>
            </a:r>
            <a:r>
              <a:rPr lang="en-US" sz="1700" dirty="0" err="1">
                <a:solidFill>
                  <a:srgbClr val="111827"/>
                </a:solidFill>
              </a:rPr>
              <a:t>idade</a:t>
            </a:r>
            <a:r>
              <a:rPr lang="en-US" sz="1700" dirty="0">
                <a:solidFill>
                  <a:srgbClr val="111827"/>
                </a:solidFill>
              </a:rPr>
              <a:t> </a:t>
            </a:r>
            <a:r>
              <a:rPr lang="en-US" sz="1700" dirty="0" err="1">
                <a:solidFill>
                  <a:srgbClr val="111827"/>
                </a:solidFill>
              </a:rPr>
              <a:t>populacional</a:t>
            </a:r>
            <a:r>
              <a:rPr lang="en-US" sz="1700" dirty="0">
                <a:solidFill>
                  <a:srgbClr val="111827"/>
                </a:solidFill>
              </a:rPr>
              <a:t>: </a:t>
            </a:r>
            <a:endParaRPr lang="en-US" sz="1700" dirty="0"/>
          </a:p>
        </p:txBody>
      </p:sp>
      <p:sp>
        <p:nvSpPr>
          <p:cNvPr id="24" name="Text 2">
            <a:extLst>
              <a:ext uri="{FF2B5EF4-FFF2-40B4-BE49-F238E27FC236}">
                <a16:creationId xmlns:a16="http://schemas.microsoft.com/office/drawing/2014/main" id="{109844AB-A0EE-0925-F149-89536C5D0F6A}"/>
              </a:ext>
            </a:extLst>
          </p:cNvPr>
          <p:cNvSpPr/>
          <p:nvPr/>
        </p:nvSpPr>
        <p:spPr>
          <a:xfrm>
            <a:off x="5536733" y="69271"/>
            <a:ext cx="40340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 err="1">
                <a:solidFill>
                  <a:srgbClr val="111827"/>
                </a:solidFill>
              </a:rPr>
              <a:t>Estratificação</a:t>
            </a:r>
            <a:r>
              <a:rPr lang="en-US" sz="1700" dirty="0">
                <a:solidFill>
                  <a:srgbClr val="111827"/>
                </a:solidFill>
              </a:rPr>
              <a:t> </a:t>
            </a:r>
            <a:r>
              <a:rPr lang="en-US" sz="1700" dirty="0" err="1">
                <a:solidFill>
                  <a:srgbClr val="111827"/>
                </a:solidFill>
              </a:rPr>
              <a:t>por</a:t>
            </a:r>
            <a:r>
              <a:rPr lang="en-US" sz="1700" dirty="0">
                <a:solidFill>
                  <a:srgbClr val="111827"/>
                </a:solidFill>
              </a:rPr>
              <a:t> </a:t>
            </a:r>
            <a:r>
              <a:rPr lang="en-US" sz="1700" dirty="0" err="1">
                <a:solidFill>
                  <a:srgbClr val="111827"/>
                </a:solidFill>
              </a:rPr>
              <a:t>sexo</a:t>
            </a:r>
            <a:r>
              <a:rPr lang="en-US" sz="1700" dirty="0">
                <a:solidFill>
                  <a:srgbClr val="111827"/>
                </a:solidFill>
              </a:rPr>
              <a:t> da </a:t>
            </a:r>
            <a:r>
              <a:rPr lang="en-US" sz="1700" dirty="0" err="1">
                <a:solidFill>
                  <a:srgbClr val="111827"/>
                </a:solidFill>
              </a:rPr>
              <a:t>população</a:t>
            </a:r>
            <a:r>
              <a:rPr lang="en-US" sz="1700" dirty="0">
                <a:solidFill>
                  <a:srgbClr val="111827"/>
                </a:solidFill>
              </a:rPr>
              <a:t>:</a:t>
            </a:r>
            <a:endParaRPr lang="en-US" sz="1700" dirty="0"/>
          </a:p>
        </p:txBody>
      </p:sp>
    </p:spTree>
    <p:extLst>
      <p:ext uri="{BB962C8B-B14F-4D97-AF65-F5344CB8AC3E}">
        <p14:creationId xmlns:p14="http://schemas.microsoft.com/office/powerpoint/2010/main" val="32528153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38CD7EE-0C26-7550-1BAB-E571E65B5B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2299BACD-1A35-4C36-753A-5911586CCF46}"/>
              </a:ext>
            </a:extLst>
          </p:cNvPr>
          <p:cNvSpPr/>
          <p:nvPr/>
        </p:nvSpPr>
        <p:spPr>
          <a:xfrm>
            <a:off x="640710" y="1820411"/>
            <a:ext cx="10921878" cy="21234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AMOSTRAS BALANCEADAS E NÃO-BALANCEADAS</a:t>
            </a:r>
            <a:endParaRPr lang="en-US" sz="72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80FACA57-0781-EC44-9ABD-B84CC3A30FA8}"/>
              </a:ext>
            </a:extLst>
          </p:cNvPr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14BE353F-53E9-C3A2-A9A9-96A8E7CB92EF}"/>
              </a:ext>
            </a:extLst>
          </p:cNvPr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10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862730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7516E0A-1744-500E-B05A-A7BBCB2BD2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template_extract/ppt/media/image1.png">
            <a:extLst>
              <a:ext uri="{FF2B5EF4-FFF2-40B4-BE49-F238E27FC236}">
                <a16:creationId xmlns:a16="http://schemas.microsoft.com/office/drawing/2014/main" id="{9DA32686-4D0D-1BBF-C9A9-78C9887599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" y="44367"/>
            <a:ext cx="2423160" cy="512064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031D66DB-4978-DF12-4596-0F0F7BE91B89}"/>
              </a:ext>
            </a:extLst>
          </p:cNvPr>
          <p:cNvSpPr/>
          <p:nvPr/>
        </p:nvSpPr>
        <p:spPr>
          <a:xfrm>
            <a:off x="360055" y="644282"/>
            <a:ext cx="3888465" cy="6249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tabLst>
                <a:tab pos="0" algn="l"/>
              </a:tabLst>
              <a:defRPr/>
            </a:pPr>
            <a:r>
              <a:rPr lang="en-US" b="1" dirty="0" err="1">
                <a:solidFill>
                  <a:srgbClr val="0B1F3A"/>
                </a:solidFill>
              </a:rPr>
              <a:t>Organização</a:t>
            </a:r>
            <a:r>
              <a:rPr lang="en-US" b="1" dirty="0">
                <a:solidFill>
                  <a:srgbClr val="0B1F3A"/>
                </a:solidFill>
              </a:rPr>
              <a:t> e </a:t>
            </a:r>
            <a:r>
              <a:rPr lang="en-US" b="1" dirty="0" err="1">
                <a:solidFill>
                  <a:srgbClr val="0B1F3A"/>
                </a:solidFill>
              </a:rPr>
              <a:t>Preparação</a:t>
            </a:r>
            <a:r>
              <a:rPr lang="en-US" b="1" dirty="0">
                <a:solidFill>
                  <a:srgbClr val="0B1F3A"/>
                </a:solidFill>
              </a:rPr>
              <a:t> de Dados</a:t>
            </a:r>
            <a:r>
              <a:rPr lang="en-US" b="1" dirty="0">
                <a:solidFill>
                  <a:srgbClr val="111827"/>
                </a:solidFill>
              </a:rPr>
              <a:t>:</a:t>
            </a:r>
          </a:p>
          <a:p>
            <a:pPr>
              <a:tabLst>
                <a:tab pos="0" algn="l"/>
              </a:tabLst>
              <a:defRPr/>
            </a:pPr>
            <a:r>
              <a:rPr lang="en-US" b="1" dirty="0" err="1">
                <a:solidFill>
                  <a:srgbClr val="111827"/>
                </a:solidFill>
              </a:rPr>
              <a:t>População</a:t>
            </a:r>
            <a:r>
              <a:rPr lang="en-US" b="1" dirty="0">
                <a:solidFill>
                  <a:srgbClr val="111827"/>
                </a:solidFill>
              </a:rPr>
              <a:t>, </a:t>
            </a:r>
            <a:r>
              <a:rPr lang="en-US" b="1" dirty="0" err="1">
                <a:solidFill>
                  <a:srgbClr val="111827"/>
                </a:solidFill>
              </a:rPr>
              <a:t>Estrato</a:t>
            </a:r>
            <a:r>
              <a:rPr lang="en-US" b="1" dirty="0">
                <a:solidFill>
                  <a:srgbClr val="111827"/>
                </a:solidFill>
              </a:rPr>
              <a:t> , </a:t>
            </a:r>
            <a:r>
              <a:rPr lang="en-US" b="1" dirty="0" err="1">
                <a:solidFill>
                  <a:srgbClr val="111827"/>
                </a:solidFill>
              </a:rPr>
              <a:t>proporção</a:t>
            </a:r>
            <a:r>
              <a:rPr lang="en-US" b="1" dirty="0">
                <a:solidFill>
                  <a:srgbClr val="111827"/>
                </a:solidFill>
              </a:rPr>
              <a:t> e </a:t>
            </a:r>
            <a:r>
              <a:rPr lang="en-US" b="1" dirty="0" err="1">
                <a:solidFill>
                  <a:srgbClr val="111827"/>
                </a:solidFill>
              </a:rPr>
              <a:t>Amostra</a:t>
            </a:r>
            <a:endParaRPr lang="pt-BR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90BA6A4B-8E08-0C58-BE95-8FF4BB5A16B2}"/>
              </a:ext>
            </a:extLst>
          </p:cNvPr>
          <p:cNvSpPr/>
          <p:nvPr/>
        </p:nvSpPr>
        <p:spPr>
          <a:xfrm>
            <a:off x="381194" y="1402687"/>
            <a:ext cx="11573118" cy="5157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00" dirty="0" err="1">
                <a:solidFill>
                  <a:srgbClr val="111827"/>
                </a:solidFill>
              </a:rPr>
              <a:t>Amostra</a:t>
            </a:r>
            <a:r>
              <a:rPr lang="en-US" sz="1700" dirty="0">
                <a:solidFill>
                  <a:srgbClr val="111827"/>
                </a:solidFill>
              </a:rPr>
              <a:t> PROPORCIONAL: </a:t>
            </a:r>
            <a:r>
              <a:rPr lang="en-US" sz="1700" dirty="0" err="1">
                <a:solidFill>
                  <a:srgbClr val="111827"/>
                </a:solidFill>
              </a:rPr>
              <a:t>uma</a:t>
            </a:r>
            <a:r>
              <a:rPr lang="en-US" sz="1700" dirty="0">
                <a:solidFill>
                  <a:srgbClr val="111827"/>
                </a:solidFill>
              </a:rPr>
              <a:t> </a:t>
            </a:r>
            <a:r>
              <a:rPr lang="en-US" sz="1700" b="1" dirty="0" err="1">
                <a:solidFill>
                  <a:srgbClr val="111827"/>
                </a:solidFill>
              </a:rPr>
              <a:t>amostra</a:t>
            </a:r>
            <a:r>
              <a:rPr lang="en-US" sz="1700" b="1" dirty="0">
                <a:solidFill>
                  <a:srgbClr val="111827"/>
                </a:solidFill>
              </a:rPr>
              <a:t> é </a:t>
            </a:r>
            <a:r>
              <a:rPr lang="en-US" sz="1700" b="1" dirty="0" err="1">
                <a:solidFill>
                  <a:srgbClr val="111827"/>
                </a:solidFill>
              </a:rPr>
              <a:t>proporcional</a:t>
            </a:r>
            <a:r>
              <a:rPr lang="en-US" sz="1700" b="1" dirty="0">
                <a:solidFill>
                  <a:srgbClr val="111827"/>
                </a:solidFill>
              </a:rPr>
              <a:t> </a:t>
            </a:r>
            <a:r>
              <a:rPr lang="en-US" sz="1700" dirty="0" err="1">
                <a:solidFill>
                  <a:srgbClr val="111827"/>
                </a:solidFill>
              </a:rPr>
              <a:t>quando</a:t>
            </a:r>
            <a:r>
              <a:rPr lang="en-US" sz="1700" dirty="0">
                <a:solidFill>
                  <a:srgbClr val="111827"/>
                </a:solidFill>
              </a:rPr>
              <a:t> </a:t>
            </a:r>
            <a:r>
              <a:rPr lang="pt-BR" dirty="0"/>
              <a:t>os estratos (grupos ou classes) de interesse aparecem com quantidades proporcionais a aquelas encontradas nos estratos da população.</a:t>
            </a:r>
            <a:endParaRPr lang="en-US" sz="200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4E0E1F86-9EDD-81AE-B645-7C13A8A67D7B}"/>
              </a:ext>
            </a:extLst>
          </p:cNvPr>
          <p:cNvSpPr/>
          <p:nvPr/>
        </p:nvSpPr>
        <p:spPr>
          <a:xfrm>
            <a:off x="180195" y="62793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</a:rPr>
              <a:t>Professor Miguél Suares</a:t>
            </a:r>
            <a:endParaRPr lang="en-US" sz="11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6B0E25D4-3A5A-EA14-10ED-A0195D18008D}"/>
              </a:ext>
            </a:extLst>
          </p:cNvPr>
          <p:cNvSpPr/>
          <p:nvPr/>
        </p:nvSpPr>
        <p:spPr>
          <a:xfrm>
            <a:off x="180195" y="6590224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850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11BBD6EB-5FC4-599D-3CA6-702AB494C9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59601" y="2105804"/>
            <a:ext cx="2811988" cy="210899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ela 5">
                <a:extLst>
                  <a:ext uri="{FF2B5EF4-FFF2-40B4-BE49-F238E27FC236}">
                    <a16:creationId xmlns:a16="http://schemas.microsoft.com/office/drawing/2014/main" id="{8A655E59-539E-956B-7164-A717369D426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69535578"/>
                  </p:ext>
                </p:extLst>
              </p:nvPr>
            </p:nvGraphicFramePr>
            <p:xfrm>
              <a:off x="318110" y="2095482"/>
              <a:ext cx="3741491" cy="1929950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906011">
                      <a:extLst>
                        <a:ext uri="{9D8B030D-6E8A-4147-A177-3AD203B41FA5}">
                          <a16:colId xmlns:a16="http://schemas.microsoft.com/office/drawing/2014/main" val="2623616122"/>
                        </a:ext>
                      </a:extLst>
                    </a:gridCol>
                    <a:gridCol w="906011">
                      <a:extLst>
                        <a:ext uri="{9D8B030D-6E8A-4147-A177-3AD203B41FA5}">
                          <a16:colId xmlns:a16="http://schemas.microsoft.com/office/drawing/2014/main" val="633702682"/>
                        </a:ext>
                      </a:extLst>
                    </a:gridCol>
                    <a:gridCol w="1929469">
                      <a:extLst>
                        <a:ext uri="{9D8B030D-6E8A-4147-A177-3AD203B41FA5}">
                          <a16:colId xmlns:a16="http://schemas.microsoft.com/office/drawing/2014/main" val="1457167182"/>
                        </a:ext>
                      </a:extLst>
                    </a:gridCol>
                  </a:tblGrid>
                  <a:tr h="601784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População no 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Proporção na população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20703876"/>
                      </a:ext>
                    </a:extLst>
                  </a:tr>
                  <a:tr h="359316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Masculino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dirty="0"/>
                            <a:t>8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num>
                                <m:den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18</m:t>
                                  </m:r>
                                </m:den>
                              </m:f>
                            </m:oMath>
                          </a14:m>
                          <a:r>
                            <a:rPr lang="pt-BR" dirty="0"/>
                            <a:t>   =&gt;  </a:t>
                          </a:r>
                          <a:r>
                            <a:rPr lang="pt-BR" b="1" dirty="0">
                              <a:solidFill>
                                <a:srgbClr val="FF0000"/>
                              </a:solidFill>
                            </a:rPr>
                            <a:t>44,44%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969474747"/>
                      </a:ext>
                    </a:extLst>
                  </a:tr>
                  <a:tr h="359316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Feminino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/>
                            <a:t>10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num>
                                <m:den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18</m:t>
                                  </m:r>
                                </m:den>
                              </m:f>
                            </m:oMath>
                          </a14:m>
                          <a:r>
                            <a:rPr lang="pt-BR" dirty="0"/>
                            <a:t>   =&gt;  </a:t>
                          </a:r>
                          <a:r>
                            <a:rPr lang="pt-BR" b="1" dirty="0">
                              <a:solidFill>
                                <a:srgbClr val="FF0000"/>
                              </a:solidFill>
                            </a:rPr>
                            <a:t>55,56%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62729573"/>
                      </a:ext>
                    </a:extLst>
                  </a:tr>
                  <a:tr h="359316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b="1" dirty="0"/>
                            <a:t>Total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18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100%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10301151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ela 5">
                <a:extLst>
                  <a:ext uri="{FF2B5EF4-FFF2-40B4-BE49-F238E27FC236}">
                    <a16:creationId xmlns:a16="http://schemas.microsoft.com/office/drawing/2014/main" id="{8A655E59-539E-956B-7164-A717369D426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69535578"/>
                  </p:ext>
                </p:extLst>
              </p:nvPr>
            </p:nvGraphicFramePr>
            <p:xfrm>
              <a:off x="318110" y="2095482"/>
              <a:ext cx="3741491" cy="1929950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906011">
                      <a:extLst>
                        <a:ext uri="{9D8B030D-6E8A-4147-A177-3AD203B41FA5}">
                          <a16:colId xmlns:a16="http://schemas.microsoft.com/office/drawing/2014/main" val="2623616122"/>
                        </a:ext>
                      </a:extLst>
                    </a:gridCol>
                    <a:gridCol w="906011">
                      <a:extLst>
                        <a:ext uri="{9D8B030D-6E8A-4147-A177-3AD203B41FA5}">
                          <a16:colId xmlns:a16="http://schemas.microsoft.com/office/drawing/2014/main" val="633702682"/>
                        </a:ext>
                      </a:extLst>
                    </a:gridCol>
                    <a:gridCol w="1929469">
                      <a:extLst>
                        <a:ext uri="{9D8B030D-6E8A-4147-A177-3AD203B41FA5}">
                          <a16:colId xmlns:a16="http://schemas.microsoft.com/office/drawing/2014/main" val="1457167182"/>
                        </a:ext>
                      </a:extLst>
                    </a:gridCol>
                  </a:tblGrid>
                  <a:tr h="601784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População no 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Proporção na população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20703876"/>
                      </a:ext>
                    </a:extLst>
                  </a:tr>
                  <a:tr h="481203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Masculino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dirty="0"/>
                            <a:t>8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5"/>
                          <a:stretch>
                            <a:fillRect l="-94006" t="-126582" r="-946" b="-19746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69474747"/>
                      </a:ext>
                    </a:extLst>
                  </a:tr>
                  <a:tr h="481203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Feminino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/>
                            <a:t>10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5"/>
                          <a:stretch>
                            <a:fillRect l="-94006" t="-223750" r="-946" b="-95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62729573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b="1" dirty="0"/>
                            <a:t>Total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18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100%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10301151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5" name="Retângulo 14">
            <a:extLst>
              <a:ext uri="{FF2B5EF4-FFF2-40B4-BE49-F238E27FC236}">
                <a16:creationId xmlns:a16="http://schemas.microsoft.com/office/drawing/2014/main" id="{F1C8DD4C-1729-B71C-71A4-9608FF6A27D9}"/>
              </a:ext>
            </a:extLst>
          </p:cNvPr>
          <p:cNvSpPr/>
          <p:nvPr/>
        </p:nvSpPr>
        <p:spPr>
          <a:xfrm>
            <a:off x="318110" y="2095482"/>
            <a:ext cx="6553479" cy="2108991"/>
          </a:xfrm>
          <a:prstGeom prst="rect">
            <a:avLst/>
          </a:prstGeom>
          <a:noFill/>
          <a:ln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4" name="Text 2">
            <a:extLst>
              <a:ext uri="{FF2B5EF4-FFF2-40B4-BE49-F238E27FC236}">
                <a16:creationId xmlns:a16="http://schemas.microsoft.com/office/drawing/2014/main" id="{A58E2657-E3C7-36EB-036C-CF619276D3C2}"/>
              </a:ext>
            </a:extLst>
          </p:cNvPr>
          <p:cNvSpPr/>
          <p:nvPr/>
        </p:nvSpPr>
        <p:spPr>
          <a:xfrm>
            <a:off x="5536733" y="69271"/>
            <a:ext cx="40340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 err="1">
                <a:solidFill>
                  <a:srgbClr val="111827"/>
                </a:solidFill>
              </a:rPr>
              <a:t>Estratificação</a:t>
            </a:r>
            <a:r>
              <a:rPr lang="en-US" sz="1700" dirty="0">
                <a:solidFill>
                  <a:srgbClr val="111827"/>
                </a:solidFill>
              </a:rPr>
              <a:t> </a:t>
            </a:r>
            <a:r>
              <a:rPr lang="en-US" sz="1700" dirty="0" err="1">
                <a:solidFill>
                  <a:srgbClr val="111827"/>
                </a:solidFill>
              </a:rPr>
              <a:t>por</a:t>
            </a:r>
            <a:r>
              <a:rPr lang="en-US" sz="1700" dirty="0">
                <a:solidFill>
                  <a:srgbClr val="111827"/>
                </a:solidFill>
              </a:rPr>
              <a:t> </a:t>
            </a:r>
            <a:r>
              <a:rPr lang="en-US" sz="1700" dirty="0" err="1">
                <a:solidFill>
                  <a:srgbClr val="111827"/>
                </a:solidFill>
              </a:rPr>
              <a:t>sexo</a:t>
            </a:r>
            <a:r>
              <a:rPr lang="en-US" sz="1700" dirty="0">
                <a:solidFill>
                  <a:srgbClr val="111827"/>
                </a:solidFill>
              </a:rPr>
              <a:t> da </a:t>
            </a:r>
            <a:r>
              <a:rPr lang="en-US" sz="1700" dirty="0" err="1">
                <a:solidFill>
                  <a:srgbClr val="111827"/>
                </a:solidFill>
              </a:rPr>
              <a:t>população</a:t>
            </a:r>
            <a:r>
              <a:rPr lang="en-US" sz="1700" dirty="0">
                <a:solidFill>
                  <a:srgbClr val="111827"/>
                </a:solidFill>
              </a:rPr>
              <a:t>:</a:t>
            </a:r>
            <a:endParaRPr lang="en-US" sz="17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Tabela 2">
                <a:extLst>
                  <a:ext uri="{FF2B5EF4-FFF2-40B4-BE49-F238E27FC236}">
                    <a16:creationId xmlns:a16="http://schemas.microsoft.com/office/drawing/2014/main" id="{0C5C045B-5F75-5B1F-D260-ECAED6D9EF3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45507831"/>
                  </p:ext>
                </p:extLst>
              </p:nvPr>
            </p:nvGraphicFramePr>
            <p:xfrm>
              <a:off x="318110" y="4348282"/>
              <a:ext cx="6553478" cy="1971739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915072">
                      <a:extLst>
                        <a:ext uri="{9D8B030D-6E8A-4147-A177-3AD203B41FA5}">
                          <a16:colId xmlns:a16="http://schemas.microsoft.com/office/drawing/2014/main" val="4069882098"/>
                        </a:ext>
                      </a:extLst>
                    </a:gridCol>
                    <a:gridCol w="897622">
                      <a:extLst>
                        <a:ext uri="{9D8B030D-6E8A-4147-A177-3AD203B41FA5}">
                          <a16:colId xmlns:a16="http://schemas.microsoft.com/office/drawing/2014/main" val="3846902585"/>
                        </a:ext>
                      </a:extLst>
                    </a:gridCol>
                    <a:gridCol w="1921079">
                      <a:extLst>
                        <a:ext uri="{9D8B030D-6E8A-4147-A177-3AD203B41FA5}">
                          <a16:colId xmlns:a16="http://schemas.microsoft.com/office/drawing/2014/main" val="1444617292"/>
                        </a:ext>
                      </a:extLst>
                    </a:gridCol>
                    <a:gridCol w="1258348">
                      <a:extLst>
                        <a:ext uri="{9D8B030D-6E8A-4147-A177-3AD203B41FA5}">
                          <a16:colId xmlns:a16="http://schemas.microsoft.com/office/drawing/2014/main" val="338402198"/>
                        </a:ext>
                      </a:extLst>
                    </a:gridCol>
                    <a:gridCol w="1561357">
                      <a:extLst>
                        <a:ext uri="{9D8B030D-6E8A-4147-A177-3AD203B41FA5}">
                          <a16:colId xmlns:a16="http://schemas.microsoft.com/office/drawing/2014/main" val="2098839796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População no 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Proporção na população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b="1" dirty="0"/>
                            <a:t>Amostra</a:t>
                          </a:r>
                          <a:r>
                            <a:rPr lang="pt-BR" sz="1200" dirty="0"/>
                            <a:t> proporcional ((</a:t>
                          </a:r>
                          <a:r>
                            <a:rPr lang="pt-BR" sz="1200" b="1" dirty="0"/>
                            <a:t>n=9</a:t>
                          </a:r>
                          <a:r>
                            <a:rPr lang="pt-BR" sz="1200" dirty="0"/>
                            <a:t>))</a:t>
                          </a:r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Proporção da amostra</a:t>
                          </a:r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43474404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Masculino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dirty="0"/>
                            <a:t>8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num>
                                <m:den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18</m:t>
                                  </m:r>
                                </m:den>
                              </m:f>
                            </m:oMath>
                          </a14:m>
                          <a:r>
                            <a:rPr lang="pt-BR" dirty="0"/>
                            <a:t> = </a:t>
                          </a:r>
                          <a:r>
                            <a:rPr lang="pt-BR" dirty="0">
                              <a:solidFill>
                                <a:srgbClr val="FF0000"/>
                              </a:solidFill>
                            </a:rPr>
                            <a:t>44,44%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dirty="0"/>
                            <a:t>4</a:t>
                          </a:r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num>
                                <m:den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9</m:t>
                                  </m:r>
                                </m:den>
                              </m:f>
                            </m:oMath>
                          </a14:m>
                          <a:r>
                            <a:rPr lang="pt-BR" dirty="0"/>
                            <a:t> = </a:t>
                          </a:r>
                          <a:r>
                            <a:rPr lang="pt-BR" b="1" dirty="0">
                              <a:solidFill>
                                <a:srgbClr val="009A2C"/>
                              </a:solidFill>
                            </a:rPr>
                            <a:t>44,44%</a:t>
                          </a:r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56783355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Feminino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/>
                            <a:t>10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num>
                                <m:den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18</m:t>
                                  </m:r>
                                </m:den>
                              </m:f>
                            </m:oMath>
                          </a14:m>
                          <a:r>
                            <a:rPr lang="pt-BR" dirty="0"/>
                            <a:t> = </a:t>
                          </a:r>
                          <a:r>
                            <a:rPr lang="pt-BR" dirty="0">
                              <a:solidFill>
                                <a:srgbClr val="FF0000"/>
                              </a:solidFill>
                            </a:rPr>
                            <a:t>55,56%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dirty="0"/>
                            <a:t>5</a:t>
                          </a:r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</m:num>
                                <m:den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9</m:t>
                                  </m:r>
                                </m:den>
                              </m:f>
                            </m:oMath>
                          </a14:m>
                          <a:r>
                            <a:rPr lang="pt-BR" dirty="0"/>
                            <a:t> = </a:t>
                          </a:r>
                          <a:r>
                            <a:rPr lang="pt-BR" b="1" dirty="0">
                              <a:solidFill>
                                <a:srgbClr val="009A2C"/>
                              </a:solidFill>
                            </a:rPr>
                            <a:t>55,56%</a:t>
                          </a:r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07755928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b="1" dirty="0"/>
                            <a:t>Total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18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100%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9</a:t>
                          </a:r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100%</a:t>
                          </a:r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1659746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Tabela 2">
                <a:extLst>
                  <a:ext uri="{FF2B5EF4-FFF2-40B4-BE49-F238E27FC236}">
                    <a16:creationId xmlns:a16="http://schemas.microsoft.com/office/drawing/2014/main" id="{0C5C045B-5F75-5B1F-D260-ECAED6D9EF3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45507831"/>
                  </p:ext>
                </p:extLst>
              </p:nvPr>
            </p:nvGraphicFramePr>
            <p:xfrm>
              <a:off x="318110" y="4348282"/>
              <a:ext cx="6553478" cy="1971739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915072">
                      <a:extLst>
                        <a:ext uri="{9D8B030D-6E8A-4147-A177-3AD203B41FA5}">
                          <a16:colId xmlns:a16="http://schemas.microsoft.com/office/drawing/2014/main" val="4069882098"/>
                        </a:ext>
                      </a:extLst>
                    </a:gridCol>
                    <a:gridCol w="897622">
                      <a:extLst>
                        <a:ext uri="{9D8B030D-6E8A-4147-A177-3AD203B41FA5}">
                          <a16:colId xmlns:a16="http://schemas.microsoft.com/office/drawing/2014/main" val="3846902585"/>
                        </a:ext>
                      </a:extLst>
                    </a:gridCol>
                    <a:gridCol w="1921079">
                      <a:extLst>
                        <a:ext uri="{9D8B030D-6E8A-4147-A177-3AD203B41FA5}">
                          <a16:colId xmlns:a16="http://schemas.microsoft.com/office/drawing/2014/main" val="1444617292"/>
                        </a:ext>
                      </a:extLst>
                    </a:gridCol>
                    <a:gridCol w="1258348">
                      <a:extLst>
                        <a:ext uri="{9D8B030D-6E8A-4147-A177-3AD203B41FA5}">
                          <a16:colId xmlns:a16="http://schemas.microsoft.com/office/drawing/2014/main" val="338402198"/>
                        </a:ext>
                      </a:extLst>
                    </a:gridCol>
                    <a:gridCol w="1561357">
                      <a:extLst>
                        <a:ext uri="{9D8B030D-6E8A-4147-A177-3AD203B41FA5}">
                          <a16:colId xmlns:a16="http://schemas.microsoft.com/office/drawing/2014/main" val="2098839796"/>
                        </a:ext>
                      </a:extLst>
                    </a:gridCol>
                  </a:tblGrid>
                  <a:tr h="64008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População no 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Proporção na população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b="1" dirty="0"/>
                            <a:t>Amostra</a:t>
                          </a:r>
                          <a:r>
                            <a:rPr lang="pt-BR" sz="1200" dirty="0"/>
                            <a:t> proporcional ((</a:t>
                          </a:r>
                          <a:r>
                            <a:rPr lang="pt-BR" sz="1200" b="1" dirty="0"/>
                            <a:t>n=9</a:t>
                          </a:r>
                          <a:r>
                            <a:rPr lang="pt-BR" sz="1200" dirty="0"/>
                            <a:t>))</a:t>
                          </a:r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Proporção da amostra</a:t>
                          </a:r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43474404"/>
                      </a:ext>
                    </a:extLst>
                  </a:tr>
                  <a:tr h="481203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Masculino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dirty="0"/>
                            <a:t>8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6"/>
                          <a:stretch>
                            <a:fillRect l="-94921" t="-134177" r="-147619" b="-19873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dirty="0"/>
                            <a:t>4</a:t>
                          </a:r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6"/>
                          <a:stretch>
                            <a:fillRect l="-320703" t="-134177" r="-781" b="-19873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56783355"/>
                      </a:ext>
                    </a:extLst>
                  </a:tr>
                  <a:tr h="484696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Feminino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/>
                            <a:t>10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6"/>
                          <a:stretch>
                            <a:fillRect l="-94921" t="-231250" r="-147619" b="-962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dirty="0"/>
                            <a:t>5</a:t>
                          </a:r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6"/>
                          <a:stretch>
                            <a:fillRect l="-320703" t="-231250" r="-781" b="-9625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07755928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b="1" dirty="0"/>
                            <a:t>Total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18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100%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9</a:t>
                          </a:r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100%</a:t>
                          </a:r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16597468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21" name="Imagem 20">
            <a:extLst>
              <a:ext uri="{FF2B5EF4-FFF2-40B4-BE49-F238E27FC236}">
                <a16:creationId xmlns:a16="http://schemas.microsoft.com/office/drawing/2014/main" id="{51BAAB2D-1C10-2CF5-9851-3E8F8FDC52D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01100" y="3298385"/>
            <a:ext cx="4389120" cy="3291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80360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656448-84C1-6836-9EA5-BF6D094F2C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template_extract/ppt/media/image1.png">
            <a:extLst>
              <a:ext uri="{FF2B5EF4-FFF2-40B4-BE49-F238E27FC236}">
                <a16:creationId xmlns:a16="http://schemas.microsoft.com/office/drawing/2014/main" id="{F78DB071-75D2-6A49-349A-8AA8A4BF44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" y="44367"/>
            <a:ext cx="2423160" cy="512064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68CC72E9-FCD1-37D3-4DA9-E51DC0B7747E}"/>
              </a:ext>
            </a:extLst>
          </p:cNvPr>
          <p:cNvSpPr/>
          <p:nvPr/>
        </p:nvSpPr>
        <p:spPr>
          <a:xfrm>
            <a:off x="360055" y="644282"/>
            <a:ext cx="5319292" cy="7584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tabLst>
                <a:tab pos="0" algn="l"/>
              </a:tabLst>
              <a:defRPr/>
            </a:pPr>
            <a:r>
              <a:rPr lang="en-US" b="1" dirty="0" err="1">
                <a:solidFill>
                  <a:srgbClr val="0B1F3A"/>
                </a:solidFill>
              </a:rPr>
              <a:t>Organização</a:t>
            </a:r>
            <a:r>
              <a:rPr lang="en-US" b="1" dirty="0">
                <a:solidFill>
                  <a:srgbClr val="0B1F3A"/>
                </a:solidFill>
              </a:rPr>
              <a:t> e </a:t>
            </a:r>
            <a:r>
              <a:rPr lang="en-US" b="1" dirty="0" err="1">
                <a:solidFill>
                  <a:srgbClr val="0B1F3A"/>
                </a:solidFill>
              </a:rPr>
              <a:t>Preparação</a:t>
            </a:r>
            <a:r>
              <a:rPr lang="en-US" b="1" dirty="0">
                <a:solidFill>
                  <a:srgbClr val="0B1F3A"/>
                </a:solidFill>
              </a:rPr>
              <a:t> de Dados</a:t>
            </a:r>
            <a:r>
              <a:rPr lang="en-US" b="1" dirty="0">
                <a:solidFill>
                  <a:srgbClr val="111827"/>
                </a:solidFill>
              </a:rPr>
              <a:t>:</a:t>
            </a:r>
          </a:p>
          <a:p>
            <a:pPr>
              <a:tabLst>
                <a:tab pos="0" algn="l"/>
              </a:tabLst>
              <a:defRPr/>
            </a:pPr>
            <a:r>
              <a:rPr lang="en-US" b="1" dirty="0" err="1">
                <a:solidFill>
                  <a:srgbClr val="111827"/>
                </a:solidFill>
              </a:rPr>
              <a:t>População</a:t>
            </a:r>
            <a:r>
              <a:rPr lang="en-US" b="1" dirty="0">
                <a:solidFill>
                  <a:srgbClr val="111827"/>
                </a:solidFill>
              </a:rPr>
              <a:t>, </a:t>
            </a:r>
            <a:r>
              <a:rPr lang="en-US" b="1" dirty="0" err="1">
                <a:solidFill>
                  <a:srgbClr val="111827"/>
                </a:solidFill>
              </a:rPr>
              <a:t>Estrato</a:t>
            </a:r>
            <a:r>
              <a:rPr lang="en-US" b="1" dirty="0">
                <a:solidFill>
                  <a:srgbClr val="111827"/>
                </a:solidFill>
              </a:rPr>
              <a:t> , </a:t>
            </a:r>
            <a:r>
              <a:rPr lang="en-US" b="1" dirty="0" err="1">
                <a:solidFill>
                  <a:srgbClr val="111827"/>
                </a:solidFill>
              </a:rPr>
              <a:t>proporção</a:t>
            </a:r>
            <a:r>
              <a:rPr lang="en-US" b="1" dirty="0">
                <a:solidFill>
                  <a:srgbClr val="111827"/>
                </a:solidFill>
              </a:rPr>
              <a:t> e </a:t>
            </a:r>
            <a:r>
              <a:rPr lang="en-US" b="1" dirty="0" err="1">
                <a:solidFill>
                  <a:srgbClr val="111827"/>
                </a:solidFill>
              </a:rPr>
              <a:t>Amostra</a:t>
            </a:r>
            <a:endParaRPr lang="pt-BR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3DC19198-26F4-979E-3E16-F97241DE5E36}"/>
              </a:ext>
            </a:extLst>
          </p:cNvPr>
          <p:cNvSpPr/>
          <p:nvPr/>
        </p:nvSpPr>
        <p:spPr>
          <a:xfrm>
            <a:off x="381194" y="1402687"/>
            <a:ext cx="11450751" cy="5157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00" dirty="0" err="1">
                <a:solidFill>
                  <a:srgbClr val="111827"/>
                </a:solidFill>
              </a:rPr>
              <a:t>Amostra</a:t>
            </a:r>
            <a:r>
              <a:rPr lang="en-US" sz="1700" dirty="0">
                <a:solidFill>
                  <a:srgbClr val="111827"/>
                </a:solidFill>
              </a:rPr>
              <a:t> </a:t>
            </a:r>
            <a:r>
              <a:rPr lang="en-US" sz="1700" b="1" dirty="0">
                <a:solidFill>
                  <a:srgbClr val="111827"/>
                </a:solidFill>
              </a:rPr>
              <a:t>BALANCEADA</a:t>
            </a:r>
            <a:r>
              <a:rPr lang="en-US" sz="1700" dirty="0">
                <a:solidFill>
                  <a:srgbClr val="111827"/>
                </a:solidFill>
              </a:rPr>
              <a:t>: </a:t>
            </a:r>
            <a:r>
              <a:rPr lang="pt-BR" sz="1600" dirty="0"/>
              <a:t>Uma </a:t>
            </a:r>
            <a:r>
              <a:rPr lang="pt-BR" sz="1600" b="1" dirty="0"/>
              <a:t>amostra balanceada</a:t>
            </a:r>
            <a:r>
              <a:rPr lang="pt-BR" sz="1600" dirty="0"/>
              <a:t> é aquela em que os estratos (grupos ou classes) de interesse aparecem com quantidades iguais, ou aproximadamente iguais, na amostra.</a:t>
            </a:r>
            <a:endParaRPr lang="en-US" sz="170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17BF7F3D-7D1A-6311-A2FF-3A7CF9085773}"/>
              </a:ext>
            </a:extLst>
          </p:cNvPr>
          <p:cNvSpPr/>
          <p:nvPr/>
        </p:nvSpPr>
        <p:spPr>
          <a:xfrm>
            <a:off x="180195" y="62793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</a:rPr>
              <a:t>Professor Miguél Suares</a:t>
            </a:r>
            <a:endParaRPr lang="en-US" sz="11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D87C1190-3ADF-77F0-F268-5C71E7CA60C3}"/>
              </a:ext>
            </a:extLst>
          </p:cNvPr>
          <p:cNvSpPr/>
          <p:nvPr/>
        </p:nvSpPr>
        <p:spPr>
          <a:xfrm>
            <a:off x="180195" y="6590224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850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5D54DEC4-C7FD-2CF0-F5E5-25310476B9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59601" y="2105804"/>
            <a:ext cx="2811988" cy="210899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ela 5">
                <a:extLst>
                  <a:ext uri="{FF2B5EF4-FFF2-40B4-BE49-F238E27FC236}">
                    <a16:creationId xmlns:a16="http://schemas.microsoft.com/office/drawing/2014/main" id="{0F88D9FB-CBDB-E97B-65DC-4FB0FC437486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318110" y="2095482"/>
              <a:ext cx="3741491" cy="1929950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906011">
                      <a:extLst>
                        <a:ext uri="{9D8B030D-6E8A-4147-A177-3AD203B41FA5}">
                          <a16:colId xmlns:a16="http://schemas.microsoft.com/office/drawing/2014/main" val="2623616122"/>
                        </a:ext>
                      </a:extLst>
                    </a:gridCol>
                    <a:gridCol w="906011">
                      <a:extLst>
                        <a:ext uri="{9D8B030D-6E8A-4147-A177-3AD203B41FA5}">
                          <a16:colId xmlns:a16="http://schemas.microsoft.com/office/drawing/2014/main" val="633702682"/>
                        </a:ext>
                      </a:extLst>
                    </a:gridCol>
                    <a:gridCol w="1929469">
                      <a:extLst>
                        <a:ext uri="{9D8B030D-6E8A-4147-A177-3AD203B41FA5}">
                          <a16:colId xmlns:a16="http://schemas.microsoft.com/office/drawing/2014/main" val="1457167182"/>
                        </a:ext>
                      </a:extLst>
                    </a:gridCol>
                  </a:tblGrid>
                  <a:tr h="601784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População no 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Proporção na população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20703876"/>
                      </a:ext>
                    </a:extLst>
                  </a:tr>
                  <a:tr h="359316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Masculino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dirty="0"/>
                            <a:t>8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num>
                                <m:den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18</m:t>
                                  </m:r>
                                </m:den>
                              </m:f>
                            </m:oMath>
                          </a14:m>
                          <a:r>
                            <a:rPr lang="pt-BR" dirty="0"/>
                            <a:t>   =&gt;  </a:t>
                          </a:r>
                          <a:r>
                            <a:rPr lang="pt-BR" b="1" dirty="0">
                              <a:solidFill>
                                <a:srgbClr val="FF0000"/>
                              </a:solidFill>
                            </a:rPr>
                            <a:t>44,44%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969474747"/>
                      </a:ext>
                    </a:extLst>
                  </a:tr>
                  <a:tr h="359316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Feminino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/>
                            <a:t>10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num>
                                <m:den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18</m:t>
                                  </m:r>
                                </m:den>
                              </m:f>
                            </m:oMath>
                          </a14:m>
                          <a:r>
                            <a:rPr lang="pt-BR" dirty="0"/>
                            <a:t>   =&gt;  </a:t>
                          </a:r>
                          <a:r>
                            <a:rPr lang="pt-BR" b="1" dirty="0">
                              <a:solidFill>
                                <a:srgbClr val="FF0000"/>
                              </a:solidFill>
                            </a:rPr>
                            <a:t>55,56%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62729573"/>
                      </a:ext>
                    </a:extLst>
                  </a:tr>
                  <a:tr h="359316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b="1" dirty="0"/>
                            <a:t>Total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18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100%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10301151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ela 5">
                <a:extLst>
                  <a:ext uri="{FF2B5EF4-FFF2-40B4-BE49-F238E27FC236}">
                    <a16:creationId xmlns:a16="http://schemas.microsoft.com/office/drawing/2014/main" id="{0F88D9FB-CBDB-E97B-65DC-4FB0FC437486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318110" y="2095482"/>
              <a:ext cx="3741491" cy="1929950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906011">
                      <a:extLst>
                        <a:ext uri="{9D8B030D-6E8A-4147-A177-3AD203B41FA5}">
                          <a16:colId xmlns:a16="http://schemas.microsoft.com/office/drawing/2014/main" val="2623616122"/>
                        </a:ext>
                      </a:extLst>
                    </a:gridCol>
                    <a:gridCol w="906011">
                      <a:extLst>
                        <a:ext uri="{9D8B030D-6E8A-4147-A177-3AD203B41FA5}">
                          <a16:colId xmlns:a16="http://schemas.microsoft.com/office/drawing/2014/main" val="633702682"/>
                        </a:ext>
                      </a:extLst>
                    </a:gridCol>
                    <a:gridCol w="1929469">
                      <a:extLst>
                        <a:ext uri="{9D8B030D-6E8A-4147-A177-3AD203B41FA5}">
                          <a16:colId xmlns:a16="http://schemas.microsoft.com/office/drawing/2014/main" val="1457167182"/>
                        </a:ext>
                      </a:extLst>
                    </a:gridCol>
                  </a:tblGrid>
                  <a:tr h="601784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População no 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Proporção na população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20703876"/>
                      </a:ext>
                    </a:extLst>
                  </a:tr>
                  <a:tr h="481203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Masculino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dirty="0"/>
                            <a:t>8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5"/>
                          <a:stretch>
                            <a:fillRect l="-94006" t="-126582" r="-946" b="-19746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69474747"/>
                      </a:ext>
                    </a:extLst>
                  </a:tr>
                  <a:tr h="481203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Feminino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/>
                            <a:t>10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5"/>
                          <a:stretch>
                            <a:fillRect l="-94006" t="-223750" r="-946" b="-95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62729573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b="1" dirty="0"/>
                            <a:t>Total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18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100%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10301151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5" name="Retângulo 14">
            <a:extLst>
              <a:ext uri="{FF2B5EF4-FFF2-40B4-BE49-F238E27FC236}">
                <a16:creationId xmlns:a16="http://schemas.microsoft.com/office/drawing/2014/main" id="{06908664-E8D8-97F6-1B83-CF637849FF09}"/>
              </a:ext>
            </a:extLst>
          </p:cNvPr>
          <p:cNvSpPr/>
          <p:nvPr/>
        </p:nvSpPr>
        <p:spPr>
          <a:xfrm>
            <a:off x="318110" y="2095482"/>
            <a:ext cx="6553479" cy="2108991"/>
          </a:xfrm>
          <a:prstGeom prst="rect">
            <a:avLst/>
          </a:prstGeom>
          <a:noFill/>
          <a:ln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4" name="Text 2">
            <a:extLst>
              <a:ext uri="{FF2B5EF4-FFF2-40B4-BE49-F238E27FC236}">
                <a16:creationId xmlns:a16="http://schemas.microsoft.com/office/drawing/2014/main" id="{E6EC1D27-F9E4-7774-F955-214A14E2ADA1}"/>
              </a:ext>
            </a:extLst>
          </p:cNvPr>
          <p:cNvSpPr/>
          <p:nvPr/>
        </p:nvSpPr>
        <p:spPr>
          <a:xfrm>
            <a:off x="5536733" y="69271"/>
            <a:ext cx="40340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 err="1">
                <a:solidFill>
                  <a:srgbClr val="111827"/>
                </a:solidFill>
              </a:rPr>
              <a:t>Estratificação</a:t>
            </a:r>
            <a:r>
              <a:rPr lang="en-US" sz="1700" dirty="0">
                <a:solidFill>
                  <a:srgbClr val="111827"/>
                </a:solidFill>
              </a:rPr>
              <a:t> </a:t>
            </a:r>
            <a:r>
              <a:rPr lang="en-US" sz="1700" dirty="0" err="1">
                <a:solidFill>
                  <a:srgbClr val="111827"/>
                </a:solidFill>
              </a:rPr>
              <a:t>por</a:t>
            </a:r>
            <a:r>
              <a:rPr lang="en-US" sz="1700" dirty="0">
                <a:solidFill>
                  <a:srgbClr val="111827"/>
                </a:solidFill>
              </a:rPr>
              <a:t> </a:t>
            </a:r>
            <a:r>
              <a:rPr lang="en-US" sz="1700" dirty="0" err="1">
                <a:solidFill>
                  <a:srgbClr val="111827"/>
                </a:solidFill>
              </a:rPr>
              <a:t>sexo</a:t>
            </a:r>
            <a:r>
              <a:rPr lang="en-US" sz="1700" dirty="0">
                <a:solidFill>
                  <a:srgbClr val="111827"/>
                </a:solidFill>
              </a:rPr>
              <a:t> da </a:t>
            </a:r>
            <a:r>
              <a:rPr lang="en-US" sz="1700" dirty="0" err="1">
                <a:solidFill>
                  <a:srgbClr val="111827"/>
                </a:solidFill>
              </a:rPr>
              <a:t>população</a:t>
            </a:r>
            <a:r>
              <a:rPr lang="en-US" sz="1700" dirty="0">
                <a:solidFill>
                  <a:srgbClr val="111827"/>
                </a:solidFill>
              </a:rPr>
              <a:t>:</a:t>
            </a:r>
            <a:endParaRPr lang="en-US" sz="17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Tabela 2">
                <a:extLst>
                  <a:ext uri="{FF2B5EF4-FFF2-40B4-BE49-F238E27FC236}">
                    <a16:creationId xmlns:a16="http://schemas.microsoft.com/office/drawing/2014/main" id="{D41280DF-035B-021A-BC3C-118133C8419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34671767"/>
                  </p:ext>
                </p:extLst>
              </p:nvPr>
            </p:nvGraphicFramePr>
            <p:xfrm>
              <a:off x="318110" y="4348282"/>
              <a:ext cx="6553478" cy="1968246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915072">
                      <a:extLst>
                        <a:ext uri="{9D8B030D-6E8A-4147-A177-3AD203B41FA5}">
                          <a16:colId xmlns:a16="http://schemas.microsoft.com/office/drawing/2014/main" val="4069882098"/>
                        </a:ext>
                      </a:extLst>
                    </a:gridCol>
                    <a:gridCol w="897622">
                      <a:extLst>
                        <a:ext uri="{9D8B030D-6E8A-4147-A177-3AD203B41FA5}">
                          <a16:colId xmlns:a16="http://schemas.microsoft.com/office/drawing/2014/main" val="3846902585"/>
                        </a:ext>
                      </a:extLst>
                    </a:gridCol>
                    <a:gridCol w="1921079">
                      <a:extLst>
                        <a:ext uri="{9D8B030D-6E8A-4147-A177-3AD203B41FA5}">
                          <a16:colId xmlns:a16="http://schemas.microsoft.com/office/drawing/2014/main" val="1444617292"/>
                        </a:ext>
                      </a:extLst>
                    </a:gridCol>
                    <a:gridCol w="1258348">
                      <a:extLst>
                        <a:ext uri="{9D8B030D-6E8A-4147-A177-3AD203B41FA5}">
                          <a16:colId xmlns:a16="http://schemas.microsoft.com/office/drawing/2014/main" val="338402198"/>
                        </a:ext>
                      </a:extLst>
                    </a:gridCol>
                    <a:gridCol w="1561357">
                      <a:extLst>
                        <a:ext uri="{9D8B030D-6E8A-4147-A177-3AD203B41FA5}">
                          <a16:colId xmlns:a16="http://schemas.microsoft.com/office/drawing/2014/main" val="2098839796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dirty="0"/>
                            <a:t>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pt-BR" sz="1200" dirty="0"/>
                            <a:t>População no 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pt-BR" sz="1200" dirty="0"/>
                            <a:t>Proporção na população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pt-BR" sz="1200" dirty="0"/>
                            <a:t>Amostra balanceada ((n=8))</a:t>
                          </a:r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pt-BR" sz="1200" dirty="0"/>
                            <a:t>Proporção da amostra</a:t>
                          </a:r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43474404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dirty="0"/>
                            <a:t>Masculino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pt-BR" dirty="0"/>
                            <a:t>8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num>
                                <m:den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18</m:t>
                                  </m:r>
                                </m:den>
                              </m:f>
                            </m:oMath>
                          </a14:m>
                          <a:r>
                            <a:rPr lang="pt-BR" dirty="0"/>
                            <a:t> = </a:t>
                          </a:r>
                          <a:r>
                            <a:rPr lang="pt-BR" b="1" dirty="0"/>
                            <a:t>44,44%</a:t>
                          </a:r>
                          <a:endParaRPr lang="pt-BR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pt-BR"/>
                            <a:t>4</a:t>
                          </a:r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num>
                                <m:den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den>
                              </m:f>
                            </m:oMath>
                          </a14:m>
                          <a:r>
                            <a:rPr lang="pt-BR" dirty="0"/>
                            <a:t> = </a:t>
                          </a:r>
                          <a:r>
                            <a:rPr lang="pt-BR" b="1" dirty="0">
                              <a:solidFill>
                                <a:srgbClr val="003F76"/>
                              </a:solidFill>
                            </a:rPr>
                            <a:t>50,00%</a:t>
                          </a:r>
                          <a:endParaRPr lang="pt-BR" dirty="0">
                            <a:solidFill>
                              <a:srgbClr val="003F76"/>
                            </a:solidFill>
                          </a:endParaRPr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56783355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dirty="0"/>
                            <a:t>Feminino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pt-BR"/>
                            <a:t>10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num>
                                <m:den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18</m:t>
                                  </m:r>
                                </m:den>
                              </m:f>
                            </m:oMath>
                          </a14:m>
                          <a:r>
                            <a:rPr lang="pt-BR" dirty="0"/>
                            <a:t> = </a:t>
                          </a:r>
                          <a:r>
                            <a:rPr lang="pt-BR" b="1" dirty="0"/>
                            <a:t>55,56%</a:t>
                          </a:r>
                          <a:endParaRPr lang="pt-BR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pt-BR" dirty="0"/>
                            <a:t>4</a:t>
                          </a:r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num>
                                <m:den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den>
                              </m:f>
                            </m:oMath>
                          </a14:m>
                          <a:r>
                            <a:rPr lang="pt-BR" dirty="0"/>
                            <a:t> = </a:t>
                          </a:r>
                          <a:r>
                            <a:rPr lang="pt-BR" b="1" dirty="0">
                              <a:solidFill>
                                <a:srgbClr val="003F76"/>
                              </a:solidFill>
                            </a:rPr>
                            <a:t>50,00%</a:t>
                          </a:r>
                          <a:endParaRPr lang="pt-BR" dirty="0">
                            <a:solidFill>
                              <a:srgbClr val="003F76"/>
                            </a:solidFill>
                          </a:endParaRPr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07755928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b="1" dirty="0"/>
                            <a:t>Total</a:t>
                          </a:r>
                          <a:endParaRPr lang="pt-BR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pt-BR" b="1"/>
                            <a:t>18</a:t>
                          </a:r>
                          <a:endParaRPr lang="pt-BR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pt-BR" b="1"/>
                            <a:t>100%</a:t>
                          </a:r>
                          <a:endParaRPr lang="pt-BR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pt-BR" b="1"/>
                            <a:t>8</a:t>
                          </a:r>
                          <a:endParaRPr lang="pt-BR"/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pt-BR" b="1" dirty="0"/>
                            <a:t>100%</a:t>
                          </a:r>
                          <a:endParaRPr lang="pt-BR" dirty="0"/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1659746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Tabela 2">
                <a:extLst>
                  <a:ext uri="{FF2B5EF4-FFF2-40B4-BE49-F238E27FC236}">
                    <a16:creationId xmlns:a16="http://schemas.microsoft.com/office/drawing/2014/main" id="{D41280DF-035B-021A-BC3C-118133C8419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34671767"/>
                  </p:ext>
                </p:extLst>
              </p:nvPr>
            </p:nvGraphicFramePr>
            <p:xfrm>
              <a:off x="318110" y="4348282"/>
              <a:ext cx="6553478" cy="1968246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915072">
                      <a:extLst>
                        <a:ext uri="{9D8B030D-6E8A-4147-A177-3AD203B41FA5}">
                          <a16:colId xmlns:a16="http://schemas.microsoft.com/office/drawing/2014/main" val="4069882098"/>
                        </a:ext>
                      </a:extLst>
                    </a:gridCol>
                    <a:gridCol w="897622">
                      <a:extLst>
                        <a:ext uri="{9D8B030D-6E8A-4147-A177-3AD203B41FA5}">
                          <a16:colId xmlns:a16="http://schemas.microsoft.com/office/drawing/2014/main" val="3846902585"/>
                        </a:ext>
                      </a:extLst>
                    </a:gridCol>
                    <a:gridCol w="1921079">
                      <a:extLst>
                        <a:ext uri="{9D8B030D-6E8A-4147-A177-3AD203B41FA5}">
                          <a16:colId xmlns:a16="http://schemas.microsoft.com/office/drawing/2014/main" val="1444617292"/>
                        </a:ext>
                      </a:extLst>
                    </a:gridCol>
                    <a:gridCol w="1258348">
                      <a:extLst>
                        <a:ext uri="{9D8B030D-6E8A-4147-A177-3AD203B41FA5}">
                          <a16:colId xmlns:a16="http://schemas.microsoft.com/office/drawing/2014/main" val="338402198"/>
                        </a:ext>
                      </a:extLst>
                    </a:gridCol>
                    <a:gridCol w="1561357">
                      <a:extLst>
                        <a:ext uri="{9D8B030D-6E8A-4147-A177-3AD203B41FA5}">
                          <a16:colId xmlns:a16="http://schemas.microsoft.com/office/drawing/2014/main" val="2098839796"/>
                        </a:ext>
                      </a:extLst>
                    </a:gridCol>
                  </a:tblGrid>
                  <a:tr h="64008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dirty="0"/>
                            <a:t>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pt-BR" sz="1200" dirty="0"/>
                            <a:t>População no 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pt-BR" sz="1200" dirty="0"/>
                            <a:t>Proporção na população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pt-BR" sz="1200" dirty="0"/>
                            <a:t>Amostra balanceada ((n=8))</a:t>
                          </a:r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pt-BR" sz="1200" dirty="0"/>
                            <a:t>Proporção da amostra</a:t>
                          </a:r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43474404"/>
                      </a:ext>
                    </a:extLst>
                  </a:tr>
                  <a:tr h="481203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dirty="0"/>
                            <a:t>Masculino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pt-BR" dirty="0"/>
                            <a:t>8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6"/>
                          <a:stretch>
                            <a:fillRect l="-94921" t="-132500" r="-147619" b="-1937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pt-BR"/>
                            <a:t>4</a:t>
                          </a:r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6"/>
                          <a:stretch>
                            <a:fillRect l="-320703" t="-132500" r="-781" b="-19375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56783355"/>
                      </a:ext>
                    </a:extLst>
                  </a:tr>
                  <a:tr h="481203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dirty="0"/>
                            <a:t>Feminino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pt-BR"/>
                            <a:t>10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6"/>
                          <a:stretch>
                            <a:fillRect l="-94921" t="-235443" r="-147619" b="-9620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pt-BR" dirty="0"/>
                            <a:t>4</a:t>
                          </a:r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6"/>
                          <a:stretch>
                            <a:fillRect l="-320703" t="-235443" r="-781" b="-9620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07755928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b="1" dirty="0"/>
                            <a:t>Total</a:t>
                          </a:r>
                          <a:endParaRPr lang="pt-BR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pt-BR" b="1"/>
                            <a:t>18</a:t>
                          </a:r>
                          <a:endParaRPr lang="pt-BR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pt-BR" b="1"/>
                            <a:t>100%</a:t>
                          </a:r>
                          <a:endParaRPr lang="pt-BR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pt-BR" b="1"/>
                            <a:t>8</a:t>
                          </a:r>
                          <a:endParaRPr lang="pt-BR"/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pt-BR" b="1" dirty="0"/>
                            <a:t>100%</a:t>
                          </a:r>
                          <a:endParaRPr lang="pt-BR" dirty="0"/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16597468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11" name="Imagem 10">
            <a:extLst>
              <a:ext uri="{FF2B5EF4-FFF2-40B4-BE49-F238E27FC236}">
                <a16:creationId xmlns:a16="http://schemas.microsoft.com/office/drawing/2014/main" id="{F8717012-3C1E-9429-F213-7C0E9C9FA21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89027" y="3261137"/>
            <a:ext cx="4438782" cy="33290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73509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Resumo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75488" y="493776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F69B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24128" y="5029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 err="1">
                <a:latin typeface="Aptos Display"/>
                <a:ea typeface="Aptos Display"/>
              </a:rPr>
              <a:t>Organização</a:t>
            </a:r>
            <a:r>
              <a:rPr lang="en-US" b="1" dirty="0">
                <a:latin typeface="Aptos Display"/>
                <a:ea typeface="Aptos Display"/>
              </a:rPr>
              <a:t> e </a:t>
            </a:r>
            <a:r>
              <a:rPr lang="en-US" b="1" dirty="0" err="1">
                <a:latin typeface="Aptos Display"/>
                <a:ea typeface="Aptos Display"/>
              </a:rPr>
              <a:t>Preparação</a:t>
            </a:r>
            <a:r>
              <a:rPr lang="en-US" b="1" dirty="0">
                <a:latin typeface="Aptos Display"/>
                <a:ea typeface="Aptos Display"/>
              </a:rPr>
              <a:t> de dados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475488" y="932688"/>
            <a:ext cx="11247120" cy="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1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22376" y="1106425"/>
            <a:ext cx="10195560" cy="530352"/>
          </a:xfrm>
          <a:prstGeom prst="rect">
            <a:avLst/>
          </a:prstGeom>
          <a:solidFill>
            <a:srgbClr val="EAF2FF"/>
          </a:solidFill>
          <a:ln w="12700">
            <a:solidFill>
              <a:srgbClr val="2F69BF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0B1F3A"/>
                </a:solidFill>
              </a:rPr>
              <a:t>Pergunta central: 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0B1F3A"/>
                </a:solidFill>
              </a:rPr>
              <a:t>Como preparar uma base de dados para </a:t>
            </a:r>
            <a:r>
              <a:rPr lang="en-US" sz="1200" b="1" u="sng" dirty="0">
                <a:solidFill>
                  <a:srgbClr val="0B1F3A"/>
                </a:solidFill>
              </a:rPr>
              <a:t>representar corretamente a população</a:t>
            </a:r>
            <a:r>
              <a:rPr lang="en-US" sz="1200" b="1" dirty="0">
                <a:solidFill>
                  <a:srgbClr val="0B1F3A"/>
                </a:solidFill>
              </a:rPr>
              <a:t> antes de treinar um </a:t>
            </a:r>
            <a:r>
              <a:rPr lang="en-US" sz="1200" b="1" dirty="0" err="1">
                <a:solidFill>
                  <a:srgbClr val="0B1F3A"/>
                </a:solidFill>
              </a:rPr>
              <a:t>modelo</a:t>
            </a:r>
            <a:r>
              <a:rPr lang="en-US" sz="1200" b="1" dirty="0">
                <a:solidFill>
                  <a:srgbClr val="0B1F3A"/>
                </a:solidFill>
              </a:rPr>
              <a:t> de </a:t>
            </a:r>
            <a:r>
              <a:rPr lang="en-US" sz="1200" b="1" dirty="0" err="1">
                <a:solidFill>
                  <a:srgbClr val="0B1F3A"/>
                </a:solidFill>
              </a:rPr>
              <a:t>aprendizado</a:t>
            </a:r>
            <a:r>
              <a:rPr lang="en-US" sz="1200" b="1" dirty="0">
                <a:solidFill>
                  <a:srgbClr val="0B1F3A"/>
                </a:solidFill>
              </a:rPr>
              <a:t> de </a:t>
            </a:r>
            <a:r>
              <a:rPr lang="en-US" sz="1200" b="1" dirty="0" err="1">
                <a:solidFill>
                  <a:srgbClr val="0B1F3A"/>
                </a:solidFill>
              </a:rPr>
              <a:t>máquina</a:t>
            </a:r>
            <a:r>
              <a:rPr lang="en-US" sz="1200" b="1" dirty="0">
                <a:solidFill>
                  <a:srgbClr val="0B1F3A"/>
                </a:solidFill>
              </a:rPr>
              <a:t>?</a:t>
            </a:r>
            <a:endParaRPr lang="en-US" sz="1200" dirty="0"/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FC64D6B2-B925-B563-2563-42EA30BE63F3}"/>
              </a:ext>
            </a:extLst>
          </p:cNvPr>
          <p:cNvSpPr txBox="1"/>
          <p:nvPr/>
        </p:nvSpPr>
        <p:spPr>
          <a:xfrm>
            <a:off x="689281" y="1875949"/>
            <a:ext cx="1019556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pt-BR" dirty="0"/>
              <a:t>O ponto importante é que </a:t>
            </a:r>
            <a:r>
              <a:rPr lang="pt-BR" b="1" dirty="0"/>
              <a:t>balanceada não significa necessariamente representativa da população</a:t>
            </a:r>
            <a:r>
              <a:rPr lang="pt-BR" dirty="0"/>
              <a:t>. No exemplo acima, a população original é 44,4% masculina e 55,6% feminina. </a:t>
            </a:r>
          </a:p>
          <a:p>
            <a:pPr>
              <a:buNone/>
            </a:pPr>
            <a:r>
              <a:rPr lang="pt-BR" dirty="0"/>
              <a:t>Portanto: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pt-BR" dirty="0"/>
              <a:t>a amostra 50/50 é balanceada, mas </a:t>
            </a:r>
            <a:r>
              <a:rPr lang="pt-BR" b="1" dirty="0"/>
              <a:t>não preserva a proporção da população</a:t>
            </a:r>
            <a:r>
              <a:rPr lang="pt-BR" dirty="0"/>
              <a:t>;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pt-BR" dirty="0"/>
              <a:t>a amostra 44,4/55,6 é não balanceada, mas </a:t>
            </a:r>
            <a:r>
              <a:rPr lang="pt-BR" b="1" dirty="0"/>
              <a:t>é proporcional à população</a:t>
            </a:r>
            <a:r>
              <a:rPr lang="pt-BR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CaixaDeTexto 26">
                <a:extLst>
                  <a:ext uri="{FF2B5EF4-FFF2-40B4-BE49-F238E27FC236}">
                    <a16:creationId xmlns:a16="http://schemas.microsoft.com/office/drawing/2014/main" id="{6D3FA05C-F1EC-41DA-6993-7F0303DB3CDF}"/>
                  </a:ext>
                </a:extLst>
              </p:cNvPr>
              <p:cNvSpPr txBox="1"/>
              <p:nvPr/>
            </p:nvSpPr>
            <p:spPr>
              <a:xfrm>
                <a:off x="722376" y="3892761"/>
                <a:ext cx="10129371" cy="231044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pt-BR" dirty="0"/>
                  <a:t>Isso é especialmente importante em </a:t>
                </a:r>
                <a:r>
                  <a:rPr lang="pt-BR" b="1" dirty="0"/>
                  <a:t>Machine Learning</a:t>
                </a:r>
                <a:r>
                  <a:rPr lang="pt-BR" dirty="0"/>
                  <a:t>. Imagine um conjunto com: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pt-BR" b="1" dirty="0"/>
                  <a:t>950</a:t>
                </a:r>
                <a:r>
                  <a:rPr lang="pt-BR" dirty="0"/>
                  <a:t> imagens de </a:t>
                </a:r>
                <a:r>
                  <a:rPr lang="pt-BR" b="1" dirty="0"/>
                  <a:t>cães</a:t>
                </a:r>
                <a:r>
                  <a:rPr lang="pt-BR" dirty="0"/>
                  <a:t> 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pt-BR" b="1" dirty="0"/>
                  <a:t>   50</a:t>
                </a:r>
                <a:r>
                  <a:rPr lang="pt-BR" dirty="0"/>
                  <a:t> imagens de </a:t>
                </a:r>
                <a:r>
                  <a:rPr lang="pt-BR" b="1" dirty="0"/>
                  <a:t>gatos</a:t>
                </a:r>
                <a:r>
                  <a:rPr lang="pt-BR" dirty="0"/>
                  <a:t> </a:t>
                </a:r>
              </a:p>
              <a:p>
                <a:pPr>
                  <a:lnSpc>
                    <a:spcPct val="150000"/>
                  </a:lnSpc>
                  <a:buNone/>
                </a:pPr>
                <a:r>
                  <a:rPr lang="pt-BR" dirty="0"/>
                  <a:t>O </a:t>
                </a:r>
                <a:r>
                  <a:rPr lang="pt-BR" dirty="0" err="1"/>
                  <a:t>dataset</a:t>
                </a:r>
                <a:r>
                  <a:rPr lang="pt-BR" dirty="0"/>
                  <a:t> está fortemente </a:t>
                </a:r>
                <a:r>
                  <a:rPr lang="pt-BR" b="1" dirty="0"/>
                  <a:t>desbalanceado</a:t>
                </a:r>
                <a:r>
                  <a:rPr lang="pt-BR" dirty="0"/>
                  <a:t>. Um classificador que dissesse sempre “cão” teria:</a:t>
                </a:r>
              </a:p>
              <a:p>
                <a:pPr>
                  <a:lnSpc>
                    <a:spcPct val="150000"/>
                  </a:lnSpc>
                  <a:buNone/>
                </a:pPr>
                <a14:m>
                  <m:oMath xmlns:m="http://schemas.openxmlformats.org/officeDocument/2006/math">
                    <m:f>
                      <m:fPr>
                        <m:ctrlPr>
                          <a:rPr lang="pt-BR" b="0" i="0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b="0" i="0" dirty="0" smtClean="0">
                            <a:latin typeface="Cambria Math" panose="02040503050406030204" pitchFamily="18" charset="0"/>
                          </a:rPr>
                          <m:t>950</m:t>
                        </m:r>
                      </m:num>
                      <m:den>
                        <m:r>
                          <a:rPr lang="pt-BR" b="0" i="0" dirty="0" smtClean="0">
                            <a:latin typeface="Cambria Math" panose="02040503050406030204" pitchFamily="18" charset="0"/>
                          </a:rPr>
                          <m:t>1000</m:t>
                        </m:r>
                      </m:den>
                    </m:f>
                  </m:oMath>
                </a14:m>
                <a:r>
                  <a:rPr lang="pt-BR" dirty="0"/>
                  <a:t>​ = 95% </a:t>
                </a:r>
              </a:p>
              <a:p>
                <a:pPr>
                  <a:lnSpc>
                    <a:spcPct val="150000"/>
                  </a:lnSpc>
                  <a:buNone/>
                </a:pPr>
                <a:r>
                  <a:rPr lang="pt-BR" dirty="0"/>
                  <a:t>de acurácia, embora não tivesse aprendido a reconhecer gatos.</a:t>
                </a:r>
              </a:p>
            </p:txBody>
          </p:sp>
        </mc:Choice>
        <mc:Fallback xmlns="">
          <p:sp>
            <p:nvSpPr>
              <p:cNvPr id="27" name="CaixaDeTexto 26">
                <a:extLst>
                  <a:ext uri="{FF2B5EF4-FFF2-40B4-BE49-F238E27FC236}">
                    <a16:creationId xmlns:a16="http://schemas.microsoft.com/office/drawing/2014/main" id="{6D3FA05C-F1EC-41DA-6993-7F0303DB3C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2376" y="3892761"/>
                <a:ext cx="10129371" cy="2310441"/>
              </a:xfrm>
              <a:prstGeom prst="rect">
                <a:avLst/>
              </a:prstGeom>
              <a:blipFill>
                <a:blip r:embed="rId3"/>
                <a:stretch>
                  <a:fillRect l="-542" t="-1319" b="-343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 0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75488" y="493776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F69B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24128" y="5029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Organização e preparação de dados: O </a:t>
            </a:r>
            <a:r>
              <a:rPr lang="en-US" sz="1700" b="1" dirty="0" err="1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que</a:t>
            </a: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é um DATASET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475488" y="932688"/>
            <a:ext cx="11247120" cy="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31520" y="1325880"/>
            <a:ext cx="32461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B1F3A"/>
                </a:solidFill>
              </a:rPr>
              <a:t>Unidade de análise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0B1F3A"/>
                </a:solidFill>
              </a:rPr>
              <a:t>O que será observado?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0B1F3A"/>
                </a:solidFill>
              </a:rPr>
              <a:t>Ex.: aluno, funcionário, imagem, transação.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480560" y="1325880"/>
            <a:ext cx="32461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B1F3A"/>
                </a:solidFill>
              </a:rPr>
              <a:t>Quais </a:t>
            </a:r>
            <a:r>
              <a:rPr lang="en-US" sz="1200" b="1" dirty="0" err="1">
                <a:solidFill>
                  <a:srgbClr val="0B1F3A"/>
                </a:solidFill>
              </a:rPr>
              <a:t>atributos</a:t>
            </a:r>
            <a:r>
              <a:rPr lang="en-US" sz="1200" b="1" dirty="0">
                <a:solidFill>
                  <a:srgbClr val="0B1F3A"/>
                </a:solidFill>
              </a:rPr>
              <a:t> </a:t>
            </a:r>
            <a:r>
              <a:rPr lang="en-US" sz="1200" b="1" dirty="0" err="1">
                <a:solidFill>
                  <a:srgbClr val="0B1F3A"/>
                </a:solidFill>
              </a:rPr>
              <a:t>definem</a:t>
            </a:r>
            <a:r>
              <a:rPr lang="en-US" sz="1200" b="1" dirty="0">
                <a:solidFill>
                  <a:srgbClr val="0B1F3A"/>
                </a:solidFill>
              </a:rPr>
              <a:t> </a:t>
            </a:r>
            <a:r>
              <a:rPr lang="en-US" sz="1200" b="1" dirty="0" err="1">
                <a:solidFill>
                  <a:srgbClr val="0B1F3A"/>
                </a:solidFill>
              </a:rPr>
              <a:t>os</a:t>
            </a:r>
            <a:r>
              <a:rPr lang="en-US" sz="1200" b="1" dirty="0">
                <a:solidFill>
                  <a:srgbClr val="0B1F3A"/>
                </a:solidFill>
              </a:rPr>
              <a:t> </a:t>
            </a:r>
            <a:r>
              <a:rPr lang="en-US" sz="1200" b="1" dirty="0" err="1">
                <a:solidFill>
                  <a:srgbClr val="0B1F3A"/>
                </a:solidFill>
              </a:rPr>
              <a:t>estrato</a:t>
            </a:r>
            <a:r>
              <a:rPr lang="en-US" sz="1200" b="1" dirty="0">
                <a:solidFill>
                  <a:srgbClr val="0B1F3A"/>
                </a:solidFill>
              </a:rPr>
              <a:t> ?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0B1F3A"/>
                </a:solidFill>
              </a:rPr>
              <a:t>Ex.: idade, curso, renda, classe.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0" y="1325880"/>
            <a:ext cx="32461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B1F3A"/>
                </a:solidFill>
              </a:rPr>
              <a:t>Alvo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0B1F3A"/>
                </a:solidFill>
              </a:rPr>
              <a:t>O que queremos explicar ou prever?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0B1F3A"/>
                </a:solidFill>
              </a:rPr>
              <a:t>Ex.: aprovado, compra, fraude.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08192" y="2606040"/>
            <a:ext cx="0" cy="548640"/>
          </a:xfrm>
          <a:prstGeom prst="line">
            <a:avLst/>
          </a:prstGeom>
          <a:noFill/>
          <a:ln w="19050">
            <a:solidFill>
              <a:srgbClr val="F08A24"/>
            </a:solidFill>
            <a:prstDash val="solid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4434840" y="3291840"/>
            <a:ext cx="3337560" cy="347472"/>
          </a:xfrm>
          <a:prstGeom prst="rect">
            <a:avLst/>
          </a:prstGeom>
          <a:solidFill>
            <a:srgbClr val="F08A24"/>
          </a:solidFill>
          <a:ln>
            <a:solidFill>
              <a:srgbClr val="F08A24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Preparar antes de modelar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479996" y="4322259"/>
            <a:ext cx="7018648" cy="73722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/>
        </p:spPr>
        <p:txBody>
          <a:bodyPr wrap="square" lIns="508" tIns="508" rIns="508" bIns="508" rtlCol="0" anchor="ctr">
            <a:normAutofit fontScale="70000" lnSpcReduction="20000"/>
          </a:bodyPr>
          <a:lstStyle/>
          <a:p>
            <a:pPr algn="just"/>
            <a:r>
              <a:rPr lang="pt-BR" dirty="0"/>
              <a:t>Um </a:t>
            </a:r>
            <a:r>
              <a:rPr lang="pt-BR" b="1" dirty="0"/>
              <a:t>DATASET</a:t>
            </a:r>
            <a:r>
              <a:rPr lang="pt-BR" sz="2000" dirty="0"/>
              <a:t> (ou conjunto de dados) é uma </a:t>
            </a:r>
            <a:r>
              <a:rPr lang="pt-BR" sz="2000" b="1" dirty="0"/>
              <a:t>coleção estruturada de informações organizadas para análise, pesquisa ou uso em inteligência artificial</a:t>
            </a:r>
            <a:r>
              <a:rPr lang="pt-BR" sz="2000" dirty="0"/>
              <a:t>. </a:t>
            </a:r>
          </a:p>
          <a:p>
            <a:pPr algn="just"/>
            <a:r>
              <a:rPr lang="pt-BR" sz="2000" dirty="0"/>
              <a:t>Ele funciona como uma tabela ou planilha grande, onde as linhas representam os registros individuais e as colunas descrevem as características ou atributos desses registros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417320" y="5212080"/>
            <a:ext cx="914400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FF0000"/>
                </a:solidFill>
              </a:rPr>
              <a:t>Um DATASET mal selecionada pode produzir </a:t>
            </a:r>
            <a:r>
              <a:rPr lang="en-US" sz="1400" dirty="0" err="1">
                <a:solidFill>
                  <a:srgbClr val="FF0000"/>
                </a:solidFill>
              </a:rPr>
              <a:t>conclusões</a:t>
            </a:r>
            <a:r>
              <a:rPr lang="en-US" sz="1400" dirty="0">
                <a:solidFill>
                  <a:srgbClr val="FF0000"/>
                </a:solidFill>
              </a:rPr>
              <a:t> ENVIESADAS (</a:t>
            </a:r>
            <a:r>
              <a:rPr lang="en-US" sz="1400" dirty="0" err="1">
                <a:solidFill>
                  <a:srgbClr val="FF0000"/>
                </a:solidFill>
              </a:rPr>
              <a:t>viciadas</a:t>
            </a:r>
            <a:r>
              <a:rPr lang="en-US" sz="1400" dirty="0">
                <a:solidFill>
                  <a:srgbClr val="FF0000"/>
                </a:solidFill>
              </a:rPr>
              <a:t>), mesmo usando bons algoritmos.</a:t>
            </a:r>
          </a:p>
        </p:txBody>
      </p:sp>
      <p:sp>
        <p:nvSpPr>
          <p:cNvPr id="13" name="Shape 10">
            <a:extLst>
              <a:ext uri="{FF2B5EF4-FFF2-40B4-BE49-F238E27FC236}">
                <a16:creationId xmlns:a16="http://schemas.microsoft.com/office/drawing/2014/main" id="{A4912A5F-5F16-0BA4-6DD1-BDB71F09BB2B}"/>
              </a:ext>
            </a:extLst>
          </p:cNvPr>
          <p:cNvSpPr/>
          <p:nvPr/>
        </p:nvSpPr>
        <p:spPr>
          <a:xfrm>
            <a:off x="6096000" y="3706396"/>
            <a:ext cx="0" cy="548640"/>
          </a:xfrm>
          <a:prstGeom prst="line">
            <a:avLst/>
          </a:prstGeom>
          <a:noFill/>
          <a:ln w="19050">
            <a:solidFill>
              <a:srgbClr val="F08A24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 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75488" y="493776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F69B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05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24128" y="5029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Exemplo 1 — Alunos de uma universidade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475488" y="932688"/>
            <a:ext cx="11247120" cy="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77240" y="1143000"/>
            <a:ext cx="9601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667085"/>
                </a:solidFill>
              </a:rPr>
              <a:t>População: 10.000 alunos  •  Amostra desejada: 1.000 alunos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31520" y="1600200"/>
            <a:ext cx="2208276" cy="384048"/>
          </a:xfrm>
          <a:prstGeom prst="rect">
            <a:avLst/>
          </a:prstGeom>
          <a:solidFill>
            <a:srgbClr val="2F69BF"/>
          </a:solidFill>
          <a:ln w="8890">
            <a:solidFill>
              <a:srgbClr val="FFFFFF"/>
            </a:solidFill>
          </a:ln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Estrato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939796" y="1600200"/>
            <a:ext cx="1577340" cy="384048"/>
          </a:xfrm>
          <a:prstGeom prst="rect">
            <a:avLst/>
          </a:prstGeom>
          <a:solidFill>
            <a:srgbClr val="2F69BF"/>
          </a:solidFill>
          <a:ln w="8890">
            <a:solidFill>
              <a:srgbClr val="FFFFFF"/>
            </a:solidFill>
          </a:ln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População no estrato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17136" y="1600200"/>
            <a:ext cx="1135685" cy="384048"/>
          </a:xfrm>
          <a:prstGeom prst="rect">
            <a:avLst/>
          </a:prstGeom>
          <a:solidFill>
            <a:srgbClr val="2F69BF"/>
          </a:solidFill>
          <a:ln w="8890">
            <a:solidFill>
              <a:srgbClr val="FFFFFF"/>
            </a:solidFill>
          </a:ln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Proporção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652821" y="1600200"/>
            <a:ext cx="1388059" cy="384048"/>
          </a:xfrm>
          <a:prstGeom prst="rect">
            <a:avLst/>
          </a:prstGeom>
          <a:solidFill>
            <a:srgbClr val="2F69BF"/>
          </a:solidFill>
          <a:ln w="8890">
            <a:solidFill>
              <a:srgbClr val="FFFFFF"/>
            </a:solidFill>
          </a:ln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Amostra proporcional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31520" y="1984248"/>
            <a:ext cx="2208276" cy="384048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0B1F3A"/>
                </a:solidFill>
              </a:rPr>
              <a:t>Engenharia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939796" y="1984248"/>
            <a:ext cx="1577340" cy="384048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3.000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17136" y="1984248"/>
            <a:ext cx="1135685" cy="384048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30%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652821" y="1984248"/>
            <a:ext cx="1388059" cy="384048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300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31520" y="2368296"/>
            <a:ext cx="2208276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0B1F3A"/>
                </a:solidFill>
              </a:rPr>
              <a:t>Administração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939796" y="2368296"/>
            <a:ext cx="1577340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2.500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17136" y="2368296"/>
            <a:ext cx="1135685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25%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52821" y="2368296"/>
            <a:ext cx="1388059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250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31520" y="2752344"/>
            <a:ext cx="2208276" cy="384048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0B1F3A"/>
                </a:solidFill>
              </a:rPr>
              <a:t>Direito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939796" y="2752344"/>
            <a:ext cx="1577340" cy="384048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2.000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17136" y="2752344"/>
            <a:ext cx="1135685" cy="384048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20%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652821" y="2752344"/>
            <a:ext cx="1388059" cy="384048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200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31520" y="3136392"/>
            <a:ext cx="2208276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0B1F3A"/>
                </a:solidFill>
              </a:rPr>
              <a:t>Saúde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2939796" y="3136392"/>
            <a:ext cx="1577340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1.500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17136" y="3136392"/>
            <a:ext cx="1135685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15%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652821" y="3136392"/>
            <a:ext cx="1388059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150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31520" y="3520440"/>
            <a:ext cx="2208276" cy="384048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0B1F3A"/>
                </a:solidFill>
              </a:rPr>
              <a:t>Outros cursos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939796" y="3520440"/>
            <a:ext cx="1577340" cy="384048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1.000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517136" y="3520440"/>
            <a:ext cx="1135685" cy="384048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10%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652821" y="3520440"/>
            <a:ext cx="1388059" cy="384048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100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31520" y="3904488"/>
            <a:ext cx="2208276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B1F3A"/>
                </a:solidFill>
              </a:rPr>
              <a:t>Total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2939796" y="3904488"/>
            <a:ext cx="1577340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1F3A"/>
                </a:solidFill>
              </a:rPr>
              <a:t>10.000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517136" y="3904488"/>
            <a:ext cx="1135685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1F3A"/>
                </a:solidFill>
              </a:rPr>
              <a:t>100%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652821" y="3904488"/>
            <a:ext cx="1388059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1F3A"/>
                </a:solidFill>
              </a:rPr>
              <a:t>1.000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680960" y="1645920"/>
            <a:ext cx="1005840" cy="320040"/>
          </a:xfrm>
          <a:prstGeom prst="rect">
            <a:avLst/>
          </a:prstGeom>
          <a:solidFill>
            <a:srgbClr val="F08A24"/>
          </a:solidFill>
          <a:ln>
            <a:solidFill>
              <a:srgbClr val="F08A24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Cálculo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7498080" y="2240280"/>
            <a:ext cx="3108960" cy="4206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F08A24"/>
                </a:solidFill>
              </a:rPr>
              <a:t>nₕ = n · Nₕ / N</a:t>
            </a:r>
            <a:endParaRPr lang="en-US" sz="2300" dirty="0"/>
          </a:p>
        </p:txBody>
      </p:sp>
      <p:sp>
        <p:nvSpPr>
          <p:cNvPr id="39" name="Text 37"/>
          <p:cNvSpPr/>
          <p:nvPr/>
        </p:nvSpPr>
        <p:spPr>
          <a:xfrm>
            <a:off x="7635240" y="3063240"/>
            <a:ext cx="31546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F08A24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0B1F3A"/>
                </a:solidFill>
              </a:rPr>
              <a:t>Engenharia:</a:t>
            </a:r>
            <a:endParaRPr lang="en-US" sz="1250" dirty="0"/>
          </a:p>
          <a:p>
            <a:pPr marL="0" indent="0">
              <a:buNone/>
            </a:pPr>
            <a:r>
              <a:rPr lang="en-US" sz="1250" b="1" dirty="0">
                <a:solidFill>
                  <a:srgbClr val="0B1F3A"/>
                </a:solidFill>
              </a:rPr>
              <a:t>1.000 × 3.000 / 10.000 = 300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7635240" y="4160520"/>
            <a:ext cx="3154680" cy="530352"/>
          </a:xfrm>
          <a:prstGeom prst="rect">
            <a:avLst/>
          </a:prstGeom>
          <a:solidFill>
            <a:srgbClr val="EAF2FF"/>
          </a:solidFill>
          <a:ln w="12700">
            <a:solidFill>
              <a:srgbClr val="2F69BF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0" indent="0">
              <a:buNone/>
            </a:pPr>
            <a:r>
              <a:rPr lang="en-US" sz="1150" b="1" dirty="0">
                <a:solidFill>
                  <a:srgbClr val="0B1F3A"/>
                </a:solidFill>
              </a:rPr>
              <a:t>A amostra mantém a composição da universidade.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 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75488" y="493776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F69B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06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24128" y="5029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Exemplo 2 — Funcionários de uma empresa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475488" y="932688"/>
            <a:ext cx="11247120" cy="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77240" y="1143000"/>
            <a:ext cx="9601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667085"/>
                </a:solidFill>
              </a:rPr>
              <a:t>População: 2.000 funcionários  •  Amostra desejada: 200 funcionários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31520" y="1600200"/>
            <a:ext cx="2208276" cy="384048"/>
          </a:xfrm>
          <a:prstGeom prst="rect">
            <a:avLst/>
          </a:prstGeom>
          <a:solidFill>
            <a:srgbClr val="2F69BF"/>
          </a:solidFill>
          <a:ln w="8890">
            <a:solidFill>
              <a:srgbClr val="FFFFFF"/>
            </a:solidFill>
          </a:ln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Estrato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939796" y="1600200"/>
            <a:ext cx="1388059" cy="384048"/>
          </a:xfrm>
          <a:prstGeom prst="rect">
            <a:avLst/>
          </a:prstGeom>
          <a:solidFill>
            <a:srgbClr val="2F69BF"/>
          </a:solidFill>
          <a:ln w="8890">
            <a:solidFill>
              <a:srgbClr val="FFFFFF"/>
            </a:solidFill>
          </a:ln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População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327855" y="1600200"/>
            <a:ext cx="1135685" cy="384048"/>
          </a:xfrm>
          <a:prstGeom prst="rect">
            <a:avLst/>
          </a:prstGeom>
          <a:solidFill>
            <a:srgbClr val="2F69BF"/>
          </a:solidFill>
          <a:ln w="8890">
            <a:solidFill>
              <a:srgbClr val="FFFFFF"/>
            </a:solidFill>
          </a:ln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Proporção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463540" y="1600200"/>
            <a:ext cx="1577340" cy="384048"/>
          </a:xfrm>
          <a:prstGeom prst="rect">
            <a:avLst/>
          </a:prstGeom>
          <a:solidFill>
            <a:srgbClr val="2F69BF"/>
          </a:solidFill>
          <a:ln w="8890">
            <a:solidFill>
              <a:srgbClr val="FFFFFF"/>
            </a:solidFill>
          </a:ln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Amostra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31520" y="1984248"/>
            <a:ext cx="2208276" cy="384048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0B1F3A"/>
                </a:solidFill>
              </a:rPr>
              <a:t>Produção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939796" y="1984248"/>
            <a:ext cx="1388059" cy="384048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900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327855" y="1984248"/>
            <a:ext cx="1135685" cy="384048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45%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463540" y="1984248"/>
            <a:ext cx="1577340" cy="384048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90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31520" y="2368296"/>
            <a:ext cx="2208276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0B1F3A"/>
                </a:solidFill>
              </a:rPr>
              <a:t>Administrativo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939796" y="2368296"/>
            <a:ext cx="1388059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400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327855" y="2368296"/>
            <a:ext cx="1135685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20%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463540" y="2368296"/>
            <a:ext cx="1577340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40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31520" y="2752344"/>
            <a:ext cx="2208276" cy="384048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0B1F3A"/>
                </a:solidFill>
              </a:rPr>
              <a:t>Comercial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939796" y="2752344"/>
            <a:ext cx="1388059" cy="384048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300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327855" y="2752344"/>
            <a:ext cx="1135685" cy="384048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15%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463540" y="2752344"/>
            <a:ext cx="1577340" cy="384048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30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31520" y="3136392"/>
            <a:ext cx="2208276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0B1F3A"/>
                </a:solidFill>
              </a:rPr>
              <a:t>Tecnologia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2939796" y="3136392"/>
            <a:ext cx="1388059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250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327855" y="3136392"/>
            <a:ext cx="1135685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12,5%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463540" y="3136392"/>
            <a:ext cx="1577340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25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31520" y="3520440"/>
            <a:ext cx="2208276" cy="384048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0B1F3A"/>
                </a:solidFill>
              </a:rPr>
              <a:t>Diretoria/Gestão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939796" y="3520440"/>
            <a:ext cx="1388059" cy="384048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150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327855" y="3520440"/>
            <a:ext cx="1135685" cy="384048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7,5%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463540" y="3520440"/>
            <a:ext cx="1577340" cy="384048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15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31520" y="3904488"/>
            <a:ext cx="2208276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B1F3A"/>
                </a:solidFill>
              </a:rPr>
              <a:t>Total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2939796" y="3904488"/>
            <a:ext cx="1388059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1F3A"/>
                </a:solidFill>
              </a:rPr>
              <a:t>2.000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327855" y="3904488"/>
            <a:ext cx="1135685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1F3A"/>
                </a:solidFill>
              </a:rPr>
              <a:t>100%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463540" y="3904488"/>
            <a:ext cx="1577340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1F3A"/>
                </a:solidFill>
              </a:rPr>
              <a:t>200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635240" y="1645920"/>
            <a:ext cx="868680" cy="320040"/>
          </a:xfrm>
          <a:prstGeom prst="rect">
            <a:avLst/>
          </a:prstGeom>
          <a:solidFill>
            <a:srgbClr val="2E9D62"/>
          </a:solidFill>
          <a:ln>
            <a:solidFill>
              <a:srgbClr val="2E9D62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Leitura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7543800" y="2148840"/>
            <a:ext cx="1481328" cy="347472"/>
          </a:xfrm>
          <a:prstGeom prst="rect">
            <a:avLst/>
          </a:prstGeom>
          <a:solidFill>
            <a:srgbClr val="2F69B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543800" y="2569464"/>
            <a:ext cx="14813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0B1F3A"/>
                </a:solidFill>
              </a:rPr>
              <a:t>Produção</a:t>
            </a:r>
            <a:endParaRPr lang="en-US" sz="720" dirty="0"/>
          </a:p>
        </p:txBody>
      </p:sp>
      <p:sp>
        <p:nvSpPr>
          <p:cNvPr id="40" name="Shape 38"/>
          <p:cNvSpPr/>
          <p:nvPr/>
        </p:nvSpPr>
        <p:spPr>
          <a:xfrm>
            <a:off x="9025128" y="2148840"/>
            <a:ext cx="658368" cy="347472"/>
          </a:xfrm>
          <a:prstGeom prst="rect">
            <a:avLst/>
          </a:prstGeom>
          <a:solidFill>
            <a:srgbClr val="2E9D6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025128" y="2569464"/>
            <a:ext cx="65836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0B1F3A"/>
                </a:solidFill>
              </a:rPr>
              <a:t>Adm.</a:t>
            </a:r>
            <a:endParaRPr lang="en-US" sz="720" dirty="0"/>
          </a:p>
        </p:txBody>
      </p:sp>
      <p:sp>
        <p:nvSpPr>
          <p:cNvPr id="42" name="Shape 40"/>
          <p:cNvSpPr/>
          <p:nvPr/>
        </p:nvSpPr>
        <p:spPr>
          <a:xfrm>
            <a:off x="9683496" y="2148840"/>
            <a:ext cx="493776" cy="347472"/>
          </a:xfrm>
          <a:prstGeom prst="rect">
            <a:avLst/>
          </a:prstGeom>
          <a:solidFill>
            <a:srgbClr val="F08A2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683496" y="2569464"/>
            <a:ext cx="49377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0B1F3A"/>
                </a:solidFill>
              </a:rPr>
              <a:t>Com.</a:t>
            </a:r>
            <a:endParaRPr lang="en-US" sz="720" dirty="0"/>
          </a:p>
        </p:txBody>
      </p:sp>
      <p:sp>
        <p:nvSpPr>
          <p:cNvPr id="44" name="Shape 42"/>
          <p:cNvSpPr/>
          <p:nvPr/>
        </p:nvSpPr>
        <p:spPr>
          <a:xfrm>
            <a:off x="10177272" y="2148840"/>
            <a:ext cx="411480" cy="347472"/>
          </a:xfrm>
          <a:prstGeom prst="rect">
            <a:avLst/>
          </a:prstGeom>
          <a:solidFill>
            <a:srgbClr val="6554C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0588752" y="2148840"/>
            <a:ext cx="246888" cy="347472"/>
          </a:xfrm>
          <a:prstGeom prst="rect">
            <a:avLst/>
          </a:prstGeom>
          <a:solidFill>
            <a:srgbClr val="36A2A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43800" y="3063240"/>
            <a:ext cx="34290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B1F3A"/>
                </a:solidFill>
              </a:rPr>
              <a:t>Produção representa 45% da empresa, então recebe 45% da amostra: 90 pessoas.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7543800" y="4069080"/>
            <a:ext cx="3429000" cy="685800"/>
          </a:xfrm>
          <a:prstGeom prst="rect">
            <a:avLst/>
          </a:prstGeom>
          <a:solidFill>
            <a:srgbClr val="FFF1E6"/>
          </a:solidFill>
          <a:ln w="12700">
            <a:solidFill>
              <a:srgbClr val="F08A24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0" indent="0">
              <a:buNone/>
            </a:pPr>
            <a:r>
              <a:rPr lang="en-US" sz="1150" b="1" dirty="0">
                <a:solidFill>
                  <a:srgbClr val="0B1F3A"/>
                </a:solidFill>
              </a:rPr>
              <a:t>A amostra proporcional não iguala os setores: ela preserva as diferenças da população.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8816F3F-2762-4A5C-3DF0-CF54BB734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8A6423D5-AAB8-19D2-9B0F-484C2BFB8911}"/>
              </a:ext>
            </a:extLst>
          </p:cNvPr>
          <p:cNvSpPr/>
          <p:nvPr/>
        </p:nvSpPr>
        <p:spPr>
          <a:xfrm>
            <a:off x="1787526" y="2701884"/>
            <a:ext cx="7843035" cy="12168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Regressão Logística</a:t>
            </a:r>
            <a:endParaRPr lang="en-US" sz="72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834B5DBE-7636-C081-1906-89CDC4FDF501}"/>
              </a:ext>
            </a:extLst>
          </p:cNvPr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318B9AD0-CC51-FBAA-35C4-6260C7A3F3B1}"/>
              </a:ext>
            </a:extLst>
          </p:cNvPr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10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8372779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DBF71F8-FCAC-A20A-2FBE-BB90A4FBF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A9A1ED7-E2D8-5566-1B5A-4A5B38FA761B}"/>
              </a:ext>
            </a:extLst>
          </p:cNvPr>
          <p:cNvSpPr/>
          <p:nvPr/>
        </p:nvSpPr>
        <p:spPr>
          <a:xfrm>
            <a:off x="475488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 III</a:t>
            </a:r>
            <a:endParaRPr lang="en-US" sz="9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728AE72-E217-E4B1-79D4-D1D99F6174EC}"/>
              </a:ext>
            </a:extLst>
          </p:cNvPr>
          <p:cNvSpPr/>
          <p:nvPr/>
        </p:nvSpPr>
        <p:spPr>
          <a:xfrm>
            <a:off x="475488" y="493776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F69B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</a:t>
            </a:r>
            <a:endParaRPr lang="en-US" sz="1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BD1AB1F-39F3-9FA8-0679-D6B40690C6E8}"/>
              </a:ext>
            </a:extLst>
          </p:cNvPr>
          <p:cNvSpPr/>
          <p:nvPr/>
        </p:nvSpPr>
        <p:spPr>
          <a:xfrm>
            <a:off x="1024128" y="5029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Regressão Logística</a:t>
            </a:r>
            <a:endParaRPr lang="en-US" sz="17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20E8EE76-0FB1-2360-5A65-E68C78668CE6}"/>
              </a:ext>
            </a:extLst>
          </p:cNvPr>
          <p:cNvSpPr/>
          <p:nvPr/>
        </p:nvSpPr>
        <p:spPr>
          <a:xfrm>
            <a:off x="475488" y="932688"/>
            <a:ext cx="11247120" cy="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739EB3FD-82C9-207F-C744-495DF1412518}"/>
              </a:ext>
            </a:extLst>
          </p:cNvPr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6DCC407E-36E5-F008-B556-E18FA6D3268D}"/>
              </a:ext>
            </a:extLst>
          </p:cNvPr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10</a:t>
            </a:r>
            <a:endParaRPr lang="en-US" sz="8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03DB3294-5D8E-3AC0-62F3-2697FB3663CE}"/>
              </a:ext>
            </a:extLst>
          </p:cNvPr>
          <p:cNvSpPr/>
          <p:nvPr/>
        </p:nvSpPr>
        <p:spPr>
          <a:xfrm>
            <a:off x="475488" y="1012330"/>
            <a:ext cx="9875520" cy="1618488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pt-BR" dirty="0"/>
              <a:t>Na </a:t>
            </a:r>
            <a:r>
              <a:rPr lang="pt-BR" b="1" dirty="0"/>
              <a:t>Regressão Linear</a:t>
            </a:r>
            <a:r>
              <a:rPr lang="pt-BR" dirty="0"/>
              <a:t> utilizamos o algoritmo de machine learning para descobrir um </a:t>
            </a:r>
            <a:r>
              <a:rPr lang="pt-BR" b="1" dirty="0"/>
              <a:t>valor numérico</a:t>
            </a:r>
            <a:r>
              <a:rPr lang="pt-BR" dirty="0"/>
              <a:t> contínuo. Chamado valor </a:t>
            </a:r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QUANTITATIVO</a:t>
            </a:r>
            <a:r>
              <a:rPr lang="pt-BR" dirty="0"/>
              <a:t>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pt-BR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pt-BR" dirty="0"/>
              <a:t>Na </a:t>
            </a:r>
            <a:r>
              <a:rPr lang="pt-BR" b="1" dirty="0"/>
              <a:t>Regressão Logística</a:t>
            </a:r>
            <a:r>
              <a:rPr lang="pt-BR" dirty="0"/>
              <a:t> utilizamos o algoritmo de machine learning para descobrir um </a:t>
            </a:r>
            <a:r>
              <a:rPr lang="pt-BR" b="1" dirty="0"/>
              <a:t>valor de </a:t>
            </a:r>
            <a:r>
              <a:rPr lang="pt-BR" b="1" dirty="0" err="1"/>
              <a:t>classificação</a:t>
            </a:r>
            <a:r>
              <a:rPr lang="pt-BR" dirty="0" err="1"/>
              <a:t>.Chamado</a:t>
            </a:r>
            <a:r>
              <a:rPr lang="pt-BR" dirty="0"/>
              <a:t> valor </a:t>
            </a:r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QUALITATIVO</a:t>
            </a:r>
            <a:r>
              <a:rPr lang="pt-BR" dirty="0"/>
              <a:t>.</a:t>
            </a:r>
          </a:p>
        </p:txBody>
      </p:sp>
      <p:graphicFrame>
        <p:nvGraphicFramePr>
          <p:cNvPr id="34" name="Tabela 33">
            <a:extLst>
              <a:ext uri="{FF2B5EF4-FFF2-40B4-BE49-F238E27FC236}">
                <a16:creationId xmlns:a16="http://schemas.microsoft.com/office/drawing/2014/main" id="{D1461C7E-3899-765A-AB65-3E0A626AD2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2592590"/>
              </p:ext>
            </p:extLst>
          </p:nvPr>
        </p:nvGraphicFramePr>
        <p:xfrm>
          <a:off x="515113" y="2707520"/>
          <a:ext cx="9835896" cy="3368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9661">
                  <a:extLst>
                    <a:ext uri="{9D8B030D-6E8A-4147-A177-3AD203B41FA5}">
                      <a16:colId xmlns:a16="http://schemas.microsoft.com/office/drawing/2014/main" val="4024873213"/>
                    </a:ext>
                  </a:extLst>
                </a:gridCol>
                <a:gridCol w="3809805">
                  <a:extLst>
                    <a:ext uri="{9D8B030D-6E8A-4147-A177-3AD203B41FA5}">
                      <a16:colId xmlns:a16="http://schemas.microsoft.com/office/drawing/2014/main" val="1916961231"/>
                    </a:ext>
                  </a:extLst>
                </a:gridCol>
                <a:gridCol w="4356430">
                  <a:extLst>
                    <a:ext uri="{9D8B030D-6E8A-4147-A177-3AD203B41FA5}">
                      <a16:colId xmlns:a16="http://schemas.microsoft.com/office/drawing/2014/main" val="389614775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1" i="0" dirty="0">
                          <a:solidFill>
                            <a:srgbClr val="374151"/>
                          </a:solidFill>
                          <a:effectLst/>
                          <a:latin typeface="Inter"/>
                        </a:rPr>
                        <a:t>Contexto / Área</a:t>
                      </a:r>
                    </a:p>
                  </a:txBody>
                  <a:tcPr marL="152400" marR="152400" marT="114300" marB="114300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1" i="0" dirty="0">
                          <a:solidFill>
                            <a:srgbClr val="374151"/>
                          </a:solidFill>
                          <a:effectLst/>
                          <a:latin typeface="Inter"/>
                        </a:rPr>
                        <a:t>Valores Qualitativos (Características / Categorias)</a:t>
                      </a:r>
                    </a:p>
                  </a:txBody>
                  <a:tcPr marL="152400" marR="152400" marT="114300" marB="114300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1" i="0" dirty="0">
                          <a:solidFill>
                            <a:srgbClr val="374151"/>
                          </a:solidFill>
                          <a:effectLst/>
                          <a:latin typeface="Inter"/>
                        </a:rPr>
                        <a:t>Valores Quantitativos (Medidas / Números)</a:t>
                      </a:r>
                    </a:p>
                  </a:txBody>
                  <a:tcPr marL="152400" marR="152400" marT="114300" marB="114300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30655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Perfil Pessoal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marL="171450" marR="0" indent="-171450" algn="l">
                        <a:buFontTx/>
                        <a:buChar char="-"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Estado civil: (</a:t>
                      </a:r>
                      <a:r>
                        <a:rPr lang="pt-BR" sz="1200" b="1" i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Inter"/>
                        </a:rPr>
                        <a:t>Solteiro, Casado, </a:t>
                      </a:r>
                      <a:r>
                        <a:rPr lang="pt-BR" sz="1200" b="1" i="0" dirty="0" err="1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Inter"/>
                        </a:rPr>
                        <a:t>Viuvo</a:t>
                      </a: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); </a:t>
                      </a:r>
                    </a:p>
                    <a:p>
                      <a:pPr marL="171450" marR="0" indent="-171450" algn="l">
                        <a:buFontTx/>
                        <a:buChar char="-"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Cor dos olhos: (</a:t>
                      </a:r>
                      <a:r>
                        <a:rPr lang="pt-BR" sz="1200" b="1" i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Inter"/>
                        </a:rPr>
                        <a:t>Negros, castanhos, verdes, azuis</a:t>
                      </a: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); </a:t>
                      </a:r>
                    </a:p>
                    <a:p>
                      <a:pPr marL="171450" marR="0" indent="-171450" algn="l">
                        <a:buFontTx/>
                        <a:buChar char="-"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Sexo: (</a:t>
                      </a:r>
                      <a:r>
                        <a:rPr lang="pt-BR" sz="1200" b="1" i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Inter"/>
                        </a:rPr>
                        <a:t>Masculino, Feminino</a:t>
                      </a: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);</a:t>
                      </a:r>
                    </a:p>
                  </a:txBody>
                  <a:tcPr marL="152400" marR="152400" marT="95250" marB="9525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indent="-171450" algn="l">
                        <a:buFontTx/>
                        <a:buChar char="-"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Idade: (</a:t>
                      </a:r>
                      <a:r>
                        <a:rPr lang="pt-BR" sz="1200" b="1" i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Inter"/>
                        </a:rPr>
                        <a:t>25</a:t>
                      </a: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 anos); </a:t>
                      </a:r>
                    </a:p>
                    <a:p>
                      <a:pPr marL="171450" marR="0" indent="-171450" algn="l">
                        <a:buFontTx/>
                        <a:buChar char="-"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Altura: (</a:t>
                      </a:r>
                      <a:r>
                        <a:rPr lang="pt-BR" sz="1200" b="1" i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Inter"/>
                        </a:rPr>
                        <a:t>1,75</a:t>
                      </a: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 m); </a:t>
                      </a:r>
                    </a:p>
                    <a:p>
                      <a:pPr marL="171450" marR="0" indent="-171450" algn="l">
                        <a:buFontTx/>
                        <a:buChar char="-"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Número de filhos: (</a:t>
                      </a:r>
                      <a:r>
                        <a:rPr lang="pt-BR" sz="1200" b="1" i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Inter"/>
                        </a:rPr>
                        <a:t>2</a:t>
                      </a: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);</a:t>
                      </a:r>
                    </a:p>
                  </a:txBody>
                  <a:tcPr marL="152400" marR="152400" marT="95250" marB="95250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03399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>
                        <a:buNone/>
                      </a:pPr>
                      <a:r>
                        <a:rPr lang="pt-BR" sz="1200" b="0" i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Avaliação de Produtos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marL="171450" marR="0" indent="-171450" algn="l">
                        <a:buFontTx/>
                        <a:buChar char="-"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Nível de satisfação: (</a:t>
                      </a:r>
                      <a:r>
                        <a:rPr lang="pt-BR" sz="1200" b="1" i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Inter"/>
                        </a:rPr>
                        <a:t>Ruim, Bom, Excelente</a:t>
                      </a: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); </a:t>
                      </a:r>
                    </a:p>
                    <a:p>
                      <a:pPr marL="171450" marR="0" indent="-171450" algn="l">
                        <a:buFontTx/>
                        <a:buChar char="-"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Marca: (</a:t>
                      </a:r>
                      <a:r>
                        <a:rPr lang="pt-BR" sz="1200" b="1" i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Inter"/>
                        </a:rPr>
                        <a:t>Chevrolet, </a:t>
                      </a:r>
                      <a:r>
                        <a:rPr lang="pt-BR" sz="1200" b="1" i="0" dirty="0" err="1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Inter"/>
                        </a:rPr>
                        <a:t>VolksWagen</a:t>
                      </a:r>
                      <a:r>
                        <a:rPr lang="pt-BR" sz="1200" b="1" i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Inter"/>
                        </a:rPr>
                        <a:t>, Toyota, BYD</a:t>
                      </a: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);</a:t>
                      </a:r>
                    </a:p>
                    <a:p>
                      <a:pPr marL="171450" marR="0" indent="-171450" algn="l">
                        <a:buFontTx/>
                        <a:buChar char="-"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Cor: (</a:t>
                      </a:r>
                      <a:r>
                        <a:rPr lang="pt-BR" sz="1200" b="1" i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Inter"/>
                        </a:rPr>
                        <a:t>amarelo, verde, roxo, marrom</a:t>
                      </a: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);</a:t>
                      </a:r>
                    </a:p>
                  </a:txBody>
                  <a:tcPr marL="152400" marR="152400" marT="95250" marB="95250"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indent="-171450" algn="l">
                        <a:buFontTx/>
                        <a:buChar char="-"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Nota de avaliação (</a:t>
                      </a:r>
                      <a:r>
                        <a:rPr lang="pt-BR" sz="1200" b="1" i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Inter"/>
                        </a:rPr>
                        <a:t>4.5</a:t>
                      </a: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 de 5); </a:t>
                      </a:r>
                    </a:p>
                    <a:p>
                      <a:pPr marL="171450" marR="0" indent="-171450" algn="l">
                        <a:buFontTx/>
                        <a:buChar char="-"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Preço (R$ 99,90); - Peso (</a:t>
                      </a:r>
                      <a:r>
                        <a:rPr lang="pt-BR" sz="1200" b="1" i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Inter"/>
                        </a:rPr>
                        <a:t>500</a:t>
                      </a: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g);</a:t>
                      </a:r>
                    </a:p>
                  </a:txBody>
                  <a:tcPr marL="152400" marR="152400" marT="95250" marB="95250" anchor="ctr">
                    <a:solidFill>
                      <a:srgbClr val="64D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38553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>
                        <a:buNone/>
                      </a:pPr>
                      <a:r>
                        <a:rPr lang="pt-BR" sz="1200" b="0" i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Saúde e Medicina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marL="171450" marR="0" indent="-171450" algn="l">
                        <a:buFontTx/>
                        <a:buChar char="-"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Tipo sanguíneo: (</a:t>
                      </a:r>
                      <a:r>
                        <a:rPr lang="pt-BR" sz="1200" b="1" i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Inter"/>
                        </a:rPr>
                        <a:t>O+</a:t>
                      </a: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); </a:t>
                      </a:r>
                    </a:p>
                    <a:p>
                      <a:pPr marL="171450" marR="0" indent="-171450" algn="l">
                        <a:buFontTx/>
                        <a:buChar char="-"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Diagnóstico: (</a:t>
                      </a:r>
                      <a:r>
                        <a:rPr lang="pt-BR" sz="1200" b="1" i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Inter"/>
                        </a:rPr>
                        <a:t>Hipertensão</a:t>
                      </a: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); </a:t>
                      </a:r>
                    </a:p>
                    <a:p>
                      <a:pPr marL="171450" marR="0" indent="-171450" algn="l">
                        <a:buFontTx/>
                        <a:buChar char="-"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Sintomas: (</a:t>
                      </a:r>
                      <a:r>
                        <a:rPr lang="pt-BR" sz="1200" b="1" i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Inter"/>
                        </a:rPr>
                        <a:t>Coceira, Dor de barriga</a:t>
                      </a: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);</a:t>
                      </a:r>
                    </a:p>
                  </a:txBody>
                  <a:tcPr marL="152400" marR="152400" marT="95250" marB="9525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indent="-171450" algn="l">
                        <a:buFontTx/>
                        <a:buChar char="-"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Pressão arterial (</a:t>
                      </a:r>
                      <a:r>
                        <a:rPr lang="pt-BR" sz="1200" b="1" i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Inter"/>
                        </a:rPr>
                        <a:t>120</a:t>
                      </a: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/</a:t>
                      </a:r>
                      <a:r>
                        <a:rPr lang="pt-BR" sz="1200" b="1" i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Inter"/>
                        </a:rPr>
                        <a:t>80</a:t>
                      </a: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 mmHg); </a:t>
                      </a:r>
                    </a:p>
                    <a:p>
                      <a:pPr marL="171450" marR="0" indent="-171450" algn="l">
                        <a:buFontTx/>
                        <a:buChar char="-"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Batimentos cardíacos (</a:t>
                      </a:r>
                      <a:r>
                        <a:rPr lang="pt-BR" sz="1200" b="1" i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Inter"/>
                        </a:rPr>
                        <a:t>75</a:t>
                      </a: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 bpm);</a:t>
                      </a:r>
                    </a:p>
                  </a:txBody>
                  <a:tcPr marL="152400" marR="152400" marT="95250" marB="95250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93987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>
                        <a:buNone/>
                      </a:pPr>
                      <a:r>
                        <a:rPr lang="pt-BR" sz="1200" b="0" i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Educação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marL="171450" marR="0" indent="-171450" algn="l">
                        <a:buFontTx/>
                        <a:buChar char="-"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Conceito escolar: (</a:t>
                      </a:r>
                      <a:r>
                        <a:rPr lang="pt-BR" sz="1200" b="1" i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Inter"/>
                        </a:rPr>
                        <a:t>Aprovado, Reprovado</a:t>
                      </a: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); </a:t>
                      </a:r>
                    </a:p>
                    <a:p>
                      <a:pPr marL="171450" marR="0" indent="-171450" algn="l">
                        <a:buFontTx/>
                        <a:buChar char="-"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Matéria favorita: (</a:t>
                      </a:r>
                      <a:r>
                        <a:rPr lang="pt-BR" sz="1200" b="1" i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Inter"/>
                        </a:rPr>
                        <a:t>ciências, matemática, português</a:t>
                      </a: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);</a:t>
                      </a:r>
                    </a:p>
                  </a:txBody>
                  <a:tcPr marL="152400" marR="152400" marT="95250" marB="95250"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indent="-171450" algn="l">
                        <a:buFontTx/>
                        <a:buChar char="-"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Nota da prova (</a:t>
                      </a:r>
                      <a:r>
                        <a:rPr lang="pt-BR" sz="1200" b="1" i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Inter"/>
                        </a:rPr>
                        <a:t>8,5</a:t>
                      </a: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); </a:t>
                      </a:r>
                    </a:p>
                    <a:p>
                      <a:pPr marL="171450" marR="0" indent="-171450" algn="l">
                        <a:buFontTx/>
                        <a:buChar char="-"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Faltas no ano (</a:t>
                      </a:r>
                      <a:r>
                        <a:rPr lang="pt-BR" sz="1200" b="1" i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Inter"/>
                        </a:rPr>
                        <a:t>3</a:t>
                      </a: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); </a:t>
                      </a:r>
                    </a:p>
                    <a:p>
                      <a:pPr marL="171450" marR="0" indent="-171450" algn="l">
                        <a:buFontTx/>
                        <a:buChar char="-"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Tempo de estudo (</a:t>
                      </a:r>
                      <a:r>
                        <a:rPr lang="pt-BR" sz="1200" b="1" i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Inter"/>
                        </a:rPr>
                        <a:t>2</a:t>
                      </a: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h);</a:t>
                      </a:r>
                    </a:p>
                  </a:txBody>
                  <a:tcPr marL="152400" marR="152400" marT="95250" marB="95250" anchor="ctr">
                    <a:solidFill>
                      <a:srgbClr val="64D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58666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9797576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 III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75488" y="493776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F69B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24128" y="5029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Regressão Logística — probabilidade e limiar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475488" y="932688"/>
            <a:ext cx="11247120" cy="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11</a:t>
            </a:r>
            <a:endParaRPr lang="en-US" sz="8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9" name="Text 37"/>
              <p:cNvSpPr/>
              <p:nvPr/>
            </p:nvSpPr>
            <p:spPr>
              <a:xfrm>
                <a:off x="722376" y="1078990"/>
                <a:ext cx="10954512" cy="2350009"/>
              </a:xfrm>
              <a:prstGeom prst="rect">
                <a:avLst/>
              </a:prstGeom>
              <a:solidFill>
                <a:srgbClr val="FFFFFF"/>
              </a:solidFill>
              <a:ln w="12700">
                <a:solidFill>
                  <a:srgbClr val="D9DEE7"/>
                </a:solidFill>
              </a:ln>
            </p:spPr>
            <p:txBody>
              <a:bodyPr wrap="square" lIns="1143" tIns="1143" rIns="1143" bIns="1143" rtlCol="0" anchor="ctr">
                <a:normAutofit lnSpcReduction="10000"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dirty="0"/>
                  <a:t>A regressão logística é uma regressão linear onde aplicamos uma função do tipo </a:t>
                </a:r>
                <a:r>
                  <a:rPr lang="pt-BR" b="1" dirty="0"/>
                  <a:t>sigmoide</a:t>
                </a:r>
                <a:r>
                  <a:rPr lang="pt-BR" dirty="0"/>
                  <a:t> chamada </a:t>
                </a:r>
                <a:r>
                  <a:rPr lang="pt-BR" b="1" dirty="0"/>
                  <a:t>função logística</a:t>
                </a:r>
                <a:r>
                  <a:rPr lang="pt-BR" dirty="0"/>
                  <a:t>.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dirty="0"/>
                  <a:t>Quando estudamos Regressão Linear, calculamos a equação da reta para aproximar a reta que o modelo desenhava a todos os pontos formados entre entrada “x” e saída “y”. O modelo tinha o formato da equação de reta 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𝑌</m:t>
                    </m:r>
                    <m:r>
                      <a:rPr lang="pt-BR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1" i="1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𝒘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pt-BR">
                        <a:latin typeface="Cambria Math" panose="02040503050406030204" pitchFamily="18" charset="0"/>
                      </a:rPr>
                      <m:t>+</m:t>
                    </m:r>
                    <m:r>
                      <a:rPr lang="pt-BR" b="1" i="1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r>
                  <a:rPr lang="pt-BR" dirty="0"/>
                  <a:t> ;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dirty="0"/>
                  <a:t>A missão era descobrir o valor de “w” e “b”. </a:t>
                </a:r>
              </a:p>
            </p:txBody>
          </p:sp>
        </mc:Choice>
        <mc:Fallback>
          <p:sp>
            <p:nvSpPr>
              <p:cNvPr id="39" name="Text 3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2376" y="1078990"/>
                <a:ext cx="10954512" cy="2350009"/>
              </a:xfrm>
              <a:prstGeom prst="rect">
                <a:avLst/>
              </a:prstGeom>
              <a:blipFill>
                <a:blip r:embed="rId3"/>
                <a:stretch>
                  <a:fillRect l="-1278" b="-4393"/>
                </a:stretch>
              </a:blipFill>
              <a:ln w="12700">
                <a:solidFill>
                  <a:srgbClr val="D9DEE7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Text 38"/>
          <p:cNvSpPr/>
          <p:nvPr/>
        </p:nvSpPr>
        <p:spPr>
          <a:xfrm>
            <a:off x="722376" y="3807975"/>
            <a:ext cx="3840480" cy="1024128"/>
          </a:xfrm>
          <a:prstGeom prst="rect">
            <a:avLst/>
          </a:prstGeom>
          <a:solidFill>
            <a:srgbClr val="FFF1E6"/>
          </a:solidFill>
          <a:ln w="12700">
            <a:solidFill>
              <a:srgbClr val="F08A24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pPr algn="ctr"/>
            <a:r>
              <a:rPr lang="pt-BR" sz="4000" b="1" i="1" dirty="0"/>
              <a:t>Y  </a:t>
            </a:r>
            <a:r>
              <a:rPr lang="pt-BR" sz="4000" b="1" dirty="0"/>
              <a:t>=  </a:t>
            </a:r>
            <a:r>
              <a:rPr lang="pt-BR" sz="4000" b="1" i="1" dirty="0">
                <a:solidFill>
                  <a:srgbClr val="8B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w</a:t>
            </a:r>
            <a:r>
              <a:rPr lang="pt-BR" sz="4000" b="1" dirty="0"/>
              <a:t>(</a:t>
            </a:r>
            <a:r>
              <a:rPr lang="pt-BR" sz="4000" b="1" i="1" dirty="0"/>
              <a:t>X</a:t>
            </a:r>
            <a:r>
              <a:rPr lang="pt-BR" sz="4000" b="1" dirty="0"/>
              <a:t>)  +  </a:t>
            </a:r>
            <a:r>
              <a:rPr lang="pt-BR" sz="4000" b="1" i="1" dirty="0">
                <a:solidFill>
                  <a:srgbClr val="8B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</a:t>
            </a:r>
            <a:r>
              <a:rPr lang="pt-BR" sz="4000" b="1" dirty="0"/>
              <a:t>;</a:t>
            </a:r>
            <a:endParaRPr lang="en-US" sz="4000" b="1" dirty="0"/>
          </a:p>
        </p:txBody>
      </p:sp>
      <p:pic>
        <p:nvPicPr>
          <p:cNvPr id="42" name="Imagem 41">
            <a:extLst>
              <a:ext uri="{FF2B5EF4-FFF2-40B4-BE49-F238E27FC236}">
                <a16:creationId xmlns:a16="http://schemas.microsoft.com/office/drawing/2014/main" id="{40643323-9D9D-B52F-0456-38F0A77E2F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9288" y="3593087"/>
            <a:ext cx="5474404" cy="2414019"/>
          </a:xfrm>
          <a:prstGeom prst="rect">
            <a:avLst/>
          </a:prstGeom>
        </p:spPr>
      </p:pic>
      <p:sp>
        <p:nvSpPr>
          <p:cNvPr id="43" name="Seta: para a Direita 42">
            <a:extLst>
              <a:ext uri="{FF2B5EF4-FFF2-40B4-BE49-F238E27FC236}">
                <a16:creationId xmlns:a16="http://schemas.microsoft.com/office/drawing/2014/main" id="{D52EF24F-ADB2-3E90-8778-48ADD4E08BF5}"/>
              </a:ext>
            </a:extLst>
          </p:cNvPr>
          <p:cNvSpPr/>
          <p:nvPr/>
        </p:nvSpPr>
        <p:spPr>
          <a:xfrm>
            <a:off x="4756558" y="4102218"/>
            <a:ext cx="553673" cy="42783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DC3A368-3013-17B8-369D-C693456FC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33CB03B-9303-6793-E2B4-4AB1C03ED359}"/>
              </a:ext>
            </a:extLst>
          </p:cNvPr>
          <p:cNvSpPr/>
          <p:nvPr/>
        </p:nvSpPr>
        <p:spPr>
          <a:xfrm>
            <a:off x="475488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 III</a:t>
            </a:r>
            <a:endParaRPr lang="en-US" sz="9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A4CE411-03DF-0575-E222-D190FAA84242}"/>
              </a:ext>
            </a:extLst>
          </p:cNvPr>
          <p:cNvSpPr/>
          <p:nvPr/>
        </p:nvSpPr>
        <p:spPr>
          <a:xfrm>
            <a:off x="475488" y="493776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F69B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11</a:t>
            </a:r>
            <a:endParaRPr lang="en-US" sz="1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CF408B0-77A8-0952-532D-A0D73CBAEB8A}"/>
              </a:ext>
            </a:extLst>
          </p:cNvPr>
          <p:cNvSpPr/>
          <p:nvPr/>
        </p:nvSpPr>
        <p:spPr>
          <a:xfrm>
            <a:off x="1024128" y="5029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Regressão Logística — probabilidade e limiar</a:t>
            </a:r>
            <a:endParaRPr lang="en-US" sz="17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595EB4B8-52A7-4316-9873-3D6453954317}"/>
              </a:ext>
            </a:extLst>
          </p:cNvPr>
          <p:cNvSpPr/>
          <p:nvPr/>
        </p:nvSpPr>
        <p:spPr>
          <a:xfrm>
            <a:off x="475488" y="932688"/>
            <a:ext cx="11247120" cy="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A706BF9-676F-3074-E4D8-F98EE78308CA}"/>
              </a:ext>
            </a:extLst>
          </p:cNvPr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457EFB06-76D1-3556-0A70-7813CEE8847C}"/>
              </a:ext>
            </a:extLst>
          </p:cNvPr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11</a:t>
            </a:r>
            <a:endParaRPr lang="en-US" sz="800" dirty="0"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1A1BEAEE-76F0-F7D4-DBB5-B4693ED170C8}"/>
              </a:ext>
            </a:extLst>
          </p:cNvPr>
          <p:cNvSpPr/>
          <p:nvPr/>
        </p:nvSpPr>
        <p:spPr>
          <a:xfrm>
            <a:off x="722376" y="1078991"/>
            <a:ext cx="10171316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txBody>
          <a:bodyPr wrap="square" lIns="1143" tIns="1143" rIns="1143" bIns="1143" rtlCol="0" anchor="ctr">
            <a:normAutofit fontScale="92500" lnSpcReduction="20000"/>
          </a:bodyPr>
          <a:lstStyle/>
          <a:p>
            <a:pPr>
              <a:lnSpc>
                <a:spcPct val="150000"/>
              </a:lnSpc>
            </a:pPr>
            <a:r>
              <a:rPr lang="pt-BR" dirty="0"/>
              <a:t>Vamos agora buscar uma função </a:t>
            </a:r>
            <a:r>
              <a:rPr lang="pt-BR" b="1" dirty="0"/>
              <a:t>que desenhe</a:t>
            </a:r>
            <a:r>
              <a:rPr lang="pt-BR" dirty="0"/>
              <a:t> um </a:t>
            </a:r>
            <a:r>
              <a:rPr lang="pt-BR" sz="4400" dirty="0"/>
              <a:t>“S”. </a:t>
            </a:r>
            <a:r>
              <a:rPr lang="pt-BR" dirty="0"/>
              <a:t>O desafio continua sendo descobrir os valores de “w” e “b”. </a:t>
            </a:r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8C041F4A-032B-9141-9BF9-C2FBA2F4E159}"/>
              </a:ext>
            </a:extLst>
          </p:cNvPr>
          <p:cNvSpPr/>
          <p:nvPr/>
        </p:nvSpPr>
        <p:spPr>
          <a:xfrm>
            <a:off x="5338250" y="2615183"/>
            <a:ext cx="3840480" cy="1024128"/>
          </a:xfrm>
          <a:prstGeom prst="rect">
            <a:avLst/>
          </a:prstGeom>
          <a:solidFill>
            <a:srgbClr val="FFF1E6"/>
          </a:solidFill>
          <a:ln w="12700">
            <a:solidFill>
              <a:srgbClr val="F08A24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pPr algn="ctr"/>
            <a:r>
              <a:rPr lang="pt-BR" sz="4000" b="1" i="1" dirty="0"/>
              <a:t>Z  </a:t>
            </a:r>
            <a:r>
              <a:rPr lang="pt-BR" sz="4000" b="1" dirty="0"/>
              <a:t>=  </a:t>
            </a:r>
            <a:r>
              <a:rPr lang="pt-BR" sz="4000" b="1" i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w</a:t>
            </a:r>
            <a:r>
              <a:rPr lang="pt-BR" sz="4000" b="1" dirty="0"/>
              <a:t>(</a:t>
            </a:r>
            <a:r>
              <a:rPr lang="pt-BR" sz="4000" b="1" i="1" dirty="0"/>
              <a:t>X</a:t>
            </a:r>
            <a:r>
              <a:rPr lang="pt-BR" sz="4000" b="1" dirty="0"/>
              <a:t>)  +  </a:t>
            </a:r>
            <a:r>
              <a:rPr lang="pt-BR" sz="4000" b="1" i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</a:t>
            </a:r>
            <a:r>
              <a:rPr lang="pt-BR" sz="4000" b="1" dirty="0"/>
              <a:t>;</a:t>
            </a:r>
            <a:endParaRPr lang="en-US" sz="40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ixaDeTexto 7">
                <a:extLst>
                  <a:ext uri="{FF2B5EF4-FFF2-40B4-BE49-F238E27FC236}">
                    <a16:creationId xmlns:a16="http://schemas.microsoft.com/office/drawing/2014/main" id="{7372155E-DD0B-A98E-6F94-FE7924E42273}"/>
                  </a:ext>
                </a:extLst>
              </p:cNvPr>
              <p:cNvSpPr txBox="1"/>
              <p:nvPr/>
            </p:nvSpPr>
            <p:spPr>
              <a:xfrm>
                <a:off x="722376" y="2381081"/>
                <a:ext cx="4026715" cy="1492332"/>
              </a:xfrm>
              <a:prstGeom prst="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pt-BR" sz="4800" b="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pt-BR" sz="4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4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4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4800" b="0" i="1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pt-BR" sz="48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48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pt-BR" sz="48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sz="4800" i="1" smtClean="0">
                                  <a:ln w="0"/>
                                  <a:solidFill>
                                    <a:schemeClr val="accent1"/>
                                  </a:solidFill>
                                  <a:effectLst>
                                    <a:outerShdw blurRad="38100" dist="25400" dir="5400000" algn="ctr" rotWithShape="0">
                                      <a:srgbClr val="6E747A">
                                        <a:alpha val="43000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pt-BR" sz="4800" dirty="0"/>
              </a:p>
            </p:txBody>
          </p:sp>
        </mc:Choice>
        <mc:Fallback xmlns="">
          <p:sp>
            <p:nvSpPr>
              <p:cNvPr id="8" name="CaixaDeTexto 7">
                <a:extLst>
                  <a:ext uri="{FF2B5EF4-FFF2-40B4-BE49-F238E27FC236}">
                    <a16:creationId xmlns:a16="http://schemas.microsoft.com/office/drawing/2014/main" id="{7372155E-DD0B-A98E-6F94-FE7924E422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2376" y="2381081"/>
                <a:ext cx="4026715" cy="1492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Seta: para a Esquerda 8">
            <a:extLst>
              <a:ext uri="{FF2B5EF4-FFF2-40B4-BE49-F238E27FC236}">
                <a16:creationId xmlns:a16="http://schemas.microsoft.com/office/drawing/2014/main" id="{63487EA3-9052-5DA0-E171-F5770E803020}"/>
              </a:ext>
            </a:extLst>
          </p:cNvPr>
          <p:cNvSpPr/>
          <p:nvPr/>
        </p:nvSpPr>
        <p:spPr>
          <a:xfrm rot="20708814">
            <a:off x="4410347" y="2985543"/>
            <a:ext cx="1220338" cy="505807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id="{39702197-EBC3-F84E-74A6-CF3993746A2B}"/>
                  </a:ext>
                </a:extLst>
              </p:cNvPr>
              <p:cNvSpPr txBox="1"/>
              <p:nvPr/>
            </p:nvSpPr>
            <p:spPr>
              <a:xfrm>
                <a:off x="722376" y="4641032"/>
                <a:ext cx="5594534" cy="1506118"/>
              </a:xfrm>
              <a:prstGeom prst="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pt-BR" sz="4800" b="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pt-BR" sz="4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4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4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4800" b="0" i="1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pt-BR" sz="48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48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pt-BR" sz="48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sz="4800" b="0" i="1" smtClean="0">
                                  <a:ln w="0"/>
                                  <a:solidFill>
                                    <a:schemeClr val="accent1"/>
                                  </a:solidFill>
                                  <a:effectLst>
                                    <a:outerShdw blurRad="38100" dist="25400" dir="5400000" algn="ctr" rotWithShape="0">
                                      <a:srgbClr val="6E747A">
                                        <a:alpha val="43000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</a:rPr>
                                <m:t>( </m:t>
                              </m:r>
                              <m:r>
                                <a:rPr lang="pt-BR" sz="4800" b="1" i="1" smtClean="0">
                                  <a:ln w="0"/>
                                  <a:solidFill>
                                    <a:srgbClr val="F43110"/>
                                  </a:solidFill>
                                  <a:effectLst>
                                    <a:outerShdw blurRad="38100" dist="25400" dir="5400000" algn="ctr" rotWithShape="0">
                                      <a:srgbClr val="6E747A">
                                        <a:alpha val="43000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</a:rPr>
                                <m:t>𝒘</m:t>
                              </m:r>
                              <m:r>
                                <a:rPr lang="pt-BR" sz="4800" b="0" i="1" smtClean="0">
                                  <a:ln w="0"/>
                                  <a:solidFill>
                                    <a:schemeClr val="accent1"/>
                                  </a:solidFill>
                                  <a:effectLst>
                                    <a:outerShdw blurRad="38100" dist="25400" dir="5400000" algn="ctr" rotWithShape="0">
                                      <a:srgbClr val="6E747A">
                                        <a:alpha val="43000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pt-BR" sz="4800" b="0" i="1" smtClean="0">
                                  <a:ln w="0"/>
                                  <a:solidFill>
                                    <a:schemeClr val="tx1"/>
                                  </a:solidFill>
                                  <a:effectLst>
                                    <a:outerShdw blurRad="38100" dist="25400" dir="5400000" algn="ctr" rotWithShape="0">
                                      <a:srgbClr val="6E747A">
                                        <a:alpha val="43000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  <m:r>
                                <a:rPr lang="pt-BR" sz="4800" b="0" i="1" smtClean="0">
                                  <a:ln w="0"/>
                                  <a:solidFill>
                                    <a:schemeClr val="accent1"/>
                                  </a:solidFill>
                                  <a:effectLst>
                                    <a:outerShdw blurRad="38100" dist="25400" dir="5400000" algn="ctr" rotWithShape="0">
                                      <a:srgbClr val="6E747A">
                                        <a:alpha val="43000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</a:rPr>
                                <m:t>) + </m:t>
                              </m:r>
                              <m:r>
                                <m:rPr>
                                  <m:sty m:val="p"/>
                                </m:rPr>
                                <a:rPr lang="pt-BR" sz="4800" b="0" i="1" smtClean="0">
                                  <a:ln w="0"/>
                                  <a:solidFill>
                                    <a:srgbClr val="C00000"/>
                                  </a:solidFill>
                                  <a:effectLst>
                                    <a:outerShdw blurRad="38100" dist="25400" dir="5400000" algn="ctr" rotWithShape="0">
                                      <a:srgbClr val="6E747A">
                                        <a:alpha val="43000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  <m:r>
                                <a:rPr lang="pt-BR" sz="4800" b="0" i="1" smtClean="0">
                                  <a:ln w="0"/>
                                  <a:solidFill>
                                    <a:schemeClr val="accent1"/>
                                  </a:solidFill>
                                  <a:effectLst>
                                    <a:outerShdw blurRad="38100" dist="25400" dir="5400000" algn="ctr" rotWithShape="0">
                                      <a:srgbClr val="6E747A">
                                        <a:alpha val="43000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</a:rPr>
                                <m:t> )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pt-BR" sz="4800" dirty="0"/>
              </a:p>
            </p:txBody>
          </p:sp>
        </mc:Choice>
        <mc:Fallback xmlns=""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id="{39702197-EBC3-F84E-74A6-CF3993746A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2376" y="4641032"/>
                <a:ext cx="5594534" cy="150611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Seta: para Baixo 11">
            <a:extLst>
              <a:ext uri="{FF2B5EF4-FFF2-40B4-BE49-F238E27FC236}">
                <a16:creationId xmlns:a16="http://schemas.microsoft.com/office/drawing/2014/main" id="{881DBFFE-5052-9424-94AA-9E99C183B402}"/>
              </a:ext>
            </a:extLst>
          </p:cNvPr>
          <p:cNvSpPr/>
          <p:nvPr/>
        </p:nvSpPr>
        <p:spPr>
          <a:xfrm>
            <a:off x="2659311" y="4025442"/>
            <a:ext cx="645952" cy="46356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Seta: para a Direita 14">
            <a:extLst>
              <a:ext uri="{FF2B5EF4-FFF2-40B4-BE49-F238E27FC236}">
                <a16:creationId xmlns:a16="http://schemas.microsoft.com/office/drawing/2014/main" id="{695AE91C-06E2-F0CF-CCC3-88C39345C431}"/>
              </a:ext>
            </a:extLst>
          </p:cNvPr>
          <p:cNvSpPr/>
          <p:nvPr/>
        </p:nvSpPr>
        <p:spPr>
          <a:xfrm>
            <a:off x="6686026" y="5157216"/>
            <a:ext cx="696286" cy="52641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7" name="Imagem 16">
            <a:extLst>
              <a:ext uri="{FF2B5EF4-FFF2-40B4-BE49-F238E27FC236}">
                <a16:creationId xmlns:a16="http://schemas.microsoft.com/office/drawing/2014/main" id="{1DFAA3B7-C988-F175-7A95-D9024E6846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54858" y="3988797"/>
            <a:ext cx="3730213" cy="23330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51123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FF03A29-3187-A341-D953-2913B720A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16ADB34-8DFE-28A9-2CCF-5AC174FDC208}"/>
              </a:ext>
            </a:extLst>
          </p:cNvPr>
          <p:cNvSpPr/>
          <p:nvPr/>
        </p:nvSpPr>
        <p:spPr>
          <a:xfrm>
            <a:off x="475488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 III</a:t>
            </a:r>
            <a:endParaRPr lang="en-US" sz="9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A60AAF5-3F68-2270-FBDE-76B7294BB073}"/>
              </a:ext>
            </a:extLst>
          </p:cNvPr>
          <p:cNvSpPr/>
          <p:nvPr/>
        </p:nvSpPr>
        <p:spPr>
          <a:xfrm>
            <a:off x="475488" y="493776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F69B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11</a:t>
            </a:r>
            <a:endParaRPr lang="en-US" sz="1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AC31835-0C84-863C-3300-36DC9760C6AB}"/>
              </a:ext>
            </a:extLst>
          </p:cNvPr>
          <p:cNvSpPr/>
          <p:nvPr/>
        </p:nvSpPr>
        <p:spPr>
          <a:xfrm>
            <a:off x="1024128" y="5029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Regressão Logística — probabilidade e limiar</a:t>
            </a:r>
            <a:endParaRPr lang="en-US" sz="17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DFE8057D-6A50-C8C6-15D6-AA81B6B3D657}"/>
              </a:ext>
            </a:extLst>
          </p:cNvPr>
          <p:cNvSpPr/>
          <p:nvPr/>
        </p:nvSpPr>
        <p:spPr>
          <a:xfrm>
            <a:off x="475488" y="932688"/>
            <a:ext cx="11247120" cy="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75FDA90-85D8-12DE-5C77-9601FE581BC9}"/>
              </a:ext>
            </a:extLst>
          </p:cNvPr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F687874F-9A2F-3ED8-6BDA-29D12B4BEB96}"/>
              </a:ext>
            </a:extLst>
          </p:cNvPr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11</a:t>
            </a:r>
            <a:endParaRPr lang="en-US" sz="800" dirty="0"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C983530E-B93F-EAB4-9705-5A45EDA5BA63}"/>
              </a:ext>
            </a:extLst>
          </p:cNvPr>
          <p:cNvSpPr/>
          <p:nvPr/>
        </p:nvSpPr>
        <p:spPr>
          <a:xfrm>
            <a:off x="722376" y="1078990"/>
            <a:ext cx="10171316" cy="1198099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txBody>
          <a:bodyPr wrap="square" lIns="1143" tIns="1143" rIns="1143" bIns="1143" rtlCol="0" anchor="ctr">
            <a:normAutofit fontScale="85000" lnSpcReduction="20000"/>
          </a:bodyPr>
          <a:lstStyle/>
          <a:p>
            <a:pPr>
              <a:lnSpc>
                <a:spcPct val="120000"/>
              </a:lnSpc>
            </a:pPr>
            <a:r>
              <a:rPr lang="pt-BR" dirty="0"/>
              <a:t>Vamos </a:t>
            </a:r>
            <a:r>
              <a:rPr lang="pt-BR" b="1" dirty="0"/>
              <a:t>inserir</a:t>
            </a:r>
            <a:r>
              <a:rPr lang="pt-BR" dirty="0"/>
              <a:t> a </a:t>
            </a:r>
            <a:r>
              <a:rPr lang="pt-BR" b="1" dirty="0"/>
              <a:t>formula da reta</a:t>
            </a:r>
            <a:r>
              <a:rPr lang="pt-BR" dirty="0"/>
              <a:t> dentro de uma função </a:t>
            </a:r>
            <a:r>
              <a:rPr lang="pt-BR" b="1" dirty="0"/>
              <a:t>que transforme a reta </a:t>
            </a:r>
            <a:r>
              <a:rPr lang="pt-BR" dirty="0"/>
              <a:t>em um </a:t>
            </a:r>
            <a:r>
              <a:rPr lang="pt-BR" sz="4400" dirty="0"/>
              <a:t>“S”.</a:t>
            </a:r>
          </a:p>
          <a:p>
            <a:pPr>
              <a:lnSpc>
                <a:spcPct val="120000"/>
              </a:lnSpc>
            </a:pPr>
            <a:r>
              <a:rPr lang="pt-BR" dirty="0"/>
              <a:t>Devemos ainda garantir que:</a:t>
            </a:r>
          </a:p>
          <a:p>
            <a:pPr marL="571500" indent="-5715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pt-BR" sz="1200" dirty="0"/>
              <a:t>Os valores no eixo “x” variam de </a:t>
            </a:r>
            <a:r>
              <a:rPr lang="pt-BR" sz="1200" b="1" dirty="0" err="1"/>
              <a:t>ifinito</a:t>
            </a:r>
            <a:r>
              <a:rPr lang="pt-BR" sz="1200" b="1" dirty="0"/>
              <a:t> negativo </a:t>
            </a:r>
            <a:r>
              <a:rPr lang="pt-BR" sz="1200" dirty="0"/>
              <a:t>a </a:t>
            </a:r>
            <a:r>
              <a:rPr lang="pt-BR" sz="1200" b="1" dirty="0" err="1"/>
              <a:t>ifinito</a:t>
            </a:r>
            <a:r>
              <a:rPr lang="pt-BR" sz="1200" b="1" dirty="0"/>
              <a:t> positivo</a:t>
            </a:r>
            <a:r>
              <a:rPr lang="pt-BR" sz="1200" dirty="0"/>
              <a:t>;</a:t>
            </a:r>
          </a:p>
          <a:p>
            <a:pPr marL="571500" indent="-5715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pt-BR" sz="1200" dirty="0"/>
              <a:t>Os valores no eixo “y” variam de “</a:t>
            </a:r>
            <a:r>
              <a:rPr lang="pt-BR" sz="1200" b="1" dirty="0"/>
              <a:t>0</a:t>
            </a:r>
            <a:r>
              <a:rPr lang="pt-BR" sz="1200" dirty="0"/>
              <a:t>” a “</a:t>
            </a:r>
            <a:r>
              <a:rPr lang="pt-BR" sz="1200" b="1" dirty="0"/>
              <a:t>1</a:t>
            </a:r>
            <a:r>
              <a:rPr lang="pt-BR" sz="1200" dirty="0"/>
              <a:t>”;</a:t>
            </a:r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AEE2FB3D-6CDB-6DF8-F911-39C2715FF291}"/>
              </a:ext>
            </a:extLst>
          </p:cNvPr>
          <p:cNvSpPr/>
          <p:nvPr/>
        </p:nvSpPr>
        <p:spPr>
          <a:xfrm>
            <a:off x="722376" y="2788919"/>
            <a:ext cx="3840480" cy="1024128"/>
          </a:xfrm>
          <a:prstGeom prst="rect">
            <a:avLst/>
          </a:prstGeom>
          <a:solidFill>
            <a:srgbClr val="FFF1E6"/>
          </a:solidFill>
          <a:ln w="12700">
            <a:solidFill>
              <a:srgbClr val="F08A24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pPr algn="ctr"/>
            <a:r>
              <a:rPr lang="pt-BR" sz="4000" b="1" i="1" dirty="0">
                <a:solidFill>
                  <a:srgbClr val="4472C4"/>
                </a:solidFill>
              </a:rPr>
              <a:t>Z</a:t>
            </a:r>
            <a:r>
              <a:rPr lang="pt-BR" sz="4000" b="1" i="1" dirty="0"/>
              <a:t>  </a:t>
            </a:r>
            <a:r>
              <a:rPr lang="pt-BR" sz="4000" b="1" dirty="0"/>
              <a:t>=  </a:t>
            </a:r>
            <a:r>
              <a:rPr lang="pt-BR" sz="4000" b="1" i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w</a:t>
            </a:r>
            <a:r>
              <a:rPr lang="pt-BR" sz="4000" b="1" dirty="0"/>
              <a:t>(</a:t>
            </a:r>
            <a:r>
              <a:rPr lang="pt-BR" sz="4000" b="1" i="1" dirty="0"/>
              <a:t>X</a:t>
            </a:r>
            <a:r>
              <a:rPr lang="pt-BR" sz="4000" b="1" dirty="0"/>
              <a:t>)  +  </a:t>
            </a:r>
            <a:r>
              <a:rPr lang="pt-BR" sz="4000" b="1" i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</a:t>
            </a:r>
            <a:r>
              <a:rPr lang="pt-BR" sz="4000" b="1" dirty="0"/>
              <a:t>;</a:t>
            </a:r>
            <a:endParaRPr lang="en-US" sz="40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ixaDeTexto 7">
                <a:extLst>
                  <a:ext uri="{FF2B5EF4-FFF2-40B4-BE49-F238E27FC236}">
                    <a16:creationId xmlns:a16="http://schemas.microsoft.com/office/drawing/2014/main" id="{2C630989-BB52-B210-D700-5A1A774E4D78}"/>
                  </a:ext>
                </a:extLst>
              </p:cNvPr>
              <p:cNvSpPr txBox="1"/>
              <p:nvPr/>
            </p:nvSpPr>
            <p:spPr>
              <a:xfrm>
                <a:off x="722376" y="4580911"/>
                <a:ext cx="4026715" cy="1492332"/>
              </a:xfrm>
              <a:prstGeom prst="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pt-BR" sz="4800" b="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pt-BR" sz="4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4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4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4800" b="0" i="1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pt-BR" sz="48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48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pt-BR" sz="48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sz="4800" i="1" smtClean="0">
                                  <a:ln w="0"/>
                                  <a:solidFill>
                                    <a:schemeClr val="accent1"/>
                                  </a:solidFill>
                                  <a:effectLst>
                                    <a:outerShdw blurRad="38100" dist="25400" dir="5400000" algn="ctr" rotWithShape="0">
                                      <a:srgbClr val="6E747A">
                                        <a:alpha val="43000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pt-BR" sz="4800" dirty="0"/>
              </a:p>
            </p:txBody>
          </p:sp>
        </mc:Choice>
        <mc:Fallback xmlns="">
          <p:sp>
            <p:nvSpPr>
              <p:cNvPr id="8" name="CaixaDeTexto 7">
                <a:extLst>
                  <a:ext uri="{FF2B5EF4-FFF2-40B4-BE49-F238E27FC236}">
                    <a16:creationId xmlns:a16="http://schemas.microsoft.com/office/drawing/2014/main" id="{2C630989-BB52-B210-D700-5A1A774E4D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2376" y="4580911"/>
                <a:ext cx="4026715" cy="1492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7" name="Imagem 16">
            <a:extLst>
              <a:ext uri="{FF2B5EF4-FFF2-40B4-BE49-F238E27FC236}">
                <a16:creationId xmlns:a16="http://schemas.microsoft.com/office/drawing/2014/main" id="{CD958404-6E3F-8BF4-E0AC-0914FABA83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4580911"/>
            <a:ext cx="2453874" cy="1534793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956DFB35-FAF8-62A9-F484-ED5024A91E5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2594155"/>
            <a:ext cx="2376881" cy="1834382"/>
          </a:xfrm>
          <a:prstGeom prst="rect">
            <a:avLst/>
          </a:prstGeom>
        </p:spPr>
      </p:pic>
      <p:sp>
        <p:nvSpPr>
          <p:cNvPr id="14" name="Seta: para a Direita 13">
            <a:extLst>
              <a:ext uri="{FF2B5EF4-FFF2-40B4-BE49-F238E27FC236}">
                <a16:creationId xmlns:a16="http://schemas.microsoft.com/office/drawing/2014/main" id="{1F944FA7-9D12-7711-DA32-E38463101EBA}"/>
              </a:ext>
            </a:extLst>
          </p:cNvPr>
          <p:cNvSpPr/>
          <p:nvPr/>
        </p:nvSpPr>
        <p:spPr>
          <a:xfrm>
            <a:off x="4865615" y="3103927"/>
            <a:ext cx="1065402" cy="32507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Seta: para a Direita 15">
            <a:extLst>
              <a:ext uri="{FF2B5EF4-FFF2-40B4-BE49-F238E27FC236}">
                <a16:creationId xmlns:a16="http://schemas.microsoft.com/office/drawing/2014/main" id="{55CDE57E-68EF-F43A-39CB-1EFD2A850A91}"/>
              </a:ext>
            </a:extLst>
          </p:cNvPr>
          <p:cNvSpPr/>
          <p:nvPr/>
        </p:nvSpPr>
        <p:spPr>
          <a:xfrm>
            <a:off x="4941116" y="5201174"/>
            <a:ext cx="989901" cy="32507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6D5ADB98-5A0E-2A9A-6DA0-46BD4425FE30}"/>
              </a:ext>
            </a:extLst>
          </p:cNvPr>
          <p:cNvSpPr txBox="1"/>
          <p:nvPr/>
        </p:nvSpPr>
        <p:spPr>
          <a:xfrm>
            <a:off x="8967831" y="3157403"/>
            <a:ext cx="283802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4000" dirty="0"/>
              <a:t>Forma RETA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CF7FBDD4-7785-A45B-35E7-228D9BBB1B4B}"/>
              </a:ext>
            </a:extLst>
          </p:cNvPr>
          <p:cNvSpPr txBox="1"/>
          <p:nvPr/>
        </p:nvSpPr>
        <p:spPr>
          <a:xfrm>
            <a:off x="8967831" y="4973134"/>
            <a:ext cx="305846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200" dirty="0"/>
              <a:t>Forma Sigmoide</a:t>
            </a: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3418A0D4-9BAD-C785-7600-8310548712CC}"/>
              </a:ext>
            </a:extLst>
          </p:cNvPr>
          <p:cNvSpPr txBox="1"/>
          <p:nvPr/>
        </p:nvSpPr>
        <p:spPr>
          <a:xfrm>
            <a:off x="1597696" y="2319572"/>
            <a:ext cx="18703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Equação da Reta</a:t>
            </a:r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F94433CB-6B7A-81BD-E0CD-16AFF1A9E978}"/>
              </a:ext>
            </a:extLst>
          </p:cNvPr>
          <p:cNvSpPr txBox="1"/>
          <p:nvPr/>
        </p:nvSpPr>
        <p:spPr>
          <a:xfrm>
            <a:off x="1707424" y="4102242"/>
            <a:ext cx="23126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Equação “S” logística</a:t>
            </a:r>
          </a:p>
        </p:txBody>
      </p:sp>
    </p:spTree>
    <p:extLst>
      <p:ext uri="{BB962C8B-B14F-4D97-AF65-F5344CB8AC3E}">
        <p14:creationId xmlns:p14="http://schemas.microsoft.com/office/powerpoint/2010/main" val="13874701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 III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75488" y="493776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F69B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12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24128" y="5029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Regressão Logística — fronteira de decisão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475488" y="932688"/>
            <a:ext cx="11247120" cy="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12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7138612" y="845385"/>
            <a:ext cx="393192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0B1F3A"/>
                </a:solidFill>
              </a:rPr>
              <a:t>A fronteira separa regiões do espaço de variáveis.</a:t>
            </a:r>
            <a:endParaRPr lang="en-US" sz="1250" dirty="0"/>
          </a:p>
          <a:p>
            <a:pPr marL="0" indent="0">
              <a:buNone/>
            </a:pPr>
            <a:endParaRPr lang="en-US" sz="1250" dirty="0"/>
          </a:p>
          <a:p>
            <a:pPr marL="0" indent="0">
              <a:buNone/>
            </a:pPr>
            <a:r>
              <a:rPr lang="en-US" sz="1250" b="1" dirty="0">
                <a:solidFill>
                  <a:srgbClr val="0B1F3A"/>
                </a:solidFill>
              </a:rPr>
              <a:t>De um lado, o modelo tende a prever classe 0; do outro, classe 1.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2633724" y="1090651"/>
            <a:ext cx="3931920" cy="749808"/>
          </a:xfrm>
          <a:prstGeom prst="rect">
            <a:avLst/>
          </a:prstGeom>
          <a:solidFill>
            <a:srgbClr val="EAF7EF"/>
          </a:solidFill>
          <a:ln w="12700">
            <a:solidFill>
              <a:srgbClr val="2E9D62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B1F3A"/>
                </a:solidFill>
              </a:rPr>
              <a:t>Boa preparação dos dados ajuda a fronteira a representar melhor a população.</a:t>
            </a:r>
            <a:endParaRPr 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CaixaDeTexto 27">
                <a:extLst>
                  <a:ext uri="{FF2B5EF4-FFF2-40B4-BE49-F238E27FC236}">
                    <a16:creationId xmlns:a16="http://schemas.microsoft.com/office/drawing/2014/main" id="{2BF35A62-01BC-EBB2-22A9-28B239000074}"/>
                  </a:ext>
                </a:extLst>
              </p:cNvPr>
              <p:cNvSpPr txBox="1"/>
              <p:nvPr/>
            </p:nvSpPr>
            <p:spPr>
              <a:xfrm>
                <a:off x="475488" y="2416646"/>
                <a:ext cx="10565072" cy="387734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dirty="0"/>
                  <a:t>Só que aqui, nossa saída não é mais um valor numérico contínuo, e sim uma </a:t>
                </a:r>
                <a:r>
                  <a:rPr lang="pt-BR" b="1" dirty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percentagem de 0 a 100%</a:t>
                </a:r>
                <a:r>
                  <a:rPr lang="pt-BR" dirty="0"/>
                  <a:t> .</a:t>
                </a:r>
              </a:p>
              <a:p>
                <a:r>
                  <a:rPr lang="pt-BR" dirty="0"/>
                  <a:t>Então:</a:t>
                </a:r>
              </a:p>
              <a:p>
                <a:endParaRPr lang="pt-BR" b="0" i="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nor/>
                        </m:rPr>
                        <a:rPr lang="pt-BR" b="1" i="0" smtClean="0">
                          <a:solidFill>
                            <a:schemeClr val="accent2">
                              <a:lumMod val="50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m:t>Probabilidade</m:t>
                      </m:r>
                      <m:r>
                        <m:rPr>
                          <m:nor/>
                        </m:rPr>
                        <a:rPr lang="pt-BR" b="0" i="0"/>
                        <m:t> </m:t>
                      </m:r>
                      <m:d>
                        <m:dPr>
                          <m:ctrlPr>
                            <a:rPr lang="pt-BR" b="0" i="0" smtClean="0">
                              <a:solidFill>
                                <a:srgbClr val="FF0000"/>
                              </a:solidFill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pt-BR" b="0" i="0" smtClean="0">
                              <a:solidFill>
                                <a:srgbClr val="FF0000"/>
                              </a:solidFill>
                            </a:rPr>
                            <m:t>y</m:t>
                          </m:r>
                          <m:r>
                            <m:rPr>
                              <m:nor/>
                            </m:rPr>
                            <a:rPr lang="pt-BR" b="0" i="0"/>
                            <m:t> valha ’</m:t>
                          </m:r>
                          <m:r>
                            <m:rPr>
                              <m:nor/>
                            </m:rPr>
                            <a:rPr lang="pt-BR" b="1" i="0" smtClean="0">
                              <a:solidFill>
                                <a:srgbClr val="00206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</a:rPr>
                            <m:t>verdadeiro</m:t>
                          </m:r>
                          <m:r>
                            <m:rPr>
                              <m:nor/>
                            </m:rPr>
                            <a:rPr lang="pt-BR" b="0" i="0"/>
                            <m:t>’ , ’</m:t>
                          </m:r>
                          <m:r>
                            <m:rPr>
                              <m:nor/>
                            </m:rPr>
                            <a:rPr lang="pt-BR" b="1" i="0" smtClean="0">
                              <a:solidFill>
                                <a:schemeClr val="accent6">
                                  <a:lumMod val="50000"/>
                                </a:schemeClr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</a:rPr>
                            <m:t>Tal Que</m:t>
                          </m:r>
                          <m:r>
                            <m:rPr>
                              <m:nor/>
                            </m:rPr>
                            <a:rPr lang="pt-BR" b="0" i="0"/>
                            <m:t>’ </m:t>
                          </m:r>
                          <m:sSub>
                            <m:sSubPr>
                              <m:ctrlPr>
                                <a:rPr lang="pt-BR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pt-BR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m:rPr>
                          <m:nor/>
                        </m:rPr>
                        <a:rPr lang="pt-BR" i="0"/>
                        <m:t> </m:t>
                      </m:r>
                      <m:r>
                        <a:rPr lang="pt-BR">
                          <a:latin typeface="Cambria Math" panose="02040503050406030204" pitchFamily="18" charset="0"/>
                        </a:rPr>
                        <m:t>=...</m:t>
                      </m:r>
                    </m:oMath>
                  </m:oMathPara>
                </a14:m>
                <a:endParaRPr lang="pt-BR" dirty="0"/>
              </a:p>
              <a:p>
                <a:endParaRPr lang="pt-BR" dirty="0"/>
              </a:p>
              <a:p>
                <a:r>
                  <a:rPr lang="pt-BR" dirty="0"/>
                  <a:t>ou </a:t>
                </a:r>
                <a:r>
                  <a:rPr lang="pt-BR" dirty="0" err="1"/>
                  <a:t>matemáticamente</a:t>
                </a:r>
                <a:r>
                  <a:rPr lang="pt-BR" dirty="0"/>
                  <a:t> escrito:</a:t>
                </a: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pt-BR" sz="2800" i="1" smtClean="0">
                          <a:solidFill>
                            <a:schemeClr val="accent2">
                              <a:lumMod val="50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pt-BR" sz="2800" b="1" i="1" smtClean="0">
                              <a:solidFill>
                                <a:srgbClr val="FF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1" i="1" smtClean="0">
                              <a:solidFill>
                                <a:srgbClr val="FF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sz="280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sz="2800" b="1" i="1" smtClean="0">
                              <a:solidFill>
                                <a:srgbClr val="00206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pt-BR" sz="2800" b="1" smtClean="0">
                              <a:solidFill>
                                <a:schemeClr val="accent6">
                                  <a:lumMod val="50000"/>
                                </a:schemeClr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pt-BR" sz="28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pt-BR" sz="2800">
                          <a:latin typeface="Cambria Math" panose="02040503050406030204" pitchFamily="18" charset="0"/>
                        </a:rPr>
                        <m:t>=...</m:t>
                      </m:r>
                    </m:oMath>
                  </m:oMathPara>
                </a14:m>
                <a:endParaRPr lang="pt-BR" sz="2800" dirty="0"/>
              </a:p>
              <a:p>
                <a:endParaRPr lang="pt-BR" dirty="0"/>
              </a:p>
              <a:p>
                <a:r>
                  <a:rPr lang="pt-BR" dirty="0"/>
                  <a:t>e assim:</a:t>
                </a: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pt-BR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=1∣</m:t>
                          </m:r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pt-BR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pt-BR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pt-BR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d>
                                <m:dPr>
                                  <m:ctrlPr>
                                    <a:rPr lang="pt-BR" b="1" i="1" smtClean="0">
                                      <a:solidFill>
                                        <a:srgbClr val="C00000"/>
                                      </a:solidFill>
                                      <a:effectLst>
                                        <a:outerShdw blurRad="38100" dist="38100" dir="2700000" algn="tl">
                                          <a:srgbClr val="000000">
                                            <a:alpha val="43137"/>
                                          </a:srgbClr>
                                        </a:outerShdw>
                                      </a:effectLst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 smtClean="0">
                                      <a:solidFill>
                                        <a:srgbClr val="C00000"/>
                                      </a:solidFill>
                                      <a:effectLst>
                                        <a:outerShdw blurRad="38100" dist="38100" dir="2700000" algn="tl">
                                          <a:srgbClr val="000000">
                                            <a:alpha val="43137"/>
                                          </a:srgbClr>
                                        </a:outerShdw>
                                      </a:effectLst>
                                      <a:latin typeface="Cambria Math" panose="02040503050406030204" pitchFamily="18" charset="0"/>
                                    </a:rPr>
                                    <m:t>𝒘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  <m:sSub>
                                    <m:sSubPr>
                                      <m:ctrl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) + </m:t>
                                  </m:r>
                                  <m:r>
                                    <a:rPr lang="pt-BR" b="1" i="1" smtClean="0">
                                      <a:solidFill>
                                        <a:srgbClr val="C00000"/>
                                      </a:solidFill>
                                      <a:effectLst>
                                        <a:outerShdw blurRad="38100" dist="38100" dir="2700000" algn="tl">
                                          <a:srgbClr val="000000">
                                            <a:alpha val="43137"/>
                                          </a:srgbClr>
                                        </a:outerShdw>
                                      </a:effectLst>
                                      <a:latin typeface="Cambria Math" panose="02040503050406030204" pitchFamily="18" charset="0"/>
                                    </a:rPr>
                                    <m:t>𝒃</m:t>
                                  </m:r>
                                </m:e>
                              </m:d>
                            </m:sup>
                          </m:sSup>
                        </m:den>
                      </m:f>
                    </m:oMath>
                  </m:oMathPara>
                </a14:m>
                <a:endParaRPr lang="pt-BR" dirty="0"/>
              </a:p>
              <a:p>
                <a:br>
                  <a:rPr lang="pt-BR" dirty="0"/>
                </a:br>
                <a:endParaRPr lang="pt-BR" dirty="0"/>
              </a:p>
            </p:txBody>
          </p:sp>
        </mc:Choice>
        <mc:Fallback xmlns="">
          <p:sp>
            <p:nvSpPr>
              <p:cNvPr id="28" name="CaixaDeTexto 27">
                <a:extLst>
                  <a:ext uri="{FF2B5EF4-FFF2-40B4-BE49-F238E27FC236}">
                    <a16:creationId xmlns:a16="http://schemas.microsoft.com/office/drawing/2014/main" id="{2BF35A62-01BC-EBB2-22A9-28B2390000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488" y="2416646"/>
                <a:ext cx="10565072" cy="3877343"/>
              </a:xfrm>
              <a:prstGeom prst="rect">
                <a:avLst/>
              </a:prstGeom>
              <a:blipFill>
                <a:blip r:embed="rId3"/>
                <a:stretch>
                  <a:fillRect l="-462" t="-78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3C296F0-106F-37FD-355D-080804BB42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4E025E8-C74E-8F30-FA3F-C7F6DC3BDEDA}"/>
              </a:ext>
            </a:extLst>
          </p:cNvPr>
          <p:cNvSpPr/>
          <p:nvPr/>
        </p:nvSpPr>
        <p:spPr>
          <a:xfrm>
            <a:off x="475488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 III</a:t>
            </a:r>
            <a:endParaRPr lang="en-US" sz="9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3F82A26-D7F8-2E3F-0CF0-C738169C6E5F}"/>
              </a:ext>
            </a:extLst>
          </p:cNvPr>
          <p:cNvSpPr/>
          <p:nvPr/>
        </p:nvSpPr>
        <p:spPr>
          <a:xfrm>
            <a:off x="475488" y="493776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F69B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12</a:t>
            </a:r>
            <a:endParaRPr lang="en-US" sz="1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281FB64-CD59-BDC2-F376-C7F68D2C2E08}"/>
              </a:ext>
            </a:extLst>
          </p:cNvPr>
          <p:cNvSpPr/>
          <p:nvPr/>
        </p:nvSpPr>
        <p:spPr>
          <a:xfrm>
            <a:off x="1024128" y="5029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Regressão Logística — EXEMPLO 01</a:t>
            </a:r>
            <a:endParaRPr lang="en-US" sz="17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9D8A57E6-A690-BE9D-C34C-4B2E955AAA54}"/>
              </a:ext>
            </a:extLst>
          </p:cNvPr>
          <p:cNvSpPr/>
          <p:nvPr/>
        </p:nvSpPr>
        <p:spPr>
          <a:xfrm>
            <a:off x="475488" y="932688"/>
            <a:ext cx="11247120" cy="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46537BE0-E1C8-E017-C655-444056F40338}"/>
              </a:ext>
            </a:extLst>
          </p:cNvPr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ACCE52E6-2E99-A7FC-DEF5-744F6950F86B}"/>
              </a:ext>
            </a:extLst>
          </p:cNvPr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12</a:t>
            </a:r>
            <a:endParaRPr lang="en-US" sz="800" dirty="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138B83D6-EA80-1F08-5F27-283C057001BE}"/>
              </a:ext>
            </a:extLst>
          </p:cNvPr>
          <p:cNvSpPr/>
          <p:nvPr/>
        </p:nvSpPr>
        <p:spPr>
          <a:xfrm>
            <a:off x="5103695" y="629791"/>
            <a:ext cx="6758337" cy="749806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r>
              <a:rPr lang="pt-BR" sz="1200" dirty="0"/>
              <a:t>A todos os alunos que tiverem mais de </a:t>
            </a:r>
            <a:r>
              <a:rPr lang="pt-BR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50% de chances de passar</a:t>
            </a:r>
            <a:r>
              <a:rPr lang="pt-BR" sz="1200" dirty="0"/>
              <a:t>, marque o aluno como "Aprovado". </a:t>
            </a:r>
          </a:p>
          <a:p>
            <a:r>
              <a:rPr lang="pt-BR" sz="1200" dirty="0"/>
              <a:t>Caso </a:t>
            </a:r>
            <a:r>
              <a:rPr lang="pt-BR" sz="1200" dirty="0" err="1"/>
              <a:t>constrário</a:t>
            </a:r>
            <a:r>
              <a:rPr lang="pt-BR" sz="1200" dirty="0"/>
              <a:t>, marque-o como Reprovado.</a:t>
            </a:r>
            <a:endParaRPr lang="en-US" sz="1200" dirty="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C7326090-C138-E7B9-9D73-A880FC8CBF9C}"/>
              </a:ext>
            </a:extLst>
          </p:cNvPr>
          <p:cNvSpPr/>
          <p:nvPr/>
        </p:nvSpPr>
        <p:spPr>
          <a:xfrm>
            <a:off x="475488" y="1493054"/>
            <a:ext cx="11386544" cy="749808"/>
          </a:xfrm>
          <a:prstGeom prst="rect">
            <a:avLst/>
          </a:prstGeom>
          <a:solidFill>
            <a:srgbClr val="EAF7EF"/>
          </a:solidFill>
          <a:ln w="12700">
            <a:solidFill>
              <a:srgbClr val="2E9D62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r>
              <a:rPr lang="pt-BR" b="1" dirty="0"/>
              <a:t>Exemplo 01 - Considere os dados dos alunos</a:t>
            </a:r>
            <a:r>
              <a:rPr lang="pt-BR" dirty="0"/>
              <a:t> do ultimo semestre. Construa um modelo para avaliar quais as chances dele passar na disciplina.</a:t>
            </a:r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721BD14F-4984-8704-64CA-50B36C0C9A51}"/>
              </a:ext>
            </a:extLst>
          </p:cNvPr>
          <p:cNvSpPr txBox="1"/>
          <p:nvPr/>
        </p:nvSpPr>
        <p:spPr>
          <a:xfrm>
            <a:off x="475488" y="1091204"/>
            <a:ext cx="44988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Bom, vamos entender usando um exemplo:</a:t>
            </a:r>
          </a:p>
        </p:txBody>
      </p:sp>
      <p:graphicFrame>
        <p:nvGraphicFramePr>
          <p:cNvPr id="8" name="Tabela 7">
            <a:extLst>
              <a:ext uri="{FF2B5EF4-FFF2-40B4-BE49-F238E27FC236}">
                <a16:creationId xmlns:a16="http://schemas.microsoft.com/office/drawing/2014/main" id="{DCE243F8-6B62-C87E-BA3E-1E189D01E1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663635"/>
              </p:ext>
            </p:extLst>
          </p:nvPr>
        </p:nvGraphicFramePr>
        <p:xfrm>
          <a:off x="475488" y="2275380"/>
          <a:ext cx="11386544" cy="4145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0090">
                  <a:extLst>
                    <a:ext uri="{9D8B030D-6E8A-4147-A177-3AD203B41FA5}">
                      <a16:colId xmlns:a16="http://schemas.microsoft.com/office/drawing/2014/main" val="1513799441"/>
                    </a:ext>
                  </a:extLst>
                </a:gridCol>
                <a:gridCol w="2348917">
                  <a:extLst>
                    <a:ext uri="{9D8B030D-6E8A-4147-A177-3AD203B41FA5}">
                      <a16:colId xmlns:a16="http://schemas.microsoft.com/office/drawing/2014/main" val="1474262703"/>
                    </a:ext>
                  </a:extLst>
                </a:gridCol>
                <a:gridCol w="3380764">
                  <a:extLst>
                    <a:ext uri="{9D8B030D-6E8A-4147-A177-3AD203B41FA5}">
                      <a16:colId xmlns:a16="http://schemas.microsoft.com/office/drawing/2014/main" val="10873138"/>
                    </a:ext>
                  </a:extLst>
                </a:gridCol>
                <a:gridCol w="4286773">
                  <a:extLst>
                    <a:ext uri="{9D8B030D-6E8A-4147-A177-3AD203B41FA5}">
                      <a16:colId xmlns:a16="http://schemas.microsoft.com/office/drawing/2014/main" val="2718546748"/>
                    </a:ext>
                  </a:extLst>
                </a:gridCol>
              </a:tblGrid>
              <a:tr h="380363"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1" i="0" dirty="0">
                          <a:solidFill>
                            <a:srgbClr val="374151"/>
                          </a:solidFill>
                          <a:effectLst/>
                          <a:latin typeface="Inter"/>
                        </a:rPr>
                        <a:t>RA do aluno</a:t>
                      </a:r>
                    </a:p>
                  </a:txBody>
                  <a:tcPr marL="152400" marR="152400" marT="114300" marB="1143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1" i="0" dirty="0">
                          <a:solidFill>
                            <a:srgbClr val="374151"/>
                          </a:solidFill>
                          <a:effectLst/>
                          <a:latin typeface="Inter"/>
                        </a:rPr>
                        <a:t>Entrada (X1) -&gt; Horas de Estudo</a:t>
                      </a:r>
                    </a:p>
                  </a:txBody>
                  <a:tcPr marL="152400" marR="152400" marT="114300" marB="1143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1" i="0" dirty="0">
                          <a:solidFill>
                            <a:srgbClr val="374151"/>
                          </a:solidFill>
                          <a:effectLst/>
                          <a:latin typeface="Inter"/>
                        </a:rPr>
                        <a:t>Saída (y) -&gt; verdadeiro 1, falso 0</a:t>
                      </a:r>
                    </a:p>
                  </a:txBody>
                  <a:tcPr marL="152400" marR="152400" marT="114300" marB="1143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1" i="0" dirty="0">
                          <a:solidFill>
                            <a:srgbClr val="374151"/>
                          </a:solidFill>
                          <a:effectLst/>
                          <a:latin typeface="Inter"/>
                        </a:rPr>
                        <a:t>Descrição</a:t>
                      </a:r>
                    </a:p>
                  </a:txBody>
                  <a:tcPr marL="152400" marR="152400" marT="114300" marB="1143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0610289"/>
                  </a:ext>
                </a:extLst>
              </a:tr>
              <a:tr h="345144"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1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2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0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7C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Reprovado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6B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7440609"/>
                  </a:ext>
                </a:extLst>
              </a:tr>
              <a:tr h="345144"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2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3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0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7C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Reprovado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6B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6050099"/>
                  </a:ext>
                </a:extLst>
              </a:tr>
              <a:tr h="345144"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3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5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0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7C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Reprovado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6B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3804008"/>
                  </a:ext>
                </a:extLst>
              </a:tr>
              <a:tr h="345144"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4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6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1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Aprovado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4332874"/>
                  </a:ext>
                </a:extLst>
              </a:tr>
              <a:tr h="345144"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5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8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1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Aprovado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8956074"/>
                  </a:ext>
                </a:extLst>
              </a:tr>
              <a:tr h="345144"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6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9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1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Aprovado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3064769"/>
                  </a:ext>
                </a:extLst>
              </a:tr>
              <a:tr h="345144"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7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1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0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6B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Reprovado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6B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2976118"/>
                  </a:ext>
                </a:extLst>
              </a:tr>
              <a:tr h="345144"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8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4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0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6B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Reprovado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6B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0358831"/>
                  </a:ext>
                </a:extLst>
              </a:tr>
              <a:tr h="345144"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9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7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1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Aprovado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4701676"/>
                  </a:ext>
                </a:extLst>
              </a:tr>
              <a:tr h="345144"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10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10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1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Aprovado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04963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6780988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AA0F93-6DAC-73B9-D7B2-B0B4FACBF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49AD2F2-925B-B28A-7CF6-6C942DBE48ED}"/>
              </a:ext>
            </a:extLst>
          </p:cNvPr>
          <p:cNvSpPr/>
          <p:nvPr/>
        </p:nvSpPr>
        <p:spPr>
          <a:xfrm>
            <a:off x="475488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 III</a:t>
            </a:r>
            <a:endParaRPr lang="en-US" sz="9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48286D9-3DBB-BAB6-920C-90C49153EE79}"/>
              </a:ext>
            </a:extLst>
          </p:cNvPr>
          <p:cNvSpPr/>
          <p:nvPr/>
        </p:nvSpPr>
        <p:spPr>
          <a:xfrm>
            <a:off x="475488" y="493776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F69B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12</a:t>
            </a:r>
            <a:endParaRPr lang="en-US" sz="1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0A512A7A-EE3D-4D6F-7EAE-DFCB249BEE9B}"/>
              </a:ext>
            </a:extLst>
          </p:cNvPr>
          <p:cNvSpPr/>
          <p:nvPr/>
        </p:nvSpPr>
        <p:spPr>
          <a:xfrm>
            <a:off x="1024128" y="5029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Regressão Logística — EXEMPLO 01</a:t>
            </a:r>
            <a:endParaRPr lang="en-US" sz="17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AB0D9C16-8960-60D6-1FEB-E1DB2FA3A5F7}"/>
              </a:ext>
            </a:extLst>
          </p:cNvPr>
          <p:cNvSpPr/>
          <p:nvPr/>
        </p:nvSpPr>
        <p:spPr>
          <a:xfrm>
            <a:off x="475488" y="932688"/>
            <a:ext cx="11247120" cy="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DC0E27C-ACA7-FC38-06E8-5B80BD590BB3}"/>
              </a:ext>
            </a:extLst>
          </p:cNvPr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B4940D4E-433E-C9C1-83BD-24DA3963E3AF}"/>
              </a:ext>
            </a:extLst>
          </p:cNvPr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12</a:t>
            </a:r>
            <a:endParaRPr lang="en-US" sz="800" dirty="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A061A12E-D022-4850-A15B-3CCF0818B601}"/>
              </a:ext>
            </a:extLst>
          </p:cNvPr>
          <p:cNvSpPr/>
          <p:nvPr/>
        </p:nvSpPr>
        <p:spPr>
          <a:xfrm>
            <a:off x="5036583" y="999228"/>
            <a:ext cx="6758337" cy="749806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r>
              <a:rPr lang="pt-BR" sz="1200" dirty="0"/>
              <a:t>A todos os alunos que tiverem mais de </a:t>
            </a:r>
            <a:r>
              <a:rPr lang="pt-BR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50% de chances de passar</a:t>
            </a:r>
            <a:r>
              <a:rPr lang="pt-BR" sz="1200" dirty="0"/>
              <a:t>, marque o aluno como "Aprovado". </a:t>
            </a:r>
          </a:p>
          <a:p>
            <a:r>
              <a:rPr lang="pt-BR" sz="1200" dirty="0"/>
              <a:t>Caso </a:t>
            </a:r>
            <a:r>
              <a:rPr lang="pt-BR" sz="1200" dirty="0" err="1"/>
              <a:t>constrário</a:t>
            </a:r>
            <a:r>
              <a:rPr lang="pt-BR" sz="1200" dirty="0"/>
              <a:t>, marque-o como Reprovado.</a:t>
            </a:r>
            <a:endParaRPr lang="en-US" sz="1200" dirty="0"/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4C0197B5-2E74-5799-A5B0-64D329A3D2F3}"/>
              </a:ext>
            </a:extLst>
          </p:cNvPr>
          <p:cNvSpPr txBox="1"/>
          <p:nvPr/>
        </p:nvSpPr>
        <p:spPr>
          <a:xfrm>
            <a:off x="475488" y="1091204"/>
            <a:ext cx="44988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Bom, vamos entender usando um exemplo: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B5AE1BBE-38A9-6138-122A-152B45096E49}"/>
              </a:ext>
            </a:extLst>
          </p:cNvPr>
          <p:cNvSpPr txBox="1"/>
          <p:nvPr/>
        </p:nvSpPr>
        <p:spPr>
          <a:xfrm>
            <a:off x="475488" y="1757760"/>
            <a:ext cx="60946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>
                <a:effectLst/>
                <a:latin typeface="+mn-lt"/>
              </a:rPr>
              <a:t>a) Calcule os “</a:t>
            </a:r>
            <a:r>
              <a:rPr lang="pt-BR" b="1" dirty="0">
                <a:solidFill>
                  <a:srgbClr val="8B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w</a:t>
            </a:r>
            <a:r>
              <a:rPr lang="pt-BR" dirty="0"/>
              <a:t>” e “</a:t>
            </a:r>
            <a:r>
              <a:rPr lang="pt-BR" b="1" dirty="0">
                <a:solidFill>
                  <a:srgbClr val="8B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</a:t>
            </a:r>
            <a:r>
              <a:rPr lang="pt-BR" dirty="0"/>
              <a:t>”</a:t>
            </a:r>
            <a:r>
              <a:rPr lang="pt-BR" b="0" i="0" dirty="0">
                <a:effectLst/>
                <a:latin typeface="+mn-lt"/>
              </a:rPr>
              <a:t> da equação </a:t>
            </a:r>
            <a:r>
              <a:rPr lang="pt-BR" b="1" i="0" dirty="0">
                <a:solidFill>
                  <a:schemeClr val="accent1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Z</a:t>
            </a:r>
            <a:r>
              <a:rPr lang="pt-BR" b="0" i="0" dirty="0">
                <a:effectLst/>
                <a:latin typeface="+mn-lt"/>
              </a:rPr>
              <a:t> = </a:t>
            </a:r>
            <a:r>
              <a:rPr lang="pt-BR" b="1" i="0" dirty="0">
                <a:solidFill>
                  <a:srgbClr val="8B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w</a:t>
            </a:r>
            <a:r>
              <a:rPr lang="pt-BR" b="0" i="0" dirty="0">
                <a:effectLst/>
                <a:latin typeface="+mn-lt"/>
              </a:rPr>
              <a:t>(X) + </a:t>
            </a:r>
            <a:r>
              <a:rPr lang="pt-BR" b="1" i="0" dirty="0">
                <a:solidFill>
                  <a:srgbClr val="8B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b</a:t>
            </a:r>
            <a:r>
              <a:rPr lang="pt-BR" b="0" i="0" dirty="0">
                <a:effectLst/>
                <a:latin typeface="+mn-lt"/>
              </a:rPr>
              <a:t> ;</a:t>
            </a:r>
            <a:endParaRPr lang="pt-BR" dirty="0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003D1A25-1FF8-7AEB-AFE2-E222B751C91A}"/>
              </a:ext>
            </a:extLst>
          </p:cNvPr>
          <p:cNvSpPr txBox="1"/>
          <p:nvPr/>
        </p:nvSpPr>
        <p:spPr>
          <a:xfrm>
            <a:off x="472666" y="2354973"/>
            <a:ext cx="35865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dirty="0"/>
              <a:t>b) Faça a Regressão Logística</a:t>
            </a:r>
            <a:r>
              <a:rPr lang="pt-BR" dirty="0"/>
              <a:t>. Use</a:t>
            </a:r>
            <a:endParaRPr lang="pt-BR" sz="18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 25">
                <a:extLst>
                  <a:ext uri="{FF2B5EF4-FFF2-40B4-BE49-F238E27FC236}">
                    <a16:creationId xmlns:a16="http://schemas.microsoft.com/office/drawing/2014/main" id="{A18B4C2A-1FBE-C4C5-5CFA-4A08F07EBABE}"/>
                  </a:ext>
                </a:extLst>
              </p:cNvPr>
              <p:cNvSpPr/>
              <p:nvPr/>
            </p:nvSpPr>
            <p:spPr>
              <a:xfrm>
                <a:off x="4213543" y="2164735"/>
                <a:ext cx="3764914" cy="749807"/>
              </a:xfrm>
              <a:prstGeom prst="rect">
                <a:avLst/>
              </a:prstGeom>
              <a:solidFill>
                <a:srgbClr val="EAF7EF"/>
              </a:solidFill>
              <a:ln w="12700">
                <a:solidFill>
                  <a:srgbClr val="2E9D62"/>
                </a:solidFill>
              </a:ln>
            </p:spPr>
            <p:txBody>
              <a:bodyPr wrap="square" lIns="1143" tIns="1143" rIns="1143" bIns="1143" rtlCol="0" anchor="ctr">
                <a:norm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1+</m:t>
                        </m:r>
                        <m:sSup>
                          <m:sSupPr>
                            <m:ctrlP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d>
                              <m:dPr>
                                <m:ctrlPr>
                                  <a:rPr lang="pt-BR" sz="2800" b="0" i="1" smtClean="0">
                                    <a:solidFill>
                                      <a:schemeClr val="accent1">
                                        <a:lumMod val="50000"/>
                                      </a:schemeClr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sty m:val="p"/>
                                  </m:rPr>
                                  <a:rPr lang="pt-BR" sz="2800" b="0" i="1" smtClean="0">
                                    <a:solidFill>
                                      <a:schemeClr val="accent1">
                                        <a:lumMod val="50000"/>
                                      </a:schemeClr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</m:d>
                          </m:sup>
                        </m:sSup>
                      </m:den>
                    </m:f>
                  </m:oMath>
                </a14:m>
                <a:endParaRPr lang="pt-BR" sz="2800" dirty="0"/>
              </a:p>
            </p:txBody>
          </p:sp>
        </mc:Choice>
        <mc:Fallback>
          <p:sp>
            <p:nvSpPr>
              <p:cNvPr id="15" name="Text 25">
                <a:extLst>
                  <a:ext uri="{FF2B5EF4-FFF2-40B4-BE49-F238E27FC236}">
                    <a16:creationId xmlns:a16="http://schemas.microsoft.com/office/drawing/2014/main" id="{A18B4C2A-1FBE-C4C5-5CFA-4A08F07EBAB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13543" y="2164735"/>
                <a:ext cx="3764914" cy="74980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solidFill>
                  <a:srgbClr val="2E9D62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63672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B5C82AD-2522-14E8-AF43-53825220BA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A77E186-966F-769A-88DD-C9EBD9F0AE71}"/>
              </a:ext>
            </a:extLst>
          </p:cNvPr>
          <p:cNvSpPr/>
          <p:nvPr/>
        </p:nvSpPr>
        <p:spPr>
          <a:xfrm>
            <a:off x="475488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 III</a:t>
            </a:r>
            <a:endParaRPr lang="en-US" sz="9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05D0F5B-2BCE-2A97-392A-005212326CE3}"/>
              </a:ext>
            </a:extLst>
          </p:cNvPr>
          <p:cNvSpPr/>
          <p:nvPr/>
        </p:nvSpPr>
        <p:spPr>
          <a:xfrm>
            <a:off x="475488" y="493776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F69B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12</a:t>
            </a:r>
            <a:endParaRPr lang="en-US" sz="1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E11D0FF-7D17-0F86-2B9D-C2C153BCA3B4}"/>
              </a:ext>
            </a:extLst>
          </p:cNvPr>
          <p:cNvSpPr/>
          <p:nvPr/>
        </p:nvSpPr>
        <p:spPr>
          <a:xfrm>
            <a:off x="1024128" y="5029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Regressão Logística — EXEMPLO 01</a:t>
            </a:r>
            <a:endParaRPr lang="en-US" sz="17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29A28918-9029-2E98-AF7E-A5B50CF53DAB}"/>
              </a:ext>
            </a:extLst>
          </p:cNvPr>
          <p:cNvSpPr/>
          <p:nvPr/>
        </p:nvSpPr>
        <p:spPr>
          <a:xfrm>
            <a:off x="475488" y="932688"/>
            <a:ext cx="11247120" cy="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16599BB0-46DD-D319-1967-33E45DA4A8A8}"/>
              </a:ext>
            </a:extLst>
          </p:cNvPr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645E24D0-800F-A5D2-61D7-605B0BE238FB}"/>
              </a:ext>
            </a:extLst>
          </p:cNvPr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12</a:t>
            </a:r>
            <a:endParaRPr lang="en-US" sz="800" dirty="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2B2FC869-F320-55B1-66B6-4B0630ED3EEC}"/>
              </a:ext>
            </a:extLst>
          </p:cNvPr>
          <p:cNvSpPr/>
          <p:nvPr/>
        </p:nvSpPr>
        <p:spPr>
          <a:xfrm>
            <a:off x="5036583" y="999228"/>
            <a:ext cx="6758337" cy="749806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r>
              <a:rPr lang="pt-BR" sz="1200" dirty="0"/>
              <a:t>A todos os alunos que tiverem mais de </a:t>
            </a:r>
            <a:r>
              <a:rPr lang="pt-BR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50% de chances de passar</a:t>
            </a:r>
            <a:r>
              <a:rPr lang="pt-BR" sz="1200" dirty="0"/>
              <a:t>, marque o aluno como "Aprovado". </a:t>
            </a:r>
          </a:p>
          <a:p>
            <a:r>
              <a:rPr lang="pt-BR" sz="1200" dirty="0"/>
              <a:t>Caso </a:t>
            </a:r>
            <a:r>
              <a:rPr lang="pt-BR" sz="1200" dirty="0" err="1"/>
              <a:t>constrário</a:t>
            </a:r>
            <a:r>
              <a:rPr lang="pt-BR" sz="1200" dirty="0"/>
              <a:t>, marque-o como Reprovado.</a:t>
            </a:r>
            <a:endParaRPr lang="en-US" sz="1200" dirty="0"/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82520C17-7780-CBA8-6AB4-005363ECBD97}"/>
              </a:ext>
            </a:extLst>
          </p:cNvPr>
          <p:cNvSpPr txBox="1"/>
          <p:nvPr/>
        </p:nvSpPr>
        <p:spPr>
          <a:xfrm>
            <a:off x="475488" y="1091204"/>
            <a:ext cx="44988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Bom, vamos entender usando um exemplo: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9F8F2BB3-CBA5-AE7B-C53A-5C4890659EF4}"/>
              </a:ext>
            </a:extLst>
          </p:cNvPr>
          <p:cNvSpPr txBox="1"/>
          <p:nvPr/>
        </p:nvSpPr>
        <p:spPr>
          <a:xfrm>
            <a:off x="475488" y="1757760"/>
            <a:ext cx="60946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>
                <a:effectLst/>
                <a:latin typeface="+mn-lt"/>
              </a:rPr>
              <a:t>a) Calcule os “</a:t>
            </a:r>
            <a:r>
              <a:rPr lang="pt-BR" b="1" dirty="0">
                <a:solidFill>
                  <a:srgbClr val="8B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w</a:t>
            </a:r>
            <a:r>
              <a:rPr lang="pt-BR" dirty="0"/>
              <a:t>” e “</a:t>
            </a:r>
            <a:r>
              <a:rPr lang="pt-BR" b="1" dirty="0">
                <a:solidFill>
                  <a:srgbClr val="8B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</a:t>
            </a:r>
            <a:r>
              <a:rPr lang="pt-BR" dirty="0"/>
              <a:t>”</a:t>
            </a:r>
            <a:r>
              <a:rPr lang="pt-BR" b="0" i="0" dirty="0">
                <a:effectLst/>
                <a:latin typeface="+mn-lt"/>
              </a:rPr>
              <a:t> da equação Z = </a:t>
            </a:r>
            <a:r>
              <a:rPr lang="pt-BR" b="1" i="0" dirty="0">
                <a:solidFill>
                  <a:srgbClr val="8B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w</a:t>
            </a:r>
            <a:r>
              <a:rPr lang="pt-BR" b="0" i="0" dirty="0">
                <a:effectLst/>
                <a:latin typeface="+mn-lt"/>
              </a:rPr>
              <a:t>(X) + </a:t>
            </a:r>
            <a:r>
              <a:rPr lang="pt-BR" b="1" i="0" dirty="0">
                <a:solidFill>
                  <a:srgbClr val="8B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b</a:t>
            </a:r>
            <a:r>
              <a:rPr lang="pt-BR" b="0" i="0" dirty="0">
                <a:effectLst/>
                <a:latin typeface="+mn-lt"/>
              </a:rPr>
              <a:t> ;</a:t>
            </a:r>
            <a:endParaRPr lang="pt-BR" dirty="0"/>
          </a:p>
        </p:txBody>
      </p:sp>
      <p:sp>
        <p:nvSpPr>
          <p:cNvPr id="12" name="Text 25">
            <a:extLst>
              <a:ext uri="{FF2B5EF4-FFF2-40B4-BE49-F238E27FC236}">
                <a16:creationId xmlns:a16="http://schemas.microsoft.com/office/drawing/2014/main" id="{FAEFF46C-85B9-5887-FDFF-1ECC6A70425D}"/>
              </a:ext>
            </a:extLst>
          </p:cNvPr>
          <p:cNvSpPr/>
          <p:nvPr/>
        </p:nvSpPr>
        <p:spPr>
          <a:xfrm>
            <a:off x="566927" y="4062256"/>
            <a:ext cx="8518349" cy="1036198"/>
          </a:xfrm>
          <a:prstGeom prst="rect">
            <a:avLst/>
          </a:prstGeom>
          <a:solidFill>
            <a:srgbClr val="EAF7EF"/>
          </a:solidFill>
          <a:ln w="12700">
            <a:solidFill>
              <a:srgbClr val="2E9D62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Z = </a:t>
            </a:r>
            <a:r>
              <a:rPr lang="pt-BR" b="1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w</a:t>
            </a:r>
            <a:r>
              <a:rPr lang="pt-BR" dirty="0"/>
              <a:t>(X) + </a:t>
            </a:r>
            <a:r>
              <a:rPr lang="pt-BR" b="1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</a:t>
            </a:r>
          </a:p>
          <a:p>
            <a:r>
              <a:rPr lang="pt-BR" b="1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w</a:t>
            </a:r>
            <a:r>
              <a:rPr lang="pt-BR" dirty="0"/>
              <a:t> = 1,19</a:t>
            </a:r>
          </a:p>
          <a:p>
            <a:r>
              <a:rPr lang="pt-BR" b="1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</a:t>
            </a:r>
            <a:r>
              <a:rPr lang="pt-BR" dirty="0"/>
              <a:t> = -6,52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 25">
                <a:extLst>
                  <a:ext uri="{FF2B5EF4-FFF2-40B4-BE49-F238E27FC236}">
                    <a16:creationId xmlns:a16="http://schemas.microsoft.com/office/drawing/2014/main" id="{A82A5DF3-0334-0A34-4B17-4D611C8D4013}"/>
                  </a:ext>
                </a:extLst>
              </p:cNvPr>
              <p:cNvSpPr/>
              <p:nvPr/>
            </p:nvSpPr>
            <p:spPr>
              <a:xfrm>
                <a:off x="591507" y="2333318"/>
                <a:ext cx="8518349" cy="1242424"/>
              </a:xfrm>
              <a:prstGeom prst="rect">
                <a:avLst/>
              </a:prstGeom>
              <a:solidFill>
                <a:srgbClr val="EAF7EF"/>
              </a:solidFill>
              <a:ln w="12700">
                <a:solidFill>
                  <a:srgbClr val="2E9D62"/>
                </a:solidFill>
              </a:ln>
            </p:spPr>
            <p:txBody>
              <a:bodyPr wrap="square" lIns="1143" tIns="1143" rIns="1143" bIns="1143" rtlCol="0" anchor="ctr">
                <a:norm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pt-BR" dirty="0"/>
                  <a:t>Z = </a:t>
                </a:r>
                <a:r>
                  <a:rPr lang="pt-BR" b="1" dirty="0">
                    <a:solidFill>
                      <a:srgbClr val="C00000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w</a:t>
                </a:r>
                <a:r>
                  <a:rPr lang="pt-BR" dirty="0"/>
                  <a:t>(X) + </a:t>
                </a:r>
                <a:r>
                  <a:rPr lang="pt-BR" b="1" dirty="0">
                    <a:solidFill>
                      <a:srgbClr val="C00000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b </a:t>
                </a:r>
                <a:r>
                  <a:rPr lang="pt-BR" b="1" dirty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, </a:t>
                </a:r>
                <a:r>
                  <a:rPr lang="pt-BR" dirty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são calculados através de função de </a:t>
                </a:r>
                <a:r>
                  <a:rPr lang="pt-BR" b="1" dirty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Perda de Entropia Cruzada Binária  =&gt; </a:t>
                </a:r>
                <a14:m>
                  <m:oMath xmlns:m="http://schemas.openxmlformats.org/officeDocument/2006/math">
                    <m:r>
                      <a:rPr lang="pt-BR" i="1" smtClean="0">
                        <a:solidFill>
                          <a:srgbClr val="FF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pt-BR" i="1">
                            <a:solidFill>
                              <a:srgbClr val="FF0000"/>
                            </a:solidFill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solidFill>
                              <a:srgbClr val="FF0000"/>
                            </a:solidFill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pt-BR">
                            <a:solidFill>
                              <a:srgbClr val="FF0000"/>
                            </a:solidFill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i="1">
                            <a:solidFill>
                              <a:srgbClr val="FF0000"/>
                            </a:solidFill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pt-BR">
                        <a:solidFill>
                          <a:srgbClr val="FF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pt-BR">
                            <a:solidFill>
                              <a:srgbClr val="FF0000"/>
                            </a:solidFill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>
                            <a:solidFill>
                              <a:srgbClr val="FF0000"/>
                            </a:solidFill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i="1">
                            <a:solidFill>
                              <a:srgbClr val="FF0000"/>
                            </a:solidFill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limLoc m:val="undOvr"/>
                        <m:ctrlPr>
                          <a:rPr lang="pt-BR" i="1">
                            <a:solidFill>
                              <a:srgbClr val="FF0000"/>
                            </a:solidFill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pt-BR" i="1">
                            <a:solidFill>
                              <a:srgbClr val="FF0000"/>
                            </a:solidFill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>
                            <a:solidFill>
                              <a:srgbClr val="FF0000"/>
                            </a:solidFill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pt-BR" i="1">
                            <a:solidFill>
                              <a:srgbClr val="FF0000"/>
                            </a:solidFill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d>
                          <m:dPr>
                            <m:begChr m:val="["/>
                            <m:endChr m:val="]"/>
                            <m:ctrlPr>
                              <a:rPr lang="pt-BR" i="1">
                                <a:solidFill>
                                  <a:srgbClr val="FF0000"/>
                                </a:solidFill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solidFill>
                                      <a:srgbClr val="FF00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solidFill>
                                      <a:srgbClr val="FF00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pt-BR" i="1">
                                    <a:solidFill>
                                      <a:srgbClr val="FF00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func>
                              <m:funcPr>
                                <m:ctrlPr>
                                  <a:rPr lang="pt-BR">
                                    <a:solidFill>
                                      <a:srgbClr val="FF00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pt-BR">
                                    <a:solidFill>
                                      <a:srgbClr val="FF00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</a:rPr>
                                  <m:t>ln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pt-BR" i="1">
                                        <a:solidFill>
                                          <a:srgbClr val="FF0000"/>
                                        </a:solidFill>
                                        <a:effectLst>
                                          <a:outerShdw blurRad="38100" dist="38100" dir="2700000" algn="tl">
                                            <a:srgbClr val="000000">
                                              <a:alpha val="43137"/>
                                            </a:srgbClr>
                                          </a:outerShdw>
                                        </a:effectLst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pt-BR" i="1">
                                            <a:solidFill>
                                              <a:srgbClr val="FF00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acc>
                                          <m:accPr>
                                            <m:chr m:val="ˆ"/>
                                            <m:ctrlPr>
                                              <a:rPr lang="pt-BR" i="1">
                                                <a:solidFill>
                                                  <a:srgbClr val="FF0000"/>
                                                </a:solidFill>
                                                <a:effectLst>
                                                  <a:outerShdw blurRad="38100" dist="38100" dir="2700000" algn="tl">
                                                    <a:srgbClr val="000000">
                                                      <a:alpha val="43137"/>
                                                    </a:srgbClr>
                                                  </a:outerShdw>
                                                </a:effectLst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pt-BR" i="1">
                                                <a:solidFill>
                                                  <a:srgbClr val="FF0000"/>
                                                </a:solidFill>
                                                <a:effectLst>
                                                  <a:outerShdw blurRad="38100" dist="38100" dir="2700000" algn="tl">
                                                    <a:srgbClr val="000000">
                                                      <a:alpha val="43137"/>
                                                    </a:srgbClr>
                                                  </a:outerShdw>
                                                </a:effectLst>
                                                <a:latin typeface="Cambria Math" panose="02040503050406030204" pitchFamily="18" charset="0"/>
                                              </a:rPr>
                                              <m:t>𝑦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pt-BR" i="1">
                                            <a:solidFill>
                                              <a:srgbClr val="FF00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func>
                            <m:r>
                              <a:rPr lang="pt-BR">
                                <a:solidFill>
                                  <a:srgbClr val="FF0000"/>
                                </a:solidFill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  <m:t>+</m:t>
                            </m:r>
                            <m:d>
                              <m:dPr>
                                <m:ctrlPr>
                                  <a:rPr lang="pt-BR">
                                    <a:solidFill>
                                      <a:srgbClr val="FF00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>
                                    <a:solidFill>
                                      <a:srgbClr val="FF00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</a:rPr>
                                  <m:t>1−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solidFill>
                                          <a:srgbClr val="FF0000"/>
                                        </a:solidFill>
                                        <a:effectLst>
                                          <a:outerShdw blurRad="38100" dist="38100" dir="2700000" algn="tl">
                                            <a:srgbClr val="000000">
                                              <a:alpha val="43137"/>
                                            </a:srgbClr>
                                          </a:outerShdw>
                                        </a:effectLst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solidFill>
                                          <a:srgbClr val="FF0000"/>
                                        </a:solidFill>
                                        <a:effectLst>
                                          <a:outerShdw blurRad="38100" dist="38100" dir="2700000" algn="tl">
                                            <a:srgbClr val="000000">
                                              <a:alpha val="43137"/>
                                            </a:srgbClr>
                                          </a:outerShdw>
                                        </a:effectLst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solidFill>
                                          <a:srgbClr val="FF0000"/>
                                        </a:solidFill>
                                        <a:effectLst>
                                          <a:outerShdw blurRad="38100" dist="38100" dir="2700000" algn="tl">
                                            <a:srgbClr val="000000">
                                              <a:alpha val="43137"/>
                                            </a:srgbClr>
                                          </a:outerShdw>
                                        </a:effectLst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  <m:func>
                              <m:funcPr>
                                <m:ctrlPr>
                                  <a:rPr lang="pt-BR">
                                    <a:solidFill>
                                      <a:srgbClr val="FF00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pt-BR">
                                    <a:solidFill>
                                      <a:srgbClr val="FF00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</a:rPr>
                                  <m:t>ln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pt-BR">
                                        <a:solidFill>
                                          <a:srgbClr val="FF0000"/>
                                        </a:solidFill>
                                        <a:effectLst>
                                          <a:outerShdw blurRad="38100" dist="38100" dir="2700000" algn="tl">
                                            <a:srgbClr val="000000">
                                              <a:alpha val="43137"/>
                                            </a:srgbClr>
                                          </a:outerShdw>
                                        </a:effectLst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>
                                        <a:solidFill>
                                          <a:srgbClr val="FF0000"/>
                                        </a:solidFill>
                                        <a:effectLst>
                                          <a:outerShdw blurRad="38100" dist="38100" dir="2700000" algn="tl">
                                            <a:srgbClr val="000000">
                                              <a:alpha val="43137"/>
                                            </a:srgbClr>
                                          </a:outerShdw>
                                        </a:effectLst>
                                        <a:latin typeface="Cambria Math" panose="02040503050406030204" pitchFamily="18" charset="0"/>
                                      </a:rPr>
                                      <m:t>1−</m:t>
                                    </m:r>
                                    <m:sSub>
                                      <m:sSubPr>
                                        <m:ctrlPr>
                                          <a:rPr lang="pt-BR" i="1">
                                            <a:solidFill>
                                              <a:srgbClr val="FF00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acc>
                                          <m:accPr>
                                            <m:chr m:val="ˆ"/>
                                            <m:ctrlPr>
                                              <a:rPr lang="pt-BR" i="1">
                                                <a:solidFill>
                                                  <a:srgbClr val="FF0000"/>
                                                </a:solidFill>
                                                <a:effectLst>
                                                  <a:outerShdw blurRad="38100" dist="38100" dir="2700000" algn="tl">
                                                    <a:srgbClr val="000000">
                                                      <a:alpha val="43137"/>
                                                    </a:srgbClr>
                                                  </a:outerShdw>
                                                </a:effectLst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pt-BR" i="1">
                                                <a:solidFill>
                                                  <a:srgbClr val="FF0000"/>
                                                </a:solidFill>
                                                <a:effectLst>
                                                  <a:outerShdw blurRad="38100" dist="38100" dir="2700000" algn="tl">
                                                    <a:srgbClr val="000000">
                                                      <a:alpha val="43137"/>
                                                    </a:srgbClr>
                                                  </a:outerShdw>
                                                </a:effectLst>
                                                <a:latin typeface="Cambria Math" panose="02040503050406030204" pitchFamily="18" charset="0"/>
                                              </a:rPr>
                                              <m:t>𝑦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pt-BR" i="1">
                                            <a:solidFill>
                                              <a:srgbClr val="FF00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func>
                          </m:e>
                        </m:d>
                      </m:e>
                    </m:nary>
                  </m:oMath>
                </a14:m>
                <a:endParaRPr lang="pt-BR" dirty="0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pt-BR" b="1" dirty="0">
                    <a:solidFill>
                      <a:srgbClr val="00A33C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(USE PYTHON para calcular</a:t>
                </a:r>
                <a:r>
                  <a:rPr lang="pt-BR" b="1" dirty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)</a:t>
                </a:r>
              </a:p>
            </p:txBody>
          </p:sp>
        </mc:Choice>
        <mc:Fallback>
          <p:sp>
            <p:nvSpPr>
              <p:cNvPr id="9" name="Text 25">
                <a:extLst>
                  <a:ext uri="{FF2B5EF4-FFF2-40B4-BE49-F238E27FC236}">
                    <a16:creationId xmlns:a16="http://schemas.microsoft.com/office/drawing/2014/main" id="{A82A5DF3-0334-0A34-4B17-4D611C8D401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507" y="2333318"/>
                <a:ext cx="8518349" cy="1242424"/>
              </a:xfrm>
              <a:prstGeom prst="rect">
                <a:avLst/>
              </a:prstGeom>
              <a:blipFill>
                <a:blip r:embed="rId3"/>
                <a:stretch>
                  <a:fillRect l="-1501" b="-21845"/>
                </a:stretch>
              </a:blipFill>
              <a:ln w="12700">
                <a:solidFill>
                  <a:srgbClr val="2E9D62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6195957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6F8128-B721-2C68-D932-F37DD7ECC1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7A382D9-FCF8-DD50-383F-3E5A1EAF1666}"/>
              </a:ext>
            </a:extLst>
          </p:cNvPr>
          <p:cNvSpPr/>
          <p:nvPr/>
        </p:nvSpPr>
        <p:spPr>
          <a:xfrm>
            <a:off x="475488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 III</a:t>
            </a:r>
            <a:endParaRPr lang="en-US" sz="9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45BD9B5-F47B-EE43-B7AB-2811B0A9B6DF}"/>
              </a:ext>
            </a:extLst>
          </p:cNvPr>
          <p:cNvSpPr/>
          <p:nvPr/>
        </p:nvSpPr>
        <p:spPr>
          <a:xfrm>
            <a:off x="475488" y="545930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F69B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12</a:t>
            </a:r>
            <a:endParaRPr lang="en-US" sz="1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47674F2-8B85-09C7-B438-F93FE3D64F85}"/>
              </a:ext>
            </a:extLst>
          </p:cNvPr>
          <p:cNvSpPr/>
          <p:nvPr/>
        </p:nvSpPr>
        <p:spPr>
          <a:xfrm>
            <a:off x="1024128" y="5029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Regressão Logística — EXEMPLO 01</a:t>
            </a:r>
            <a:endParaRPr lang="en-US" sz="17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6E5D0541-2348-5526-B5C2-8EE38AA0FE4F}"/>
              </a:ext>
            </a:extLst>
          </p:cNvPr>
          <p:cNvSpPr/>
          <p:nvPr/>
        </p:nvSpPr>
        <p:spPr>
          <a:xfrm>
            <a:off x="475488" y="932688"/>
            <a:ext cx="11247120" cy="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2B5C256E-FB1A-0B3F-4EFD-6753D5267A65}"/>
              </a:ext>
            </a:extLst>
          </p:cNvPr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88562734-897F-060D-250D-C97F6EC30497}"/>
              </a:ext>
            </a:extLst>
          </p:cNvPr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12</a:t>
            </a:r>
            <a:endParaRPr lang="en-US" sz="800" dirty="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638BCE1B-BB68-73A3-AE22-7231EC2B1CFD}"/>
              </a:ext>
            </a:extLst>
          </p:cNvPr>
          <p:cNvSpPr/>
          <p:nvPr/>
        </p:nvSpPr>
        <p:spPr>
          <a:xfrm>
            <a:off x="5036583" y="113686"/>
            <a:ext cx="6758337" cy="749806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r>
              <a:rPr lang="pt-BR" sz="1200" dirty="0"/>
              <a:t>A todos os alunos que tiverem mais de </a:t>
            </a:r>
            <a:r>
              <a:rPr lang="pt-BR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50% de chances de passar</a:t>
            </a:r>
            <a:r>
              <a:rPr lang="pt-BR" sz="1200" dirty="0"/>
              <a:t>, marque o aluno como "Aprovado". </a:t>
            </a:r>
          </a:p>
          <a:p>
            <a:r>
              <a:rPr lang="pt-BR" sz="1200" dirty="0"/>
              <a:t>Caso </a:t>
            </a:r>
            <a:r>
              <a:rPr lang="pt-BR" sz="1200" dirty="0" err="1"/>
              <a:t>constrário</a:t>
            </a:r>
            <a:r>
              <a:rPr lang="pt-BR" sz="1200" dirty="0"/>
              <a:t>, marque-o como Reprovado.</a:t>
            </a:r>
            <a:endParaRPr lang="en-US" sz="1200" dirty="0"/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2401A93C-A8DB-5593-893E-85A65CCA0308}"/>
              </a:ext>
            </a:extLst>
          </p:cNvPr>
          <p:cNvSpPr txBox="1"/>
          <p:nvPr/>
        </p:nvSpPr>
        <p:spPr>
          <a:xfrm>
            <a:off x="475488" y="1091204"/>
            <a:ext cx="44988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Bom, vamos entender usando um exemplo: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354E2E6C-4A69-14F9-9C1A-E377AD238918}"/>
              </a:ext>
            </a:extLst>
          </p:cNvPr>
          <p:cNvSpPr txBox="1"/>
          <p:nvPr/>
        </p:nvSpPr>
        <p:spPr>
          <a:xfrm>
            <a:off x="475488" y="1567975"/>
            <a:ext cx="60946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b) Faça a Regressão Logística;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 25">
                <a:extLst>
                  <a:ext uri="{FF2B5EF4-FFF2-40B4-BE49-F238E27FC236}">
                    <a16:creationId xmlns:a16="http://schemas.microsoft.com/office/drawing/2014/main" id="{B6EBE6C1-E17B-00C8-96B8-619E7F83212D}"/>
                  </a:ext>
                </a:extLst>
              </p:cNvPr>
              <p:cNvSpPr/>
              <p:nvPr/>
            </p:nvSpPr>
            <p:spPr>
              <a:xfrm>
                <a:off x="5036583" y="970931"/>
                <a:ext cx="3764914" cy="749807"/>
              </a:xfrm>
              <a:prstGeom prst="rect">
                <a:avLst/>
              </a:prstGeom>
              <a:solidFill>
                <a:srgbClr val="EAF7EF"/>
              </a:solidFill>
              <a:ln w="12700">
                <a:solidFill>
                  <a:srgbClr val="2E9D62"/>
                </a:solidFill>
              </a:ln>
            </p:spPr>
            <p:txBody>
              <a:bodyPr wrap="square" lIns="1143" tIns="1143" rIns="1143" bIns="1143" rtlCol="0" anchor="ctr">
                <a:norm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1+</m:t>
                        </m:r>
                        <m:sSup>
                          <m:sSupPr>
                            <m:ctrlP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d>
                              <m:dPr>
                                <m:ctrlPr>
                                  <a:rPr lang="pt-BR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sz="2800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sz="28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1,19</m:t>
                                </m:r>
                                <m:r>
                                  <a:rPr lang="pt-BR" sz="2800" b="0" i="1" smtClean="0">
                                    <a:latin typeface="Cambria Math" panose="02040503050406030204" pitchFamily="18" charset="0"/>
                                  </a:rPr>
                                  <m:t>∗(</m:t>
                                </m:r>
                                <m:r>
                                  <a:rPr lang="pt-BR" sz="28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pt-BR" sz="2800" b="0" i="1" smtClean="0">
                                    <a:latin typeface="Cambria Math" panose="02040503050406030204" pitchFamily="18" charset="0"/>
                                  </a:rPr>
                                  <m:t>) − 6,52</m:t>
                                </m:r>
                              </m:e>
                            </m:d>
                          </m:sup>
                        </m:sSup>
                      </m:den>
                    </m:f>
                  </m:oMath>
                </a14:m>
                <a:endParaRPr lang="pt-BR" sz="2800" dirty="0"/>
              </a:p>
            </p:txBody>
          </p:sp>
        </mc:Choice>
        <mc:Fallback xmlns="">
          <p:sp>
            <p:nvSpPr>
              <p:cNvPr id="12" name="Text 25">
                <a:extLst>
                  <a:ext uri="{FF2B5EF4-FFF2-40B4-BE49-F238E27FC236}">
                    <a16:creationId xmlns:a16="http://schemas.microsoft.com/office/drawing/2014/main" id="{B6EBE6C1-E17B-00C8-96B8-619E7F83212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36583" y="970931"/>
                <a:ext cx="3764914" cy="74980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solidFill>
                  <a:srgbClr val="2E9D62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8" name="Tabela 7">
                <a:extLst>
                  <a:ext uri="{FF2B5EF4-FFF2-40B4-BE49-F238E27FC236}">
                    <a16:creationId xmlns:a16="http://schemas.microsoft.com/office/drawing/2014/main" id="{6A33D78D-4AE8-6083-8033-3F6F953F859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97846796"/>
                  </p:ext>
                </p:extLst>
              </p:nvPr>
            </p:nvGraphicFramePr>
            <p:xfrm>
              <a:off x="397080" y="0"/>
              <a:ext cx="11247117" cy="67614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69938">
                      <a:extLst>
                        <a:ext uri="{9D8B030D-6E8A-4147-A177-3AD203B41FA5}">
                          <a16:colId xmlns:a16="http://schemas.microsoft.com/office/drawing/2014/main" val="1116698044"/>
                        </a:ext>
                      </a:extLst>
                    </a:gridCol>
                    <a:gridCol w="1328142">
                      <a:extLst>
                        <a:ext uri="{9D8B030D-6E8A-4147-A177-3AD203B41FA5}">
                          <a16:colId xmlns:a16="http://schemas.microsoft.com/office/drawing/2014/main" val="413475725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22775188"/>
                        </a:ext>
                      </a:extLst>
                    </a:gridCol>
                    <a:gridCol w="2390863">
                      <a:extLst>
                        <a:ext uri="{9D8B030D-6E8A-4147-A177-3AD203B41FA5}">
                          <a16:colId xmlns:a16="http://schemas.microsoft.com/office/drawing/2014/main" val="2018158403"/>
                        </a:ext>
                      </a:extLst>
                    </a:gridCol>
                    <a:gridCol w="1065402">
                      <a:extLst>
                        <a:ext uri="{9D8B030D-6E8A-4147-A177-3AD203B41FA5}">
                          <a16:colId xmlns:a16="http://schemas.microsoft.com/office/drawing/2014/main" val="1555457240"/>
                        </a:ext>
                      </a:extLst>
                    </a:gridCol>
                    <a:gridCol w="3129093">
                      <a:extLst>
                        <a:ext uri="{9D8B030D-6E8A-4147-A177-3AD203B41FA5}">
                          <a16:colId xmlns:a16="http://schemas.microsoft.com/office/drawing/2014/main" val="1606808806"/>
                        </a:ext>
                      </a:extLst>
                    </a:gridCol>
                    <a:gridCol w="1549279">
                      <a:extLst>
                        <a:ext uri="{9D8B030D-6E8A-4147-A177-3AD203B41FA5}">
                          <a16:colId xmlns:a16="http://schemas.microsoft.com/office/drawing/2014/main" val="193636975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37415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ID do Aluno</a:t>
                          </a:r>
                        </a:p>
                      </a:txBody>
                      <a:tcPr marL="152400" marR="152400" marT="114300" marB="114300" anchor="ctr"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200" b="1" i="0" dirty="0">
                              <a:solidFill>
                                <a:srgbClr val="37415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Entrada (X1)</a:t>
                          </a:r>
                        </a:p>
                        <a:p>
                          <a:pPr marL="0" marR="0" indent="0" algn="l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37415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Horas de Estudo</a:t>
                          </a:r>
                        </a:p>
                      </a:txBody>
                      <a:tcPr marL="152400" marR="152400" marT="114300" marB="114300" anchor="ctr"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37415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Saída (y)</a:t>
                          </a:r>
                        </a:p>
                        <a:p>
                          <a:pPr marL="0" marR="0" indent="0" algn="l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37415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Status</a:t>
                          </a:r>
                        </a:p>
                      </a:txBody>
                      <a:tcPr marL="152400" marR="152400" marT="114300" marB="114300" anchor="ctr"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37415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Cálculo de </a:t>
                          </a:r>
                          <a:r>
                            <a:rPr lang="pt-BR" sz="1600" b="1" i="0" dirty="0">
                              <a:solidFill>
                                <a:schemeClr val="tx1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z </a:t>
                          </a:r>
                          <a:r>
                            <a:rPr lang="pt-BR" sz="1200" b="1" i="0" dirty="0">
                              <a:solidFill>
                                <a:srgbClr val="37415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= </a:t>
                          </a:r>
                          <a:r>
                            <a:rPr lang="pt-BR" sz="1600" b="1" i="0" dirty="0">
                              <a:solidFill>
                                <a:srgbClr val="B9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w </a:t>
                          </a:r>
                          <a:r>
                            <a:rPr lang="pt-BR" sz="1200" b="1" i="0" dirty="0">
                              <a:solidFill>
                                <a:srgbClr val="37415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* (</a:t>
                          </a:r>
                          <a:r>
                            <a:rPr lang="pt-BR" sz="1200" b="1" i="0" dirty="0" err="1">
                              <a:solidFill>
                                <a:srgbClr val="37415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X_i</a:t>
                          </a:r>
                          <a:r>
                            <a:rPr lang="pt-BR" sz="1200" b="1" i="0" dirty="0">
                              <a:solidFill>
                                <a:srgbClr val="37415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) + </a:t>
                          </a:r>
                          <a:r>
                            <a:rPr lang="pt-BR" sz="1600" b="1" i="0" dirty="0">
                              <a:solidFill>
                                <a:srgbClr val="B9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b</a:t>
                          </a:r>
                        </a:p>
                      </a:txBody>
                      <a:tcPr marL="152400" marR="152400" marT="114300" marB="114300" anchor="ctr"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37415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Valor de “Z”</a:t>
                          </a:r>
                        </a:p>
                      </a:txBody>
                      <a:tcPr marL="152400" marR="152400" marT="114300" marB="114300" anchor="ctr"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1" i="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Regressão Logística</a:t>
                          </a:r>
                          <a:r>
                            <a:rPr lang="pt-BR" sz="1800" b="1" i="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 </a:t>
                          </a:r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pt-BR" sz="1800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y</m:t>
                              </m:r>
                              <m:r>
                                <a:rPr lang="pt-BR" sz="18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f>
                                <m:fPr>
                                  <m:ctrlPr>
                                    <a:rPr lang="pt-BR" sz="1800" i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sz="1800" i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pt-BR" sz="1800" i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1+</m:t>
                                  </m:r>
                                  <m:sSup>
                                    <m:sSupPr>
                                      <m:ctrlPr>
                                        <a:rPr lang="pt-BR" sz="1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sz="1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pt-BR" sz="1800" i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d>
                                        <m:dPr>
                                          <m:ctrlPr>
                                            <a:rPr lang="pt-BR" sz="1800" b="1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pt-BR" sz="1800" b="1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Z</m:t>
                                          </m:r>
                                        </m:e>
                                      </m:d>
                                    </m:sup>
                                  </m:sSup>
                                </m:den>
                              </m:f>
                            </m:oMath>
                          </a14:m>
                          <a:endParaRPr lang="pt-BR" sz="1800" b="1" i="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114300" marB="114300" anchor="ctr"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37415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Probabilidade Calculada - Saída</a:t>
                          </a:r>
                        </a:p>
                      </a:txBody>
                      <a:tcPr marL="152400" marR="152400" marT="114300" marB="114300" anchor="ctr"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887505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1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B9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2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0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𝑧</m:t>
                                </m:r>
                                <m:r>
                                  <a:rPr lang="pt-BR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d>
                                  <m:dPr>
                                    <m:sepChr m:val=","/>
                                    <m:ctrlP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19×2</m:t>
                                    </m:r>
                                  </m:e>
                                </m:d>
                                <m:r>
                                  <a:rPr lang="pt-BR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pt-B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−6,52)</m:t>
                                </m:r>
                              </m:oMath>
                            </m:oMathPara>
                          </a14:m>
                          <a:endParaRPr lang="pt-BR" sz="1200" b="0" i="0" dirty="0">
                            <a:solidFill>
                              <a:srgbClr val="4B5563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200" b="1" smtClean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𝟒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𝟏𝟒</m:t>
                                </m:r>
                              </m:oMath>
                            </m:oMathPara>
                          </a14:m>
                          <a:endParaRPr lang="pt-BR" sz="1200" b="1" i="0" dirty="0">
                            <a:solidFill>
                              <a:srgbClr val="006C00"/>
                            </a:solidFill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pt-BR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=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14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TRUE</m:t>
                                    </m:r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∣</m:t>
                                    </m:r>
                                    <m:r>
                                      <a:rPr lang="pt-BR" sz="1400" b="1" i="0" smtClean="0">
                                        <a:solidFill>
                                          <a:srgbClr val="B90000"/>
                                        </a:solidFill>
                                        <a:effectLst>
                                          <a:outerShdw blurRad="38100" dist="38100" dir="2700000" algn="tl">
                                            <a:srgbClr val="000000">
                                              <a:alpha val="43137"/>
                                            </a:srgbClr>
                                          </a:outerShdw>
                                        </a:effectLst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𝟐</m:t>
                                    </m:r>
                                  </m:e>
                                </m:d>
                                <m:r>
                                  <a:rPr lang="pt-BR" sz="14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1+</m:t>
                                    </m:r>
                                    <m:sSup>
                                      <m:sSupPr>
                                        <m:ctrlPr>
                                          <a:rPr lang="pt-BR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</m:e>
                                      <m:sup>
                                        <m:r>
                                          <a:rPr lang="pt-BR" sz="1400" i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BR" sz="140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1400" b="1" smtClean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𝟒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𝟏𝟒</m:t>
                                        </m:r>
                                        <m:r>
                                          <a:rPr lang="pt-BR" sz="14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pt-BR" sz="1400" b="0" i="0" dirty="0">
                            <a:solidFill>
                              <a:srgbClr val="4B5563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pt-BR" sz="1400" b="1" i="1" smtClean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𝟏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𝟓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%</m:t>
                              </m:r>
                            </m:oMath>
                          </a14:m>
                          <a:r>
                            <a:rPr lang="pt-BR" sz="1400" b="1" i="0" dirty="0">
                              <a:solidFill>
                                <a:srgbClr val="4B5563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 </a:t>
                          </a: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r>
                                <a:rPr lang="pt-BR" sz="12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pt-BR" sz="120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,015</m:t>
                              </m:r>
                            </m:oMath>
                          </a14:m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)</a:t>
                          </a:r>
                        </a:p>
                      </a:txBody>
                      <a:tcPr marL="152400" marR="152400" marT="95250" marB="95250" anchor="ctr">
                        <a:solidFill>
                          <a:srgbClr val="FFB6B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6937793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2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B9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3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0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𝑧</m:t>
                                </m:r>
                                <m:r>
                                  <a:rPr lang="pt-BR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d>
                                  <m:dPr>
                                    <m:sepChr m:val=","/>
                                    <m:ctrlP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19×3</m:t>
                                    </m:r>
                                  </m:e>
                                </m:d>
                                <m:r>
                                  <a:rPr lang="pt-BR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pt-B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−6,52)</m:t>
                                </m:r>
                              </m:oMath>
                            </m:oMathPara>
                          </a14:m>
                          <a:endParaRPr lang="pt-BR" sz="1200" b="0" i="0" dirty="0">
                            <a:solidFill>
                              <a:srgbClr val="4B5563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200" b="1" smtClean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𝟐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𝟗𝟓</m:t>
                                </m:r>
                              </m:oMath>
                            </m:oMathPara>
                          </a14:m>
                          <a:endParaRPr lang="pt-BR" sz="1200" b="1" i="0" dirty="0">
                            <a:solidFill>
                              <a:srgbClr val="4B5563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pt-BR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=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14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TRUE</m:t>
                                    </m:r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∣</m:t>
                                    </m:r>
                                    <m:r>
                                      <a:rPr lang="pt-BR" sz="1400" b="1" i="0" smtClean="0">
                                        <a:solidFill>
                                          <a:srgbClr val="FF0000"/>
                                        </a:solidFill>
                                        <a:effectLst>
                                          <a:outerShdw blurRad="38100" dist="38100" dir="2700000" algn="tl">
                                            <a:srgbClr val="000000">
                                              <a:alpha val="43137"/>
                                            </a:srgbClr>
                                          </a:outerShdw>
                                        </a:effectLst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𝟑</m:t>
                                    </m:r>
                                  </m:e>
                                </m:d>
                                <m:r>
                                  <a:rPr lang="pt-BR" sz="14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1+</m:t>
                                    </m:r>
                                    <m:sSup>
                                      <m:sSupPr>
                                        <m:ctrlPr>
                                          <a:rPr lang="pt-BR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</m:e>
                                      <m:sup>
                                        <m:r>
                                          <a:rPr lang="pt-BR" sz="1400" i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BR" sz="140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1400" b="1" i="1" smtClean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-</m:t>
                                        </m:r>
                                        <m:r>
                                          <a:rPr lang="pt-BR" sz="1400" b="1" i="1" smtClean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𝟐</m:t>
                                        </m:r>
                                        <m:r>
                                          <a:rPr lang="pt-BR" sz="1400" b="1" i="1" smtClean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pt-BR" sz="1400" b="1" i="1" smtClean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𝟗𝟓</m:t>
                                        </m:r>
                                        <m:r>
                                          <a:rPr lang="pt-BR" sz="14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pt-BR" sz="1400" b="0" i="0" dirty="0">
                            <a:solidFill>
                              <a:srgbClr val="4B5563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pt-BR" sz="1400" b="1" i="1" smtClean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𝟒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𝟗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%</m:t>
                              </m:r>
                            </m:oMath>
                          </a14:m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 (</a:t>
                          </a:r>
                          <a14:m>
                            <m:oMath xmlns:m="http://schemas.openxmlformats.org/officeDocument/2006/math">
                              <m:r>
                                <a:rPr lang="pt-BR" sz="12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pt-BR" sz="120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,049</m:t>
                              </m:r>
                            </m:oMath>
                          </a14:m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)</a:t>
                          </a:r>
                        </a:p>
                      </a:txBody>
                      <a:tcPr marL="152400" marR="152400" marT="95250" marB="95250" anchor="ctr">
                        <a:solidFill>
                          <a:srgbClr val="FFB6B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3170967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3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B9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5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0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𝑧</m:t>
                                </m:r>
                                <m:r>
                                  <a:rPr lang="pt-BR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d>
                                  <m:dPr>
                                    <m:sepChr m:val=","/>
                                    <m:ctrlP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19×5</m:t>
                                    </m:r>
                                  </m:e>
                                </m:d>
                                <m:r>
                                  <a:rPr lang="pt-BR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pt-B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−6,52)</m:t>
                                </m:r>
                              </m:oMath>
                            </m:oMathPara>
                          </a14:m>
                          <a:endParaRPr lang="pt-BR" sz="1200" b="0" i="0" dirty="0">
                            <a:solidFill>
                              <a:srgbClr val="4B5563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200" b="1" smtClean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𝟎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𝟓𝟕</m:t>
                                </m:r>
                              </m:oMath>
                            </m:oMathPara>
                          </a14:m>
                          <a:endParaRPr lang="pt-BR" sz="1200" b="1" i="0" dirty="0">
                            <a:solidFill>
                              <a:srgbClr val="4B5563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pt-BR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=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14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TRUE</m:t>
                                    </m:r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∣</m:t>
                                    </m:r>
                                    <m:r>
                                      <a:rPr lang="pt-BR" sz="1400" b="1" i="0" smtClean="0">
                                        <a:solidFill>
                                          <a:srgbClr val="B90000"/>
                                        </a:solidFill>
                                        <a:effectLst>
                                          <a:outerShdw blurRad="38100" dist="38100" dir="2700000" algn="tl">
                                            <a:srgbClr val="000000">
                                              <a:alpha val="43137"/>
                                            </a:srgbClr>
                                          </a:outerShdw>
                                        </a:effectLst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𝟓</m:t>
                                    </m:r>
                                  </m:e>
                                </m:d>
                                <m:r>
                                  <a:rPr lang="pt-BR" sz="14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1+</m:t>
                                    </m:r>
                                    <m:sSup>
                                      <m:sSupPr>
                                        <m:ctrlPr>
                                          <a:rPr lang="pt-BR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</m:e>
                                      <m:sup>
                                        <m:r>
                                          <a:rPr lang="pt-BR" sz="1400" i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BR" sz="140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1400" b="1" smtClean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𝟎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𝟓𝟕</m:t>
                                        </m:r>
                                        <m:r>
                                          <m:rPr>
                                            <m:nor/>
                                          </m:rPr>
                                          <a:rPr lang="pt-BR" sz="1400" b="1" i="0" dirty="0">
                                            <a:solidFill>
                                              <a:srgbClr val="4B5563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r>
                                          <a:rPr lang="pt-BR" sz="14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pt-BR" sz="1400" b="0" i="0" dirty="0">
                            <a:solidFill>
                              <a:srgbClr val="4B5563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pt-BR" sz="1400" b="1" i="1" smtClean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𝟑𝟔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𝟏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%</m:t>
                              </m:r>
                            </m:oMath>
                          </a14:m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 (</a:t>
                          </a:r>
                          <a14:m>
                            <m:oMath xmlns:m="http://schemas.openxmlformats.org/officeDocument/2006/math">
                              <m:r>
                                <a:rPr lang="pt-BR" sz="12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pt-BR" sz="120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,361</m:t>
                              </m:r>
                            </m:oMath>
                          </a14:m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)</a:t>
                          </a:r>
                        </a:p>
                      </a:txBody>
                      <a:tcPr marL="152400" marR="152400" marT="95250" marB="95250" anchor="ctr">
                        <a:solidFill>
                          <a:srgbClr val="FFB6B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4740564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4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B9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6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1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𝑧</m:t>
                                </m:r>
                                <m:r>
                                  <a:rPr lang="pt-BR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d>
                                  <m:dPr>
                                    <m:sepChr m:val=","/>
                                    <m:ctrlP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19×6</m:t>
                                    </m:r>
                                  </m:e>
                                </m:d>
                                <m:r>
                                  <a:rPr lang="pt-BR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pt-B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−6,52)</m:t>
                                </m:r>
                              </m:oMath>
                            </m:oMathPara>
                          </a14:m>
                          <a:endParaRPr lang="pt-BR" sz="1200" b="0" i="0" dirty="0">
                            <a:solidFill>
                              <a:srgbClr val="4B5563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200" b="1" smtClean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𝟎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𝟔𝟐</m:t>
                                </m:r>
                              </m:oMath>
                            </m:oMathPara>
                          </a14:m>
                          <a:endParaRPr lang="pt-BR" sz="1200" b="1" i="0" dirty="0">
                            <a:solidFill>
                              <a:srgbClr val="006C00"/>
                            </a:solidFill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pt-BR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=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14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TRUE</m:t>
                                    </m:r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∣</m:t>
                                    </m:r>
                                    <m:r>
                                      <a:rPr lang="pt-BR" sz="1400" b="1" i="0" smtClean="0">
                                        <a:solidFill>
                                          <a:srgbClr val="B90000"/>
                                        </a:solidFill>
                                        <a:effectLst>
                                          <a:outerShdw blurRad="38100" dist="38100" dir="2700000" algn="tl">
                                            <a:srgbClr val="000000">
                                              <a:alpha val="43137"/>
                                            </a:srgbClr>
                                          </a:outerShdw>
                                        </a:effectLst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𝟔</m:t>
                                    </m:r>
                                  </m:e>
                                </m:d>
                                <m:r>
                                  <a:rPr lang="pt-BR" sz="14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1+</m:t>
                                    </m:r>
                                    <m:sSup>
                                      <m:sSupPr>
                                        <m:ctrlPr>
                                          <a:rPr lang="pt-BR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</m:e>
                                      <m:sup>
                                        <m:r>
                                          <a:rPr lang="pt-BR" sz="1400" i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BR" sz="140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1400" b="1" smtClean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𝟎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𝟔𝟐</m:t>
                                        </m:r>
                                        <m:r>
                                          <a:rPr lang="pt-BR" sz="14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pt-BR" sz="1400" b="0" i="0" dirty="0">
                            <a:solidFill>
                              <a:srgbClr val="4B5563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pt-BR" sz="1400" b="1" i="1" smtClean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𝟔𝟓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𝟎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%</m:t>
                              </m:r>
                            </m:oMath>
                          </a14:m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 (</a:t>
                          </a:r>
                          <a14:m>
                            <m:oMath xmlns:m="http://schemas.openxmlformats.org/officeDocument/2006/math">
                              <m:r>
                                <a:rPr lang="pt-BR" sz="12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pt-BR" sz="120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,650</m:t>
                              </m:r>
                            </m:oMath>
                          </a14:m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)</a:t>
                          </a:r>
                        </a:p>
                      </a:txBody>
                      <a:tcPr marL="152400" marR="152400" marT="95250" marB="95250" anchor="ctr">
                        <a:solidFill>
                          <a:srgbClr val="92D05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175475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5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B9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8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1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𝑧</m:t>
                                </m:r>
                                <m:r>
                                  <a:rPr lang="pt-BR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d>
                                  <m:dPr>
                                    <m:sepChr m:val=","/>
                                    <m:ctrlP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19×8</m:t>
                                    </m:r>
                                  </m:e>
                                </m:d>
                                <m:r>
                                  <a:rPr lang="pt-BR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pt-B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−6,52)</m:t>
                                </m:r>
                              </m:oMath>
                            </m:oMathPara>
                          </a14:m>
                          <a:endParaRPr lang="pt-BR" sz="1200" b="0" i="0" dirty="0">
                            <a:solidFill>
                              <a:srgbClr val="4B5563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200" b="1" smtClean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𝟑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𝟎𝟎</m:t>
                                </m:r>
                              </m:oMath>
                            </m:oMathPara>
                          </a14:m>
                          <a:endParaRPr lang="pt-BR" sz="1200" b="1" i="0" dirty="0">
                            <a:solidFill>
                              <a:srgbClr val="006C00"/>
                            </a:solidFill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pt-BR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=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14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TRUE</m:t>
                                    </m:r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∣</m:t>
                                    </m:r>
                                    <m:r>
                                      <a:rPr lang="pt-BR" sz="1400" b="1" i="0" smtClean="0">
                                        <a:solidFill>
                                          <a:srgbClr val="B90000"/>
                                        </a:solidFill>
                                        <a:effectLst>
                                          <a:outerShdw blurRad="38100" dist="38100" dir="2700000" algn="tl">
                                            <a:srgbClr val="000000">
                                              <a:alpha val="43137"/>
                                            </a:srgbClr>
                                          </a:outerShdw>
                                        </a:effectLst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𝟖</m:t>
                                    </m:r>
                                  </m:e>
                                </m:d>
                                <m:r>
                                  <a:rPr lang="pt-BR" sz="14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1+</m:t>
                                    </m:r>
                                    <m:sSup>
                                      <m:sSupPr>
                                        <m:ctrlPr>
                                          <a:rPr lang="pt-BR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</m:e>
                                      <m:sup>
                                        <m:r>
                                          <a:rPr lang="pt-BR" sz="1400" i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BR" sz="140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1400" b="1" smtClean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𝟑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𝟎𝟎</m:t>
                                        </m:r>
                                        <m:r>
                                          <m:rPr>
                                            <m:nor/>
                                          </m:rPr>
                                          <a:rPr lang="pt-BR" sz="1400" b="1" i="0" dirty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r>
                                          <a:rPr lang="pt-BR" sz="14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pt-BR" sz="1400" b="0" i="0" dirty="0">
                            <a:solidFill>
                              <a:srgbClr val="4B5563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pt-BR" sz="1400" b="1" i="1" smtClean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𝟗𝟓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𝟐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%</m:t>
                              </m:r>
                            </m:oMath>
                          </a14:m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 (</a:t>
                          </a:r>
                          <a14:m>
                            <m:oMath xmlns:m="http://schemas.openxmlformats.org/officeDocument/2006/math">
                              <m:r>
                                <a:rPr lang="pt-BR" sz="12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pt-BR" sz="120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,952</m:t>
                              </m:r>
                            </m:oMath>
                          </a14:m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)</a:t>
                          </a:r>
                        </a:p>
                      </a:txBody>
                      <a:tcPr marL="152400" marR="152400" marT="95250" marB="95250" anchor="ctr">
                        <a:solidFill>
                          <a:srgbClr val="92D05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5924873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6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B9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9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1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𝑧</m:t>
                                </m:r>
                                <m:r>
                                  <a:rPr lang="pt-BR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d>
                                  <m:dPr>
                                    <m:sepChr m:val=","/>
                                    <m:ctrlP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19×9</m:t>
                                    </m:r>
                                  </m:e>
                                </m:d>
                                <m:r>
                                  <a:rPr lang="pt-BR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pt-B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−6,52)</m:t>
                                </m:r>
                              </m:oMath>
                            </m:oMathPara>
                          </a14:m>
                          <a:endParaRPr lang="pt-BR" sz="1200" b="0" i="0" dirty="0">
                            <a:solidFill>
                              <a:srgbClr val="4B5563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200" b="1" smtClean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𝟒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𝟏𝟗</m:t>
                                </m:r>
                              </m:oMath>
                            </m:oMathPara>
                          </a14:m>
                          <a:endParaRPr lang="pt-BR" sz="1200" b="1" i="0" dirty="0">
                            <a:solidFill>
                              <a:srgbClr val="006C00"/>
                            </a:solidFill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pt-BR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=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14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TRUE</m:t>
                                    </m:r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∣</m:t>
                                    </m:r>
                                    <m:r>
                                      <a:rPr lang="pt-BR" sz="1400" b="1" i="0" smtClean="0">
                                        <a:solidFill>
                                          <a:srgbClr val="B90000"/>
                                        </a:solidFill>
                                        <a:effectLst>
                                          <a:outerShdw blurRad="38100" dist="38100" dir="2700000" algn="tl">
                                            <a:srgbClr val="000000">
                                              <a:alpha val="43137"/>
                                            </a:srgbClr>
                                          </a:outerShdw>
                                        </a:effectLst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𝟗</m:t>
                                    </m:r>
                                  </m:e>
                                </m:d>
                                <m:r>
                                  <a:rPr lang="pt-BR" sz="14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1+</m:t>
                                    </m:r>
                                    <m:sSup>
                                      <m:sSupPr>
                                        <m:ctrlPr>
                                          <a:rPr lang="pt-BR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</m:e>
                                      <m:sup>
                                        <m:r>
                                          <a:rPr lang="pt-BR" sz="1400" i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BR" sz="140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1400" b="1" smtClean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𝟒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𝟏𝟗</m:t>
                                        </m:r>
                                        <m:r>
                                          <m:rPr>
                                            <m:nor/>
                                          </m:rPr>
                                          <a:rPr lang="pt-BR" sz="1400" b="1" i="0" dirty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r>
                                          <a:rPr lang="pt-BR" sz="14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pt-BR" sz="1400" b="0" i="0" dirty="0">
                            <a:solidFill>
                              <a:srgbClr val="4B5563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pt-BR" sz="1400" b="1" i="1" smtClean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𝟗𝟖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𝟓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%</m:t>
                              </m:r>
                            </m:oMath>
                          </a14:m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 (</a:t>
                          </a:r>
                          <a14:m>
                            <m:oMath xmlns:m="http://schemas.openxmlformats.org/officeDocument/2006/math">
                              <m:r>
                                <a:rPr lang="pt-BR" sz="12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pt-BR" sz="120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,985</m:t>
                              </m:r>
                            </m:oMath>
                          </a14:m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)</a:t>
                          </a:r>
                        </a:p>
                      </a:txBody>
                      <a:tcPr marL="152400" marR="152400" marT="95250" marB="95250" anchor="ctr">
                        <a:solidFill>
                          <a:srgbClr val="92D05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903362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7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B9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1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0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𝑧</m:t>
                                </m:r>
                                <m:r>
                                  <a:rPr lang="pt-BR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d>
                                  <m:dPr>
                                    <m:sepChr m:val=","/>
                                    <m:ctrlP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19×1</m:t>
                                    </m:r>
                                  </m:e>
                                </m:d>
                                <m:r>
                                  <a:rPr lang="pt-BR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pt-B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−6,52)</m:t>
                                </m:r>
                              </m:oMath>
                            </m:oMathPara>
                          </a14:m>
                          <a:endParaRPr lang="pt-BR" sz="1200" b="0" i="0" dirty="0">
                            <a:solidFill>
                              <a:srgbClr val="4B5563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200" b="1" smtClean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𝟓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𝟑𝟑</m:t>
                                </m:r>
                              </m:oMath>
                            </m:oMathPara>
                          </a14:m>
                          <a:endParaRPr lang="pt-BR" sz="1200" b="1" i="0" dirty="0">
                            <a:solidFill>
                              <a:srgbClr val="006C00"/>
                            </a:solidFill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pt-BR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=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14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TRUE</m:t>
                                    </m:r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∣</m:t>
                                    </m:r>
                                    <m:r>
                                      <a:rPr lang="pt-BR" sz="1400" b="1" i="0" smtClean="0">
                                        <a:solidFill>
                                          <a:srgbClr val="B90000"/>
                                        </a:solidFill>
                                        <a:effectLst>
                                          <a:outerShdw blurRad="38100" dist="38100" dir="2700000" algn="tl">
                                            <a:srgbClr val="000000">
                                              <a:alpha val="43137"/>
                                            </a:srgbClr>
                                          </a:outerShdw>
                                        </a:effectLst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𝟏</m:t>
                                    </m:r>
                                  </m:e>
                                </m:d>
                                <m:r>
                                  <a:rPr lang="pt-BR" sz="14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1+</m:t>
                                    </m:r>
                                    <m:sSup>
                                      <m:sSupPr>
                                        <m:ctrlPr>
                                          <a:rPr lang="pt-BR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</m:e>
                                      <m:sup>
                                        <m:r>
                                          <a:rPr lang="pt-BR" sz="1400" i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BR" sz="140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1400" b="1" smtClean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𝟓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𝟑𝟑</m:t>
                                        </m:r>
                                        <m:r>
                                          <m:rPr>
                                            <m:nor/>
                                          </m:rPr>
                                          <a:rPr lang="pt-BR" sz="1400" b="1" i="0" dirty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r>
                                          <a:rPr lang="pt-BR" sz="14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pt-BR" sz="1400" b="0" i="0" dirty="0">
                            <a:solidFill>
                              <a:srgbClr val="4B5563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pt-BR" sz="1400" b="1" i="1" smtClean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𝟎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𝟓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%</m:t>
                              </m:r>
                            </m:oMath>
                          </a14:m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 (</a:t>
                          </a:r>
                          <a14:m>
                            <m:oMath xmlns:m="http://schemas.openxmlformats.org/officeDocument/2006/math">
                              <m:r>
                                <a:rPr lang="pt-BR" sz="12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pt-BR" sz="120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,005</m:t>
                              </m:r>
                            </m:oMath>
                          </a14:m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)</a:t>
                          </a:r>
                        </a:p>
                      </a:txBody>
                      <a:tcPr marL="152400" marR="152400" marT="95250" marB="95250" anchor="ctr">
                        <a:solidFill>
                          <a:srgbClr val="FFB6B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2962479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8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B9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4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0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𝑧</m:t>
                                </m:r>
                                <m:r>
                                  <a:rPr lang="pt-BR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d>
                                  <m:dPr>
                                    <m:sepChr m:val=","/>
                                    <m:ctrlP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19×4</m:t>
                                    </m:r>
                                  </m:e>
                                </m:d>
                                <m:r>
                                  <a:rPr lang="pt-BR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pt-B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−6,52)</m:t>
                                </m:r>
                              </m:oMath>
                            </m:oMathPara>
                          </a14:m>
                          <a:endParaRPr lang="pt-BR" sz="1200" b="0" i="0" dirty="0">
                            <a:solidFill>
                              <a:srgbClr val="4B5563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200" b="1" smtClean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𝟕𝟔</m:t>
                                </m:r>
                              </m:oMath>
                            </m:oMathPara>
                          </a14:m>
                          <a:endParaRPr lang="pt-BR" sz="1200" b="1" i="0" dirty="0">
                            <a:solidFill>
                              <a:srgbClr val="006C00"/>
                            </a:solidFill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pt-BR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=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14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TRUE</m:t>
                                    </m:r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∣</m:t>
                                    </m:r>
                                    <m:r>
                                      <a:rPr lang="pt-BR" sz="1400" b="1" i="0" smtClean="0">
                                        <a:solidFill>
                                          <a:srgbClr val="B90000"/>
                                        </a:solidFill>
                                        <a:effectLst>
                                          <a:outerShdw blurRad="38100" dist="38100" dir="2700000" algn="tl">
                                            <a:srgbClr val="000000">
                                              <a:alpha val="43137"/>
                                            </a:srgbClr>
                                          </a:outerShdw>
                                        </a:effectLst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𝟒</m:t>
                                    </m:r>
                                  </m:e>
                                </m:d>
                                <m:r>
                                  <a:rPr lang="pt-BR" sz="14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1+</m:t>
                                    </m:r>
                                    <m:sSup>
                                      <m:sSupPr>
                                        <m:ctrlPr>
                                          <a:rPr lang="pt-BR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</m:e>
                                      <m:sup>
                                        <m:r>
                                          <a:rPr lang="pt-BR" sz="1400" i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BR" sz="140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1400" b="1" smtClean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𝟏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𝟕𝟔</m:t>
                                        </m:r>
                                        <m:r>
                                          <m:rPr>
                                            <m:nor/>
                                          </m:rPr>
                                          <a:rPr lang="pt-BR" sz="1400" b="1" i="0" dirty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r>
                                          <a:rPr lang="pt-BR" sz="14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pt-BR" sz="1400" b="0" i="0" dirty="0">
                            <a:solidFill>
                              <a:srgbClr val="4B5563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pt-BR" sz="1400" b="1" i="1" smtClean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𝟏𝟒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𝟕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%</m:t>
                              </m:r>
                            </m:oMath>
                          </a14:m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 (</a:t>
                          </a:r>
                          <a14:m>
                            <m:oMath xmlns:m="http://schemas.openxmlformats.org/officeDocument/2006/math">
                              <m:r>
                                <a:rPr lang="pt-BR" sz="12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pt-BR" sz="120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,147</m:t>
                              </m:r>
                            </m:oMath>
                          </a14:m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)</a:t>
                          </a:r>
                        </a:p>
                      </a:txBody>
                      <a:tcPr marL="152400" marR="152400" marT="95250" marB="95250" anchor="ctr">
                        <a:solidFill>
                          <a:srgbClr val="FFB6B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018488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9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B9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7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1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𝑧</m:t>
                                </m:r>
                                <m:r>
                                  <a:rPr lang="pt-BR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d>
                                  <m:dPr>
                                    <m:sepChr m:val=","/>
                                    <m:ctrlP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19×7</m:t>
                                    </m:r>
                                  </m:e>
                                </m:d>
                                <m:r>
                                  <a:rPr lang="pt-BR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pt-B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−6,52)</m:t>
                                </m:r>
                              </m:oMath>
                            </m:oMathPara>
                          </a14:m>
                          <a:endParaRPr lang="pt-BR" sz="1200" b="0" i="0" dirty="0">
                            <a:solidFill>
                              <a:srgbClr val="4B5563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200" b="1" smtClean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𝟖𝟏</m:t>
                                </m:r>
                              </m:oMath>
                            </m:oMathPara>
                          </a14:m>
                          <a:endParaRPr lang="pt-BR" sz="1200" b="1" i="0" dirty="0">
                            <a:solidFill>
                              <a:srgbClr val="006C00"/>
                            </a:solidFill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pt-BR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=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14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TRUE</m:t>
                                    </m:r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∣</m:t>
                                    </m:r>
                                    <m:r>
                                      <a:rPr lang="pt-BR" sz="1400" b="1" i="0" smtClean="0">
                                        <a:solidFill>
                                          <a:srgbClr val="B90000"/>
                                        </a:solidFill>
                                        <a:effectLst>
                                          <a:outerShdw blurRad="38100" dist="38100" dir="2700000" algn="tl">
                                            <a:srgbClr val="000000">
                                              <a:alpha val="43137"/>
                                            </a:srgbClr>
                                          </a:outerShdw>
                                        </a:effectLst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𝟕</m:t>
                                    </m:r>
                                  </m:e>
                                </m:d>
                                <m:r>
                                  <a:rPr lang="pt-BR" sz="14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1+</m:t>
                                    </m:r>
                                    <m:sSup>
                                      <m:sSupPr>
                                        <m:ctrlPr>
                                          <a:rPr lang="pt-BR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</m:e>
                                      <m:sup>
                                        <m:r>
                                          <a:rPr lang="pt-BR" sz="1400" i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BR" sz="140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1400" b="1" smtClean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𝟏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𝟖𝟏</m:t>
                                        </m:r>
                                        <m:r>
                                          <m:rPr>
                                            <m:nor/>
                                          </m:rPr>
                                          <a:rPr lang="pt-BR" sz="1400" b="1" i="0" dirty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r>
                                          <a:rPr lang="pt-BR" sz="14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pt-BR" sz="1400" b="0" i="0" dirty="0">
                            <a:solidFill>
                              <a:srgbClr val="4B5563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pt-BR" sz="1400" b="1" i="1" smtClean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𝟖𝟔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𝟎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%</m:t>
                              </m:r>
                            </m:oMath>
                          </a14:m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 (</a:t>
                          </a:r>
                          <a14:m>
                            <m:oMath xmlns:m="http://schemas.openxmlformats.org/officeDocument/2006/math">
                              <m:r>
                                <a:rPr lang="pt-BR" sz="12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pt-BR" sz="120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,860</m:t>
                              </m:r>
                            </m:oMath>
                          </a14:m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)</a:t>
                          </a:r>
                        </a:p>
                      </a:txBody>
                      <a:tcPr marL="152400" marR="152400" marT="95250" marB="95250" anchor="ctr">
                        <a:solidFill>
                          <a:srgbClr val="92D05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7262664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10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B9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10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1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𝑧</m:t>
                                </m:r>
                                <m:r>
                                  <a:rPr lang="pt-BR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d>
                                  <m:dPr>
                                    <m:endChr m:val=","/>
                                    <m:ctrlP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119×10</m:t>
                                    </m:r>
                                    <m:r>
                                      <a:rPr lang="pt-BR" sz="12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)</m:t>
                                    </m:r>
                                    <m: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pt-BR" sz="12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−6,52)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pt-BR" sz="1200" b="0" i="0" dirty="0">
                            <a:solidFill>
                              <a:srgbClr val="4B5563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200" b="1" smtClean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𝟓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𝟑𝟖</m:t>
                                </m:r>
                              </m:oMath>
                            </m:oMathPara>
                          </a14:m>
                          <a:endParaRPr lang="pt-BR" sz="1200" b="1" i="0" dirty="0">
                            <a:solidFill>
                              <a:srgbClr val="006C00"/>
                            </a:solidFill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pt-BR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=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14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TRUE</m:t>
                                    </m:r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∣</m:t>
                                    </m:r>
                                    <m:r>
                                      <a:rPr lang="pt-BR" sz="1400" b="1" i="0" smtClean="0">
                                        <a:solidFill>
                                          <a:srgbClr val="B90000"/>
                                        </a:solidFill>
                                        <a:effectLst>
                                          <a:outerShdw blurRad="38100" dist="38100" dir="2700000" algn="tl">
                                            <a:srgbClr val="000000">
                                              <a:alpha val="43137"/>
                                            </a:srgbClr>
                                          </a:outerShdw>
                                        </a:effectLst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𝟏𝟎</m:t>
                                    </m:r>
                                  </m:e>
                                </m:d>
                                <m:r>
                                  <a:rPr lang="pt-BR" sz="14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1+</m:t>
                                    </m:r>
                                    <m:sSup>
                                      <m:sSupPr>
                                        <m:ctrlPr>
                                          <a:rPr lang="pt-BR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</m:e>
                                      <m:sup>
                                        <m:r>
                                          <a:rPr lang="pt-BR" sz="1400" i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BR" sz="140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1400" b="1" smtClean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𝟓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𝟑𝟖</m:t>
                                        </m:r>
                                        <m:r>
                                          <m:rPr>
                                            <m:nor/>
                                          </m:rPr>
                                          <a:rPr lang="pt-BR" sz="1400" b="1" i="0" dirty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r>
                                          <a:rPr lang="pt-BR" sz="14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pt-BR" sz="1400" b="0" i="0" dirty="0">
                            <a:solidFill>
                              <a:srgbClr val="4B5563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pt-BR" sz="1400" b="1" i="1" smtClean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𝟗𝟗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𝟓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%</m:t>
                              </m:r>
                            </m:oMath>
                          </a14:m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 (</a:t>
                          </a:r>
                          <a14:m>
                            <m:oMath xmlns:m="http://schemas.openxmlformats.org/officeDocument/2006/math">
                              <m:r>
                                <a:rPr lang="pt-BR" sz="12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pt-BR" sz="120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,995</m:t>
                              </m:r>
                            </m:oMath>
                          </a14:m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)</a:t>
                          </a:r>
                        </a:p>
                      </a:txBody>
                      <a:tcPr marL="152400" marR="152400" marT="95250" marB="95250" anchor="ctr">
                        <a:solidFill>
                          <a:srgbClr val="92D05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5062080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8" name="Tabela 7">
                <a:extLst>
                  <a:ext uri="{FF2B5EF4-FFF2-40B4-BE49-F238E27FC236}">
                    <a16:creationId xmlns:a16="http://schemas.microsoft.com/office/drawing/2014/main" id="{6A33D78D-4AE8-6083-8033-3F6F953F859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97846796"/>
                  </p:ext>
                </p:extLst>
              </p:nvPr>
            </p:nvGraphicFramePr>
            <p:xfrm>
              <a:off x="397080" y="0"/>
              <a:ext cx="11247117" cy="67614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69938">
                      <a:extLst>
                        <a:ext uri="{9D8B030D-6E8A-4147-A177-3AD203B41FA5}">
                          <a16:colId xmlns:a16="http://schemas.microsoft.com/office/drawing/2014/main" val="1116698044"/>
                        </a:ext>
                      </a:extLst>
                    </a:gridCol>
                    <a:gridCol w="1328142">
                      <a:extLst>
                        <a:ext uri="{9D8B030D-6E8A-4147-A177-3AD203B41FA5}">
                          <a16:colId xmlns:a16="http://schemas.microsoft.com/office/drawing/2014/main" val="413475725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22775188"/>
                        </a:ext>
                      </a:extLst>
                    </a:gridCol>
                    <a:gridCol w="2390863">
                      <a:extLst>
                        <a:ext uri="{9D8B030D-6E8A-4147-A177-3AD203B41FA5}">
                          <a16:colId xmlns:a16="http://schemas.microsoft.com/office/drawing/2014/main" val="2018158403"/>
                        </a:ext>
                      </a:extLst>
                    </a:gridCol>
                    <a:gridCol w="1065402">
                      <a:extLst>
                        <a:ext uri="{9D8B030D-6E8A-4147-A177-3AD203B41FA5}">
                          <a16:colId xmlns:a16="http://schemas.microsoft.com/office/drawing/2014/main" val="1555457240"/>
                        </a:ext>
                      </a:extLst>
                    </a:gridCol>
                    <a:gridCol w="3129093">
                      <a:extLst>
                        <a:ext uri="{9D8B030D-6E8A-4147-A177-3AD203B41FA5}">
                          <a16:colId xmlns:a16="http://schemas.microsoft.com/office/drawing/2014/main" val="1606808806"/>
                        </a:ext>
                      </a:extLst>
                    </a:gridCol>
                    <a:gridCol w="1549279">
                      <a:extLst>
                        <a:ext uri="{9D8B030D-6E8A-4147-A177-3AD203B41FA5}">
                          <a16:colId xmlns:a16="http://schemas.microsoft.com/office/drawing/2014/main" val="1936369754"/>
                        </a:ext>
                      </a:extLst>
                    </a:gridCol>
                  </a:tblGrid>
                  <a:tr h="777240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37415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ID do Aluno</a:t>
                          </a:r>
                        </a:p>
                      </a:txBody>
                      <a:tcPr marL="152400" marR="152400" marT="114300" marB="114300" anchor="ctr"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200" b="1" i="0" dirty="0">
                              <a:solidFill>
                                <a:srgbClr val="37415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Entrada (X1)</a:t>
                          </a:r>
                        </a:p>
                        <a:p>
                          <a:pPr marL="0" marR="0" indent="0" algn="l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37415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Horas de Estudo</a:t>
                          </a:r>
                        </a:p>
                      </a:txBody>
                      <a:tcPr marL="152400" marR="152400" marT="114300" marB="114300" anchor="ctr"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37415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Saída (y)</a:t>
                          </a:r>
                        </a:p>
                        <a:p>
                          <a:pPr marL="0" marR="0" indent="0" algn="l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37415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Status</a:t>
                          </a:r>
                        </a:p>
                      </a:txBody>
                      <a:tcPr marL="152400" marR="152400" marT="114300" marB="114300" anchor="ctr"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37415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Cálculo de </a:t>
                          </a:r>
                          <a:r>
                            <a:rPr lang="pt-BR" sz="1600" b="1" i="0" dirty="0">
                              <a:solidFill>
                                <a:schemeClr val="tx1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z </a:t>
                          </a:r>
                          <a:r>
                            <a:rPr lang="pt-BR" sz="1200" b="1" i="0" dirty="0">
                              <a:solidFill>
                                <a:srgbClr val="37415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= </a:t>
                          </a:r>
                          <a:r>
                            <a:rPr lang="pt-BR" sz="1600" b="1" i="0" dirty="0">
                              <a:solidFill>
                                <a:srgbClr val="B9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w </a:t>
                          </a:r>
                          <a:r>
                            <a:rPr lang="pt-BR" sz="1200" b="1" i="0" dirty="0">
                              <a:solidFill>
                                <a:srgbClr val="37415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* (</a:t>
                          </a:r>
                          <a:r>
                            <a:rPr lang="pt-BR" sz="1200" b="1" i="0" dirty="0" err="1">
                              <a:solidFill>
                                <a:srgbClr val="37415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X_i</a:t>
                          </a:r>
                          <a:r>
                            <a:rPr lang="pt-BR" sz="1200" b="1" i="0" dirty="0">
                              <a:solidFill>
                                <a:srgbClr val="37415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) + </a:t>
                          </a:r>
                          <a:r>
                            <a:rPr lang="pt-BR" sz="1600" b="1" i="0" dirty="0">
                              <a:solidFill>
                                <a:srgbClr val="B9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b</a:t>
                          </a:r>
                        </a:p>
                      </a:txBody>
                      <a:tcPr marL="152400" marR="152400" marT="114300" marB="114300" anchor="ctr"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37415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Valor de “Z”</a:t>
                          </a:r>
                        </a:p>
                      </a:txBody>
                      <a:tcPr marL="152400" marR="152400" marT="114300" marB="114300" anchor="ctr"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114300" marB="114300" anchor="ctr">
                        <a:blipFill>
                          <a:blip r:embed="rId4"/>
                          <a:stretch>
                            <a:fillRect l="-209922" t="-1563" r="-50195" b="-7687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37415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Probabilidade Calculada - Saída</a:t>
                          </a:r>
                        </a:p>
                      </a:txBody>
                      <a:tcPr marL="152400" marR="152400" marT="114300" marB="114300" anchor="ctr"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8875054"/>
                      </a:ext>
                    </a:extLst>
                  </a:tr>
                  <a:tr h="598424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1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B9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2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0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130612" t="-132653" r="-241582" b="-9040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516571" t="-132653" r="-441143" b="-9040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209922" t="-132653" r="-50195" b="-9040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627165" t="-132653" r="-1575" b="-9040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69377936"/>
                      </a:ext>
                    </a:extLst>
                  </a:tr>
                  <a:tr h="598424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2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B9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3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0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130612" t="-232653" r="-241582" b="-8040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516571" t="-232653" r="-441143" b="-8040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209922" t="-232653" r="-50195" b="-8040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627165" t="-232653" r="-1575" b="-8040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31709673"/>
                      </a:ext>
                    </a:extLst>
                  </a:tr>
                  <a:tr h="598424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3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B9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5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0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130612" t="-332653" r="-241582" b="-7040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516571" t="-332653" r="-441143" b="-7040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209922" t="-332653" r="-50195" b="-7040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627165" t="-332653" r="-1575" b="-7040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47405644"/>
                      </a:ext>
                    </a:extLst>
                  </a:tr>
                  <a:tr h="598424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4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B9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6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1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130612" t="-428283" r="-241582" b="-59697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516571" t="-428283" r="-441143" b="-59697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209922" t="-428283" r="-50195" b="-59697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627165" t="-428283" r="-1575" b="-59697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1754755"/>
                      </a:ext>
                    </a:extLst>
                  </a:tr>
                  <a:tr h="598424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5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B9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8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1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130612" t="-533673" r="-241582" b="-5030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516571" t="-533673" r="-441143" b="-5030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209922" t="-533673" r="-50195" b="-5030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627165" t="-533673" r="-1575" b="-50306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59248732"/>
                      </a:ext>
                    </a:extLst>
                  </a:tr>
                  <a:tr h="598424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6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B9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9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1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130612" t="-633673" r="-241582" b="-4030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516571" t="-633673" r="-441143" b="-4030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209922" t="-633673" r="-50195" b="-4030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627165" t="-633673" r="-1575" b="-40306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9033624"/>
                      </a:ext>
                    </a:extLst>
                  </a:tr>
                  <a:tr h="598424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7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B9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1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0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130612" t="-733673" r="-241582" b="-3030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516571" t="-733673" r="-441143" b="-3030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209922" t="-733673" r="-50195" b="-3030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627165" t="-733673" r="-1575" b="-30306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29624790"/>
                      </a:ext>
                    </a:extLst>
                  </a:tr>
                  <a:tr h="598424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8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B9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4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0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130612" t="-825253" r="-241582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516571" t="-825253" r="-441143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209922" t="-825253" r="-5019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627165" t="-825253" r="-1575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01848800"/>
                      </a:ext>
                    </a:extLst>
                  </a:tr>
                  <a:tr h="598424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9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B9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7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1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130612" t="-934694" r="-241582" b="-1020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516571" t="-934694" r="-441143" b="-1020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209922" t="-934694" r="-50195" b="-1020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627165" t="-934694" r="-1575" b="-10204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72626647"/>
                      </a:ext>
                    </a:extLst>
                  </a:tr>
                  <a:tr h="598424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10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B9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10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1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130612" t="-1034694" r="-241582" b="-20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516571" t="-1034694" r="-441143" b="-20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209922" t="-1034694" r="-50195" b="-20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627165" t="-1034694" r="-1575" b="-204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506208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6364185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348CDF-31C7-056F-E70C-A28F2510C4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051C3CD-B809-1D7C-573B-AE2E2EEC6403}"/>
              </a:ext>
            </a:extLst>
          </p:cNvPr>
          <p:cNvSpPr/>
          <p:nvPr/>
        </p:nvSpPr>
        <p:spPr>
          <a:xfrm>
            <a:off x="475488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 III</a:t>
            </a:r>
            <a:endParaRPr lang="en-US" sz="9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3B07D85-63C2-9907-119B-7B252BC402B2}"/>
              </a:ext>
            </a:extLst>
          </p:cNvPr>
          <p:cNvSpPr/>
          <p:nvPr/>
        </p:nvSpPr>
        <p:spPr>
          <a:xfrm>
            <a:off x="475488" y="545930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F69B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12</a:t>
            </a:r>
            <a:endParaRPr lang="en-US" sz="1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04CF587-6991-7559-C0A9-8F1B43AA073E}"/>
              </a:ext>
            </a:extLst>
          </p:cNvPr>
          <p:cNvSpPr/>
          <p:nvPr/>
        </p:nvSpPr>
        <p:spPr>
          <a:xfrm>
            <a:off x="1024128" y="5029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Regressão Logística — EXEMPLO 01</a:t>
            </a:r>
            <a:endParaRPr lang="en-US" sz="17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4BAB1832-9DB3-8BF9-DFAC-9E96DC539A95}"/>
              </a:ext>
            </a:extLst>
          </p:cNvPr>
          <p:cNvSpPr/>
          <p:nvPr/>
        </p:nvSpPr>
        <p:spPr>
          <a:xfrm>
            <a:off x="-4046178" y="934198"/>
            <a:ext cx="11247120" cy="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63ED447-1D03-DF10-4E1F-4D4CA868FBDE}"/>
              </a:ext>
            </a:extLst>
          </p:cNvPr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CA1456FF-B8E0-EB59-0055-523315A24E8B}"/>
              </a:ext>
            </a:extLst>
          </p:cNvPr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12</a:t>
            </a:r>
            <a:endParaRPr lang="en-US" sz="800" dirty="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A170CDFE-234B-4A5A-1DD4-48147CAA0E37}"/>
              </a:ext>
            </a:extLst>
          </p:cNvPr>
          <p:cNvSpPr/>
          <p:nvPr/>
        </p:nvSpPr>
        <p:spPr>
          <a:xfrm>
            <a:off x="386647" y="1049999"/>
            <a:ext cx="2706931" cy="1000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r>
              <a:rPr lang="pt-BR" sz="1200" dirty="0"/>
              <a:t>A todos os alunos que tiverem mais de </a:t>
            </a:r>
            <a:r>
              <a:rPr lang="pt-BR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50% de chances de passar</a:t>
            </a:r>
            <a:r>
              <a:rPr lang="pt-BR" sz="1200" dirty="0"/>
              <a:t>, marque o aluno como "Aprovado". </a:t>
            </a:r>
          </a:p>
          <a:p>
            <a:r>
              <a:rPr lang="pt-BR" sz="1200" dirty="0"/>
              <a:t>Caso </a:t>
            </a:r>
            <a:r>
              <a:rPr lang="pt-BR" sz="1200" dirty="0" err="1"/>
              <a:t>constrário</a:t>
            </a:r>
            <a:r>
              <a:rPr lang="pt-BR" sz="1200" dirty="0"/>
              <a:t>, marque-o como Reprovado.</a:t>
            </a:r>
            <a:endParaRPr lang="en-US" sz="12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 25">
                <a:extLst>
                  <a:ext uri="{FF2B5EF4-FFF2-40B4-BE49-F238E27FC236}">
                    <a16:creationId xmlns:a16="http://schemas.microsoft.com/office/drawing/2014/main" id="{67C43D2D-E574-F227-4DE6-485192BEB1DA}"/>
                  </a:ext>
                </a:extLst>
              </p:cNvPr>
              <p:cNvSpPr/>
              <p:nvPr/>
            </p:nvSpPr>
            <p:spPr>
              <a:xfrm>
                <a:off x="4814392" y="184391"/>
                <a:ext cx="3764914" cy="749807"/>
              </a:xfrm>
              <a:prstGeom prst="rect">
                <a:avLst/>
              </a:prstGeom>
              <a:solidFill>
                <a:srgbClr val="EAF7EF"/>
              </a:solidFill>
              <a:ln w="12700">
                <a:solidFill>
                  <a:srgbClr val="2E9D62"/>
                </a:solidFill>
              </a:ln>
            </p:spPr>
            <p:txBody>
              <a:bodyPr wrap="square" lIns="1143" tIns="1143" rIns="1143" bIns="1143" rtlCol="0" anchor="ctr">
                <a:norm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1+</m:t>
                        </m:r>
                        <m:sSup>
                          <m:sSupPr>
                            <m:ctrlP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d>
                              <m:dPr>
                                <m:ctrlPr>
                                  <a:rPr lang="pt-BR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sz="2800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sz="28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1,19</m:t>
                                </m:r>
                                <m:r>
                                  <a:rPr lang="pt-BR" sz="2800" b="0" i="1" smtClean="0">
                                    <a:latin typeface="Cambria Math" panose="02040503050406030204" pitchFamily="18" charset="0"/>
                                  </a:rPr>
                                  <m:t>∗(</m:t>
                                </m:r>
                                <m:r>
                                  <a:rPr lang="pt-BR" sz="28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pt-BR" sz="2800" b="0" i="1" smtClean="0">
                                    <a:latin typeface="Cambria Math" panose="02040503050406030204" pitchFamily="18" charset="0"/>
                                  </a:rPr>
                                  <m:t>) − 6,52</m:t>
                                </m:r>
                              </m:e>
                            </m:d>
                          </m:sup>
                        </m:sSup>
                      </m:den>
                    </m:f>
                  </m:oMath>
                </a14:m>
                <a:endParaRPr lang="pt-BR" sz="2800" dirty="0"/>
              </a:p>
            </p:txBody>
          </p:sp>
        </mc:Choice>
        <mc:Fallback>
          <p:sp>
            <p:nvSpPr>
              <p:cNvPr id="12" name="Text 25">
                <a:extLst>
                  <a:ext uri="{FF2B5EF4-FFF2-40B4-BE49-F238E27FC236}">
                    <a16:creationId xmlns:a16="http://schemas.microsoft.com/office/drawing/2014/main" id="{67C43D2D-E574-F227-4DE6-485192BEB1D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14392" y="184391"/>
                <a:ext cx="3764914" cy="74980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solidFill>
                  <a:srgbClr val="2E9D62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Imagem 10">
            <a:extLst>
              <a:ext uri="{FF2B5EF4-FFF2-40B4-BE49-F238E27FC236}">
                <a16:creationId xmlns:a16="http://schemas.microsoft.com/office/drawing/2014/main" id="{64700A76-BF86-5989-8EA6-C61F35519D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0726" y="1257079"/>
            <a:ext cx="7480155" cy="5290025"/>
          </a:xfrm>
          <a:prstGeom prst="rect">
            <a:avLst/>
          </a:prstGeom>
        </p:spPr>
      </p:pic>
      <p:graphicFrame>
        <p:nvGraphicFramePr>
          <p:cNvPr id="14" name="Tabela 13">
            <a:extLst>
              <a:ext uri="{FF2B5EF4-FFF2-40B4-BE49-F238E27FC236}">
                <a16:creationId xmlns:a16="http://schemas.microsoft.com/office/drawing/2014/main" id="{A5A93322-588A-C193-C1C8-83221D53DC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1297356"/>
              </p:ext>
            </p:extLst>
          </p:nvPr>
        </p:nvGraphicFramePr>
        <p:xfrm>
          <a:off x="386648" y="2146525"/>
          <a:ext cx="4134079" cy="45151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45802">
                  <a:extLst>
                    <a:ext uri="{9D8B030D-6E8A-4147-A177-3AD203B41FA5}">
                      <a16:colId xmlns:a16="http://schemas.microsoft.com/office/drawing/2014/main" val="3943174570"/>
                    </a:ext>
                  </a:extLst>
                </a:gridCol>
                <a:gridCol w="609240">
                  <a:extLst>
                    <a:ext uri="{9D8B030D-6E8A-4147-A177-3AD203B41FA5}">
                      <a16:colId xmlns:a16="http://schemas.microsoft.com/office/drawing/2014/main" val="1710357480"/>
                    </a:ext>
                  </a:extLst>
                </a:gridCol>
                <a:gridCol w="504202">
                  <a:extLst>
                    <a:ext uri="{9D8B030D-6E8A-4147-A177-3AD203B41FA5}">
                      <a16:colId xmlns:a16="http://schemas.microsoft.com/office/drawing/2014/main" val="3340239317"/>
                    </a:ext>
                  </a:extLst>
                </a:gridCol>
                <a:gridCol w="854579">
                  <a:extLst>
                    <a:ext uri="{9D8B030D-6E8A-4147-A177-3AD203B41FA5}">
                      <a16:colId xmlns:a16="http://schemas.microsoft.com/office/drawing/2014/main" val="1929324043"/>
                    </a:ext>
                  </a:extLst>
                </a:gridCol>
                <a:gridCol w="871671">
                  <a:extLst>
                    <a:ext uri="{9D8B030D-6E8A-4147-A177-3AD203B41FA5}">
                      <a16:colId xmlns:a16="http://schemas.microsoft.com/office/drawing/2014/main" val="149403153"/>
                    </a:ext>
                  </a:extLst>
                </a:gridCol>
                <a:gridCol w="948585">
                  <a:extLst>
                    <a:ext uri="{9D8B030D-6E8A-4147-A177-3AD203B41FA5}">
                      <a16:colId xmlns:a16="http://schemas.microsoft.com/office/drawing/2014/main" val="309681475"/>
                    </a:ext>
                  </a:extLst>
                </a:gridCol>
              </a:tblGrid>
              <a:tr h="3955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effectLst/>
                        </a:rPr>
                        <a:t>ID</a:t>
                      </a:r>
                      <a:endParaRPr lang="pt-BR" sz="1100" dirty="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effectLst/>
                        </a:rPr>
                        <a:t>Entrada (X1)</a:t>
                      </a:r>
                      <a:endParaRPr lang="pt-BR" sz="1100" dirty="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effectLst/>
                        </a:rPr>
                        <a:t>Status Real (y)</a:t>
                      </a:r>
                      <a:endParaRPr lang="pt-BR" sz="1100" dirty="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b="1" dirty="0">
                          <a:solidFill>
                            <a:srgbClr val="8B0000"/>
                          </a:solidFill>
                          <a:effectLst/>
                        </a:rPr>
                        <a:t>Par Ordenado </a:t>
                      </a:r>
                    </a:p>
                    <a:p>
                      <a:pPr algn="ctr">
                        <a:buNone/>
                      </a:pPr>
                      <a:r>
                        <a:rPr lang="pt-BR" sz="1100" b="1" dirty="0">
                          <a:solidFill>
                            <a:srgbClr val="8B0000"/>
                          </a:solidFill>
                          <a:effectLst/>
                        </a:rPr>
                        <a:t>Real (X,Y)</a:t>
                      </a:r>
                      <a:endParaRPr lang="pt-BR" sz="1100" b="1" dirty="0">
                        <a:solidFill>
                          <a:srgbClr val="8B0000"/>
                        </a:solidFill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 err="1">
                          <a:effectLst/>
                        </a:rPr>
                        <a:t>Probab</a:t>
                      </a:r>
                      <a:endParaRPr lang="pt-BR" sz="1100" dirty="0">
                        <a:effectLst/>
                      </a:endParaRPr>
                    </a:p>
                    <a:p>
                      <a:pPr algn="ctr">
                        <a:buNone/>
                      </a:pPr>
                      <a:r>
                        <a:rPr lang="pt-BR" sz="1100" dirty="0">
                          <a:effectLst/>
                        </a:rPr>
                        <a:t>P( Y = 1 ∣ X )</a:t>
                      </a:r>
                      <a:endParaRPr lang="pt-BR" sz="1100" dirty="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b="0" dirty="0">
                          <a:solidFill>
                            <a:srgbClr val="008000"/>
                          </a:solidFill>
                          <a:effectLst/>
                        </a:rPr>
                        <a:t>Par Ordenado Previsto (X,P)</a:t>
                      </a:r>
                      <a:endParaRPr lang="pt-BR" sz="1100" b="0" dirty="0">
                        <a:solidFill>
                          <a:srgbClr val="008000"/>
                        </a:solidFill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1764141"/>
                  </a:ext>
                </a:extLst>
              </a:tr>
              <a:tr h="3955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effectLst/>
                        </a:rPr>
                        <a:t>7</a:t>
                      </a:r>
                      <a:endParaRPr lang="pt-BR" sz="1100" dirty="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effectLst/>
                        </a:rPr>
                        <a:t>1</a:t>
                      </a:r>
                      <a:endParaRPr lang="pt-BR" sz="1100" dirty="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effectLst/>
                        </a:rPr>
                        <a:t>0</a:t>
                      </a:r>
                      <a:endParaRPr lang="pt-BR" sz="1100" dirty="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b="1" dirty="0">
                          <a:solidFill>
                            <a:srgbClr val="8B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(1,0)</a:t>
                      </a:r>
                      <a:endParaRPr lang="pt-BR" sz="1100" b="1" dirty="0">
                        <a:solidFill>
                          <a:srgbClr val="8B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effectLst/>
                        </a:rPr>
                        <a:t>0,005</a:t>
                      </a:r>
                      <a:endParaRPr lang="pt-BR" sz="1100" dirty="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b="1" dirty="0">
                          <a:solidFill>
                            <a:srgbClr val="008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(1; 0,005)</a:t>
                      </a:r>
                      <a:endParaRPr lang="pt-BR" sz="1100" b="1" dirty="0">
                        <a:solidFill>
                          <a:srgbClr val="008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extLst>
                  <a:ext uri="{0D108BD9-81ED-4DB2-BD59-A6C34878D82A}">
                    <a16:rowId xmlns:a16="http://schemas.microsoft.com/office/drawing/2014/main" val="2302378877"/>
                  </a:ext>
                </a:extLst>
              </a:tr>
              <a:tr h="3955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effectLst/>
                        </a:rPr>
                        <a:t>1</a:t>
                      </a:r>
                      <a:endParaRPr lang="pt-BR" sz="1100" dirty="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effectLst/>
                        </a:rPr>
                        <a:t>2</a:t>
                      </a:r>
                      <a:endParaRPr lang="pt-BR" sz="110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effectLst/>
                        </a:rPr>
                        <a:t>0</a:t>
                      </a:r>
                      <a:endParaRPr lang="pt-BR" sz="110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b="1" dirty="0">
                          <a:solidFill>
                            <a:srgbClr val="8B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(2,0)</a:t>
                      </a:r>
                      <a:endParaRPr lang="pt-BR" sz="1100" b="1" dirty="0">
                        <a:solidFill>
                          <a:srgbClr val="8B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effectLst/>
                        </a:rPr>
                        <a:t>0,015</a:t>
                      </a:r>
                      <a:endParaRPr lang="pt-BR" sz="1100" dirty="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b="1" dirty="0">
                          <a:solidFill>
                            <a:srgbClr val="008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(2; 0,015)</a:t>
                      </a:r>
                      <a:endParaRPr lang="pt-BR" sz="1100" b="1" dirty="0">
                        <a:solidFill>
                          <a:srgbClr val="008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extLst>
                  <a:ext uri="{0D108BD9-81ED-4DB2-BD59-A6C34878D82A}">
                    <a16:rowId xmlns:a16="http://schemas.microsoft.com/office/drawing/2014/main" val="621382332"/>
                  </a:ext>
                </a:extLst>
              </a:tr>
              <a:tr h="3955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effectLst/>
                        </a:rPr>
                        <a:t>2</a:t>
                      </a:r>
                      <a:endParaRPr lang="pt-BR" sz="1100" dirty="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effectLst/>
                        </a:rPr>
                        <a:t>3</a:t>
                      </a:r>
                      <a:endParaRPr lang="pt-BR" sz="110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effectLst/>
                        </a:rPr>
                        <a:t>0</a:t>
                      </a:r>
                      <a:endParaRPr lang="pt-BR" sz="110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b="1" dirty="0">
                          <a:solidFill>
                            <a:srgbClr val="8B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(3,0)</a:t>
                      </a:r>
                      <a:endParaRPr lang="pt-BR" sz="1100" b="1" dirty="0">
                        <a:solidFill>
                          <a:srgbClr val="8B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effectLst/>
                        </a:rPr>
                        <a:t>0,049</a:t>
                      </a:r>
                      <a:endParaRPr lang="pt-BR" sz="1100" dirty="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b="1" dirty="0">
                          <a:solidFill>
                            <a:srgbClr val="008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(3; 0,049)</a:t>
                      </a:r>
                      <a:endParaRPr lang="pt-BR" sz="1100" b="1" dirty="0">
                        <a:solidFill>
                          <a:srgbClr val="008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extLst>
                  <a:ext uri="{0D108BD9-81ED-4DB2-BD59-A6C34878D82A}">
                    <a16:rowId xmlns:a16="http://schemas.microsoft.com/office/drawing/2014/main" val="1006708842"/>
                  </a:ext>
                </a:extLst>
              </a:tr>
              <a:tr h="3955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effectLst/>
                        </a:rPr>
                        <a:t>8</a:t>
                      </a:r>
                      <a:endParaRPr lang="pt-BR" sz="1100" dirty="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effectLst/>
                        </a:rPr>
                        <a:t>4</a:t>
                      </a:r>
                      <a:endParaRPr lang="pt-BR" sz="110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effectLst/>
                        </a:rPr>
                        <a:t>0</a:t>
                      </a:r>
                      <a:endParaRPr lang="pt-BR" sz="110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b="1" dirty="0">
                          <a:solidFill>
                            <a:srgbClr val="8B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(4,0)</a:t>
                      </a:r>
                      <a:endParaRPr lang="pt-BR" sz="1100" b="1" dirty="0">
                        <a:solidFill>
                          <a:srgbClr val="8B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effectLst/>
                        </a:rPr>
                        <a:t>0,147</a:t>
                      </a:r>
                      <a:endParaRPr lang="pt-BR" sz="110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b="1" dirty="0">
                          <a:solidFill>
                            <a:srgbClr val="008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(4; 0,147)</a:t>
                      </a:r>
                      <a:endParaRPr lang="pt-BR" sz="1100" b="1" dirty="0">
                        <a:solidFill>
                          <a:srgbClr val="008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extLst>
                  <a:ext uri="{0D108BD9-81ED-4DB2-BD59-A6C34878D82A}">
                    <a16:rowId xmlns:a16="http://schemas.microsoft.com/office/drawing/2014/main" val="3995669415"/>
                  </a:ext>
                </a:extLst>
              </a:tr>
              <a:tr h="3955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effectLst/>
                        </a:rPr>
                        <a:t>3</a:t>
                      </a:r>
                      <a:endParaRPr lang="pt-BR" sz="1100" dirty="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effectLst/>
                        </a:rPr>
                        <a:t>5</a:t>
                      </a:r>
                      <a:endParaRPr lang="pt-BR" sz="110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effectLst/>
                        </a:rPr>
                        <a:t>0</a:t>
                      </a:r>
                      <a:endParaRPr lang="pt-BR" sz="110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b="1" dirty="0">
                          <a:solidFill>
                            <a:srgbClr val="8B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(5,0)</a:t>
                      </a:r>
                      <a:endParaRPr lang="pt-BR" sz="1100" b="1" dirty="0">
                        <a:solidFill>
                          <a:srgbClr val="8B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effectLst/>
                        </a:rPr>
                        <a:t>0,361</a:t>
                      </a:r>
                      <a:endParaRPr lang="pt-BR" sz="110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b="1" dirty="0">
                          <a:solidFill>
                            <a:srgbClr val="008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(5; 0,361)</a:t>
                      </a:r>
                      <a:endParaRPr lang="pt-BR" sz="1100" b="1" dirty="0">
                        <a:solidFill>
                          <a:srgbClr val="008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extLst>
                  <a:ext uri="{0D108BD9-81ED-4DB2-BD59-A6C34878D82A}">
                    <a16:rowId xmlns:a16="http://schemas.microsoft.com/office/drawing/2014/main" val="3062083402"/>
                  </a:ext>
                </a:extLst>
              </a:tr>
              <a:tr h="3955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effectLst/>
                        </a:rPr>
                        <a:t>4</a:t>
                      </a:r>
                      <a:endParaRPr lang="pt-BR" sz="1100" dirty="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effectLst/>
                        </a:rPr>
                        <a:t>6</a:t>
                      </a:r>
                      <a:endParaRPr lang="pt-BR" sz="110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effectLst/>
                        </a:rPr>
                        <a:t>1</a:t>
                      </a:r>
                      <a:endParaRPr lang="pt-BR" sz="110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b="1" dirty="0">
                          <a:solidFill>
                            <a:srgbClr val="8B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(6,1)</a:t>
                      </a:r>
                      <a:endParaRPr lang="pt-BR" sz="1100" b="1" dirty="0">
                        <a:solidFill>
                          <a:srgbClr val="8B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effectLst/>
                        </a:rPr>
                        <a:t>0,65</a:t>
                      </a:r>
                      <a:endParaRPr lang="pt-BR" sz="110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b="1" dirty="0">
                          <a:solidFill>
                            <a:srgbClr val="008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(6; 0,650)</a:t>
                      </a:r>
                      <a:endParaRPr lang="pt-BR" sz="1100" b="1" dirty="0">
                        <a:solidFill>
                          <a:srgbClr val="008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extLst>
                  <a:ext uri="{0D108BD9-81ED-4DB2-BD59-A6C34878D82A}">
                    <a16:rowId xmlns:a16="http://schemas.microsoft.com/office/drawing/2014/main" val="3118101856"/>
                  </a:ext>
                </a:extLst>
              </a:tr>
              <a:tr h="3955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effectLst/>
                        </a:rPr>
                        <a:t>9</a:t>
                      </a:r>
                      <a:endParaRPr lang="pt-BR" sz="1100" dirty="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effectLst/>
                        </a:rPr>
                        <a:t>7</a:t>
                      </a:r>
                      <a:endParaRPr lang="pt-BR" sz="110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effectLst/>
                        </a:rPr>
                        <a:t>1</a:t>
                      </a:r>
                      <a:endParaRPr lang="pt-BR" sz="110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b="1" dirty="0">
                          <a:solidFill>
                            <a:srgbClr val="8B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(7,1)</a:t>
                      </a:r>
                      <a:endParaRPr lang="pt-BR" sz="1100" b="1" dirty="0">
                        <a:solidFill>
                          <a:srgbClr val="8B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effectLst/>
                        </a:rPr>
                        <a:t>0,86</a:t>
                      </a:r>
                      <a:endParaRPr lang="pt-BR" sz="110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b="1" dirty="0">
                          <a:solidFill>
                            <a:srgbClr val="008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(7; 0,860)</a:t>
                      </a:r>
                      <a:endParaRPr lang="pt-BR" sz="1100" b="1" dirty="0">
                        <a:solidFill>
                          <a:srgbClr val="008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extLst>
                  <a:ext uri="{0D108BD9-81ED-4DB2-BD59-A6C34878D82A}">
                    <a16:rowId xmlns:a16="http://schemas.microsoft.com/office/drawing/2014/main" val="610072331"/>
                  </a:ext>
                </a:extLst>
              </a:tr>
              <a:tr h="3955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effectLst/>
                        </a:rPr>
                        <a:t>5</a:t>
                      </a:r>
                      <a:endParaRPr lang="pt-BR" sz="1100" dirty="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effectLst/>
                        </a:rPr>
                        <a:t>8</a:t>
                      </a:r>
                      <a:endParaRPr lang="pt-BR" sz="110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effectLst/>
                        </a:rPr>
                        <a:t>1</a:t>
                      </a:r>
                      <a:endParaRPr lang="pt-BR" sz="110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b="1" dirty="0">
                          <a:solidFill>
                            <a:srgbClr val="8B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(8,1)</a:t>
                      </a:r>
                      <a:endParaRPr lang="pt-BR" sz="1100" b="1" dirty="0">
                        <a:solidFill>
                          <a:srgbClr val="8B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effectLst/>
                        </a:rPr>
                        <a:t>0,952</a:t>
                      </a:r>
                      <a:endParaRPr lang="pt-BR" sz="110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b="1" dirty="0">
                          <a:solidFill>
                            <a:srgbClr val="008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(8; 0,952)</a:t>
                      </a:r>
                      <a:endParaRPr lang="pt-BR" sz="1100" b="1" dirty="0">
                        <a:solidFill>
                          <a:srgbClr val="008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extLst>
                  <a:ext uri="{0D108BD9-81ED-4DB2-BD59-A6C34878D82A}">
                    <a16:rowId xmlns:a16="http://schemas.microsoft.com/office/drawing/2014/main" val="1737542999"/>
                  </a:ext>
                </a:extLst>
              </a:tr>
              <a:tr h="3955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effectLst/>
                        </a:rPr>
                        <a:t>6</a:t>
                      </a:r>
                      <a:endParaRPr lang="pt-BR" sz="1100" dirty="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effectLst/>
                        </a:rPr>
                        <a:t>9</a:t>
                      </a:r>
                      <a:endParaRPr lang="pt-BR" sz="110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effectLst/>
                        </a:rPr>
                        <a:t>1</a:t>
                      </a:r>
                      <a:endParaRPr lang="pt-BR" sz="110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b="1" dirty="0">
                          <a:solidFill>
                            <a:srgbClr val="8B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(9,1)</a:t>
                      </a:r>
                      <a:endParaRPr lang="pt-BR" sz="1100" b="1" dirty="0">
                        <a:solidFill>
                          <a:srgbClr val="8B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effectLst/>
                        </a:rPr>
                        <a:t>0,985</a:t>
                      </a:r>
                      <a:endParaRPr lang="pt-BR" sz="110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b="1" dirty="0">
                          <a:solidFill>
                            <a:srgbClr val="008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(9; 0,985)</a:t>
                      </a:r>
                      <a:endParaRPr lang="pt-BR" sz="1100" b="1" dirty="0">
                        <a:solidFill>
                          <a:srgbClr val="008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extLst>
                  <a:ext uri="{0D108BD9-81ED-4DB2-BD59-A6C34878D82A}">
                    <a16:rowId xmlns:a16="http://schemas.microsoft.com/office/drawing/2014/main" val="727266286"/>
                  </a:ext>
                </a:extLst>
              </a:tr>
              <a:tr h="3955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effectLst/>
                        </a:rPr>
                        <a:t>10</a:t>
                      </a:r>
                      <a:endParaRPr lang="pt-BR" sz="1100" dirty="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effectLst/>
                        </a:rPr>
                        <a:t>10</a:t>
                      </a:r>
                      <a:endParaRPr lang="pt-BR" sz="1100" dirty="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effectLst/>
                        </a:rPr>
                        <a:t>1</a:t>
                      </a:r>
                      <a:endParaRPr lang="pt-BR" sz="1100" dirty="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b="1" dirty="0">
                          <a:solidFill>
                            <a:srgbClr val="8B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(10,1)</a:t>
                      </a:r>
                      <a:endParaRPr lang="pt-BR" sz="1100" b="1" dirty="0">
                        <a:solidFill>
                          <a:srgbClr val="8B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effectLst/>
                        </a:rPr>
                        <a:t>0,995</a:t>
                      </a:r>
                      <a:endParaRPr lang="pt-BR" sz="1100" dirty="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b="1" dirty="0">
                          <a:solidFill>
                            <a:srgbClr val="008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(10; 0,995)</a:t>
                      </a:r>
                      <a:endParaRPr lang="pt-BR" sz="1100" b="1" dirty="0">
                        <a:solidFill>
                          <a:srgbClr val="008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extLst>
                  <a:ext uri="{0D108BD9-81ED-4DB2-BD59-A6C34878D82A}">
                    <a16:rowId xmlns:a16="http://schemas.microsoft.com/office/drawing/2014/main" val="36600135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575048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E3C7DF-C024-972D-5B64-E08DC94428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090CA91-C2FB-DC5C-F8F2-A9AEE7F78CE2}"/>
              </a:ext>
            </a:extLst>
          </p:cNvPr>
          <p:cNvSpPr/>
          <p:nvPr/>
        </p:nvSpPr>
        <p:spPr>
          <a:xfrm>
            <a:off x="475488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 III</a:t>
            </a:r>
            <a:endParaRPr lang="en-US" sz="9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E833DCE-7C23-3355-DE23-9D81A6473555}"/>
              </a:ext>
            </a:extLst>
          </p:cNvPr>
          <p:cNvSpPr/>
          <p:nvPr/>
        </p:nvSpPr>
        <p:spPr>
          <a:xfrm>
            <a:off x="475488" y="545930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F69B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12</a:t>
            </a:r>
            <a:endParaRPr lang="en-US" sz="1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3CF6C30-BD7E-3241-1C21-E7E46D5502E4}"/>
              </a:ext>
            </a:extLst>
          </p:cNvPr>
          <p:cNvSpPr/>
          <p:nvPr/>
        </p:nvSpPr>
        <p:spPr>
          <a:xfrm>
            <a:off x="1024128" y="502920"/>
            <a:ext cx="341968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Regressão Logística — EXEMPLO 01</a:t>
            </a:r>
            <a:endParaRPr lang="en-US" sz="17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7A7A9302-41B1-0044-B3C9-03979285E26A}"/>
              </a:ext>
            </a:extLst>
          </p:cNvPr>
          <p:cNvSpPr/>
          <p:nvPr/>
        </p:nvSpPr>
        <p:spPr>
          <a:xfrm>
            <a:off x="-4046178" y="934198"/>
            <a:ext cx="11247120" cy="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14CF0334-8AD4-97BA-3385-2A153DBC9785}"/>
              </a:ext>
            </a:extLst>
          </p:cNvPr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FAE06A77-30D3-22E6-49D0-D98466DED942}"/>
              </a:ext>
            </a:extLst>
          </p:cNvPr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12</a:t>
            </a:r>
            <a:endParaRPr lang="en-US" sz="8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 25">
                <a:extLst>
                  <a:ext uri="{FF2B5EF4-FFF2-40B4-BE49-F238E27FC236}">
                    <a16:creationId xmlns:a16="http://schemas.microsoft.com/office/drawing/2014/main" id="{947BC865-3E53-722F-637A-07ECB5FCC820}"/>
                  </a:ext>
                </a:extLst>
              </p:cNvPr>
              <p:cNvSpPr/>
              <p:nvPr/>
            </p:nvSpPr>
            <p:spPr>
              <a:xfrm>
                <a:off x="4814392" y="184391"/>
                <a:ext cx="3764914" cy="749807"/>
              </a:xfrm>
              <a:prstGeom prst="rect">
                <a:avLst/>
              </a:prstGeom>
              <a:solidFill>
                <a:srgbClr val="EAF7EF"/>
              </a:solidFill>
              <a:ln w="12700">
                <a:solidFill>
                  <a:srgbClr val="2E9D62"/>
                </a:solidFill>
              </a:ln>
            </p:spPr>
            <p:txBody>
              <a:bodyPr wrap="square" lIns="1143" tIns="1143" rIns="1143" bIns="1143" rtlCol="0" anchor="ctr">
                <a:norm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1+</m:t>
                        </m:r>
                        <m:sSup>
                          <m:sSupPr>
                            <m:ctrlP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d>
                              <m:dPr>
                                <m:ctrlPr>
                                  <a:rPr lang="pt-BR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sz="2800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sz="28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1,19</m:t>
                                </m:r>
                                <m:r>
                                  <a:rPr lang="pt-BR" sz="2800" b="0" i="1" smtClean="0">
                                    <a:latin typeface="Cambria Math" panose="02040503050406030204" pitchFamily="18" charset="0"/>
                                  </a:rPr>
                                  <m:t>∗(</m:t>
                                </m:r>
                                <m:r>
                                  <a:rPr lang="pt-BR" sz="28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pt-BR" sz="2800" b="0" i="1" smtClean="0">
                                    <a:latin typeface="Cambria Math" panose="02040503050406030204" pitchFamily="18" charset="0"/>
                                  </a:rPr>
                                  <m:t>) − 6,52</m:t>
                                </m:r>
                              </m:e>
                            </m:d>
                          </m:sup>
                        </m:sSup>
                      </m:den>
                    </m:f>
                  </m:oMath>
                </a14:m>
                <a:endParaRPr lang="pt-BR" sz="2800" dirty="0"/>
              </a:p>
            </p:txBody>
          </p:sp>
        </mc:Choice>
        <mc:Fallback>
          <p:sp>
            <p:nvSpPr>
              <p:cNvPr id="12" name="Text 25">
                <a:extLst>
                  <a:ext uri="{FF2B5EF4-FFF2-40B4-BE49-F238E27FC236}">
                    <a16:creationId xmlns:a16="http://schemas.microsoft.com/office/drawing/2014/main" id="{947BC865-3E53-722F-637A-07ECB5FCC82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14392" y="184391"/>
                <a:ext cx="3764914" cy="74980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solidFill>
                  <a:srgbClr val="2E9D62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CaixaDeTexto 21">
            <a:extLst>
              <a:ext uri="{FF2B5EF4-FFF2-40B4-BE49-F238E27FC236}">
                <a16:creationId xmlns:a16="http://schemas.microsoft.com/office/drawing/2014/main" id="{A021C8F0-0F5C-16CE-A107-90FE502AFFA1}"/>
              </a:ext>
            </a:extLst>
          </p:cNvPr>
          <p:cNvSpPr txBox="1"/>
          <p:nvPr/>
        </p:nvSpPr>
        <p:spPr>
          <a:xfrm>
            <a:off x="234069" y="1936737"/>
            <a:ext cx="5021595" cy="3766416"/>
          </a:xfrm>
          <a:prstGeom prst="rect">
            <a:avLst/>
          </a:prstGeom>
          <a:solidFill>
            <a:srgbClr val="F5F5F5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 err="1">
                <a:solidFill>
                  <a:srgbClr val="3F51B5"/>
                </a:solidFill>
                <a:effectLst/>
                <a:latin typeface="Roboto Mono" pitchFamily="2" charset="0"/>
              </a:rPr>
              <a:t>import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numpy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as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np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 err="1">
                <a:solidFill>
                  <a:srgbClr val="3F51B5"/>
                </a:solidFill>
                <a:effectLst/>
                <a:latin typeface="Roboto Mono" pitchFamily="2" charset="0"/>
              </a:rPr>
              <a:t>import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pandas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as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pd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D81B60"/>
                </a:solidFill>
                <a:effectLst/>
                <a:latin typeface="Roboto Mono" pitchFamily="2" charset="0"/>
              </a:rPr>
              <a:t># Definindo os dados da tabela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dados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{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    '</a:t>
            </a:r>
            <a:r>
              <a:rPr lang="pt-BR" sz="1200" b="0" i="0" dirty="0" err="1">
                <a:solidFill>
                  <a:srgbClr val="388E3C"/>
                </a:solidFill>
                <a:effectLst/>
                <a:latin typeface="Roboto Mono" pitchFamily="2" charset="0"/>
              </a:rPr>
              <a:t>id_aluno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: [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2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3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4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5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6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7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8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9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10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],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    '</a:t>
            </a:r>
            <a:r>
              <a:rPr lang="pt-BR" sz="1200" b="0" i="0" dirty="0" err="1">
                <a:solidFill>
                  <a:srgbClr val="388E3C"/>
                </a:solidFill>
                <a:effectLst/>
                <a:latin typeface="Roboto Mono" pitchFamily="2" charset="0"/>
              </a:rPr>
              <a:t>horas_estudo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: [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2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3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5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6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8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9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4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7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10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],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    '</a:t>
            </a:r>
            <a:r>
              <a:rPr lang="pt-BR" sz="1200" b="0" i="0" dirty="0" err="1">
                <a:solidFill>
                  <a:srgbClr val="388E3C"/>
                </a:solidFill>
                <a:effectLst/>
                <a:latin typeface="Roboto Mono" pitchFamily="2" charset="0"/>
              </a:rPr>
              <a:t>status_real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: [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0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0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0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0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0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}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df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pd.DataFrame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(dados)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D81B60"/>
                </a:solidFill>
                <a:effectLst/>
                <a:latin typeface="Roboto Mono" pitchFamily="2" charset="0"/>
              </a:rPr>
              <a:t># Parâmetros do modelo obtidos (w e b)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w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 1.19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b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 -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6.52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008000"/>
                </a:solidFill>
                <a:effectLst/>
                <a:latin typeface="Roboto Mono" pitchFamily="2" charset="0"/>
              </a:rPr>
              <a:t># Continua</a:t>
            </a:r>
            <a:r>
              <a:rPr lang="pt-BR" sz="1200" b="0" i="0" dirty="0">
                <a:solidFill>
                  <a:srgbClr val="000000"/>
                </a:solidFill>
                <a:effectLst/>
                <a:latin typeface="Roboto Mono" pitchFamily="2" charset="0"/>
              </a:rPr>
              <a:t> </a:t>
            </a:r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6985BF85-85D5-DD2D-D612-EF5E573C25D5}"/>
              </a:ext>
            </a:extLst>
          </p:cNvPr>
          <p:cNvSpPr txBox="1"/>
          <p:nvPr/>
        </p:nvSpPr>
        <p:spPr>
          <a:xfrm>
            <a:off x="5477678" y="1128824"/>
            <a:ext cx="6599894" cy="538224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008000"/>
                </a:solidFill>
                <a:effectLst/>
                <a:latin typeface="Roboto Mono" pitchFamily="2" charset="0"/>
              </a:rPr>
              <a:t># Continuação</a:t>
            </a: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D81B60"/>
                </a:solidFill>
                <a:effectLst/>
                <a:latin typeface="Roboto Mono" pitchFamily="2" charset="0"/>
              </a:rPr>
              <a:t># 1. Calculando o valor de z: z = w * X_1 + b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df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[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 err="1">
                <a:solidFill>
                  <a:srgbClr val="388E3C"/>
                </a:solidFill>
                <a:effectLst/>
                <a:latin typeface="Roboto Mono" pitchFamily="2" charset="0"/>
              </a:rPr>
              <a:t>valor_z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(w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*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df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[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 err="1">
                <a:solidFill>
                  <a:srgbClr val="388E3C"/>
                </a:solidFill>
                <a:effectLst/>
                <a:latin typeface="Roboto Mono" pitchFamily="2" charset="0"/>
              </a:rPr>
              <a:t>horas_estudo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])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+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b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D81B60"/>
                </a:solidFill>
                <a:effectLst/>
                <a:latin typeface="Roboto Mono" pitchFamily="2" charset="0"/>
              </a:rPr>
              <a:t># 2. Calculando a Probabilidade via Função Sigmoide: P(y=1) = 1 / (1 + e^-z)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df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[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'probabilidade'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 1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 /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(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 +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np.exp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-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df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[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 err="1">
                <a:solidFill>
                  <a:srgbClr val="388E3C"/>
                </a:solidFill>
                <a:effectLst/>
                <a:latin typeface="Roboto Mono" pitchFamily="2" charset="0"/>
              </a:rPr>
              <a:t>valor_z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]))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D81B60"/>
                </a:solidFill>
                <a:effectLst/>
                <a:latin typeface="Roboto Mono" pitchFamily="2" charset="0"/>
              </a:rPr>
              <a:t># 3. Formatando a probabilidade para exibição em porcentagem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df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[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 err="1">
                <a:solidFill>
                  <a:srgbClr val="388E3C"/>
                </a:solidFill>
                <a:effectLst/>
                <a:latin typeface="Roboto Mono" pitchFamily="2" charset="0"/>
              </a:rPr>
              <a:t>probabilidade_pct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(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df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[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'probabilidade'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*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 100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).round(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).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astype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str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+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 '%'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D81B60"/>
                </a:solidFill>
                <a:effectLst/>
                <a:latin typeface="Roboto Mono" pitchFamily="2" charset="0"/>
              </a:rPr>
              <a:t># Exibindo o resultado formatado de forma limpa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tabela_resultado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pd.DataFrame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({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    'ID do Aluno'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: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df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[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 err="1">
                <a:solidFill>
                  <a:srgbClr val="388E3C"/>
                </a:solidFill>
                <a:effectLst/>
                <a:latin typeface="Roboto Mono" pitchFamily="2" charset="0"/>
              </a:rPr>
              <a:t>id_aluno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],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    'Horas de Estudo (X1)'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: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df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[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 err="1">
                <a:solidFill>
                  <a:srgbClr val="388E3C"/>
                </a:solidFill>
                <a:effectLst/>
                <a:latin typeface="Roboto Mono" pitchFamily="2" charset="0"/>
              </a:rPr>
              <a:t>horas_estudo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],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    'Status Real (y)'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: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df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[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 err="1">
                <a:solidFill>
                  <a:srgbClr val="388E3C"/>
                </a:solidFill>
                <a:effectLst/>
                <a:latin typeface="Roboto Mono" pitchFamily="2" charset="0"/>
              </a:rPr>
              <a:t>status_real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],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    'Valor de z'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: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df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[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 err="1">
                <a:solidFill>
                  <a:srgbClr val="388E3C"/>
                </a:solidFill>
                <a:effectLst/>
                <a:latin typeface="Roboto Mono" pitchFamily="2" charset="0"/>
              </a:rPr>
              <a:t>valor_z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].round(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2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),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    'Probabilidade Calculada'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: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df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[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 err="1">
                <a:solidFill>
                  <a:srgbClr val="388E3C"/>
                </a:solidFill>
                <a:effectLst/>
                <a:latin typeface="Roboto Mono" pitchFamily="2" charset="0"/>
              </a:rPr>
              <a:t>probabilidade_pct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],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    'Probabilidade (Decimal)'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: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df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[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'probabilidade'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].round(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3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})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print(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tabela_resultado.to_string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</a:t>
            </a:r>
            <a:r>
              <a:rPr lang="pt-BR" sz="1200" b="0" i="0" dirty="0">
                <a:solidFill>
                  <a:srgbClr val="0097A7"/>
                </a:solidFill>
                <a:effectLst/>
                <a:latin typeface="Roboto Mono" pitchFamily="2" charset="0"/>
              </a:rPr>
              <a:t>index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False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</p:txBody>
      </p:sp>
      <p:sp>
        <p:nvSpPr>
          <p:cNvPr id="27" name="Text 2">
            <a:extLst>
              <a:ext uri="{FF2B5EF4-FFF2-40B4-BE49-F238E27FC236}">
                <a16:creationId xmlns:a16="http://schemas.microsoft.com/office/drawing/2014/main" id="{A897F50F-B966-D639-12FA-E521D1358AA5}"/>
              </a:ext>
            </a:extLst>
          </p:cNvPr>
          <p:cNvSpPr/>
          <p:nvPr/>
        </p:nvSpPr>
        <p:spPr>
          <a:xfrm>
            <a:off x="475488" y="1154847"/>
            <a:ext cx="4087028" cy="5517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 err="1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Implementação</a:t>
            </a: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</a:t>
            </a:r>
            <a:r>
              <a:rPr lang="en-US" sz="1700" b="1" dirty="0" err="1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em</a:t>
            </a: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Python</a:t>
            </a:r>
            <a:endParaRPr lang="en-US" sz="1700" dirty="0"/>
          </a:p>
        </p:txBody>
      </p:sp>
    </p:spTree>
    <p:extLst>
      <p:ext uri="{BB962C8B-B14F-4D97-AF65-F5344CB8AC3E}">
        <p14:creationId xmlns:p14="http://schemas.microsoft.com/office/powerpoint/2010/main" val="31421600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</a:majorFont>
      <a:minorFont>
        <a:latin typeface="Aptos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2E2876329B5D3B4FBA1D26A8667C2633" ma:contentTypeVersion="14" ma:contentTypeDescription="Crie um novo documento." ma:contentTypeScope="" ma:versionID="c18e529f75eeba5e3380f7426394bcf9">
  <xsd:schema xmlns:xsd="http://www.w3.org/2001/XMLSchema" xmlns:xs="http://www.w3.org/2001/XMLSchema" xmlns:p="http://schemas.microsoft.com/office/2006/metadata/properties" xmlns:ns3="1ea3c9c0-e698-4ea3-9529-a2c71b2c9eef" xmlns:ns4="38d922ee-4e44-47a7-a878-a22d9e8094bc" targetNamespace="http://schemas.microsoft.com/office/2006/metadata/properties" ma:root="true" ma:fieldsID="6a86d318e1343c5a9145aa5d09437703" ns3:_="" ns4:_="">
    <xsd:import namespace="1ea3c9c0-e698-4ea3-9529-a2c71b2c9eef"/>
    <xsd:import namespace="38d922ee-4e44-47a7-a878-a22d9e8094bc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_activity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SearchProperties" minOccurs="0"/>
                <xsd:element ref="ns3:MediaServiceDateTaken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ea3c9c0-e698-4ea3-9529-a2c71b2c9ee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1" nillable="true" ma:displayName="_activity" ma:hidden="true" ma:internalName="_activity">
      <xsd:simpleType>
        <xsd:restriction base="dms:Note"/>
      </xsd:simpleType>
    </xsd:element>
    <xsd:element name="MediaServiceSearchProperties" ma:index="1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SystemTags" ma:index="17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8d922ee-4e44-47a7-a878-a22d9e8094bc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4" nillable="true" ma:displayName="Hash de Dica de Compartilhamento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1ea3c9c0-e698-4ea3-9529-a2c71b2c9eef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CA2158D8-4C33-4132-A61E-E0532140A88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ea3c9c0-e698-4ea3-9529-a2c71b2c9eef"/>
    <ds:schemaRef ds:uri="38d922ee-4e44-47a7-a878-a22d9e8094b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D91E0874-EAAB-4A60-8F28-27A437EC07BB}">
  <ds:schemaRefs>
    <ds:schemaRef ds:uri="http://schemas.microsoft.com/office/2006/metadata/properties"/>
    <ds:schemaRef ds:uri="http://schemas.microsoft.com/office/infopath/2007/PartnerControls"/>
    <ds:schemaRef ds:uri="1ea3c9c0-e698-4ea3-9529-a2c71b2c9eef"/>
  </ds:schemaRefs>
</ds:datastoreItem>
</file>

<file path=customXml/itemProps3.xml><?xml version="1.0" encoding="utf-8"?>
<ds:datastoreItem xmlns:ds="http://schemas.openxmlformats.org/officeDocument/2006/customXml" ds:itemID="{ED4652CD-F36D-4B45-A152-BCD8A2661B4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665</TotalTime>
  <Words>3116</Words>
  <Application>Microsoft Office PowerPoint</Application>
  <PresentationFormat>Widescreen</PresentationFormat>
  <Paragraphs>704</Paragraphs>
  <Slides>25</Slides>
  <Notes>25</Notes>
  <HiddenSlides>0</HiddenSlides>
  <MMClips>0</MMClips>
  <ScaleCrop>false</ScaleCrop>
  <HeadingPairs>
    <vt:vector size="6" baseType="variant">
      <vt:variant>
        <vt:lpstr>Fontes usadas</vt:lpstr>
      </vt:variant>
      <vt:variant>
        <vt:i4>10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25</vt:i4>
      </vt:variant>
    </vt:vector>
  </HeadingPairs>
  <TitlesOfParts>
    <vt:vector size="37" baseType="lpstr">
      <vt:lpstr>Aptos</vt:lpstr>
      <vt:lpstr>Aptos Display</vt:lpstr>
      <vt:lpstr>Arial</vt:lpstr>
      <vt:lpstr>Cambria Math</vt:lpstr>
      <vt:lpstr>Carlito</vt:lpstr>
      <vt:lpstr>Inter</vt:lpstr>
      <vt:lpstr>Roboto Mono</vt:lpstr>
      <vt:lpstr>Symbol</vt:lpstr>
      <vt:lpstr>Times New Roman</vt:lpstr>
      <vt:lpstr>Wingdings</vt:lpstr>
      <vt:lpstr>Office Theme</vt:lpstr>
      <vt:lpstr>1_Office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Aula 04 - Organização e Preparação de Dados; Regressão Logística e KNN</dc:title>
  <dc:subject>Organização e Preparação de Dados; Regressão Logística e KNN</dc:subject>
  <dc:creator>OpenAI</dc:creator>
  <cp:lastModifiedBy>Miguel Suarez Xavier Penteado</cp:lastModifiedBy>
  <cp:revision>23</cp:revision>
  <dcterms:created xsi:type="dcterms:W3CDTF">2026-08-22T16:19:43Z</dcterms:created>
  <dcterms:modified xsi:type="dcterms:W3CDTF">2026-08-25T04:56:48Z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0x0101002E2876329B5D3B4FBA1D26A8667C2633</vt:lpwstr>
  </property>
</Properties>
</file>