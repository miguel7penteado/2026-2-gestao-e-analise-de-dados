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50" r:id="rId5"/>
  </p:sldMasterIdLst>
  <p:notesMasterIdLst>
    <p:notesMasterId r:id="rId33"/>
  </p:notesMasterIdLst>
  <p:sldIdLst>
    <p:sldId id="273" r:id="rId6"/>
    <p:sldId id="274" r:id="rId7"/>
    <p:sldId id="266" r:id="rId8"/>
    <p:sldId id="256" r:id="rId9"/>
    <p:sldId id="275" r:id="rId10"/>
    <p:sldId id="276" r:id="rId11"/>
    <p:sldId id="281" r:id="rId12"/>
    <p:sldId id="277" r:id="rId13"/>
    <p:sldId id="278" r:id="rId14"/>
    <p:sldId id="257" r:id="rId15"/>
    <p:sldId id="258" r:id="rId16"/>
    <p:sldId id="261" r:id="rId17"/>
    <p:sldId id="262" r:id="rId18"/>
    <p:sldId id="280" r:id="rId19"/>
    <p:sldId id="279" r:id="rId20"/>
    <p:sldId id="267" r:id="rId21"/>
    <p:sldId id="282" r:id="rId22"/>
    <p:sldId id="283" r:id="rId23"/>
    <p:sldId id="268" r:id="rId24"/>
    <p:sldId id="284" r:id="rId25"/>
    <p:sldId id="285" r:id="rId26"/>
    <p:sldId id="289" r:id="rId27"/>
    <p:sldId id="286" r:id="rId28"/>
    <p:sldId id="287" r:id="rId29"/>
    <p:sldId id="288" r:id="rId30"/>
    <p:sldId id="290" r:id="rId31"/>
    <p:sldId id="291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33C"/>
    <a:srgbClr val="8B0000"/>
    <a:srgbClr val="008000"/>
    <a:srgbClr val="F5F5F5"/>
    <a:srgbClr val="B90000"/>
    <a:srgbClr val="006C00"/>
    <a:srgbClr val="FFB6B6"/>
    <a:srgbClr val="339966"/>
    <a:srgbClr val="FF7C8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5662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F0D617-58B0-48D7-90B7-0ABD06AE6839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F82339-5E22-4774-A41C-D5077A7CFDFF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34A3-0D05-5EDC-B610-F00E9FFD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BC1DE-D2EE-98CF-E1E7-700DB0DC6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2AD98-D497-213D-337C-A50DE4855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16D8E-91C5-2FF6-D681-5633224DC0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91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0CC94-4415-64F9-50CF-6B422CED2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FF5DF-D8AA-8BC0-4EC9-6E74E0739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735EB-F7D1-17AD-D3FF-D12D4A1C4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2654C-3BB9-CF1C-4D74-B12666E56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71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C544B-85F6-7469-9719-7D089BDEE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EB4CE-5CC6-1C5A-B6F3-244B97E6E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C7E26-334F-AF12-791D-56468FA54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68C4D-7834-B2C8-8613-7DBBB25DC8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2699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87425-A340-7889-990C-A0AC8B42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1AAD0E-FB32-433F-10B1-E58995BB3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DB8BF-5AE5-A3ED-0F0A-4145B7C2E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36AF0-0A4A-9B81-9988-2552C6F5DD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313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3FDE0-34AF-0572-8F54-B3523425B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80FF88-2007-E97B-F0F2-2336E629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DD795-29E9-E331-A26C-48240B2F9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453D6-D89F-E6E1-D267-97B89BFF90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913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B3903-530F-8A9D-486A-4B9F71647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AF3CD-FD3F-B7D2-9217-2FED2169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C4EB8-10A3-BB52-1F9B-C6C12E931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7665F-6352-026C-CE50-DFDF1DFAAD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415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E63ED-837B-FFE9-F604-DAB1F32CF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1F947-BCF4-BB1A-BAF3-7F97A1E35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9A75CD-7E35-3D73-C283-81B3DFC67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ADD6-BFDF-065E-D6AF-C5D6C0C389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6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C0AB-AAB9-4BBB-ED10-522BF23B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30E12-A785-53DD-1F80-D2AA12996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96C80-89A9-7DCC-1FA2-98204E987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71EE4-F05A-0B5A-9CD4-30E3BCF75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44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2E0BB-5B6E-ED96-1E40-5ACE7120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93AB-9CAA-C988-0671-5DFE8EF2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FE9A8-2E75-1780-07FD-CBB88B502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0946A-786F-4F65-95C6-65B9A5759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24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E1238-ADCB-F60F-F8CF-26CC44A9E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8D953-E850-40F2-5A20-D39C8115B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F7036-D372-F52B-EFA0-2E10342CE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E3EA-147C-D088-FFA0-48AD9E8D41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6418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CF8F-7E26-35E4-F31B-991319C6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7A8F9-8BEF-61FA-D067-2F5CD51DE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C1C6F-E915-A900-F2EA-8F015274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B4232-E054-BC45-FAEE-0FF5C8986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278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4BFBE-3307-0D3F-8703-1A649542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DFB51-C4CA-4CA7-37B4-0D6AABCAC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A759A-32AF-D08D-5C56-9C3B26D5E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62D1E-315F-8D46-5A5C-42FD59D44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4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A8CB3-96A9-230A-B4DF-A385A84CD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8627B-2377-A7C7-5529-7538DACB8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5C71C-BA58-724A-1FE9-9CE15B3AA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4B811-9A7B-AABA-34FD-5AA01094EE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9130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4061-A8E1-C7A4-AAC4-93F79E84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AF5910-C313-BA3A-372F-BE477BB21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4A91B-E97A-6EB5-6C24-10EF5BD85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F2686-0982-A488-2615-2D9624BA82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08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000BA-AF31-5D64-1984-DA05D380A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2A07F-300D-E97C-BA61-F98E0D066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461D-9C09-213F-9776-F84996072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B53B0-915F-A5DF-6B05-6514117750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784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239A-3BC5-6E41-F6F7-F9E37478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326B8-8D51-56E9-C8B3-30EB2E13B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B09B4-2DF3-8D98-3D5B-6FEB2D62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D717A-0441-044D-12E9-1E016FE7E2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6274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3EA92-3D00-4C9D-0180-F9FCE99E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ECD82-DB2D-FCB1-D7D0-1AC8804B9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9C094-F9D6-D6E4-7DE8-17C0A01F4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236AE-CB18-191B-83C5-278480194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24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</a:p>
        </p:txBody>
      </p:sp>
    </p:spTree>
    <p:extLst>
      <p:ext uri="{BB962C8B-B14F-4D97-AF65-F5344CB8AC3E}">
        <p14:creationId xmlns:p14="http://schemas.microsoft.com/office/powerpoint/2010/main" val="1623070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4"/>
          <p:cNvSpPr/>
          <p:nvPr/>
        </p:nvSpPr>
        <p:spPr>
          <a:xfrm>
            <a:off x="702360" y="712800"/>
            <a:ext cx="9301332" cy="20287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Aula 04 –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Organização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Preparação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de dados,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Regressão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Logística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Agrupamentos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com KNN</a:t>
            </a:r>
            <a:endParaRPr kumimoji="0" lang="pt-BR" sz="4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01280" y="2814972"/>
            <a:ext cx="2432689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Professor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Miguél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Suares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hape 6"/>
              <p:cNvSpPr/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400" i="0" dirty="0">
                          <a:solidFill>
                            <a:srgbClr val="FFFFFF"/>
                          </a:solidFill>
                          <a:latin typeface="Cambria Math"/>
                          <a:ea typeface="Cambria Math"/>
                        </a:rPr>
                        <m:t>ŷ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+…+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Shap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blipFill>
                <a:blip r:embed="rId3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7"/>
          <p:cNvSpPr/>
          <p:nvPr/>
        </p:nvSpPr>
        <p:spPr>
          <a:xfrm>
            <a:off x="7551732" y="2632926"/>
            <a:ext cx="301716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lvl="0" algn="ctr">
              <a:tabLst>
                <a:tab pos="0" algn="l"/>
              </a:tabLst>
            </a:pPr>
            <a:endParaRPr kumimoji="0" lang="pt-BR" sz="2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Shape 8"/>
          <p:cNvSpPr/>
          <p:nvPr/>
        </p:nvSpPr>
        <p:spPr>
          <a:xfrm>
            <a:off x="537698" y="4189320"/>
            <a:ext cx="1188360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 9"/>
          <p:cNvSpPr/>
          <p:nvPr/>
        </p:nvSpPr>
        <p:spPr>
          <a:xfrm>
            <a:off x="610778" y="4262400"/>
            <a:ext cx="10422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Shape 10"/>
          <p:cNvSpPr/>
          <p:nvPr/>
        </p:nvSpPr>
        <p:spPr>
          <a:xfrm>
            <a:off x="1785428" y="4417920"/>
            <a:ext cx="230945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2094523" y="4188186"/>
            <a:ext cx="836246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2163133" y="4261266"/>
            <a:ext cx="69904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2977281" y="44180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3272913" y="4189320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3272913" y="4262400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749880" y="503928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BBD7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UNIP • GTI – Oferta 2026 - Gestão e Análise de Dados</a:t>
            </a:r>
            <a:endParaRPr kumimoji="0" lang="pt-BR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Retângulo 18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Retângulo 20"/>
          <p:cNvSpPr/>
          <p:nvPr/>
        </p:nvSpPr>
        <p:spPr>
          <a:xfrm>
            <a:off x="-360" y="585216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Imagem 25"/>
          <p:cNvPicPr/>
          <p:nvPr/>
        </p:nvPicPr>
        <p:blipFill>
          <a:blip r:embed="rId4"/>
          <a:stretch/>
        </p:blipFill>
        <p:spPr>
          <a:xfrm>
            <a:off x="4116960" y="0"/>
            <a:ext cx="3533400" cy="71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Shape 14">
            <a:extLst>
              <a:ext uri="{FF2B5EF4-FFF2-40B4-BE49-F238E27FC236}">
                <a16:creationId xmlns:a16="http://schemas.microsoft.com/office/drawing/2014/main" id="{159F20C1-21F3-15F3-A4A0-2329B7122AF5}"/>
              </a:ext>
            </a:extLst>
          </p:cNvPr>
          <p:cNvSpPr/>
          <p:nvPr/>
        </p:nvSpPr>
        <p:spPr>
          <a:xfrm>
            <a:off x="4477624" y="4189671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15">
            <a:extLst>
              <a:ext uri="{FF2B5EF4-FFF2-40B4-BE49-F238E27FC236}">
                <a16:creationId xmlns:a16="http://schemas.microsoft.com/office/drawing/2014/main" id="{5D8A1016-2A44-C929-ACBF-2BC36BEE5495}"/>
              </a:ext>
            </a:extLst>
          </p:cNvPr>
          <p:cNvSpPr/>
          <p:nvPr/>
        </p:nvSpPr>
        <p:spPr>
          <a:xfrm>
            <a:off x="4477624" y="4262751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Shape 13">
            <a:extLst>
              <a:ext uri="{FF2B5EF4-FFF2-40B4-BE49-F238E27FC236}">
                <a16:creationId xmlns:a16="http://schemas.microsoft.com/office/drawing/2014/main" id="{DF024D0B-016C-16B0-E6D1-2D6EBEC0E55D}"/>
              </a:ext>
            </a:extLst>
          </p:cNvPr>
          <p:cNvSpPr/>
          <p:nvPr/>
        </p:nvSpPr>
        <p:spPr>
          <a:xfrm>
            <a:off x="4184754" y="44141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7C5F692-AE42-214C-C3EF-AE62453E5EBA}"/>
              </a:ext>
            </a:extLst>
          </p:cNvPr>
          <p:cNvSpPr/>
          <p:nvPr/>
        </p:nvSpPr>
        <p:spPr>
          <a:xfrm>
            <a:off x="6942166" y="4090769"/>
            <a:ext cx="4220306" cy="776880"/>
          </a:xfrm>
          <a:prstGeom prst="roundRect">
            <a:avLst>
              <a:gd name="adj" fmla="val 9412"/>
            </a:avLst>
          </a:prstGeom>
          <a:solidFill>
            <a:srgbClr val="132F55"/>
          </a:solidFill>
          <a:ln w="15240">
            <a:solidFill>
              <a:srgbClr val="4DA3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/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360" tIns="360" rIns="360" bIns="360" anchor="ctr">
                <a:normAutofit fontScale="77500" lnSpcReduction="20000"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0" algn="l"/>
                  </a:tabLst>
                  <a:defRPr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hipotenusa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pt-BR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blipFill>
                <a:blip r:embed="rId5"/>
                <a:stretch>
                  <a:fillRect l="-120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AGENDA</a:t>
            </a:r>
            <a:endParaRPr kumimoji="0" lang="pt-BR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 Linear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731520" y="123444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 7"/>
          <p:cNvSpPr/>
          <p:nvPr/>
        </p:nvSpPr>
        <p:spPr>
          <a:xfrm>
            <a:off x="731520" y="13442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1024200"/>
            <a:ext cx="671256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731520" y="205740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31520" y="21672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1371600" y="214884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Shape 12"/>
          <p:cNvSpPr/>
          <p:nvPr/>
        </p:nvSpPr>
        <p:spPr>
          <a:xfrm>
            <a:off x="731520" y="288036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31520" y="2990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371600" y="297180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Logística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731520" y="37033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731520" y="38131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4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71600" y="37947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KNN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731520" y="452628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31520" y="4636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5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1371600" y="461772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Exemplos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em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Python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8412480" y="128016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8485560" y="135324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0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Funções → Modelos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Shape 23"/>
          <p:cNvSpPr/>
          <p:nvPr/>
        </p:nvSpPr>
        <p:spPr>
          <a:xfrm>
            <a:off x="8412480" y="237744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8485560" y="245052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Problema de regressão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8412480" y="347472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26"/>
          <p:cNvSpPr/>
          <p:nvPr/>
        </p:nvSpPr>
        <p:spPr>
          <a:xfrm>
            <a:off x="8485560" y="354780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Modelo, erro e otimização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Shape 27"/>
          <p:cNvSpPr/>
          <p:nvPr/>
        </p:nvSpPr>
        <p:spPr>
          <a:xfrm>
            <a:off x="8412480" y="457200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 28"/>
          <p:cNvSpPr/>
          <p:nvPr/>
        </p:nvSpPr>
        <p:spPr>
          <a:xfrm>
            <a:off x="8485560" y="464508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Python e exercício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710" y="1820411"/>
            <a:ext cx="10921878" cy="2123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POPULAÇÃO, ESTRATOS E AMOSTRAS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/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82" name="Imagem 81">
            <a:extLst>
              <a:ext uri="{FF2B5EF4-FFF2-40B4-BE49-F238E27FC236}">
                <a16:creationId xmlns:a16="http://schemas.microsoft.com/office/drawing/2014/main" id="{275D7EA1-71EC-BA8A-7429-38EFA39EC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8140" y="226335"/>
            <a:ext cx="3624044" cy="2718033"/>
          </a:xfrm>
          <a:prstGeom prst="rect">
            <a:avLst/>
          </a:prstGeom>
        </p:spPr>
      </p:pic>
      <p:pic>
        <p:nvPicPr>
          <p:cNvPr id="84" name="Imagem 83">
            <a:extLst>
              <a:ext uri="{FF2B5EF4-FFF2-40B4-BE49-F238E27FC236}">
                <a16:creationId xmlns:a16="http://schemas.microsoft.com/office/drawing/2014/main" id="{C8FAE4D5-F2F0-3696-2B17-05819D2D6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8140" y="3067015"/>
            <a:ext cx="3624044" cy="2718033"/>
          </a:xfrm>
          <a:prstGeom prst="rect">
            <a:avLst/>
          </a:prstGeom>
        </p:spPr>
      </p:pic>
      <p:pic>
        <p:nvPicPr>
          <p:cNvPr id="86" name="Imagem 85">
            <a:extLst>
              <a:ext uri="{FF2B5EF4-FFF2-40B4-BE49-F238E27FC236}">
                <a16:creationId xmlns:a16="http://schemas.microsoft.com/office/drawing/2014/main" id="{77EE33E2-4C04-67EA-5341-5F6CCD187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0624" y="3068972"/>
            <a:ext cx="2716076" cy="27160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0BCFA-6CBA-4049-0780-7E2C4057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E0AB3C18-0B8D-7422-588D-A722694C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67D955F-E961-F834-D21B-36B8074E3554}"/>
              </a:ext>
            </a:extLst>
          </p:cNvPr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8B07564-AE0C-762C-7B31-911DE6C3CFD7}"/>
              </a:ext>
            </a:extLst>
          </p:cNvPr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16EFC8B-D8A7-326B-564A-9872743E71F6}"/>
              </a:ext>
            </a:extLst>
          </p:cNvPr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15E194A-956B-A1D3-20AB-77E4FB40B4A4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E2154F2-B365-B16F-7657-5A40300AFC9A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1A6E200-3807-B315-0B0C-794EB966D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108" y="545452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CB8E0B1-1A67-FA86-BD0A-3EC0A8024A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025" y="3724984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69A65EE-317A-D359-C12A-F238FD6E3E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5550"/>
            <a:ext cx="2269359" cy="2269359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23E15EC4-C439-35CF-213F-748C2BE2CCAD}"/>
              </a:ext>
            </a:extLst>
          </p:cNvPr>
          <p:cNvSpPr/>
          <p:nvPr/>
        </p:nvSpPr>
        <p:spPr>
          <a:xfrm>
            <a:off x="8909108" y="23129"/>
            <a:ext cx="27708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7FA3D225-D9F1-D0EB-8D53-35D39FEF7E06}"/>
              </a:ext>
            </a:extLst>
          </p:cNvPr>
          <p:cNvSpPr/>
          <p:nvPr/>
        </p:nvSpPr>
        <p:spPr>
          <a:xfrm>
            <a:off x="8972025" y="3267592"/>
            <a:ext cx="22499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80602B2E-EDB6-AE80-3356-B6E875B166BF}"/>
              </a:ext>
            </a:extLst>
          </p:cNvPr>
          <p:cNvSpPr/>
          <p:nvPr/>
        </p:nvSpPr>
        <p:spPr>
          <a:xfrm>
            <a:off x="5633146" y="3180743"/>
            <a:ext cx="3205476" cy="492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>
                <a:solidFill>
                  <a:srgbClr val="111827"/>
                </a:solidFill>
              </a:rPr>
              <a:t>(IBGE CENSO DEMOGRÁFICO): 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226121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FB95E-35D2-4F29-43DD-366610AE9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DEE26815-3A9B-5742-A7F0-9ECB8AFCA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0B68325-FAEB-1F22-B22A-DE1CF41AB8C1}"/>
              </a:ext>
            </a:extLst>
          </p:cNvPr>
          <p:cNvSpPr/>
          <p:nvPr/>
        </p:nvSpPr>
        <p:spPr>
          <a:xfrm>
            <a:off x="360055" y="644282"/>
            <a:ext cx="3888465" cy="89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C3E9A74-7A94-CD05-31C0-DD91AED976F3}"/>
              </a:ext>
            </a:extLst>
          </p:cNvPr>
          <p:cNvSpPr/>
          <p:nvPr/>
        </p:nvSpPr>
        <p:spPr>
          <a:xfrm>
            <a:off x="360055" y="1560061"/>
            <a:ext cx="214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Proporção</a:t>
            </a:r>
            <a:r>
              <a:rPr lang="en-US" sz="1700" dirty="0">
                <a:solidFill>
                  <a:srgbClr val="111827"/>
                </a:solidFill>
              </a:rPr>
              <a:t> do </a:t>
            </a: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2CBBD45-CFB5-0F33-B2D5-D3AE302C1E19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D2BD48F-9548-38B4-82EF-18557FDC5B92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70464FE-14EF-EC62-48D8-9554792E2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8224" y="478340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BE5B3A4-5C42-F322-4C62-236F929AA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1171" y="3583698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5614A-4B5F-06B1-879C-499FF88A05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3378" y="2960977"/>
            <a:ext cx="2374085" cy="23740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126582" r="-63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223750" r="-631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37,50%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12,50%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132653" r="-671" b="-2836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235052" r="-671" b="-1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335052" r="-671" b="-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484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95000" r="-781" b="-49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47993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197468" r="-781" b="-3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297468" r="-781" b="-2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397468" r="-78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48050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497468" r="-781" b="-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Retângulo 13">
            <a:extLst>
              <a:ext uri="{FF2B5EF4-FFF2-40B4-BE49-F238E27FC236}">
                <a16:creationId xmlns:a16="http://schemas.microsoft.com/office/drawing/2014/main" id="{1CC45CE6-4188-F736-A399-E2D9FB5CB3B0}"/>
              </a:ext>
            </a:extLst>
          </p:cNvPr>
          <p:cNvSpPr/>
          <p:nvPr/>
        </p:nvSpPr>
        <p:spPr>
          <a:xfrm>
            <a:off x="181538" y="2960977"/>
            <a:ext cx="5665925" cy="3230500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2A78D4D-A91A-BEA5-2586-01C4BBE4430D}"/>
              </a:ext>
            </a:extLst>
          </p:cNvPr>
          <p:cNvSpPr/>
          <p:nvPr/>
        </p:nvSpPr>
        <p:spPr>
          <a:xfrm>
            <a:off x="5536733" y="468018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9CB8D3-3E4B-482C-C226-4EDCA948D14A}"/>
              </a:ext>
            </a:extLst>
          </p:cNvPr>
          <p:cNvSpPr/>
          <p:nvPr/>
        </p:nvSpPr>
        <p:spPr>
          <a:xfrm>
            <a:off x="5981349" y="3564983"/>
            <a:ext cx="5739747" cy="3011987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57F7CB5-1E30-5312-A373-76B3DF2C0E7B}"/>
              </a:ext>
            </a:extLst>
          </p:cNvPr>
          <p:cNvSpPr/>
          <p:nvPr/>
        </p:nvSpPr>
        <p:spPr>
          <a:xfrm>
            <a:off x="214437" y="2544883"/>
            <a:ext cx="54565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(IBGE CENSO DEMOGRÁFICO): </a:t>
            </a:r>
            <a:endParaRPr lang="en-US" sz="17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65CE3FA1-0D49-232A-2F48-6E116A73AF53}"/>
              </a:ext>
            </a:extLst>
          </p:cNvPr>
          <p:cNvSpPr/>
          <p:nvPr/>
        </p:nvSpPr>
        <p:spPr>
          <a:xfrm>
            <a:off x="5981349" y="318890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109844AB-A0EE-0925-F149-89536C5D0F6A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252815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8CD7EE-0C26-7550-1BAB-E571E65B5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299BACD-1A35-4C36-753A-5911586CCF46}"/>
              </a:ext>
            </a:extLst>
          </p:cNvPr>
          <p:cNvSpPr/>
          <p:nvPr/>
        </p:nvSpPr>
        <p:spPr>
          <a:xfrm>
            <a:off x="640710" y="1820411"/>
            <a:ext cx="10921878" cy="2123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AMOSTRAS BALANCEADAS E NÃO-BALANCEADAS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FACA57-0781-EC44-9ABD-B84CC3A30FA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BE353F-53E9-C3A2-A9A9-96A8E7CB92EF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6273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16E0A-1744-500E-B05A-A7BBCB2BD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9DA32686-4D0D-1BBF-C9A9-78C988759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31D66DB-4978-DF12-4596-0F0F7BE91B89}"/>
              </a:ext>
            </a:extLst>
          </p:cNvPr>
          <p:cNvSpPr/>
          <p:nvPr/>
        </p:nvSpPr>
        <p:spPr>
          <a:xfrm>
            <a:off x="360055" y="644282"/>
            <a:ext cx="3888465" cy="62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0BA6A4B-8E08-0C58-BE95-8FF4BB5A16B2}"/>
              </a:ext>
            </a:extLst>
          </p:cNvPr>
          <p:cNvSpPr/>
          <p:nvPr/>
        </p:nvSpPr>
        <p:spPr>
          <a:xfrm>
            <a:off x="381194" y="1402687"/>
            <a:ext cx="11573118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PROPORCIONAL: </a:t>
            </a:r>
            <a:r>
              <a:rPr lang="en-US" sz="1700" dirty="0" err="1">
                <a:solidFill>
                  <a:srgbClr val="111827"/>
                </a:solidFill>
              </a:rPr>
              <a:t>uma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 err="1">
                <a:solidFill>
                  <a:srgbClr val="111827"/>
                </a:solidFill>
              </a:rPr>
              <a:t>amostra</a:t>
            </a:r>
            <a:r>
              <a:rPr lang="en-US" sz="1700" b="1" dirty="0">
                <a:solidFill>
                  <a:srgbClr val="111827"/>
                </a:solidFill>
              </a:rPr>
              <a:t> é </a:t>
            </a:r>
            <a:r>
              <a:rPr lang="en-US" sz="1700" b="1" dirty="0" err="1">
                <a:solidFill>
                  <a:srgbClr val="111827"/>
                </a:solidFill>
              </a:rPr>
              <a:t>proporcional</a:t>
            </a:r>
            <a:r>
              <a:rPr lang="en-US" sz="1700" b="1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quando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pt-BR" dirty="0"/>
              <a:t>os estratos (grupos ou classes) de interesse aparecem com quantidades proporcionais a aquelas encontradas nos estratos da população.</a:t>
            </a:r>
            <a:endParaRPr lang="en-US" sz="2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E0E1F86-9EDD-81AE-B645-7C13A8A67D7B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B0E25D4-3A5A-EA14-10ED-A0195D18008D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1BBD6EB-5FC4-599D-3CA6-702AB494C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F1C8DD4C-1729-B71C-71A4-9608FF6A27D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A58E2657-E3C7-36EB-036C-CF619276D3C2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44,44%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55,56%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4177" r="-147619" b="-1987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4177" r="-781" b="-1987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469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1250" r="-147619" b="-9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1250" r="-781" b="-9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1" name="Imagem 20">
            <a:extLst>
              <a:ext uri="{FF2B5EF4-FFF2-40B4-BE49-F238E27FC236}">
                <a16:creationId xmlns:a16="http://schemas.microsoft.com/office/drawing/2014/main" id="{51BAAB2D-1C10-2CF5-9851-3E8F8FDC52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1100" y="3298385"/>
            <a:ext cx="4389120" cy="3291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036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56448-84C1-6836-9EA5-BF6D094F2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F78DB071-75D2-6A49-349A-8AA8A4BF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8CC72E9-FCD1-37D3-4DA9-E51DC0B7747E}"/>
              </a:ext>
            </a:extLst>
          </p:cNvPr>
          <p:cNvSpPr/>
          <p:nvPr/>
        </p:nvSpPr>
        <p:spPr>
          <a:xfrm>
            <a:off x="360055" y="644282"/>
            <a:ext cx="5319292" cy="758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DC19198-26F4-979E-3E16-F97241DE5E36}"/>
              </a:ext>
            </a:extLst>
          </p:cNvPr>
          <p:cNvSpPr/>
          <p:nvPr/>
        </p:nvSpPr>
        <p:spPr>
          <a:xfrm>
            <a:off x="381194" y="1402687"/>
            <a:ext cx="11450751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>
                <a:solidFill>
                  <a:srgbClr val="111827"/>
                </a:solidFill>
              </a:rPr>
              <a:t>BALANCEADA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r>
              <a:rPr lang="pt-BR" sz="1600" dirty="0"/>
              <a:t>Uma </a:t>
            </a:r>
            <a:r>
              <a:rPr lang="pt-BR" sz="1600" b="1" dirty="0"/>
              <a:t>amostra balanceada</a:t>
            </a:r>
            <a:r>
              <a:rPr lang="pt-BR" sz="1600" dirty="0"/>
              <a:t> é aquela em que os estratos (grupos ou classes) de interesse aparecem com quantidades iguais, ou aproximadamente iguais, na amostra.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7BF7F3D-7D1A-6311-A2FF-3A7CF9085773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87C1190-3ADF-77F0-F268-5C71E7CA60C3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D54DEC4-C7FD-2CF0-F5E5-25310476B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06908664-E8D8-97F6-1B83-CF637849FF0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E6EC1D27-F9E4-7774-F955-214A14E2ADA1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44,44%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55,56%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2500" r="-147619" b="-19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2500" r="-781" b="-19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5443" r="-147619" b="-962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5443" r="-781" b="-962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F8717012-3C1E-9429-F213-7C0E9C9FA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9027" y="3261137"/>
            <a:ext cx="4438782" cy="332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350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latin typeface="Aptos Display"/>
                <a:ea typeface="Aptos Display"/>
              </a:rPr>
              <a:t>Organização</a:t>
            </a:r>
            <a:r>
              <a:rPr lang="en-US" b="1" dirty="0">
                <a:latin typeface="Aptos Display"/>
                <a:ea typeface="Aptos Display"/>
              </a:rPr>
              <a:t> e </a:t>
            </a:r>
            <a:r>
              <a:rPr lang="en-US" b="1" dirty="0" err="1">
                <a:latin typeface="Aptos Display"/>
                <a:ea typeface="Aptos Display"/>
              </a:rPr>
              <a:t>Preparação</a:t>
            </a:r>
            <a:r>
              <a:rPr lang="en-US" b="1" dirty="0">
                <a:latin typeface="Aptos Display"/>
                <a:ea typeface="Aptos Display"/>
              </a:rPr>
              <a:t> de dados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22376" y="1106425"/>
            <a:ext cx="1019556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Pergunta central: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Como preparar uma base de dados para </a:t>
            </a:r>
            <a:r>
              <a:rPr lang="en-US" sz="1200" b="1" u="sng" dirty="0">
                <a:solidFill>
                  <a:srgbClr val="0B1F3A"/>
                </a:solidFill>
              </a:rPr>
              <a:t>representar corretamente a população</a:t>
            </a:r>
            <a:r>
              <a:rPr lang="en-US" sz="1200" b="1" dirty="0">
                <a:solidFill>
                  <a:srgbClr val="0B1F3A"/>
                </a:solidFill>
              </a:rPr>
              <a:t> antes de treinar um </a:t>
            </a:r>
            <a:r>
              <a:rPr lang="en-US" sz="1200" b="1" dirty="0" err="1">
                <a:solidFill>
                  <a:srgbClr val="0B1F3A"/>
                </a:solidFill>
              </a:rPr>
              <a:t>modelo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aprendizado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máquina</a:t>
            </a:r>
            <a:r>
              <a:rPr lang="en-US" sz="1200" b="1" dirty="0">
                <a:solidFill>
                  <a:srgbClr val="0B1F3A"/>
                </a:solidFill>
              </a:rPr>
              <a:t>?</a:t>
            </a:r>
            <a:endParaRPr lang="en-US" sz="1200" dirty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FC64D6B2-B925-B563-2563-42EA30BE63F3}"/>
              </a:ext>
            </a:extLst>
          </p:cNvPr>
          <p:cNvSpPr txBox="1"/>
          <p:nvPr/>
        </p:nvSpPr>
        <p:spPr>
          <a:xfrm>
            <a:off x="689281" y="1875949"/>
            <a:ext cx="101955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dirty="0"/>
              <a:t>O ponto importante é que </a:t>
            </a:r>
            <a:r>
              <a:rPr lang="pt-BR" b="1" dirty="0"/>
              <a:t>balanceada não significa necessariamente representativa da população</a:t>
            </a:r>
            <a:r>
              <a:rPr lang="pt-BR" dirty="0"/>
              <a:t>. No exemplo acima, a população original é 44,4% masculina e 55,6% feminina. </a:t>
            </a:r>
          </a:p>
          <a:p>
            <a:pPr>
              <a:buNone/>
            </a:pPr>
            <a:r>
              <a:rPr lang="pt-BR" dirty="0"/>
              <a:t>Portanto: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50/50 é balanceada, mas </a:t>
            </a:r>
            <a:r>
              <a:rPr lang="pt-BR" b="1" dirty="0"/>
              <a:t>não preserva a proporção da população</a:t>
            </a:r>
            <a:r>
              <a:rPr lang="pt-BR" dirty="0"/>
              <a:t>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44,4/55,6 é não balanceada, mas </a:t>
            </a:r>
            <a:r>
              <a:rPr lang="pt-BR" b="1" dirty="0"/>
              <a:t>é proporcional à população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/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pt-BR" dirty="0"/>
                  <a:t>Isso é especialmente importante em </a:t>
                </a:r>
                <a:r>
                  <a:rPr lang="pt-BR" b="1" dirty="0"/>
                  <a:t>Machine Learning</a:t>
                </a:r>
                <a:r>
                  <a:rPr lang="pt-BR" dirty="0"/>
                  <a:t>. Imagine um conjunto com: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950</a:t>
                </a:r>
                <a:r>
                  <a:rPr lang="pt-BR" dirty="0"/>
                  <a:t> imagens de </a:t>
                </a:r>
                <a:r>
                  <a:rPr lang="pt-BR" b="1" dirty="0"/>
                  <a:t>cães</a:t>
                </a:r>
                <a:r>
                  <a:rPr lang="pt-BR" dirty="0"/>
                  <a:t>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   50</a:t>
                </a:r>
                <a:r>
                  <a:rPr lang="pt-BR" dirty="0"/>
                  <a:t> imagens de </a:t>
                </a:r>
                <a:r>
                  <a:rPr lang="pt-BR" b="1" dirty="0"/>
                  <a:t>gatos</a:t>
                </a:r>
                <a:r>
                  <a:rPr lang="pt-BR" dirty="0"/>
                  <a:t>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O </a:t>
                </a:r>
                <a:r>
                  <a:rPr lang="pt-BR" dirty="0" err="1"/>
                  <a:t>dataset</a:t>
                </a:r>
                <a:r>
                  <a:rPr lang="pt-BR" dirty="0"/>
                  <a:t> está fortemente </a:t>
                </a:r>
                <a:r>
                  <a:rPr lang="pt-BR" b="1" dirty="0"/>
                  <a:t>desbalanceado</a:t>
                </a:r>
                <a:r>
                  <a:rPr lang="pt-BR" dirty="0"/>
                  <a:t>. Um classificador que dissesse sempre “cão” teria: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pt-BR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950</m:t>
                        </m:r>
                      </m:num>
                      <m:den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pt-BR" dirty="0"/>
                  <a:t>​ = 95%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de acurácia, embora não tivesse aprendido a reconhecer gatos.</a:t>
                </a:r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blipFill>
                <a:blip r:embed="rId3"/>
                <a:stretch>
                  <a:fillRect l="-542" t="-1319" b="-34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Organização e preparação de dados: O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é um DATASET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Unidade de análise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será observado?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aluno, funcionário, imagem, transação.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8056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Quais </a:t>
            </a:r>
            <a:r>
              <a:rPr lang="en-US" sz="1200" b="1" dirty="0" err="1">
                <a:solidFill>
                  <a:srgbClr val="0B1F3A"/>
                </a:solidFill>
              </a:rPr>
              <a:t>atributos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definem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estrato</a:t>
            </a:r>
            <a:r>
              <a:rPr lang="en-US" sz="1200" b="1" dirty="0">
                <a:solidFill>
                  <a:srgbClr val="0B1F3A"/>
                </a:solidFill>
              </a:rPr>
              <a:t> 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idade, curso, renda, classe.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Alvo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queremos explicar ou prever?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aprovado, compra, fraude.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08192" y="2606040"/>
            <a:ext cx="0" cy="54864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434840" y="3291840"/>
            <a:ext cx="3337560" cy="347472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Preparar antes de modelar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79996" y="4322259"/>
            <a:ext cx="7018648" cy="7372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lIns="508" tIns="508" rIns="508" bIns="508" rtlCol="0" anchor="ctr">
            <a:normAutofit fontScale="70000" lnSpcReduction="20000"/>
          </a:bodyPr>
          <a:lstStyle/>
          <a:p>
            <a:pPr algn="just"/>
            <a:r>
              <a:rPr lang="pt-BR" dirty="0"/>
              <a:t>Um </a:t>
            </a:r>
            <a:r>
              <a:rPr lang="pt-BR" b="1" dirty="0"/>
              <a:t>DATASET</a:t>
            </a:r>
            <a:r>
              <a:rPr lang="pt-BR" sz="2000" dirty="0"/>
              <a:t> (ou conjunto de dados) é uma </a:t>
            </a:r>
            <a:r>
              <a:rPr lang="pt-BR" sz="2000" b="1" dirty="0"/>
              <a:t>coleção estruturada de informações organizadas para análise, pesquisa ou uso em inteligência artificial</a:t>
            </a:r>
            <a:r>
              <a:rPr lang="pt-BR" sz="2000" dirty="0"/>
              <a:t>. </a:t>
            </a:r>
          </a:p>
          <a:p>
            <a:pPr algn="just"/>
            <a:r>
              <a:rPr lang="pt-BR" sz="2000" dirty="0"/>
              <a:t>Ele funciona como uma tabela ou planilha grande, onde as linhas representam os registros individuais e as colunas descrevem as características ou atributos desses registros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17320" y="5212080"/>
            <a:ext cx="9144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0000"/>
                </a:solidFill>
              </a:rPr>
              <a:t>Um DATASET mal selecionada pode produzir </a:t>
            </a:r>
            <a:r>
              <a:rPr lang="en-US" sz="1400" dirty="0" err="1">
                <a:solidFill>
                  <a:srgbClr val="FF0000"/>
                </a:solidFill>
              </a:rPr>
              <a:t>conclusões</a:t>
            </a:r>
            <a:r>
              <a:rPr lang="en-US" sz="1400" dirty="0">
                <a:solidFill>
                  <a:srgbClr val="FF0000"/>
                </a:solidFill>
              </a:rPr>
              <a:t> ENVIESADAS (</a:t>
            </a:r>
            <a:r>
              <a:rPr lang="en-US" sz="1400" dirty="0" err="1">
                <a:solidFill>
                  <a:srgbClr val="FF0000"/>
                </a:solidFill>
              </a:rPr>
              <a:t>viciadas</a:t>
            </a:r>
            <a:r>
              <a:rPr lang="en-US" sz="1400" dirty="0">
                <a:solidFill>
                  <a:srgbClr val="FF0000"/>
                </a:solidFill>
              </a:rPr>
              <a:t>), mesmo usando bons algoritmos.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4912A5F-5F16-0BA4-6DD1-BDB71F09BB2B}"/>
              </a:ext>
            </a:extLst>
          </p:cNvPr>
          <p:cNvSpPr/>
          <p:nvPr/>
        </p:nvSpPr>
        <p:spPr>
          <a:xfrm>
            <a:off x="6096000" y="3706396"/>
            <a:ext cx="0" cy="54864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1 — Alunos de uma universidade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10.000 alunos  •  Amostra desejada: 1.000 alunos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 no estrato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17136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52821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 proporcional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Engenharia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3.000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17136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52821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2.500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17136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52821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Direito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17136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52821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Saúde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1.500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17136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52821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Outros cursos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17136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52821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17136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52821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645920"/>
            <a:ext cx="1005840" cy="320040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Cálculo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98080" y="2240280"/>
            <a:ext cx="31089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08A24"/>
                </a:solidFill>
              </a:rPr>
              <a:t>nₕ = n · Nₕ / N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7635240" y="3063240"/>
            <a:ext cx="3154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Engenharia: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1.000 × 3.000 / 10.000 = 300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635240" y="4160520"/>
            <a:ext cx="315468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mantém a composição da universidade.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2 — Funcionários de uma empresa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2.000 funcionários  •  Amostra desejada: 200 funcionários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27855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63540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Produção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27855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45%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63540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27855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63540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Comercial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27855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63540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Tecnologia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27855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12,5%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63540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Diretoria/Gestão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27855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7,5%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63540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27855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63540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35240" y="1645920"/>
            <a:ext cx="868680" cy="320040"/>
          </a:xfrm>
          <a:prstGeom prst="rect">
            <a:avLst/>
          </a:prstGeom>
          <a:solidFill>
            <a:srgbClr val="2E9D62"/>
          </a:solidFill>
          <a:ln>
            <a:solidFill>
              <a:srgbClr val="2E9D6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Leitura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543800" y="2148840"/>
            <a:ext cx="1481328" cy="347472"/>
          </a:xfrm>
          <a:prstGeom prst="rect">
            <a:avLst/>
          </a:prstGeom>
          <a:solidFill>
            <a:srgbClr val="2F69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43800" y="2569464"/>
            <a:ext cx="1481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Produção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025128" y="2148840"/>
            <a:ext cx="658368" cy="347472"/>
          </a:xfrm>
          <a:prstGeom prst="rect">
            <a:avLst/>
          </a:prstGeom>
          <a:solidFill>
            <a:srgbClr val="2E9D6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25128" y="2569464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Adm.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9683496" y="2148840"/>
            <a:ext cx="493776" cy="347472"/>
          </a:xfrm>
          <a:prstGeom prst="rect">
            <a:avLst/>
          </a:prstGeom>
          <a:solidFill>
            <a:srgbClr val="F08A2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83496" y="2569464"/>
            <a:ext cx="493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Com.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10177272" y="2148840"/>
            <a:ext cx="411480" cy="347472"/>
          </a:xfrm>
          <a:prstGeom prst="rect">
            <a:avLst/>
          </a:prstGeom>
          <a:solidFill>
            <a:srgbClr val="6554C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88752" y="2148840"/>
            <a:ext cx="246888" cy="347472"/>
          </a:xfrm>
          <a:prstGeom prst="rect">
            <a:avLst/>
          </a:prstGeom>
          <a:solidFill>
            <a:srgbClr val="36A2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43800" y="3063240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Produção representa 45% da empresa, então recebe 45% da amostra: 90 pessoas.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43800" y="4069080"/>
            <a:ext cx="3429000" cy="685800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proporcional não iguala os setores: ela preserva as diferenças da população.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16F3F-2762-4A5C-3DF0-CF54BB73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A6423D5-AAB8-19D2-9B0F-484C2BFB8911}"/>
              </a:ext>
            </a:extLst>
          </p:cNvPr>
          <p:cNvSpPr/>
          <p:nvPr/>
        </p:nvSpPr>
        <p:spPr>
          <a:xfrm>
            <a:off x="1787526" y="2701884"/>
            <a:ext cx="7843035" cy="1216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34B5DBE-7636-C081-1906-89CDC4FDF501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18B9AD0-CC51-FBAA-35C4-6260C7A3F3B1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37277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BF71F8-FCAC-A20A-2FBE-BB90A4FB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A9A1ED7-E2D8-5566-1B5A-4A5B38FA761B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28AE72-E217-E4B1-79D4-D1D99F6174EC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BD1AB1F-39F3-9FA8-0679-D6B40690C6E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0E8EE76-0FB1-2360-5A65-E68C78668CE6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39EB3FD-82C9-207F-C744-495DF141251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DCC407E-36E5-F008-B556-E18FA6D3268D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3DB3294-5D8E-3AC0-62F3-2697FB3663CE}"/>
              </a:ext>
            </a:extLst>
          </p:cNvPr>
          <p:cNvSpPr/>
          <p:nvPr/>
        </p:nvSpPr>
        <p:spPr>
          <a:xfrm>
            <a:off x="475488" y="1012330"/>
            <a:ext cx="9875520" cy="16184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Linear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numérico</a:t>
            </a:r>
            <a:r>
              <a:rPr lang="pt-BR" dirty="0"/>
              <a:t> contínuo. Chamado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QUANTITATIVO</a:t>
            </a:r>
            <a:r>
              <a:rPr lang="pt-BR" dirty="0"/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Logística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de </a:t>
            </a:r>
            <a:r>
              <a:rPr lang="pt-BR" b="1" dirty="0" err="1"/>
              <a:t>classificação</a:t>
            </a:r>
            <a:r>
              <a:rPr lang="pt-BR" dirty="0" err="1"/>
              <a:t>.Chamado</a:t>
            </a:r>
            <a:r>
              <a:rPr lang="pt-BR" dirty="0"/>
              <a:t>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QUALITATIVO</a:t>
            </a:r>
            <a:r>
              <a:rPr lang="pt-BR" dirty="0"/>
              <a:t>.</a:t>
            </a:r>
          </a:p>
        </p:txBody>
      </p:sp>
      <p:graphicFrame>
        <p:nvGraphicFramePr>
          <p:cNvPr id="34" name="Tabela 33">
            <a:extLst>
              <a:ext uri="{FF2B5EF4-FFF2-40B4-BE49-F238E27FC236}">
                <a16:creationId xmlns:a16="http://schemas.microsoft.com/office/drawing/2014/main" id="{D1461C7E-3899-765A-AB65-3E0A626A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92590"/>
              </p:ext>
            </p:extLst>
          </p:nvPr>
        </p:nvGraphicFramePr>
        <p:xfrm>
          <a:off x="515113" y="2707520"/>
          <a:ext cx="9835896" cy="336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9661">
                  <a:extLst>
                    <a:ext uri="{9D8B030D-6E8A-4147-A177-3AD203B41FA5}">
                      <a16:colId xmlns:a16="http://schemas.microsoft.com/office/drawing/2014/main" val="4024873213"/>
                    </a:ext>
                  </a:extLst>
                </a:gridCol>
                <a:gridCol w="3809805">
                  <a:extLst>
                    <a:ext uri="{9D8B030D-6E8A-4147-A177-3AD203B41FA5}">
                      <a16:colId xmlns:a16="http://schemas.microsoft.com/office/drawing/2014/main" val="1916961231"/>
                    </a:ext>
                  </a:extLst>
                </a:gridCol>
                <a:gridCol w="4356430">
                  <a:extLst>
                    <a:ext uri="{9D8B030D-6E8A-4147-A177-3AD203B41FA5}">
                      <a16:colId xmlns:a16="http://schemas.microsoft.com/office/drawing/2014/main" val="3896147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Contexto / Área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Valores Qualitativos (Características / Categorias)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Valores Quantitativos (Medidas / Números)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65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Perfil Pessoal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Estado civil: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Solteiro, Casado, </a:t>
                      </a:r>
                      <a:r>
                        <a:rPr lang="pt-BR" sz="1200" b="1" i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Viuvo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Cor dos olhos: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Negros, castanhos, verdes, azuis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Sexo: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Masculino, Feminino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Idade: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anos);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Altura: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1,75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m);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Número de filhos: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339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Avaliação de Produtos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Nível de satisfação: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Ruim, Bom, Excelente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Marca: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Chevrolet, </a:t>
                      </a:r>
                      <a:r>
                        <a:rPr lang="pt-BR" sz="1200" b="1" i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VolksWagen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, Toyota, BYD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Cor: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amarelo, verde, roxo, marrom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Nota de avaliação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4.5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de 5);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Preço (R$ 99,90); - Peso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500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g);</a:t>
                      </a:r>
                    </a:p>
                  </a:txBody>
                  <a:tcPr marL="152400" marR="152400" marT="95250" marB="95250" anchor="ctr">
                    <a:solidFill>
                      <a:srgbClr val="64D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855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Saúde e Medicina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Tipo sanguíneo: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O+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Diagnóstico: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Hipertensão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Sintomas: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Coceira, Dor de barriga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Pressão arterial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120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/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80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mmHg);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Batimentos cardíacos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75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bpm);</a:t>
                      </a:r>
                    </a:p>
                  </a:txBody>
                  <a:tcPr marL="152400" marR="152400" marT="95250" marB="9525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9398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Educação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Conceito escolar: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Aprovado, Reprovado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Matéria favorita: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ciências, matemática, português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Nota da prova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8,5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Faltas no ano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3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Tempo de estudo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h);</a:t>
                      </a:r>
                    </a:p>
                  </a:txBody>
                  <a:tcPr marL="152400" marR="152400" marT="95250" marB="95250" anchor="ctr">
                    <a:solidFill>
                      <a:srgbClr val="64D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866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7975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37"/>
              <p:cNvSpPr/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9DEE7"/>
                </a:solidFill>
              </a:ln>
            </p:spPr>
            <p:txBody>
              <a:bodyPr wrap="square" lIns="1143" tIns="1143" rIns="1143" bIns="1143" rtlCol="0" anchor="ctr"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dirty="0"/>
                  <a:t>A regressão logística é uma regressão linear onde aplicamos uma função do tipo </a:t>
                </a:r>
                <a:r>
                  <a:rPr lang="pt-BR" b="1" dirty="0"/>
                  <a:t>sigmoide</a:t>
                </a:r>
                <a:r>
                  <a:rPr lang="pt-BR" dirty="0"/>
                  <a:t> chamada </a:t>
                </a:r>
                <a:r>
                  <a:rPr lang="pt-BR" b="1" dirty="0"/>
                  <a:t>função logística</a:t>
                </a:r>
                <a:r>
                  <a:rPr lang="pt-BR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Quando estudamos Regressão Linear, calculamos a equação da reta para aproximar a reta que o modelo desenhava a todos os pontos formados entre entrada “x” e saída “y”. O modelo tinha o formato da equação de reta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t-BR" dirty="0"/>
                  <a:t> 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A missão era descobrir o valor de “w” e “b”. </a:t>
                </a:r>
              </a:p>
            </p:txBody>
          </p:sp>
        </mc:Choice>
        <mc:Fallback xmlns="">
          <p:sp>
            <p:nvSpPr>
              <p:cNvPr id="39" name="Text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blipFill>
                <a:blip r:embed="rId3"/>
                <a:stretch>
                  <a:fillRect l="-1278" b="-4393"/>
                </a:stretch>
              </a:blipFill>
              <a:ln w="12700">
                <a:solidFill>
                  <a:srgbClr val="D9DEE7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 38"/>
          <p:cNvSpPr/>
          <p:nvPr/>
        </p:nvSpPr>
        <p:spPr>
          <a:xfrm>
            <a:off x="722376" y="3807975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Y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p:pic>
        <p:nvPicPr>
          <p:cNvPr id="42" name="Imagem 41">
            <a:extLst>
              <a:ext uri="{FF2B5EF4-FFF2-40B4-BE49-F238E27FC236}">
                <a16:creationId xmlns:a16="http://schemas.microsoft.com/office/drawing/2014/main" id="{40643323-9D9D-B52F-0456-38F0A77E2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288" y="3593087"/>
            <a:ext cx="5474404" cy="2414019"/>
          </a:xfrm>
          <a:prstGeom prst="rect">
            <a:avLst/>
          </a:prstGeom>
        </p:spPr>
      </p:pic>
      <p:sp>
        <p:nvSpPr>
          <p:cNvPr id="43" name="Seta: para a Direita 42">
            <a:extLst>
              <a:ext uri="{FF2B5EF4-FFF2-40B4-BE49-F238E27FC236}">
                <a16:creationId xmlns:a16="http://schemas.microsoft.com/office/drawing/2014/main" id="{D52EF24F-ADB2-3E90-8778-48ADD4E08BF5}"/>
              </a:ext>
            </a:extLst>
          </p:cNvPr>
          <p:cNvSpPr/>
          <p:nvPr/>
        </p:nvSpPr>
        <p:spPr>
          <a:xfrm>
            <a:off x="4756558" y="4102218"/>
            <a:ext cx="553673" cy="4278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3A368-3013-17B8-369D-C693456F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3CB03B-9303-6793-E2B4-4AB1C03ED359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4CE411-03DF-0575-E222-D190FAA84242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F408B0-77A8-0952-532D-A0D73CBAEB8A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95EB4B8-52A7-4316-9873-3D645395431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A706BF9-676F-3074-E4D8-F98EE78308CA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7EFB06-76D1-3556-0A70-7813CEE8847C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A1BEAEE-76F0-F7D4-DBB5-B4693ED170C8}"/>
              </a:ext>
            </a:extLst>
          </p:cNvPr>
          <p:cNvSpPr/>
          <p:nvPr/>
        </p:nvSpPr>
        <p:spPr>
          <a:xfrm>
            <a:off x="722376" y="1078991"/>
            <a:ext cx="10171316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Vamos agora buscar uma função </a:t>
            </a:r>
            <a:r>
              <a:rPr lang="pt-BR" b="1" dirty="0"/>
              <a:t>que desenhe</a:t>
            </a:r>
            <a:r>
              <a:rPr lang="pt-BR" dirty="0"/>
              <a:t> um </a:t>
            </a:r>
            <a:r>
              <a:rPr lang="pt-BR" sz="4400" dirty="0"/>
              <a:t>“S”. </a:t>
            </a:r>
            <a:r>
              <a:rPr lang="pt-BR" dirty="0"/>
              <a:t>O desafio continua sendo descobrir os valores de “w” e “b”. 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8C041F4A-032B-9141-9BF9-C2FBA2F4E159}"/>
              </a:ext>
            </a:extLst>
          </p:cNvPr>
          <p:cNvSpPr/>
          <p:nvPr/>
        </p:nvSpPr>
        <p:spPr>
          <a:xfrm>
            <a:off x="5338250" y="2615183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Z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/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63487EA3-9052-5DA0-E171-F5770E803020}"/>
              </a:ext>
            </a:extLst>
          </p:cNvPr>
          <p:cNvSpPr/>
          <p:nvPr/>
        </p:nvSpPr>
        <p:spPr>
          <a:xfrm rot="20708814">
            <a:off x="4410347" y="2985543"/>
            <a:ext cx="1220338" cy="50580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/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r>
                                <a:rPr lang="pt-BR" sz="4800" b="1" i="1" smtClean="0">
                                  <a:ln w="0"/>
                                  <a:solidFill>
                                    <a:srgbClr val="F4311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chemeClr val="tx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) + 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rgbClr val="C0000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881DBFFE-5052-9424-94AA-9E99C183B402}"/>
              </a:ext>
            </a:extLst>
          </p:cNvPr>
          <p:cNvSpPr/>
          <p:nvPr/>
        </p:nvSpPr>
        <p:spPr>
          <a:xfrm>
            <a:off x="2659311" y="4025442"/>
            <a:ext cx="645952" cy="4635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695AE91C-06E2-F0CF-CCC3-88C39345C431}"/>
              </a:ext>
            </a:extLst>
          </p:cNvPr>
          <p:cNvSpPr/>
          <p:nvPr/>
        </p:nvSpPr>
        <p:spPr>
          <a:xfrm>
            <a:off x="6686026" y="5157216"/>
            <a:ext cx="696286" cy="5264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1DFAA3B7-C988-F175-7A95-D9024E684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4858" y="3988797"/>
            <a:ext cx="3730213" cy="233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12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03A29-3187-A341-D953-2913B720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16ADB34-8DFE-28A9-2CCF-5AC174FDC208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60AAF5-3F68-2270-FBDE-76B7294BB07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C31835-0C84-863C-3300-36DC9760C6A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FE8057D-6A50-C8C6-15D6-AA81B6B3D65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75FDA90-85D8-12DE-5C77-9601FE581BC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687874F-9A2F-3ED8-6BDA-29D12B4BEB96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983530E-B93F-EAB4-9705-5A45EDA5BA63}"/>
              </a:ext>
            </a:extLst>
          </p:cNvPr>
          <p:cNvSpPr/>
          <p:nvPr/>
        </p:nvSpPr>
        <p:spPr>
          <a:xfrm>
            <a:off x="722376" y="1078990"/>
            <a:ext cx="10171316" cy="11980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pt-BR" dirty="0"/>
              <a:t>Vamos </a:t>
            </a:r>
            <a:r>
              <a:rPr lang="pt-BR" b="1" dirty="0"/>
              <a:t>inserir</a:t>
            </a:r>
            <a:r>
              <a:rPr lang="pt-BR" dirty="0"/>
              <a:t> a </a:t>
            </a:r>
            <a:r>
              <a:rPr lang="pt-BR" b="1" dirty="0"/>
              <a:t>formula da reta</a:t>
            </a:r>
            <a:r>
              <a:rPr lang="pt-BR" dirty="0"/>
              <a:t> dentro de uma função </a:t>
            </a:r>
            <a:r>
              <a:rPr lang="pt-BR" b="1" dirty="0"/>
              <a:t>que transforme a reta </a:t>
            </a:r>
            <a:r>
              <a:rPr lang="pt-BR" dirty="0"/>
              <a:t>em um </a:t>
            </a:r>
            <a:r>
              <a:rPr lang="pt-BR" sz="4400" dirty="0"/>
              <a:t>“S”.</a:t>
            </a:r>
          </a:p>
          <a:p>
            <a:pPr>
              <a:lnSpc>
                <a:spcPct val="120000"/>
              </a:lnSpc>
            </a:pPr>
            <a:r>
              <a:rPr lang="pt-BR" dirty="0"/>
              <a:t>Devemos ainda garantir que: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“x” variam de </a:t>
            </a:r>
            <a:r>
              <a:rPr lang="pt-BR" sz="1200" b="1" dirty="0" err="1"/>
              <a:t>ifinito</a:t>
            </a:r>
            <a:r>
              <a:rPr lang="pt-BR" sz="1200" b="1" dirty="0"/>
              <a:t> negativo </a:t>
            </a:r>
            <a:r>
              <a:rPr lang="pt-BR" sz="1200" dirty="0"/>
              <a:t>a </a:t>
            </a:r>
            <a:r>
              <a:rPr lang="pt-BR" sz="1200" b="1" dirty="0" err="1"/>
              <a:t>ifinito</a:t>
            </a:r>
            <a:r>
              <a:rPr lang="pt-BR" sz="1200" b="1" dirty="0"/>
              <a:t> positivo</a:t>
            </a:r>
            <a:r>
              <a:rPr lang="pt-BR" sz="1200" dirty="0"/>
              <a:t>;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“y” variam de “</a:t>
            </a:r>
            <a:r>
              <a:rPr lang="pt-BR" sz="1200" b="1" dirty="0"/>
              <a:t>0</a:t>
            </a:r>
            <a:r>
              <a:rPr lang="pt-BR" sz="1200" dirty="0"/>
              <a:t>” a “</a:t>
            </a:r>
            <a:r>
              <a:rPr lang="pt-BR" sz="1200" b="1" dirty="0"/>
              <a:t>1</a:t>
            </a:r>
            <a:r>
              <a:rPr lang="pt-BR" sz="1200" dirty="0"/>
              <a:t>”;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EE2FB3D-6CDB-6DF8-F911-39C2715FF291}"/>
              </a:ext>
            </a:extLst>
          </p:cNvPr>
          <p:cNvSpPr/>
          <p:nvPr/>
        </p:nvSpPr>
        <p:spPr>
          <a:xfrm>
            <a:off x="722376" y="2788919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>
                <a:solidFill>
                  <a:srgbClr val="4472C4"/>
                </a:solidFill>
              </a:rPr>
              <a:t>Z</a:t>
            </a:r>
            <a:r>
              <a:rPr lang="pt-BR" sz="4000" b="1" i="1" dirty="0"/>
              <a:t>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/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m 16">
            <a:extLst>
              <a:ext uri="{FF2B5EF4-FFF2-40B4-BE49-F238E27FC236}">
                <a16:creationId xmlns:a16="http://schemas.microsoft.com/office/drawing/2014/main" id="{CD958404-6E3F-8BF4-E0AC-0914FABA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580911"/>
            <a:ext cx="2453874" cy="153479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56DFB35-FAF8-62A9-F484-ED5024A91E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94155"/>
            <a:ext cx="2376881" cy="1834382"/>
          </a:xfrm>
          <a:prstGeom prst="rect">
            <a:avLst/>
          </a:prstGeom>
        </p:spPr>
      </p:pic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1F944FA7-9D12-7711-DA32-E38463101EBA}"/>
              </a:ext>
            </a:extLst>
          </p:cNvPr>
          <p:cNvSpPr/>
          <p:nvPr/>
        </p:nvSpPr>
        <p:spPr>
          <a:xfrm>
            <a:off x="4865615" y="3103927"/>
            <a:ext cx="1065402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55CDE57E-68EF-F43A-39CB-1EFD2A850A91}"/>
              </a:ext>
            </a:extLst>
          </p:cNvPr>
          <p:cNvSpPr/>
          <p:nvPr/>
        </p:nvSpPr>
        <p:spPr>
          <a:xfrm>
            <a:off x="4941116" y="5201174"/>
            <a:ext cx="989901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D5ADB98-5A0E-2A9A-6DA0-46BD4425FE30}"/>
              </a:ext>
            </a:extLst>
          </p:cNvPr>
          <p:cNvSpPr txBox="1"/>
          <p:nvPr/>
        </p:nvSpPr>
        <p:spPr>
          <a:xfrm>
            <a:off x="8967831" y="3157403"/>
            <a:ext cx="2838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/>
              <a:t>Forma RETA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F7FBDD4-7785-A45B-35E7-228D9BBB1B4B}"/>
              </a:ext>
            </a:extLst>
          </p:cNvPr>
          <p:cNvSpPr txBox="1"/>
          <p:nvPr/>
        </p:nvSpPr>
        <p:spPr>
          <a:xfrm>
            <a:off x="8967831" y="4973134"/>
            <a:ext cx="3058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Forma Sigmoide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418A0D4-9BAD-C785-7600-8310548712CC}"/>
              </a:ext>
            </a:extLst>
          </p:cNvPr>
          <p:cNvSpPr txBox="1"/>
          <p:nvPr/>
        </p:nvSpPr>
        <p:spPr>
          <a:xfrm>
            <a:off x="1597696" y="2319572"/>
            <a:ext cx="1870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da Reta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F94433CB-6B7A-81BD-E0CD-16AFF1A9E978}"/>
              </a:ext>
            </a:extLst>
          </p:cNvPr>
          <p:cNvSpPr txBox="1"/>
          <p:nvPr/>
        </p:nvSpPr>
        <p:spPr>
          <a:xfrm>
            <a:off x="1707424" y="4102242"/>
            <a:ext cx="2312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“S” logística</a:t>
            </a:r>
          </a:p>
        </p:txBody>
      </p:sp>
    </p:spTree>
    <p:extLst>
      <p:ext uri="{BB962C8B-B14F-4D97-AF65-F5344CB8AC3E}">
        <p14:creationId xmlns:p14="http://schemas.microsoft.com/office/powerpoint/2010/main" val="1387470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fronteira de decisão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138612" y="845385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A fronteira separa regiões do espaço de variáveis.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De um lado, o modelo tende a prever classe 0; do outro, classe 1.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633724" y="1090651"/>
            <a:ext cx="3931920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Boa preparação dos dados ajuda a fronteira a representar melhor a população.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/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Só que aqui, nossa saída não é mais um valor numérico contínuo, e sim uma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percentagem de 0 a 100%</a:t>
                </a:r>
                <a:r>
                  <a:rPr lang="pt-BR" dirty="0"/>
                  <a:t> .</a:t>
                </a:r>
              </a:p>
              <a:p>
                <a:r>
                  <a:rPr lang="pt-BR" dirty="0"/>
                  <a:t>Então:</a:t>
                </a:r>
              </a:p>
              <a:p>
                <a:endParaRPr lang="pt-BR" b="0" i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b="1" i="0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Probabilidade</m:t>
                      </m:r>
                      <m:r>
                        <m:rPr>
                          <m:nor/>
                        </m:rPr>
                        <a:rPr lang="pt-BR" b="0" i="0"/>
                        <m:t> </m:t>
                      </m:r>
                      <m:d>
                        <m:dPr>
                          <m:ctrl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valha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verdadeiro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,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Tal Que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</m:t>
                          </m:r>
                          <m:sSub>
                            <m:sSubPr>
                              <m:ctrlPr>
                                <a:rPr lang="pt-B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pt-BR" i="0"/>
                        <m:t> 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ou </a:t>
                </a:r>
                <a:r>
                  <a:rPr lang="pt-BR" dirty="0" err="1"/>
                  <a:t>matemáticamente</a:t>
                </a:r>
                <a:r>
                  <a:rPr lang="pt-BR" dirty="0"/>
                  <a:t> escrito: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i="1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sz="28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800" b="1" i="1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pt-BR" sz="2800" b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2800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sz="2800" dirty="0"/>
              </a:p>
              <a:p>
                <a:endParaRPr lang="pt-BR" dirty="0"/>
              </a:p>
              <a:p>
                <a:r>
                  <a:rPr lang="pt-BR" dirty="0"/>
                  <a:t>e assim: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=1∣</m:t>
                          </m:r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 + </m:t>
                                  </m:r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pt-BR" dirty="0"/>
              </a:p>
              <a:p>
                <a:br>
                  <a:rPr lang="pt-BR" dirty="0"/>
                </a:br>
                <a:endParaRPr lang="pt-BR" dirty="0"/>
              </a:p>
            </p:txBody>
          </p:sp>
        </mc:Choice>
        <mc:Fallback xmlns="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blipFill>
                <a:blip r:embed="rId3"/>
                <a:stretch>
                  <a:fillRect l="-462" t="-7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C296F0-106F-37FD-355D-080804BB4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E025E8-C74E-8F30-FA3F-C7F6DC3BDEDA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F82A26-D7F8-2E3F-0CF0-C738169C6E5F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281FB64-CD59-BDC2-F376-C7F68D2C2E0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D8A57E6-A690-BE9D-C34C-4B2E955AAA54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537BE0-E1C8-E017-C655-444056F4033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CE52E6-2E99-A7FC-DEF5-744F6950F86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38B83D6-EA80-1F08-5F27-283C057001BE}"/>
              </a:ext>
            </a:extLst>
          </p:cNvPr>
          <p:cNvSpPr/>
          <p:nvPr/>
        </p:nvSpPr>
        <p:spPr>
          <a:xfrm>
            <a:off x="5103695" y="629791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7326090-C138-E7B9-9D73-A880FC8CBF9C}"/>
              </a:ext>
            </a:extLst>
          </p:cNvPr>
          <p:cNvSpPr/>
          <p:nvPr/>
        </p:nvSpPr>
        <p:spPr>
          <a:xfrm>
            <a:off x="475488" y="1493054"/>
            <a:ext cx="11386544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b="1" dirty="0"/>
              <a:t>Exemplo 01 - Considere os dados dos alunos</a:t>
            </a:r>
            <a:r>
              <a:rPr lang="pt-BR" dirty="0"/>
              <a:t> do ultimo semestre. Construa um modelo para avaliar quais as chances dele passar na disciplina.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21BD14F-4984-8704-64CA-50B36C0C9A51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DCE243F8-6B62-C87E-BA3E-1E189D01E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63635"/>
              </p:ext>
            </p:extLst>
          </p:nvPr>
        </p:nvGraphicFramePr>
        <p:xfrm>
          <a:off x="475488" y="2275380"/>
          <a:ext cx="11386544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090">
                  <a:extLst>
                    <a:ext uri="{9D8B030D-6E8A-4147-A177-3AD203B41FA5}">
                      <a16:colId xmlns:a16="http://schemas.microsoft.com/office/drawing/2014/main" val="1513799441"/>
                    </a:ext>
                  </a:extLst>
                </a:gridCol>
                <a:gridCol w="2348917">
                  <a:extLst>
                    <a:ext uri="{9D8B030D-6E8A-4147-A177-3AD203B41FA5}">
                      <a16:colId xmlns:a16="http://schemas.microsoft.com/office/drawing/2014/main" val="1474262703"/>
                    </a:ext>
                  </a:extLst>
                </a:gridCol>
                <a:gridCol w="3380764">
                  <a:extLst>
                    <a:ext uri="{9D8B030D-6E8A-4147-A177-3AD203B41FA5}">
                      <a16:colId xmlns:a16="http://schemas.microsoft.com/office/drawing/2014/main" val="10873138"/>
                    </a:ext>
                  </a:extLst>
                </a:gridCol>
                <a:gridCol w="4286773">
                  <a:extLst>
                    <a:ext uri="{9D8B030D-6E8A-4147-A177-3AD203B41FA5}">
                      <a16:colId xmlns:a16="http://schemas.microsoft.com/office/drawing/2014/main" val="2718546748"/>
                    </a:ext>
                  </a:extLst>
                </a:gridCol>
              </a:tblGrid>
              <a:tr h="380363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RA do aluno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Entrada (X1) -&gt; Horas de Estudo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Saída (y) -&gt; verdadeiro 1, falso 0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Descrição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061028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44060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05009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80400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3328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9560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06476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97611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358831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01676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496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7809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A0F93-6DAC-73B9-D7B2-B0B4FACBF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9AD2F2-925B-B28A-7CF6-6C942DBE48E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8286D9-3DBB-BAB6-920C-90C49153EE79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512A7A-EE3D-4D6F-7EAE-DFCB249BEE9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B0D9C16-8960-60D6-1FEB-E1DB2FA3A5F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C0E27C-ACA7-FC38-06E8-5B80BD590BB3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940D4E-433E-C9C1-83BD-24DA3963E3AF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061A12E-D022-4850-A15B-3CCF0818B601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C0197B5-2E74-5799-A5B0-64D329A3D2F3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5AE1BBE-38A9-6138-122A-152B45096E49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</a:t>
            </a:r>
            <a:r>
              <a:rPr lang="pt-BR" b="1" i="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Z</a:t>
            </a:r>
            <a:r>
              <a:rPr lang="pt-BR" b="0" i="0" dirty="0">
                <a:effectLst/>
                <a:latin typeface="+mn-lt"/>
              </a:rPr>
              <a:t>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03D1A25-1FF8-7AEB-AFE2-E222B751C91A}"/>
              </a:ext>
            </a:extLst>
          </p:cNvPr>
          <p:cNvSpPr txBox="1"/>
          <p:nvPr/>
        </p:nvSpPr>
        <p:spPr>
          <a:xfrm>
            <a:off x="472666" y="2354973"/>
            <a:ext cx="3586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/>
              <a:t>b) Faça a Regressão Logística</a:t>
            </a:r>
            <a:r>
              <a:rPr lang="pt-BR" dirty="0"/>
              <a:t>. Use</a:t>
            </a:r>
            <a:endParaRPr lang="pt-BR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/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67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5C82AD-2522-14E8-AF43-53825220B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77E186-966F-769A-88DD-C9EBD9F0AE71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5D0F5B-2BCE-2A97-392A-005212326CE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11D0FF-7D17-0F86-2B9D-C2C153BCA3B4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9A28918-9029-2E98-AF7E-A5B50CF53DAB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6599BB0-46DD-D319-1967-33E45DA4A8A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45E24D0-800F-A5D2-61D7-605B0BE238F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B2FC869-F320-55B1-66B6-4B0630ED3EEC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2520C17-7780-CBA8-6AB4-005363ECBD97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8F2BB3-CBA5-AE7B-C53A-5C4890659EF4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Z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2" name="Text 25">
            <a:extLst>
              <a:ext uri="{FF2B5EF4-FFF2-40B4-BE49-F238E27FC236}">
                <a16:creationId xmlns:a16="http://schemas.microsoft.com/office/drawing/2014/main" id="{FAEFF46C-85B9-5887-FDFF-1ECC6A70425D}"/>
              </a:ext>
            </a:extLst>
          </p:cNvPr>
          <p:cNvSpPr/>
          <p:nvPr/>
        </p:nvSpPr>
        <p:spPr>
          <a:xfrm>
            <a:off x="566927" y="4062256"/>
            <a:ext cx="8518349" cy="103619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Z =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(X) +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 = 1,19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 = -6,52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/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Z =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w</a:t>
                </a:r>
                <a:r>
                  <a:rPr lang="pt-BR" dirty="0"/>
                  <a:t>(X) +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b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, </a:t>
                </a:r>
                <a:r>
                  <a:rPr lang="pt-BR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são calculados através de função de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Perda de Entropia Cruzada Binária  =&gt;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pt-BR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  <m:r>
                              <a:rPr lang="pt-BR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pt-BR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b="1" dirty="0">
                    <a:solidFill>
                      <a:srgbClr val="00A33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(USE PYTHON para calcular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)</a:t>
                </a:r>
              </a:p>
            </p:txBody>
          </p:sp>
        </mc:Choice>
        <mc:Fallback xmlns=""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blipFill>
                <a:blip r:embed="rId3"/>
                <a:stretch>
                  <a:fillRect l="-1501" b="-21845"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19595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6F8128-B721-2C68-D932-F37DD7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A382D9-FCF8-DD50-383F-3E5A1EAF166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5BD9B5-F47B-EE43-B7AB-2811B0A9B6DF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47674F2-8B85-09C7-B438-F93FE3D64F85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5D0541-2348-5526-B5C2-8EE38AA0FE4F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B5C256E-FB1A-0B3F-4EFD-6753D5267A6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8562734-897F-060D-250D-C97F6EC3049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38BCE1B-BB68-73A3-AE22-7231EC2B1CFD}"/>
              </a:ext>
            </a:extLst>
          </p:cNvPr>
          <p:cNvSpPr/>
          <p:nvPr/>
        </p:nvSpPr>
        <p:spPr>
          <a:xfrm>
            <a:off x="5036583" y="113686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401A93C-A8DB-5593-893E-85A65CCA0308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54E2E6C-4A69-14F9-9C1A-E377AD238918}"/>
              </a:ext>
            </a:extLst>
          </p:cNvPr>
          <p:cNvSpPr txBox="1"/>
          <p:nvPr/>
        </p:nvSpPr>
        <p:spPr>
          <a:xfrm>
            <a:off x="475488" y="1567975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b) Faça a Regressão Logística;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/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Regressão Logística</a:t>
                          </a:r>
                          <a:r>
                            <a:rPr lang="pt-BR" sz="18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pt-BR" sz="1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sz="180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d>
                                        <m:dPr>
                                          <m:ctrl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Z</m:t>
                                          </m:r>
                                        </m:e>
                                      </m:d>
                                    </m:sup>
                                  </m:sSup>
                                </m:den>
                              </m:f>
                            </m:oMath>
                          </a14:m>
                          <a:endParaRPr lang="pt-BR" sz="1800" b="1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19×2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𝟏𝟒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𝟐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𝟏𝟒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400" b="1" i="0" dirty="0">
                              <a:solidFill>
                                <a:srgbClr val="4B5563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,015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19×3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𝟗𝟓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𝟑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𝟗𝟓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,049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19×5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𝟓𝟕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𝟓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𝟓𝟕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4B5563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,361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19×6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𝟔𝟐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𝟔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𝟔𝟐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𝟔𝟓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,650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19×8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𝟎𝟎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𝟖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𝟎𝟎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,952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19×9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𝟏𝟗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𝟗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𝟏𝟗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𝟗𝟖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,985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19×1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𝟑𝟑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𝟑𝟑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,005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19×4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𝟕𝟔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𝟒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𝟕𝟔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𝟕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,147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19×7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𝟖𝟏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𝟕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𝟖𝟏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𝟖𝟔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,860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end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119×10</m:t>
                                    </m:r>
                                    <m:r>
                                      <a:rPr lang="pt-BR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−6,52)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𝟑𝟖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𝟑𝟖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,995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7772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114300" marB="114300" anchor="ctr">
                        <a:blipFill>
                          <a:blip r:embed="rId4"/>
                          <a:stretch>
                            <a:fillRect l="-209922" t="-1563" r="-50195" b="-76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32653" r="-241582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32653" r="-441143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32653" r="-50195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32653" r="-1575" b="-9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232653" r="-241582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232653" r="-441143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232653" r="-50195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232653" r="-1575" b="-8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332653" r="-241582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332653" r="-441143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332653" r="-50195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332653" r="-1575" b="-7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428283" r="-241582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428283" r="-441143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428283" r="-50195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428283" r="-1575" b="-5969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533673" r="-241582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533673" r="-441143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533673" r="-50195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533673" r="-1575" b="-5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633673" r="-241582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633673" r="-441143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633673" r="-50195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633673" r="-1575" b="-4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733673" r="-241582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733673" r="-441143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733673" r="-50195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733673" r="-1575" b="-3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825253" r="-24158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825253" r="-4411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825253" r="-501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825253" r="-1575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934694" r="-241582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934694" r="-441143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934694" r="-50195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934694" r="-1575" b="-10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034694" r="-241582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034694" r="-44114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034694" r="-50195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034694" r="-1575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36418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8CDF-31C7-056F-E70C-A28F2510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051C3CD-B809-1D7C-573B-AE2E2EEC6403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B07D85-63C2-9907-119B-7B252BC402B2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4CF587-6991-7559-C0A9-8F1B43AA073E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BAB1832-9DB3-8BF9-DFAC-9E96DC539A95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63ED447-1D03-DF10-4E1F-4D4CA868FBDE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1456FF-B8E0-EB59-0055-523315A24E8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170CDFE-234B-4A5A-1DD4-48147CAA0E37}"/>
              </a:ext>
            </a:extLst>
          </p:cNvPr>
          <p:cNvSpPr/>
          <p:nvPr/>
        </p:nvSpPr>
        <p:spPr>
          <a:xfrm>
            <a:off x="386647" y="1049999"/>
            <a:ext cx="2706931" cy="1000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64700A76-BF86-5989-8EA6-C61F35519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726" y="1257079"/>
            <a:ext cx="7480155" cy="5290025"/>
          </a:xfrm>
          <a:prstGeom prst="rect">
            <a:avLst/>
          </a:prstGeom>
        </p:spPr>
      </p:pic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A5A93322-588A-C193-C1C8-83221D53D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297356"/>
              </p:ext>
            </p:extLst>
          </p:nvPr>
        </p:nvGraphicFramePr>
        <p:xfrm>
          <a:off x="386648" y="2146525"/>
          <a:ext cx="4134079" cy="4515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5802">
                  <a:extLst>
                    <a:ext uri="{9D8B030D-6E8A-4147-A177-3AD203B41FA5}">
                      <a16:colId xmlns:a16="http://schemas.microsoft.com/office/drawing/2014/main" val="3943174570"/>
                    </a:ext>
                  </a:extLst>
                </a:gridCol>
                <a:gridCol w="609240">
                  <a:extLst>
                    <a:ext uri="{9D8B030D-6E8A-4147-A177-3AD203B41FA5}">
                      <a16:colId xmlns:a16="http://schemas.microsoft.com/office/drawing/2014/main" val="1710357480"/>
                    </a:ext>
                  </a:extLst>
                </a:gridCol>
                <a:gridCol w="504202">
                  <a:extLst>
                    <a:ext uri="{9D8B030D-6E8A-4147-A177-3AD203B41FA5}">
                      <a16:colId xmlns:a16="http://schemas.microsoft.com/office/drawing/2014/main" val="3340239317"/>
                    </a:ext>
                  </a:extLst>
                </a:gridCol>
                <a:gridCol w="854579">
                  <a:extLst>
                    <a:ext uri="{9D8B030D-6E8A-4147-A177-3AD203B41FA5}">
                      <a16:colId xmlns:a16="http://schemas.microsoft.com/office/drawing/2014/main" val="1929324043"/>
                    </a:ext>
                  </a:extLst>
                </a:gridCol>
                <a:gridCol w="871671">
                  <a:extLst>
                    <a:ext uri="{9D8B030D-6E8A-4147-A177-3AD203B41FA5}">
                      <a16:colId xmlns:a16="http://schemas.microsoft.com/office/drawing/2014/main" val="149403153"/>
                    </a:ext>
                  </a:extLst>
                </a:gridCol>
                <a:gridCol w="948585">
                  <a:extLst>
                    <a:ext uri="{9D8B030D-6E8A-4147-A177-3AD203B41FA5}">
                      <a16:colId xmlns:a16="http://schemas.microsoft.com/office/drawing/2014/main" val="309681475"/>
                    </a:ext>
                  </a:extLst>
                </a:gridCol>
              </a:tblGrid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ID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Entrada (X1)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Status Real (y)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Par Ordenado </a:t>
                      </a:r>
                    </a:p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Real (X,Y)</a:t>
                      </a:r>
                      <a:endParaRPr lang="pt-BR" sz="1100" b="1" dirty="0">
                        <a:solidFill>
                          <a:srgbClr val="8B0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 err="1">
                          <a:effectLst/>
                        </a:rPr>
                        <a:t>Probab</a:t>
                      </a:r>
                      <a:endParaRPr lang="pt-BR" sz="11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P( Y = 1 ∣ X 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0" dirty="0">
                          <a:solidFill>
                            <a:srgbClr val="008000"/>
                          </a:solidFill>
                          <a:effectLst/>
                        </a:rPr>
                        <a:t>Par Ordenado Previsto (X,P)</a:t>
                      </a:r>
                      <a:endParaRPr lang="pt-BR" sz="1100" b="0" dirty="0">
                        <a:solidFill>
                          <a:srgbClr val="008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176414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7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0,005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(1; 0,005)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2302378877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0,015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(2; 0,015)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2138233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2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3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0,049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(3; 0,049)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00670884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8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4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0,147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(4; 0,147)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995669415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3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0,361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(5; 0,361)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06208340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4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0,65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(6; 0,650)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11810185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0,86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(7; 0,860)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1007233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8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0,952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(8; 0,952)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737542999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6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9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0,985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(9; 0,985)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72726628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0,995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(10; 0,995)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660013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5750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3C7DF-C024-972D-5B64-E08DC9442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90CA91-C2FB-DC5C-F8F2-A9AEE7F78CE2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833DCE-7C23-3355-DE23-9D81A6473555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CF6C30-BD7E-3241-1C21-E7E46D5502E4}"/>
              </a:ext>
            </a:extLst>
          </p:cNvPr>
          <p:cNvSpPr/>
          <p:nvPr/>
        </p:nvSpPr>
        <p:spPr>
          <a:xfrm>
            <a:off x="1024128" y="502920"/>
            <a:ext cx="34196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A7A9302-41B1-0044-B3C9-03979285E26A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CF0334-8AD4-97BA-3385-2A153DBC978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AE06A77-30D3-22E6-49D0-D98466DED942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aixaDeTexto 21">
            <a:extLst>
              <a:ext uri="{FF2B5EF4-FFF2-40B4-BE49-F238E27FC236}">
                <a16:creationId xmlns:a16="http://schemas.microsoft.com/office/drawing/2014/main" id="{A021C8F0-0F5C-16CE-A107-90FE502AFFA1}"/>
              </a:ext>
            </a:extLst>
          </p:cNvPr>
          <p:cNvSpPr txBox="1"/>
          <p:nvPr/>
        </p:nvSpPr>
        <p:spPr>
          <a:xfrm>
            <a:off x="234069" y="1936737"/>
            <a:ext cx="5021595" cy="3766416"/>
          </a:xfrm>
          <a:prstGeom prst="rect">
            <a:avLst/>
          </a:prstGeom>
          <a:solidFill>
            <a:srgbClr val="F5F5F5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numpy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pandas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Definindo os dados da tabela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(dados)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Parâmetros do modelo obtidos (w e b)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1.19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b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 -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6.52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</a:t>
            </a:r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985BF85-85D5-DD2D-D612-EF5E573C25D5}"/>
              </a:ext>
            </a:extLst>
          </p:cNvPr>
          <p:cNvSpPr txBox="1"/>
          <p:nvPr/>
        </p:nvSpPr>
        <p:spPr>
          <a:xfrm>
            <a:off x="5477678" y="1128824"/>
            <a:ext cx="6599894" cy="53822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Continuação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1. Calculando o valor de z: z = w * X_1 +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2. Calculando a Probabilidade via Função Sigmoide: P(y=1) = 1 / (1 + e^-z)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/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np.exp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-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3. Formatando a probabilidade para exibição em porcentagem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astype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'%'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Exibindo o resultado formatado de forma limpa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'ID do Aluno'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'Horas de Estudo (X1)'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'Status Real (y)'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'Valor de z'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Calculada'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(Decimal)'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tabela_resultado.to_string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False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A897F50F-B966-D639-12FA-E521D1358AA5}"/>
              </a:ext>
            </a:extLst>
          </p:cNvPr>
          <p:cNvSpPr/>
          <p:nvPr/>
        </p:nvSpPr>
        <p:spPr>
          <a:xfrm>
            <a:off x="475488" y="1154847"/>
            <a:ext cx="4087028" cy="551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Implementação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Python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142160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5D2467-992F-9115-FED7-EC778AD20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2D78808-7CE5-BD18-BFCA-17EDABE31853}"/>
              </a:ext>
            </a:extLst>
          </p:cNvPr>
          <p:cNvSpPr/>
          <p:nvPr/>
        </p:nvSpPr>
        <p:spPr>
          <a:xfrm>
            <a:off x="1241572" y="1719744"/>
            <a:ext cx="9387280" cy="249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- KNN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EF361FA-C8EB-4A2C-6743-C54A84B05D0F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28E5283-26EA-2644-2CD5-5594968F42FE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055025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1CE108-E0FB-56B8-1A6A-4B2DDB849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7B8D13-E5CA-6670-1BC9-45FDE56DE8EC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9007B0-C348-4392-143F-496D930AC1F0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657A03-5B54-38F3-F72D-4E3AF257F52D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B0AB3CB-7F91-4B09-C4DA-8129766C5D9E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AAC045D-FF6A-888D-09A4-2C72152F7A6A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B3EC3D3-EA56-D2CA-74DF-35213439DC7A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B70AF3-0265-7DB5-48C1-9E10A62EAC3D}"/>
              </a:ext>
            </a:extLst>
          </p:cNvPr>
          <p:cNvSpPr/>
          <p:nvPr/>
        </p:nvSpPr>
        <p:spPr>
          <a:xfrm>
            <a:off x="475488" y="1012330"/>
            <a:ext cx="9875520" cy="16184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Linear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numérico</a:t>
            </a:r>
            <a:r>
              <a:rPr lang="pt-BR" dirty="0"/>
              <a:t> contínuo. Chamado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QUANTITATIVO</a:t>
            </a:r>
            <a:r>
              <a:rPr lang="pt-BR" dirty="0"/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Logística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de </a:t>
            </a:r>
            <a:r>
              <a:rPr lang="pt-BR" b="1" dirty="0" err="1"/>
              <a:t>classificação</a:t>
            </a:r>
            <a:r>
              <a:rPr lang="pt-BR" dirty="0" err="1"/>
              <a:t>.Chamado</a:t>
            </a:r>
            <a:r>
              <a:rPr lang="pt-BR" dirty="0"/>
              <a:t>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QUALITATIVO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9057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2876329B5D3B4FBA1D26A8667C2633" ma:contentTypeVersion="14" ma:contentTypeDescription="Crie um novo documento." ma:contentTypeScope="" ma:versionID="c18e529f75eeba5e3380f7426394bcf9">
  <xsd:schema xmlns:xsd="http://www.w3.org/2001/XMLSchema" xmlns:xs="http://www.w3.org/2001/XMLSchema" xmlns:p="http://schemas.microsoft.com/office/2006/metadata/properties" xmlns:ns3="1ea3c9c0-e698-4ea3-9529-a2c71b2c9eef" xmlns:ns4="38d922ee-4e44-47a7-a878-a22d9e8094bc" targetNamespace="http://schemas.microsoft.com/office/2006/metadata/properties" ma:root="true" ma:fieldsID="6a86d318e1343c5a9145aa5d09437703" ns3:_="" ns4:_="">
    <xsd:import namespace="1ea3c9c0-e698-4ea3-9529-a2c71b2c9eef"/>
    <xsd:import namespace="38d922ee-4e44-47a7-a878-a22d9e8094b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a3c9c0-e698-4ea3-9529-a2c71b2c9e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922ee-4e44-47a7-a878-a22d9e8094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a3c9c0-e698-4ea3-9529-a2c71b2c9ee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2158D8-4C33-4132-A61E-E0532140A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a3c9c0-e698-4ea3-9529-a2c71b2c9eef"/>
    <ds:schemaRef ds:uri="38d922ee-4e44-47a7-a878-a22d9e8094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1E0874-EAAB-4A60-8F28-27A437EC07BB}">
  <ds:schemaRefs>
    <ds:schemaRef ds:uri="http://schemas.microsoft.com/office/2006/metadata/properties"/>
    <ds:schemaRef ds:uri="http://schemas.microsoft.com/office/infopath/2007/PartnerControls"/>
    <ds:schemaRef ds:uri="1ea3c9c0-e698-4ea3-9529-a2c71b2c9eef"/>
  </ds:schemaRefs>
</ds:datastoreItem>
</file>

<file path=customXml/itemProps3.xml><?xml version="1.0" encoding="utf-8"?>
<ds:datastoreItem xmlns:ds="http://schemas.openxmlformats.org/officeDocument/2006/customXml" ds:itemID="{ED4652CD-F36D-4B45-A152-BCD8A2661B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867</TotalTime>
  <Words>3195</Words>
  <Application>Microsoft Office PowerPoint</Application>
  <PresentationFormat>Widescreen</PresentationFormat>
  <Paragraphs>717</Paragraphs>
  <Slides>27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27</vt:i4>
      </vt:variant>
    </vt:vector>
  </HeadingPairs>
  <TitlesOfParts>
    <vt:vector size="39" baseType="lpstr">
      <vt:lpstr>Aptos</vt:lpstr>
      <vt:lpstr>Aptos Display</vt:lpstr>
      <vt:lpstr>Arial</vt:lpstr>
      <vt:lpstr>Cambria Math</vt:lpstr>
      <vt:lpstr>Carlito</vt:lpstr>
      <vt:lpstr>Inter</vt:lpstr>
      <vt:lpstr>Roboto Mono</vt:lpstr>
      <vt:lpstr>Symbol</vt:lpstr>
      <vt:lpstr>Times New Roman</vt:lpstr>
      <vt:lpstr>Wingdings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04 - Organização e Preparação de Dados; Regressão Logística e KNN</dc:title>
  <dc:subject>Organização e Preparação de Dados; Regressão Logística e KNN</dc:subject>
  <dc:creator>OpenAI</dc:creator>
  <cp:lastModifiedBy>miguel</cp:lastModifiedBy>
  <cp:revision>25</cp:revision>
  <dcterms:created xsi:type="dcterms:W3CDTF">2026-08-22T16:19:43Z</dcterms:created>
  <dcterms:modified xsi:type="dcterms:W3CDTF">2026-08-27T19:36:12Z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0x0101002E2876329B5D3B4FBA1D26A8667C2633</vt:lpwstr>
  </property>
</Properties>
</file>