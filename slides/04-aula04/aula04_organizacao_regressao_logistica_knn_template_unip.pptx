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50" r:id="rId5"/>
  </p:sldMasterIdLst>
  <p:notesMasterIdLst>
    <p:notesMasterId r:id="rId43"/>
  </p:notesMasterIdLst>
  <p:sldIdLst>
    <p:sldId id="273" r:id="rId6"/>
    <p:sldId id="274" r:id="rId7"/>
    <p:sldId id="266" r:id="rId8"/>
    <p:sldId id="256" r:id="rId9"/>
    <p:sldId id="275" r:id="rId10"/>
    <p:sldId id="276" r:id="rId11"/>
    <p:sldId id="281" r:id="rId12"/>
    <p:sldId id="277" r:id="rId13"/>
    <p:sldId id="278" r:id="rId14"/>
    <p:sldId id="257" r:id="rId15"/>
    <p:sldId id="258" r:id="rId16"/>
    <p:sldId id="261" r:id="rId17"/>
    <p:sldId id="262" r:id="rId18"/>
    <p:sldId id="280" r:id="rId19"/>
    <p:sldId id="279" r:id="rId20"/>
    <p:sldId id="267" r:id="rId21"/>
    <p:sldId id="282" r:id="rId22"/>
    <p:sldId id="283" r:id="rId23"/>
    <p:sldId id="268" r:id="rId24"/>
    <p:sldId id="284" r:id="rId25"/>
    <p:sldId id="285" r:id="rId26"/>
    <p:sldId id="289" r:id="rId27"/>
    <p:sldId id="286" r:id="rId28"/>
    <p:sldId id="287" r:id="rId29"/>
    <p:sldId id="288" r:id="rId30"/>
    <p:sldId id="290" r:id="rId31"/>
    <p:sldId id="291" r:id="rId32"/>
    <p:sldId id="292" r:id="rId33"/>
    <p:sldId id="294" r:id="rId34"/>
    <p:sldId id="295" r:id="rId35"/>
    <p:sldId id="296" r:id="rId36"/>
    <p:sldId id="297" r:id="rId37"/>
    <p:sldId id="293" r:id="rId38"/>
    <p:sldId id="298" r:id="rId39"/>
    <p:sldId id="299" r:id="rId40"/>
    <p:sldId id="300" r:id="rId41"/>
    <p:sldId id="301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4F46"/>
    <a:srgbClr val="BC847C"/>
    <a:srgbClr val="004E9A"/>
    <a:srgbClr val="005E00"/>
    <a:srgbClr val="00A33C"/>
    <a:srgbClr val="8B0000"/>
    <a:srgbClr val="008000"/>
    <a:srgbClr val="F5F5F5"/>
    <a:srgbClr val="B90000"/>
    <a:srgbClr val="00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theme" Target="theme/theme1.xml"/><Relationship Id="rId20" Type="http://schemas.openxmlformats.org/officeDocument/2006/relationships/slide" Target="slides/slide15.xml"/><Relationship Id="rId41" Type="http://schemas.openxmlformats.org/officeDocument/2006/relationships/slide" Target="slides/slide3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5662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F0D617-58B0-48D7-90B7-0ABD06AE6839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DejaVu Sans"/>
                <a:cs typeface="DejaVu San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DejaVu Sans"/>
              <a:cs typeface="DejaVu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F82339-5E22-4774-A41C-D5077A7CFDFF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DejaVu Sans"/>
                <a:cs typeface="DejaVu San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DejaVu Sans"/>
              <a:cs typeface="DejaVu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834A3-0D05-5EDC-B610-F00E9FFD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1BC1DE-D2EE-98CF-E1E7-700DB0DC6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2AD98-D497-213D-337C-A50DE4855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16D8E-91C5-2FF6-D681-5633224DC0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917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0CC94-4415-64F9-50CF-6B422CED2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FF5DF-D8AA-8BC0-4EC9-6E74E07399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5735EB-F7D1-17AD-D3FF-D12D4A1C4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2654C-3BB9-CF1C-4D74-B12666E56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71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C544B-85F6-7469-9719-7D089BDEE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EB4CE-5CC6-1C5A-B6F3-244B97E6E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1C7E26-334F-AF12-791D-56468FA54C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68C4D-7834-B2C8-8613-7DBBB25DC8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2699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87425-A340-7889-990C-A0AC8B423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1AAD0E-FB32-433F-10B1-E58995BB3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ADB8BF-5AE5-A3ED-0F0A-4145B7C2EB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36AF0-0A4A-9B81-9988-2552C6F5DD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313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3FDE0-34AF-0572-8F54-B3523425B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80FF88-2007-E97B-F0F2-2336E6298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DD795-29E9-E331-A26C-48240B2F9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453D6-D89F-E6E1-D267-97B89BFF90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9131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B3903-530F-8A9D-486A-4B9F71647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AF3CD-FD3F-B7D2-9217-2FED21699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C4EB8-10A3-BB52-1F9B-C6C12E9315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7665F-6352-026C-CE50-DFDF1DFAAD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4152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E63ED-837B-FFE9-F604-DAB1F32CF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1F947-BCF4-BB1A-BAF3-7F97A1E35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9A75CD-7E35-3D73-C283-81B3DFC674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ADD6-BFDF-065E-D6AF-C5D6C0C389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65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C0AB-AAB9-4BBB-ED10-522BF23B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30E12-A785-53DD-1F80-D2AA12996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A96C80-89A9-7DCC-1FA2-98204E987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71EE4-F05A-0B5A-9CD4-30E3BCF758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044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2E0BB-5B6E-ED96-1E40-5ACE7120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393AB-9CAA-C988-0671-5DFE8EF2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FE9A8-2E75-1780-07FD-CBB88B5022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A0946A-786F-4F65-95C6-65B9A5759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24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E1238-ADCB-F60F-F8CF-26CC44A9E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8D953-E850-40F2-5A20-D39C8115B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F7036-D372-F52B-EFA0-2E10342CE3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0E3EA-147C-D088-FFA0-48AD9E8D41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6418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2CF8F-7E26-35E4-F31B-991319C67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C7A8F9-8BEF-61FA-D067-2F5CD51DE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C1C6F-E915-A900-F2EA-8F0152749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B4232-E054-BC45-FAEE-0FF5C8986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278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4BFBE-3307-0D3F-8703-1A649542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DFB51-C4CA-4CA7-37B4-0D6AABCAC4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0A759A-32AF-D08D-5C56-9C3B26D5EA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62D1E-315F-8D46-5A5C-42FD59D44C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8442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A8CB3-96A9-230A-B4DF-A385A84CD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08627B-2377-A7C7-5529-7538DACB8D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5C71C-BA58-724A-1FE9-9CE15B3AA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4B811-9A7B-AABA-34FD-5AA01094EE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9130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4061-A8E1-C7A4-AAC4-93F79E84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AF5910-C313-BA3A-372F-BE477BB21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64A91B-E97A-6EB5-6C24-10EF5BD85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F2686-0982-A488-2615-2D9624BA82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6085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000BA-AF31-5D64-1984-DA05D380A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2A07F-300D-E97C-BA61-F98E0D066E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461D-9C09-213F-9776-F84996072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B53B0-915F-A5DF-6B05-6514117750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37848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D239A-3BC5-6E41-F6F7-F9E37478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326B8-8D51-56E9-C8B3-30EB2E13B6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1B09B4-2DF3-8D98-3D5B-6FEB2D62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7D717A-0441-044D-12E9-1E016FE7E2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62745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3EA92-3D00-4C9D-0180-F9FCE99E7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6ECD82-DB2D-FCB1-D7D0-1AC8804B9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29C094-F9D6-D6E4-7DE8-17C0A01F4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236AE-CB18-191B-83C5-278480194D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243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F4081-166C-2FF5-9E0F-689C813ED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CDE28-B0D8-F919-21A2-C7265C5129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B02DD4-623C-2AA8-1650-77035F440B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399B3-B689-3601-5178-522BF666F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688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664CD-AF16-06B8-2F95-B59131CEE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28A35-D099-D863-9070-41CFD32396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13061-8E62-3303-D664-1D81AA4FE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0C3B2-1837-D395-74F3-6CE2D5A526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5000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F2E72-4309-286F-8066-650428305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264BD-84C9-ACE9-F2FB-3A9BF42ED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AB691-739F-01B4-D659-FDBF6A7FC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2869F-DBF4-1416-D3F7-752F4ADECC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746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99FED-E427-AF49-7E3D-D410CB011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666A3E-6CE6-9EA8-7BBD-7886F81190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FF543-7869-744D-8685-70A8C84FA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C9FB6-1CAE-3B34-48F7-2E8935EBF1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2994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5714B-29EA-9A18-E220-C37B7DD39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A1FFF0-AE21-EF68-6528-53429D96F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AF520E-F18D-ECBB-D1B0-47DA87303B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73C00C-B500-7281-3909-8497C08DD2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0974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56C01-9D98-5AD9-4082-884152B04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BAA2F-09CA-9795-015E-3BA16BAEC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1156C-086E-4A53-A5F0-0BC7AE3C6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C6812-2692-9E74-3790-CCEE8AD9CB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0420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34B4A-213D-520B-9741-24AC8FF35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1A3FCB-BF5F-A1CF-3DAD-51C438209C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C6A4C8-C99F-FF2D-D69F-1EBF6632D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8858F-4398-4FE1-601A-57DED6D58C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9680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FB3A2-D117-3B46-DA85-14D2A6385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443812-24CE-710C-513F-5742B9CF1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3919A7-8617-ECB7-3FF3-FB9F5A0BC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026C8-B3D5-3FFB-2F50-B6F189734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6791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16B0B-7F71-26FD-F767-E685D2250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24ABA-076B-8822-5248-A08E55BCF7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AC64AD-B5B9-E39D-1EE2-F7EB3A77A2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5CBDD-D567-37F1-C289-36EC8F8F9D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4256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03411-2DA2-5E29-8AD1-7909434F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ECCA75-72B5-211F-3446-3A8283DBA9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27B70-37F2-88BA-5FD9-25E262EA3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9AF7D1-8AEA-BA10-527C-3BACCCEAA1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641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</a:p>
        </p:txBody>
      </p:sp>
    </p:spTree>
    <p:extLst>
      <p:ext uri="{BB962C8B-B14F-4D97-AF65-F5344CB8AC3E}">
        <p14:creationId xmlns:p14="http://schemas.microsoft.com/office/powerpoint/2010/main" val="1623070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4"/>
          <p:cNvSpPr/>
          <p:nvPr/>
        </p:nvSpPr>
        <p:spPr>
          <a:xfrm>
            <a:off x="702360" y="712800"/>
            <a:ext cx="9301332" cy="20287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Aula 04 –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Organização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e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Preparação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de dados,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Regressão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Logística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e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Agrupamentos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com KNN</a:t>
            </a:r>
            <a:endParaRPr kumimoji="0" lang="pt-BR" sz="4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5"/>
          <p:cNvSpPr/>
          <p:nvPr/>
        </p:nvSpPr>
        <p:spPr>
          <a:xfrm>
            <a:off x="701280" y="2814972"/>
            <a:ext cx="2432689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Professor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Miguél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Suares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hape 6"/>
              <p:cNvSpPr/>
              <p:nvPr/>
            </p:nvSpPr>
            <p:spPr>
              <a:xfrm>
                <a:off x="6942166" y="2559846"/>
                <a:ext cx="4220307" cy="949262"/>
              </a:xfrm>
              <a:prstGeom prst="roundRect">
                <a:avLst>
                  <a:gd name="adj" fmla="val 9412"/>
                </a:avLst>
              </a:prstGeom>
              <a:solidFill>
                <a:srgbClr val="132F55"/>
              </a:solidFill>
              <a:ln w="15240">
                <a:solidFill>
                  <a:srgbClr val="4DA3FF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lvl="0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sz="2400" i="0" dirty="0">
                          <a:solidFill>
                            <a:srgbClr val="FFFFFF"/>
                          </a:solidFill>
                          <a:latin typeface="Cambria Math"/>
                          <a:ea typeface="Cambria Math"/>
                        </a:rPr>
                        <m:t>ŷ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pt-BR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pt-BR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pt-BR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1+</m:t>
                          </m:r>
                          <m:sSup>
                            <m:sSupPr>
                              <m:ctrlPr>
                                <a:rPr kumimoji="0" lang="pt-BR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pt-BR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</m:t>
                              </m:r>
                            </m:e>
                            <m:sup>
                              <m:r>
                                <a:rPr kumimoji="0" lang="pt-BR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kumimoji="0" lang="pt-BR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FFF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kumimoji="0" lang="pt-BR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FFF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kumimoji="0" lang="pt-BR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FFF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+…+</m:t>
                                  </m:r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kumimoji="0" lang="pt-BR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3" name="Shap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66" y="2559846"/>
                <a:ext cx="4220307" cy="949262"/>
              </a:xfrm>
              <a:prstGeom prst="roundRect">
                <a:avLst>
                  <a:gd name="adj" fmla="val 9412"/>
                </a:avLst>
              </a:prstGeom>
              <a:blipFill>
                <a:blip r:embed="rId3"/>
                <a:stretch>
                  <a:fillRect/>
                </a:stretch>
              </a:blipFill>
              <a:ln w="15240">
                <a:solidFill>
                  <a:srgbClr val="4DA3FF"/>
                </a:solidFill>
                <a:rou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 7"/>
          <p:cNvSpPr/>
          <p:nvPr/>
        </p:nvSpPr>
        <p:spPr>
          <a:xfrm>
            <a:off x="7551732" y="2632926"/>
            <a:ext cx="301716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lvl="0" algn="ctr">
              <a:tabLst>
                <a:tab pos="0" algn="l"/>
              </a:tabLst>
            </a:pPr>
            <a:endParaRPr kumimoji="0" lang="pt-BR" sz="2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Shape 8"/>
          <p:cNvSpPr/>
          <p:nvPr/>
        </p:nvSpPr>
        <p:spPr>
          <a:xfrm>
            <a:off x="537698" y="4189320"/>
            <a:ext cx="1188360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Text 9"/>
          <p:cNvSpPr/>
          <p:nvPr/>
        </p:nvSpPr>
        <p:spPr>
          <a:xfrm>
            <a:off x="610778" y="4262400"/>
            <a:ext cx="10422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População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Shape 10"/>
          <p:cNvSpPr/>
          <p:nvPr/>
        </p:nvSpPr>
        <p:spPr>
          <a:xfrm>
            <a:off x="1785428" y="4417920"/>
            <a:ext cx="230945" cy="0"/>
          </a:xfrm>
          <a:prstGeom prst="line">
            <a:avLst/>
          </a:prstGeom>
          <a:ln w="19050">
            <a:solidFill>
              <a:srgbClr val="FFFFFF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2094523" y="4188186"/>
            <a:ext cx="836246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" name="Text 12"/>
          <p:cNvSpPr/>
          <p:nvPr/>
        </p:nvSpPr>
        <p:spPr>
          <a:xfrm>
            <a:off x="2163133" y="4261266"/>
            <a:ext cx="699045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Estrato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2977281" y="4418091"/>
            <a:ext cx="231727" cy="0"/>
          </a:xfrm>
          <a:prstGeom prst="line">
            <a:avLst/>
          </a:prstGeom>
          <a:ln w="19050">
            <a:solidFill>
              <a:srgbClr val="FFFFFF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3272913" y="4189320"/>
            <a:ext cx="836247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3272913" y="4262400"/>
            <a:ext cx="792715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Proporção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749880" y="5039280"/>
            <a:ext cx="3017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BBD7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UNIP • GTI – Oferta 2026 - Gestão e Análise de Dados</a:t>
            </a:r>
            <a:endParaRPr kumimoji="0" lang="pt-BR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Retângulo 18"/>
          <p:cNvSpPr/>
          <p:nvPr/>
        </p:nvSpPr>
        <p:spPr>
          <a:xfrm>
            <a:off x="0" y="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Retângulo 20"/>
          <p:cNvSpPr/>
          <p:nvPr/>
        </p:nvSpPr>
        <p:spPr>
          <a:xfrm>
            <a:off x="-360" y="585216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6" name="Imagem 25"/>
          <p:cNvPicPr/>
          <p:nvPr/>
        </p:nvPicPr>
        <p:blipFill>
          <a:blip r:embed="rId4"/>
          <a:stretch/>
        </p:blipFill>
        <p:spPr>
          <a:xfrm>
            <a:off x="4116960" y="0"/>
            <a:ext cx="3533400" cy="71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Shape 14">
            <a:extLst>
              <a:ext uri="{FF2B5EF4-FFF2-40B4-BE49-F238E27FC236}">
                <a16:creationId xmlns:a16="http://schemas.microsoft.com/office/drawing/2014/main" id="{159F20C1-21F3-15F3-A4A0-2329B7122AF5}"/>
              </a:ext>
            </a:extLst>
          </p:cNvPr>
          <p:cNvSpPr/>
          <p:nvPr/>
        </p:nvSpPr>
        <p:spPr>
          <a:xfrm>
            <a:off x="4477624" y="4189671"/>
            <a:ext cx="836247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15">
            <a:extLst>
              <a:ext uri="{FF2B5EF4-FFF2-40B4-BE49-F238E27FC236}">
                <a16:creationId xmlns:a16="http://schemas.microsoft.com/office/drawing/2014/main" id="{5D8A1016-2A44-C929-ACBF-2BC36BEE5495}"/>
              </a:ext>
            </a:extLst>
          </p:cNvPr>
          <p:cNvSpPr/>
          <p:nvPr/>
        </p:nvSpPr>
        <p:spPr>
          <a:xfrm>
            <a:off x="4477624" y="4262751"/>
            <a:ext cx="792715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Shape 13">
            <a:extLst>
              <a:ext uri="{FF2B5EF4-FFF2-40B4-BE49-F238E27FC236}">
                <a16:creationId xmlns:a16="http://schemas.microsoft.com/office/drawing/2014/main" id="{DF024D0B-016C-16B0-E6D1-2D6EBEC0E55D}"/>
              </a:ext>
            </a:extLst>
          </p:cNvPr>
          <p:cNvSpPr/>
          <p:nvPr/>
        </p:nvSpPr>
        <p:spPr>
          <a:xfrm>
            <a:off x="4184754" y="4414191"/>
            <a:ext cx="231727" cy="0"/>
          </a:xfrm>
          <a:prstGeom prst="line">
            <a:avLst/>
          </a:prstGeom>
          <a:ln w="19050">
            <a:solidFill>
              <a:srgbClr val="FFFFFF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97C5F692-AE42-214C-C3EF-AE62453E5EBA}"/>
              </a:ext>
            </a:extLst>
          </p:cNvPr>
          <p:cNvSpPr/>
          <p:nvPr/>
        </p:nvSpPr>
        <p:spPr>
          <a:xfrm>
            <a:off x="6942166" y="4090769"/>
            <a:ext cx="4220306" cy="776880"/>
          </a:xfrm>
          <a:prstGeom prst="roundRect">
            <a:avLst>
              <a:gd name="adj" fmla="val 9412"/>
            </a:avLst>
          </a:prstGeom>
          <a:solidFill>
            <a:srgbClr val="132F55"/>
          </a:solidFill>
          <a:ln w="15240">
            <a:solidFill>
              <a:srgbClr val="4DA3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7">
                <a:extLst>
                  <a:ext uri="{FF2B5EF4-FFF2-40B4-BE49-F238E27FC236}">
                    <a16:creationId xmlns:a16="http://schemas.microsoft.com/office/drawing/2014/main" id="{34AAE648-BB1E-45E7-F484-AE16157E41D8}"/>
                  </a:ext>
                </a:extLst>
              </p:cNvPr>
              <p:cNvSpPr/>
              <p:nvPr/>
            </p:nvSpPr>
            <p:spPr>
              <a:xfrm>
                <a:off x="7021585" y="4163849"/>
                <a:ext cx="4043494" cy="6307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360" tIns="360" rIns="360" bIns="360" anchor="ctr">
                <a:normAutofit fontScale="77500" lnSpcReduction="20000"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0" algn="l"/>
                  </a:tabLst>
                  <a:defRPr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cateto</m:t>
                          </m:r>
                        </m:e>
                        <m:sup>
                          <m:r>
                            <a:rPr kumimoji="0" lang="en-US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sz="2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/>
                          <a:cs typeface="+mn-cs"/>
                        </a:rPr>
                        <m:t>+</m:t>
                      </m:r>
                      <m:sSup>
                        <m:sSupPr>
                          <m:ctrl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cateto</m:t>
                          </m:r>
                        </m:e>
                        <m:sup>
                          <m:r>
                            <a:rPr kumimoji="0" lang="en-US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sz="2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hipotenusa</m:t>
                          </m:r>
                        </m:e>
                        <m:sup>
                          <m:r>
                            <a:rPr kumimoji="0" lang="en-US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kumimoji="0" lang="pt-BR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8" name="Text 7">
                <a:extLst>
                  <a:ext uri="{FF2B5EF4-FFF2-40B4-BE49-F238E27FC236}">
                    <a16:creationId xmlns:a16="http://schemas.microsoft.com/office/drawing/2014/main" id="{34AAE648-BB1E-45E7-F484-AE16157E41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585" y="4163849"/>
                <a:ext cx="4043494" cy="630720"/>
              </a:xfrm>
              <a:prstGeom prst="rect">
                <a:avLst/>
              </a:prstGeom>
              <a:blipFill>
                <a:blip r:embed="rId5"/>
                <a:stretch>
                  <a:fillRect l="-120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AGENDA</a:t>
            </a:r>
            <a:endParaRPr kumimoji="0" lang="pt-BR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Regressão Linear</a:t>
            </a:r>
            <a:endParaRPr kumimoji="0" lang="pt-BR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01</a:t>
            </a:r>
            <a:endParaRPr kumimoji="0" lang="pt-BR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731520" y="1234440"/>
            <a:ext cx="456840" cy="456840"/>
          </a:xfrm>
          <a:prstGeom prst="ellipse">
            <a:avLst/>
          </a:prstGeom>
          <a:solidFill>
            <a:srgbClr val="2563EB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 7"/>
          <p:cNvSpPr/>
          <p:nvPr/>
        </p:nvSpPr>
        <p:spPr>
          <a:xfrm>
            <a:off x="731520" y="134424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" name="Text 8"/>
          <p:cNvSpPr/>
          <p:nvPr/>
        </p:nvSpPr>
        <p:spPr>
          <a:xfrm>
            <a:off x="1371600" y="1024200"/>
            <a:ext cx="6712560" cy="66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População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,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Estrato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,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proporção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e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Shape 9"/>
          <p:cNvSpPr/>
          <p:nvPr/>
        </p:nvSpPr>
        <p:spPr>
          <a:xfrm>
            <a:off x="731520" y="2057400"/>
            <a:ext cx="456840" cy="456840"/>
          </a:xfrm>
          <a:prstGeom prst="ellipse">
            <a:avLst/>
          </a:prstGeom>
          <a:solidFill>
            <a:srgbClr val="2563EB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731520" y="216720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 11"/>
          <p:cNvSpPr/>
          <p:nvPr/>
        </p:nvSpPr>
        <p:spPr>
          <a:xfrm>
            <a:off x="1371600" y="214884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Balanceada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e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Balanceada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" name="Shape 12"/>
          <p:cNvSpPr/>
          <p:nvPr/>
        </p:nvSpPr>
        <p:spPr>
          <a:xfrm>
            <a:off x="731520" y="288036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731520" y="299016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" name="Text 14"/>
          <p:cNvSpPr/>
          <p:nvPr/>
        </p:nvSpPr>
        <p:spPr>
          <a:xfrm>
            <a:off x="1371600" y="297180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Regressão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Logística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" name="Shape 15"/>
          <p:cNvSpPr/>
          <p:nvPr/>
        </p:nvSpPr>
        <p:spPr>
          <a:xfrm>
            <a:off x="731520" y="370332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731520" y="38131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4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1371600" y="379476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KNN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" name="Shape 18"/>
          <p:cNvSpPr/>
          <p:nvPr/>
        </p:nvSpPr>
        <p:spPr>
          <a:xfrm>
            <a:off x="731520" y="452628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" name="Text 19"/>
          <p:cNvSpPr/>
          <p:nvPr/>
        </p:nvSpPr>
        <p:spPr>
          <a:xfrm>
            <a:off x="731520" y="46360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5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" name="Text 20"/>
          <p:cNvSpPr/>
          <p:nvPr/>
        </p:nvSpPr>
        <p:spPr>
          <a:xfrm>
            <a:off x="1371600" y="461772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Exemplos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em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Python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" name="Shape 21"/>
          <p:cNvSpPr/>
          <p:nvPr/>
        </p:nvSpPr>
        <p:spPr>
          <a:xfrm>
            <a:off x="8412480" y="128016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 22"/>
          <p:cNvSpPr/>
          <p:nvPr/>
        </p:nvSpPr>
        <p:spPr>
          <a:xfrm>
            <a:off x="8485560" y="135324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0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Funções → Modelos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9" name="Shape 23"/>
          <p:cNvSpPr/>
          <p:nvPr/>
        </p:nvSpPr>
        <p:spPr>
          <a:xfrm>
            <a:off x="8412480" y="237744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8485560" y="245052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Problema de regressão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8412480" y="347472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Text 26"/>
          <p:cNvSpPr/>
          <p:nvPr/>
        </p:nvSpPr>
        <p:spPr>
          <a:xfrm>
            <a:off x="8485560" y="354780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Modelo, erro e otimização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" name="Shape 27"/>
          <p:cNvSpPr/>
          <p:nvPr/>
        </p:nvSpPr>
        <p:spPr>
          <a:xfrm>
            <a:off x="8412480" y="457200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Text 28"/>
          <p:cNvSpPr/>
          <p:nvPr/>
        </p:nvSpPr>
        <p:spPr>
          <a:xfrm>
            <a:off x="8485560" y="464508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III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Python e exercício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40710" y="1820411"/>
            <a:ext cx="10921878" cy="2123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POPULAÇÃO, ESTRATOS E AMOSTRAS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57200"/>
            <a:ext cx="242316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99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04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Organização</a:t>
            </a:r>
            <a:r>
              <a:rPr lang="en-US" sz="2400" b="1" dirty="0">
                <a:solidFill>
                  <a:srgbClr val="0B1F3A"/>
                </a:solidFill>
              </a:rPr>
              <a:t> e </a:t>
            </a:r>
            <a:r>
              <a:rPr lang="en-US" sz="2400" b="1" dirty="0" err="1">
                <a:solidFill>
                  <a:srgbClr val="0B1F3A"/>
                </a:solidFill>
              </a:rPr>
              <a:t>Preparação</a:t>
            </a:r>
            <a:r>
              <a:rPr lang="en-US" sz="2400" b="1" dirty="0">
                <a:solidFill>
                  <a:srgbClr val="0B1F3A"/>
                </a:solidFill>
              </a:rPr>
              <a:t> de Dados</a:t>
            </a:r>
            <a:r>
              <a:rPr lang="en-US" sz="2400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111827"/>
                </a:solidFill>
              </a:rPr>
              <a:t>População</a:t>
            </a:r>
            <a:r>
              <a:rPr lang="en-US" sz="2400" b="1" dirty="0">
                <a:solidFill>
                  <a:srgbClr val="111827"/>
                </a:solidFill>
              </a:rPr>
              <a:t>, </a:t>
            </a:r>
            <a:r>
              <a:rPr lang="en-US" sz="2400" b="1" dirty="0" err="1">
                <a:solidFill>
                  <a:srgbClr val="111827"/>
                </a:solidFill>
              </a:rPr>
              <a:t>Estrato</a:t>
            </a:r>
            <a:r>
              <a:rPr lang="en-US" sz="2400" b="1" dirty="0">
                <a:solidFill>
                  <a:srgbClr val="111827"/>
                </a:solidFill>
              </a:rPr>
              <a:t> , </a:t>
            </a:r>
            <a:r>
              <a:rPr lang="en-US" sz="2400" b="1" dirty="0" err="1">
                <a:solidFill>
                  <a:srgbClr val="111827"/>
                </a:solidFill>
              </a:rPr>
              <a:t>proporção</a:t>
            </a:r>
            <a:r>
              <a:rPr lang="en-US" sz="2400" b="1" dirty="0">
                <a:solidFill>
                  <a:srgbClr val="111827"/>
                </a:solidFill>
              </a:rPr>
              <a:t> e </a:t>
            </a:r>
            <a:r>
              <a:rPr lang="en-US" sz="2400" b="1" dirty="0" err="1">
                <a:solidFill>
                  <a:srgbClr val="111827"/>
                </a:solidFill>
              </a:rPr>
              <a:t>Amostra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/>
          <p:cNvSpPr/>
          <p:nvPr/>
        </p:nvSpPr>
        <p:spPr>
          <a:xfrm>
            <a:off x="658368" y="29443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82" name="Imagem 81">
            <a:extLst>
              <a:ext uri="{FF2B5EF4-FFF2-40B4-BE49-F238E27FC236}">
                <a16:creationId xmlns:a16="http://schemas.microsoft.com/office/drawing/2014/main" id="{275D7EA1-71EC-BA8A-7429-38EFA39EC5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8140" y="226335"/>
            <a:ext cx="3624044" cy="2718033"/>
          </a:xfrm>
          <a:prstGeom prst="rect">
            <a:avLst/>
          </a:prstGeom>
        </p:spPr>
      </p:pic>
      <p:pic>
        <p:nvPicPr>
          <p:cNvPr id="84" name="Imagem 83">
            <a:extLst>
              <a:ext uri="{FF2B5EF4-FFF2-40B4-BE49-F238E27FC236}">
                <a16:creationId xmlns:a16="http://schemas.microsoft.com/office/drawing/2014/main" id="{C8FAE4D5-F2F0-3696-2B17-05819D2D68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8140" y="3067015"/>
            <a:ext cx="3624044" cy="2718033"/>
          </a:xfrm>
          <a:prstGeom prst="rect">
            <a:avLst/>
          </a:prstGeom>
        </p:spPr>
      </p:pic>
      <p:pic>
        <p:nvPicPr>
          <p:cNvPr id="86" name="Imagem 85">
            <a:extLst>
              <a:ext uri="{FF2B5EF4-FFF2-40B4-BE49-F238E27FC236}">
                <a16:creationId xmlns:a16="http://schemas.microsoft.com/office/drawing/2014/main" id="{77EE33E2-4C04-67EA-5341-5F6CCD187B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0624" y="3068972"/>
            <a:ext cx="2716076" cy="27160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C0BCFA-6CBA-4049-0780-7E2C4057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E0AB3C18-0B8D-7422-588D-A722694C8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5720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567D955F-E961-F834-D21B-36B8074E3554}"/>
              </a:ext>
            </a:extLst>
          </p:cNvPr>
          <p:cNvSpPr/>
          <p:nvPr/>
        </p:nvSpPr>
        <p:spPr>
          <a:xfrm>
            <a:off x="658368" y="1399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04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8B07564-AE0C-762C-7B31-911DE6C3CFD7}"/>
              </a:ext>
            </a:extLst>
          </p:cNvPr>
          <p:cNvSpPr/>
          <p:nvPr/>
        </p:nvSpPr>
        <p:spPr>
          <a:xfrm>
            <a:off x="658368" y="178308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Organização</a:t>
            </a:r>
            <a:r>
              <a:rPr lang="en-US" sz="2400" b="1" dirty="0">
                <a:solidFill>
                  <a:srgbClr val="0B1F3A"/>
                </a:solidFill>
              </a:rPr>
              <a:t> e </a:t>
            </a:r>
            <a:r>
              <a:rPr lang="en-US" sz="2400" b="1" dirty="0" err="1">
                <a:solidFill>
                  <a:srgbClr val="0B1F3A"/>
                </a:solidFill>
              </a:rPr>
              <a:t>Preparação</a:t>
            </a:r>
            <a:r>
              <a:rPr lang="en-US" sz="2400" b="1" dirty="0">
                <a:solidFill>
                  <a:srgbClr val="0B1F3A"/>
                </a:solidFill>
              </a:rPr>
              <a:t> de Dados</a:t>
            </a:r>
            <a:r>
              <a:rPr lang="en-US" sz="2400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111827"/>
                </a:solidFill>
              </a:rPr>
              <a:t>População</a:t>
            </a:r>
            <a:r>
              <a:rPr lang="en-US" sz="2400" b="1" dirty="0">
                <a:solidFill>
                  <a:srgbClr val="111827"/>
                </a:solidFill>
              </a:rPr>
              <a:t>, </a:t>
            </a:r>
            <a:r>
              <a:rPr lang="en-US" sz="2400" b="1" dirty="0" err="1">
                <a:solidFill>
                  <a:srgbClr val="111827"/>
                </a:solidFill>
              </a:rPr>
              <a:t>Estrato</a:t>
            </a:r>
            <a:r>
              <a:rPr lang="en-US" sz="2400" b="1" dirty="0">
                <a:solidFill>
                  <a:srgbClr val="111827"/>
                </a:solidFill>
              </a:rPr>
              <a:t> , </a:t>
            </a:r>
            <a:r>
              <a:rPr lang="en-US" sz="2400" b="1" dirty="0" err="1">
                <a:solidFill>
                  <a:srgbClr val="111827"/>
                </a:solidFill>
              </a:rPr>
              <a:t>proporção</a:t>
            </a:r>
            <a:r>
              <a:rPr lang="en-US" sz="2400" b="1" dirty="0">
                <a:solidFill>
                  <a:srgbClr val="111827"/>
                </a:solidFill>
              </a:rPr>
              <a:t> e </a:t>
            </a:r>
            <a:r>
              <a:rPr lang="en-US" sz="2400" b="1" dirty="0" err="1">
                <a:solidFill>
                  <a:srgbClr val="111827"/>
                </a:solidFill>
              </a:rPr>
              <a:t>Amostra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16EFC8B-D8A7-326B-564A-9872743E71F6}"/>
              </a:ext>
            </a:extLst>
          </p:cNvPr>
          <p:cNvSpPr/>
          <p:nvPr/>
        </p:nvSpPr>
        <p:spPr>
          <a:xfrm>
            <a:off x="658368" y="29443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Estrato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15E194A-956B-A1D3-20AB-77E4FB40B4A4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E2154F2-B365-B16F-7657-5A40300AFC9A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1A6E200-3807-B315-0B0C-794EB966D8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9108" y="545452"/>
            <a:ext cx="2811988" cy="210899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1CB8E0B1-1A67-FA86-BD0A-3EC0A8024A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2025" y="3724984"/>
            <a:ext cx="2249925" cy="224992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969A65EE-317A-D359-C12A-F238FD6E3E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3705550"/>
            <a:ext cx="2269359" cy="2269359"/>
          </a:xfrm>
          <a:prstGeom prst="rect">
            <a:avLst/>
          </a:prstGeom>
        </p:spPr>
      </p:pic>
      <p:sp>
        <p:nvSpPr>
          <p:cNvPr id="15" name="Text 2">
            <a:extLst>
              <a:ext uri="{FF2B5EF4-FFF2-40B4-BE49-F238E27FC236}">
                <a16:creationId xmlns:a16="http://schemas.microsoft.com/office/drawing/2014/main" id="{23E15EC4-C439-35CF-213F-748C2BE2CCAD}"/>
              </a:ext>
            </a:extLst>
          </p:cNvPr>
          <p:cNvSpPr/>
          <p:nvPr/>
        </p:nvSpPr>
        <p:spPr>
          <a:xfrm>
            <a:off x="8909108" y="23129"/>
            <a:ext cx="27708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7FA3D225-D9F1-D0EB-8D53-35D39FEF7E06}"/>
              </a:ext>
            </a:extLst>
          </p:cNvPr>
          <p:cNvSpPr/>
          <p:nvPr/>
        </p:nvSpPr>
        <p:spPr>
          <a:xfrm>
            <a:off x="8972025" y="3267592"/>
            <a:ext cx="22499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idade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populacional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80602B2E-EDB6-AE80-3356-B6E875B166BF}"/>
              </a:ext>
            </a:extLst>
          </p:cNvPr>
          <p:cNvSpPr/>
          <p:nvPr/>
        </p:nvSpPr>
        <p:spPr>
          <a:xfrm>
            <a:off x="5633146" y="3180743"/>
            <a:ext cx="3205476" cy="492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Cor </a:t>
            </a:r>
            <a:r>
              <a:rPr lang="en-US" sz="1700" dirty="0" err="1">
                <a:solidFill>
                  <a:srgbClr val="111827"/>
                </a:solidFill>
              </a:rPr>
              <a:t>ou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Raça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700" dirty="0">
                <a:solidFill>
                  <a:srgbClr val="111827"/>
                </a:solidFill>
              </a:rPr>
              <a:t>(IBGE CENSO DEMOGRÁFICO): 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226121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BFB95E-35D2-4F29-43DD-366610AE9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DEE26815-3A9B-5742-A7F0-9ECB8AFCAB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4367"/>
            <a:ext cx="2423160" cy="51206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E0B68325-FAEB-1F22-B22A-DE1CF41AB8C1}"/>
              </a:ext>
            </a:extLst>
          </p:cNvPr>
          <p:cNvSpPr/>
          <p:nvPr/>
        </p:nvSpPr>
        <p:spPr>
          <a:xfrm>
            <a:off x="360055" y="644282"/>
            <a:ext cx="3888465" cy="89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lang="en-US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111827"/>
                </a:solidFill>
              </a:rPr>
              <a:t>População</a:t>
            </a:r>
            <a:r>
              <a:rPr lang="en-US" b="1" dirty="0">
                <a:solidFill>
                  <a:srgbClr val="111827"/>
                </a:solidFill>
              </a:rPr>
              <a:t>, </a:t>
            </a:r>
            <a:r>
              <a:rPr lang="en-US" b="1" dirty="0" err="1">
                <a:solidFill>
                  <a:srgbClr val="111827"/>
                </a:solidFill>
              </a:rPr>
              <a:t>Estrato</a:t>
            </a:r>
            <a:r>
              <a:rPr lang="en-US" b="1" dirty="0">
                <a:solidFill>
                  <a:srgbClr val="111827"/>
                </a:solidFill>
              </a:rPr>
              <a:t> , </a:t>
            </a:r>
            <a:r>
              <a:rPr lang="en-US" b="1" dirty="0" err="1">
                <a:solidFill>
                  <a:srgbClr val="111827"/>
                </a:solidFill>
              </a:rPr>
              <a:t>proporção</a:t>
            </a:r>
            <a:r>
              <a:rPr lang="en-US" b="1" dirty="0">
                <a:solidFill>
                  <a:srgbClr val="111827"/>
                </a:solidFill>
              </a:rPr>
              <a:t> e </a:t>
            </a:r>
            <a:r>
              <a:rPr lang="en-US" b="1" dirty="0" err="1">
                <a:solidFill>
                  <a:srgbClr val="111827"/>
                </a:solidFill>
              </a:rPr>
              <a:t>Amostra</a:t>
            </a:r>
            <a:endParaRPr lang="pt-BR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C3E9A74-7A94-CD05-31C0-DD91AED976F3}"/>
              </a:ext>
            </a:extLst>
          </p:cNvPr>
          <p:cNvSpPr/>
          <p:nvPr/>
        </p:nvSpPr>
        <p:spPr>
          <a:xfrm>
            <a:off x="360055" y="1560061"/>
            <a:ext cx="214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Proporção</a:t>
            </a:r>
            <a:r>
              <a:rPr lang="en-US" sz="1700" dirty="0">
                <a:solidFill>
                  <a:srgbClr val="111827"/>
                </a:solidFill>
              </a:rPr>
              <a:t> do </a:t>
            </a:r>
            <a:r>
              <a:rPr lang="en-US" sz="1700" dirty="0" err="1">
                <a:solidFill>
                  <a:srgbClr val="111827"/>
                </a:solidFill>
              </a:rPr>
              <a:t>estrato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2CBBD45-CFB5-0F33-B2D5-D3AE302C1E19}"/>
              </a:ext>
            </a:extLst>
          </p:cNvPr>
          <p:cNvSpPr/>
          <p:nvPr/>
        </p:nvSpPr>
        <p:spPr>
          <a:xfrm>
            <a:off x="180195" y="6279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ED2BD48F-9548-38B4-82EF-18557FDC5B92}"/>
              </a:ext>
            </a:extLst>
          </p:cNvPr>
          <p:cNvSpPr/>
          <p:nvPr/>
        </p:nvSpPr>
        <p:spPr>
          <a:xfrm>
            <a:off x="180195" y="659022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070464FE-14EF-EC62-48D8-9554792E25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8224" y="478340"/>
            <a:ext cx="2811988" cy="210899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8BE5B3A4-5C42-F322-4C62-236F929AA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1171" y="3583698"/>
            <a:ext cx="2249925" cy="224992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5614A-4B5F-06B1-879C-499FF88A05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3378" y="2960977"/>
            <a:ext cx="2374085" cy="23740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72D40DAB-A688-E6B7-C096-8BAC040D52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83643613"/>
                  </p:ext>
                </p:extLst>
              </p:nvPr>
            </p:nvGraphicFramePr>
            <p:xfrm>
              <a:off x="5536733" y="468018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72D40DAB-A688-E6B7-C096-8BAC040D52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83643613"/>
                  </p:ext>
                </p:extLst>
              </p:nvPr>
            </p:nvGraphicFramePr>
            <p:xfrm>
              <a:off x="5536733" y="468018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94322" t="-126582" r="-631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94322" t="-223750" r="-631" b="-9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F43D50B2-4074-331F-CFD9-D4F873614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8713823"/>
                  </p:ext>
                </p:extLst>
              </p:nvPr>
            </p:nvGraphicFramePr>
            <p:xfrm>
              <a:off x="5981349" y="3564983"/>
              <a:ext cx="3489821" cy="3011987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80178">
                      <a:extLst>
                        <a:ext uri="{9D8B030D-6E8A-4147-A177-3AD203B41FA5}">
                          <a16:colId xmlns:a16="http://schemas.microsoft.com/office/drawing/2014/main" val="2226377696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1515602878"/>
                        </a:ext>
                      </a:extLst>
                    </a:gridCol>
                    <a:gridCol w="1812021">
                      <a:extLst>
                        <a:ext uri="{9D8B030D-6E8A-4147-A177-3AD203B41FA5}">
                          <a16:colId xmlns:a16="http://schemas.microsoft.com/office/drawing/2014/main" val="2517524203"/>
                        </a:ext>
                      </a:extLst>
                    </a:gridCol>
                  </a:tblGrid>
                  <a:tr h="787202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216136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Crianças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 =&gt; 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37,50%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95441628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jovens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69240490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idosos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12,50%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9410062"/>
                      </a:ext>
                    </a:extLst>
                  </a:tr>
                  <a:tr h="44982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91130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F43D50B2-4074-331F-CFD9-D4F873614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8713823"/>
                  </p:ext>
                </p:extLst>
              </p:nvPr>
            </p:nvGraphicFramePr>
            <p:xfrm>
              <a:off x="5981349" y="3564983"/>
              <a:ext cx="3489821" cy="3011987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80178">
                      <a:extLst>
                        <a:ext uri="{9D8B030D-6E8A-4147-A177-3AD203B41FA5}">
                          <a16:colId xmlns:a16="http://schemas.microsoft.com/office/drawing/2014/main" val="2226377696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1515602878"/>
                        </a:ext>
                      </a:extLst>
                    </a:gridCol>
                    <a:gridCol w="1812021">
                      <a:extLst>
                        <a:ext uri="{9D8B030D-6E8A-4147-A177-3AD203B41FA5}">
                          <a16:colId xmlns:a16="http://schemas.microsoft.com/office/drawing/2014/main" val="2517524203"/>
                        </a:ext>
                      </a:extLst>
                    </a:gridCol>
                  </a:tblGrid>
                  <a:tr h="787202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216136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Crianças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8"/>
                          <a:stretch>
                            <a:fillRect l="-92617" t="-132653" r="-671" b="-2836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95441628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jovens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8"/>
                          <a:stretch>
                            <a:fillRect l="-92617" t="-235052" r="-671" b="-1865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9240490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idosos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8"/>
                          <a:stretch>
                            <a:fillRect l="-92617" t="-335052" r="-671" b="-865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410062"/>
                      </a:ext>
                    </a:extLst>
                  </a:tr>
                  <a:tr h="44982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911308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ela 11">
                <a:extLst>
                  <a:ext uri="{FF2B5EF4-FFF2-40B4-BE49-F238E27FC236}">
                    <a16:creationId xmlns:a16="http://schemas.microsoft.com/office/drawing/2014/main" id="{B023BCCD-3A3D-F3F7-622A-6BD16E8754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1467461"/>
                  </p:ext>
                </p:extLst>
              </p:nvPr>
            </p:nvGraphicFramePr>
            <p:xfrm>
              <a:off x="181538" y="2960977"/>
              <a:ext cx="3291840" cy="323050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6418">
                      <a:extLst>
                        <a:ext uri="{9D8B030D-6E8A-4147-A177-3AD203B41FA5}">
                          <a16:colId xmlns:a16="http://schemas.microsoft.com/office/drawing/2014/main" val="2084369836"/>
                        </a:ext>
                      </a:extLst>
                    </a:gridCol>
                    <a:gridCol w="964734">
                      <a:extLst>
                        <a:ext uri="{9D8B030D-6E8A-4147-A177-3AD203B41FA5}">
                          <a16:colId xmlns:a16="http://schemas.microsoft.com/office/drawing/2014/main" val="2688386803"/>
                        </a:ext>
                      </a:extLst>
                    </a:gridCol>
                    <a:gridCol w="1560688">
                      <a:extLst>
                        <a:ext uri="{9D8B030D-6E8A-4147-A177-3AD203B41FA5}">
                          <a16:colId xmlns:a16="http://schemas.microsoft.com/office/drawing/2014/main" val="72672263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425008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Branca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25,00%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1747034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Preta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20,00%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24083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Parda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8937315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Amarela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10,00%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245012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Indígena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0253693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20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912690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ela 11">
                <a:extLst>
                  <a:ext uri="{FF2B5EF4-FFF2-40B4-BE49-F238E27FC236}">
                    <a16:creationId xmlns:a16="http://schemas.microsoft.com/office/drawing/2014/main" id="{B023BCCD-3A3D-F3F7-622A-6BD16E8754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1467461"/>
                  </p:ext>
                </p:extLst>
              </p:nvPr>
            </p:nvGraphicFramePr>
            <p:xfrm>
              <a:off x="181538" y="2960977"/>
              <a:ext cx="3291840" cy="323050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6418">
                      <a:extLst>
                        <a:ext uri="{9D8B030D-6E8A-4147-A177-3AD203B41FA5}">
                          <a16:colId xmlns:a16="http://schemas.microsoft.com/office/drawing/2014/main" val="2084369836"/>
                        </a:ext>
                      </a:extLst>
                    </a:gridCol>
                    <a:gridCol w="964734">
                      <a:extLst>
                        <a:ext uri="{9D8B030D-6E8A-4147-A177-3AD203B41FA5}">
                          <a16:colId xmlns:a16="http://schemas.microsoft.com/office/drawing/2014/main" val="2688386803"/>
                        </a:ext>
                      </a:extLst>
                    </a:gridCol>
                    <a:gridCol w="1560688">
                      <a:extLst>
                        <a:ext uri="{9D8B030D-6E8A-4147-A177-3AD203B41FA5}">
                          <a16:colId xmlns:a16="http://schemas.microsoft.com/office/drawing/2014/main" val="72672263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4250087"/>
                      </a:ext>
                    </a:extLst>
                  </a:tr>
                  <a:tr h="484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Branca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95000" r="-781" b="-491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17470346"/>
                      </a:ext>
                    </a:extLst>
                  </a:tr>
                  <a:tr h="47993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Preta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197468" r="-781" b="-3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240836"/>
                      </a:ext>
                    </a:extLst>
                  </a:tr>
                  <a:tr h="48107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Parda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297468" r="-781" b="-2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89373157"/>
                      </a:ext>
                    </a:extLst>
                  </a:tr>
                  <a:tr h="48107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Amarela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397468" r="-781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450121"/>
                      </a:ext>
                    </a:extLst>
                  </a:tr>
                  <a:tr h="48050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Indígena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497468" r="-781" b="-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253693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20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9126905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Retângulo 13">
            <a:extLst>
              <a:ext uri="{FF2B5EF4-FFF2-40B4-BE49-F238E27FC236}">
                <a16:creationId xmlns:a16="http://schemas.microsoft.com/office/drawing/2014/main" id="{1CC45CE6-4188-F736-A399-E2D9FB5CB3B0}"/>
              </a:ext>
            </a:extLst>
          </p:cNvPr>
          <p:cNvSpPr/>
          <p:nvPr/>
        </p:nvSpPr>
        <p:spPr>
          <a:xfrm>
            <a:off x="181538" y="2960977"/>
            <a:ext cx="5665925" cy="3230500"/>
          </a:xfrm>
          <a:prstGeom prst="rect">
            <a:avLst/>
          </a:prstGeom>
          <a:noFill/>
          <a:ln>
            <a:solidFill>
              <a:srgbClr val="0070C0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2A78D4D-A91A-BEA5-2586-01C4BBE4430D}"/>
              </a:ext>
            </a:extLst>
          </p:cNvPr>
          <p:cNvSpPr/>
          <p:nvPr/>
        </p:nvSpPr>
        <p:spPr>
          <a:xfrm>
            <a:off x="5536733" y="468018"/>
            <a:ext cx="6553479" cy="210899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B9CB8D3-3E4B-482C-C226-4EDCA948D14A}"/>
              </a:ext>
            </a:extLst>
          </p:cNvPr>
          <p:cNvSpPr/>
          <p:nvPr/>
        </p:nvSpPr>
        <p:spPr>
          <a:xfrm>
            <a:off x="5981349" y="3564983"/>
            <a:ext cx="5739747" cy="3011987"/>
          </a:xfrm>
          <a:prstGeom prst="rect">
            <a:avLst/>
          </a:prstGeom>
          <a:noFill/>
          <a:ln>
            <a:solidFill>
              <a:srgbClr val="0070C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257F7CB5-1E30-5312-A373-76B3DF2C0E7B}"/>
              </a:ext>
            </a:extLst>
          </p:cNvPr>
          <p:cNvSpPr/>
          <p:nvPr/>
        </p:nvSpPr>
        <p:spPr>
          <a:xfrm>
            <a:off x="214437" y="2544883"/>
            <a:ext cx="54565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Cor </a:t>
            </a:r>
            <a:r>
              <a:rPr lang="en-US" sz="1700" dirty="0" err="1">
                <a:solidFill>
                  <a:srgbClr val="111827"/>
                </a:solidFill>
              </a:rPr>
              <a:t>ou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Raça</a:t>
            </a:r>
            <a:r>
              <a:rPr lang="en-US" sz="1700" dirty="0">
                <a:solidFill>
                  <a:srgbClr val="111827"/>
                </a:solidFill>
              </a:rPr>
              <a:t> (IBGE CENSO DEMOGRÁFICO): </a:t>
            </a:r>
            <a:endParaRPr lang="en-US" sz="1700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65CE3FA1-0D49-232A-2F48-6E116A73AF53}"/>
              </a:ext>
            </a:extLst>
          </p:cNvPr>
          <p:cNvSpPr/>
          <p:nvPr/>
        </p:nvSpPr>
        <p:spPr>
          <a:xfrm>
            <a:off x="5981349" y="318890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idade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populacional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109844AB-A0EE-0925-F149-89536C5D0F6A}"/>
              </a:ext>
            </a:extLst>
          </p:cNvPr>
          <p:cNvSpPr/>
          <p:nvPr/>
        </p:nvSpPr>
        <p:spPr>
          <a:xfrm>
            <a:off x="5536733" y="6927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252815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8CD7EE-0C26-7550-1BAB-E571E65B5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299BACD-1A35-4C36-753A-5911586CCF46}"/>
              </a:ext>
            </a:extLst>
          </p:cNvPr>
          <p:cNvSpPr/>
          <p:nvPr/>
        </p:nvSpPr>
        <p:spPr>
          <a:xfrm>
            <a:off x="640710" y="1820411"/>
            <a:ext cx="10921878" cy="2123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AMOSTRAS BALANCEADAS E NÃO-BALANCEADAS</a:t>
            </a:r>
            <a:endParaRPr lang="en-US" sz="7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FACA57-0781-EC44-9ABD-B84CC3A30FA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4BE353F-53E9-C3A2-A9A9-96A8E7CB92EF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86273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516E0A-1744-500E-B05A-A7BBCB2BD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9DA32686-4D0D-1BBF-C9A9-78C988759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4367"/>
            <a:ext cx="2423160" cy="51206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031D66DB-4978-DF12-4596-0F0F7BE91B89}"/>
              </a:ext>
            </a:extLst>
          </p:cNvPr>
          <p:cNvSpPr/>
          <p:nvPr/>
        </p:nvSpPr>
        <p:spPr>
          <a:xfrm>
            <a:off x="360055" y="644282"/>
            <a:ext cx="3888465" cy="624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lang="en-US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111827"/>
                </a:solidFill>
              </a:rPr>
              <a:t>População</a:t>
            </a:r>
            <a:r>
              <a:rPr lang="en-US" b="1" dirty="0">
                <a:solidFill>
                  <a:srgbClr val="111827"/>
                </a:solidFill>
              </a:rPr>
              <a:t>, </a:t>
            </a:r>
            <a:r>
              <a:rPr lang="en-US" b="1" dirty="0" err="1">
                <a:solidFill>
                  <a:srgbClr val="111827"/>
                </a:solidFill>
              </a:rPr>
              <a:t>Estrato</a:t>
            </a:r>
            <a:r>
              <a:rPr lang="en-US" b="1" dirty="0">
                <a:solidFill>
                  <a:srgbClr val="111827"/>
                </a:solidFill>
              </a:rPr>
              <a:t> , </a:t>
            </a:r>
            <a:r>
              <a:rPr lang="en-US" b="1" dirty="0" err="1">
                <a:solidFill>
                  <a:srgbClr val="111827"/>
                </a:solidFill>
              </a:rPr>
              <a:t>proporção</a:t>
            </a:r>
            <a:r>
              <a:rPr lang="en-US" b="1" dirty="0">
                <a:solidFill>
                  <a:srgbClr val="111827"/>
                </a:solidFill>
              </a:rPr>
              <a:t> e </a:t>
            </a:r>
            <a:r>
              <a:rPr lang="en-US" b="1" dirty="0" err="1">
                <a:solidFill>
                  <a:srgbClr val="111827"/>
                </a:solidFill>
              </a:rPr>
              <a:t>Amostra</a:t>
            </a:r>
            <a:endParaRPr lang="pt-BR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0BA6A4B-8E08-0C58-BE95-8FF4BB5A16B2}"/>
              </a:ext>
            </a:extLst>
          </p:cNvPr>
          <p:cNvSpPr/>
          <p:nvPr/>
        </p:nvSpPr>
        <p:spPr>
          <a:xfrm>
            <a:off x="381194" y="1402687"/>
            <a:ext cx="11573118" cy="515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 err="1">
                <a:solidFill>
                  <a:srgbClr val="111827"/>
                </a:solidFill>
              </a:rPr>
              <a:t>Amostra</a:t>
            </a:r>
            <a:r>
              <a:rPr lang="en-US" sz="1700" dirty="0">
                <a:solidFill>
                  <a:srgbClr val="111827"/>
                </a:solidFill>
              </a:rPr>
              <a:t> PROPORCIONAL: </a:t>
            </a:r>
            <a:r>
              <a:rPr lang="en-US" sz="1700" dirty="0" err="1">
                <a:solidFill>
                  <a:srgbClr val="111827"/>
                </a:solidFill>
              </a:rPr>
              <a:t>uma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b="1" dirty="0" err="1">
                <a:solidFill>
                  <a:srgbClr val="111827"/>
                </a:solidFill>
              </a:rPr>
              <a:t>amostra</a:t>
            </a:r>
            <a:r>
              <a:rPr lang="en-US" sz="1700" b="1" dirty="0">
                <a:solidFill>
                  <a:srgbClr val="111827"/>
                </a:solidFill>
              </a:rPr>
              <a:t> é </a:t>
            </a:r>
            <a:r>
              <a:rPr lang="en-US" sz="1700" b="1" dirty="0" err="1">
                <a:solidFill>
                  <a:srgbClr val="111827"/>
                </a:solidFill>
              </a:rPr>
              <a:t>proporcional</a:t>
            </a:r>
            <a:r>
              <a:rPr lang="en-US" sz="1700" b="1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quando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pt-BR" dirty="0"/>
              <a:t>os estratos (grupos ou classes) de interesse aparecem com quantidades proporcionais a aquelas encontradas nos estratos da população.</a:t>
            </a:r>
            <a:endParaRPr lang="en-US" sz="20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E0E1F86-9EDD-81AE-B645-7C13A8A67D7B}"/>
              </a:ext>
            </a:extLst>
          </p:cNvPr>
          <p:cNvSpPr/>
          <p:nvPr/>
        </p:nvSpPr>
        <p:spPr>
          <a:xfrm>
            <a:off x="180195" y="6279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B0E25D4-3A5A-EA14-10ED-A0195D18008D}"/>
              </a:ext>
            </a:extLst>
          </p:cNvPr>
          <p:cNvSpPr/>
          <p:nvPr/>
        </p:nvSpPr>
        <p:spPr>
          <a:xfrm>
            <a:off x="180195" y="659022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1BBD6EB-5FC4-599D-3CA6-702AB494C9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601" y="2105804"/>
            <a:ext cx="2811988" cy="21089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8A655E59-539E-956B-7164-A717369D42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9535578"/>
                  </p:ext>
                </p:extLst>
              </p:nvPr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8A655E59-539E-956B-7164-A717369D42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9535578"/>
                  </p:ext>
                </p:extLst>
              </p:nvPr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126582" r="-946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223750" r="-946" b="-9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5" name="Retângulo 14">
            <a:extLst>
              <a:ext uri="{FF2B5EF4-FFF2-40B4-BE49-F238E27FC236}">
                <a16:creationId xmlns:a16="http://schemas.microsoft.com/office/drawing/2014/main" id="{F1C8DD4C-1729-B71C-71A4-9608FF6A27D9}"/>
              </a:ext>
            </a:extLst>
          </p:cNvPr>
          <p:cNvSpPr/>
          <p:nvPr/>
        </p:nvSpPr>
        <p:spPr>
          <a:xfrm>
            <a:off x="318110" y="2095482"/>
            <a:ext cx="6553479" cy="210899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A58E2657-E3C7-36EB-036C-CF619276D3C2}"/>
              </a:ext>
            </a:extLst>
          </p:cNvPr>
          <p:cNvSpPr/>
          <p:nvPr/>
        </p:nvSpPr>
        <p:spPr>
          <a:xfrm>
            <a:off x="5536733" y="6927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C5C045B-5F75-5B1F-D260-ECAED6D9EF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45507831"/>
                  </p:ext>
                </p:extLst>
              </p:nvPr>
            </p:nvGraphicFramePr>
            <p:xfrm>
              <a:off x="318110" y="4348282"/>
              <a:ext cx="6553478" cy="1971739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Amostra</a:t>
                          </a:r>
                          <a:r>
                            <a:rPr lang="pt-BR" sz="1200" dirty="0"/>
                            <a:t> proporcional ((</a:t>
                          </a:r>
                          <a:r>
                            <a:rPr lang="pt-BR" sz="1200" b="1" dirty="0"/>
                            <a:t>n=9</a:t>
                          </a:r>
                          <a:r>
                            <a:rPr lang="pt-BR" sz="1200" dirty="0"/>
                            <a:t>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9A2C"/>
                              </a:solidFill>
                            </a:rPr>
                            <a:t>44,44%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9A2C"/>
                              </a:solidFill>
                            </a:rPr>
                            <a:t>55,56%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9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C5C045B-5F75-5B1F-D260-ECAED6D9EF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45507831"/>
                  </p:ext>
                </p:extLst>
              </p:nvPr>
            </p:nvGraphicFramePr>
            <p:xfrm>
              <a:off x="318110" y="4348282"/>
              <a:ext cx="6553478" cy="1971739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Amostra</a:t>
                          </a:r>
                          <a:r>
                            <a:rPr lang="pt-BR" sz="1200" dirty="0"/>
                            <a:t> proporcional ((</a:t>
                          </a:r>
                          <a:r>
                            <a:rPr lang="pt-BR" sz="1200" b="1" dirty="0"/>
                            <a:t>n=9</a:t>
                          </a:r>
                          <a:r>
                            <a:rPr lang="pt-BR" sz="1200" dirty="0"/>
                            <a:t>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134177" r="-147619" b="-1987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134177" r="-781" b="-1987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48469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231250" r="-147619" b="-96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231250" r="-781" b="-9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9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1" name="Imagem 20">
            <a:extLst>
              <a:ext uri="{FF2B5EF4-FFF2-40B4-BE49-F238E27FC236}">
                <a16:creationId xmlns:a16="http://schemas.microsoft.com/office/drawing/2014/main" id="{51BAAB2D-1C10-2CF5-9851-3E8F8FDC52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1100" y="3298385"/>
            <a:ext cx="4389120" cy="3291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036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656448-84C1-6836-9EA5-BF6D094F2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F78DB071-75D2-6A49-349A-8AA8A4BF4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4367"/>
            <a:ext cx="2423160" cy="51206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68CC72E9-FCD1-37D3-4DA9-E51DC0B7747E}"/>
              </a:ext>
            </a:extLst>
          </p:cNvPr>
          <p:cNvSpPr/>
          <p:nvPr/>
        </p:nvSpPr>
        <p:spPr>
          <a:xfrm>
            <a:off x="360055" y="644282"/>
            <a:ext cx="5319292" cy="758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lang="en-US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111827"/>
                </a:solidFill>
              </a:rPr>
              <a:t>População</a:t>
            </a:r>
            <a:r>
              <a:rPr lang="en-US" b="1" dirty="0">
                <a:solidFill>
                  <a:srgbClr val="111827"/>
                </a:solidFill>
              </a:rPr>
              <a:t>, </a:t>
            </a:r>
            <a:r>
              <a:rPr lang="en-US" b="1" dirty="0" err="1">
                <a:solidFill>
                  <a:srgbClr val="111827"/>
                </a:solidFill>
              </a:rPr>
              <a:t>Estrato</a:t>
            </a:r>
            <a:r>
              <a:rPr lang="en-US" b="1" dirty="0">
                <a:solidFill>
                  <a:srgbClr val="111827"/>
                </a:solidFill>
              </a:rPr>
              <a:t> , </a:t>
            </a:r>
            <a:r>
              <a:rPr lang="en-US" b="1" dirty="0" err="1">
                <a:solidFill>
                  <a:srgbClr val="111827"/>
                </a:solidFill>
              </a:rPr>
              <a:t>proporção</a:t>
            </a:r>
            <a:r>
              <a:rPr lang="en-US" b="1" dirty="0">
                <a:solidFill>
                  <a:srgbClr val="111827"/>
                </a:solidFill>
              </a:rPr>
              <a:t> e </a:t>
            </a:r>
            <a:r>
              <a:rPr lang="en-US" b="1" dirty="0" err="1">
                <a:solidFill>
                  <a:srgbClr val="111827"/>
                </a:solidFill>
              </a:rPr>
              <a:t>Amostra</a:t>
            </a:r>
            <a:endParaRPr lang="pt-BR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3DC19198-26F4-979E-3E16-F97241DE5E36}"/>
              </a:ext>
            </a:extLst>
          </p:cNvPr>
          <p:cNvSpPr/>
          <p:nvPr/>
        </p:nvSpPr>
        <p:spPr>
          <a:xfrm>
            <a:off x="381194" y="1402687"/>
            <a:ext cx="11450751" cy="515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 err="1">
                <a:solidFill>
                  <a:srgbClr val="111827"/>
                </a:solidFill>
              </a:rPr>
              <a:t>Amostra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b="1" dirty="0">
                <a:solidFill>
                  <a:srgbClr val="111827"/>
                </a:solidFill>
              </a:rPr>
              <a:t>BALANCEADA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r>
              <a:rPr lang="pt-BR" sz="1600" dirty="0"/>
              <a:t>Uma </a:t>
            </a:r>
            <a:r>
              <a:rPr lang="pt-BR" sz="1600" b="1" dirty="0"/>
              <a:t>amostra balanceada</a:t>
            </a:r>
            <a:r>
              <a:rPr lang="pt-BR" sz="1600" dirty="0"/>
              <a:t> é aquela em que os estratos (grupos ou classes) de interesse aparecem com quantidades iguais, ou aproximadamente iguais, na amostra.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7BF7F3D-7D1A-6311-A2FF-3A7CF9085773}"/>
              </a:ext>
            </a:extLst>
          </p:cNvPr>
          <p:cNvSpPr/>
          <p:nvPr/>
        </p:nvSpPr>
        <p:spPr>
          <a:xfrm>
            <a:off x="180195" y="6279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87C1190-3ADF-77F0-F268-5C71E7CA60C3}"/>
              </a:ext>
            </a:extLst>
          </p:cNvPr>
          <p:cNvSpPr/>
          <p:nvPr/>
        </p:nvSpPr>
        <p:spPr>
          <a:xfrm>
            <a:off x="180195" y="659022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D54DEC4-C7FD-2CF0-F5E5-25310476B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601" y="2105804"/>
            <a:ext cx="2811988" cy="21089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0F88D9FB-CBDB-E97B-65DC-4FB0FC43748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0F88D9FB-CBDB-E97B-65DC-4FB0FC43748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126582" r="-946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223750" r="-946" b="-9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5" name="Retângulo 14">
            <a:extLst>
              <a:ext uri="{FF2B5EF4-FFF2-40B4-BE49-F238E27FC236}">
                <a16:creationId xmlns:a16="http://schemas.microsoft.com/office/drawing/2014/main" id="{06908664-E8D8-97F6-1B83-CF637849FF09}"/>
              </a:ext>
            </a:extLst>
          </p:cNvPr>
          <p:cNvSpPr/>
          <p:nvPr/>
        </p:nvSpPr>
        <p:spPr>
          <a:xfrm>
            <a:off x="318110" y="2095482"/>
            <a:ext cx="6553479" cy="210899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E6EC1D27-F9E4-7774-F955-214A14E2ADA1}"/>
              </a:ext>
            </a:extLst>
          </p:cNvPr>
          <p:cNvSpPr/>
          <p:nvPr/>
        </p:nvSpPr>
        <p:spPr>
          <a:xfrm>
            <a:off x="5536733" y="6927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D41280DF-035B-021A-BC3C-118133C841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4671767"/>
                  </p:ext>
                </p:extLst>
              </p:nvPr>
            </p:nvGraphicFramePr>
            <p:xfrm>
              <a:off x="318110" y="4348282"/>
              <a:ext cx="6553478" cy="196824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Amostra balanceada ((n=8))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/>
                            <a:t>44,44%</a:t>
                          </a:r>
                          <a:endParaRPr lang="pt-BR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3F76"/>
                              </a:solidFill>
                            </a:rPr>
                            <a:t>50,00%</a:t>
                          </a:r>
                          <a:endParaRPr lang="pt-BR" dirty="0">
                            <a:solidFill>
                              <a:srgbClr val="003F76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/>
                            <a:t>55,56%</a:t>
                          </a:r>
                          <a:endParaRPr lang="pt-BR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3F76"/>
                              </a:solidFill>
                            </a:rPr>
                            <a:t>50,00%</a:t>
                          </a:r>
                          <a:endParaRPr lang="pt-BR" dirty="0">
                            <a:solidFill>
                              <a:srgbClr val="003F76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  <a:endParaRPr lang="pt-BR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18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100%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8</a:t>
                          </a:r>
                          <a:endParaRPr lang="pt-BR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 dirty="0"/>
                            <a:t>100%</a:t>
                          </a:r>
                          <a:endParaRPr lang="pt-BR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D41280DF-035B-021A-BC3C-118133C841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4671767"/>
                  </p:ext>
                </p:extLst>
              </p:nvPr>
            </p:nvGraphicFramePr>
            <p:xfrm>
              <a:off x="318110" y="4348282"/>
              <a:ext cx="6553478" cy="196824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Amostra balanceada ((n=8))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132500" r="-147619" b="-19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132500" r="-781" b="-193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235443" r="-147619" b="-962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235443" r="-781" b="-962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  <a:endParaRPr lang="pt-BR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18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100%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8</a:t>
                          </a:r>
                          <a:endParaRPr lang="pt-BR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 dirty="0"/>
                            <a:t>100%</a:t>
                          </a:r>
                          <a:endParaRPr lang="pt-BR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F8717012-3C1E-9429-F213-7C0E9C9FA2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89027" y="3261137"/>
            <a:ext cx="4438782" cy="332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350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latin typeface="Aptos Display"/>
                <a:ea typeface="Aptos Display"/>
              </a:rPr>
              <a:t>Organização</a:t>
            </a:r>
            <a:r>
              <a:rPr lang="en-US" b="1" dirty="0">
                <a:latin typeface="Aptos Display"/>
                <a:ea typeface="Aptos Display"/>
              </a:rPr>
              <a:t> e </a:t>
            </a:r>
            <a:r>
              <a:rPr lang="en-US" b="1" dirty="0" err="1">
                <a:latin typeface="Aptos Display"/>
                <a:ea typeface="Aptos Display"/>
              </a:rPr>
              <a:t>Preparação</a:t>
            </a:r>
            <a:r>
              <a:rPr lang="en-US" b="1" dirty="0">
                <a:latin typeface="Aptos Display"/>
                <a:ea typeface="Aptos Display"/>
              </a:rPr>
              <a:t> de dados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22376" y="1106425"/>
            <a:ext cx="10195560" cy="530352"/>
          </a:xfrm>
          <a:prstGeom prst="rect">
            <a:avLst/>
          </a:prstGeom>
          <a:solidFill>
            <a:srgbClr val="EAF2FF"/>
          </a:solidFill>
          <a:ln w="12700">
            <a:solidFill>
              <a:srgbClr val="2F69BF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0B1F3A"/>
                </a:solidFill>
              </a:rPr>
              <a:t>Pergunta central: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0B1F3A"/>
                </a:solidFill>
              </a:rPr>
              <a:t>Como preparar uma base de dados para </a:t>
            </a:r>
            <a:r>
              <a:rPr lang="en-US" sz="1200" b="1" u="sng" dirty="0">
                <a:solidFill>
                  <a:srgbClr val="0B1F3A"/>
                </a:solidFill>
              </a:rPr>
              <a:t>representar corretamente a população</a:t>
            </a:r>
            <a:r>
              <a:rPr lang="en-US" sz="1200" b="1" dirty="0">
                <a:solidFill>
                  <a:srgbClr val="0B1F3A"/>
                </a:solidFill>
              </a:rPr>
              <a:t> antes de treinar um </a:t>
            </a:r>
            <a:r>
              <a:rPr lang="en-US" sz="1200" b="1" dirty="0" err="1">
                <a:solidFill>
                  <a:srgbClr val="0B1F3A"/>
                </a:solidFill>
              </a:rPr>
              <a:t>modelo</a:t>
            </a:r>
            <a:r>
              <a:rPr lang="en-US" sz="1200" b="1" dirty="0">
                <a:solidFill>
                  <a:srgbClr val="0B1F3A"/>
                </a:solidFill>
              </a:rPr>
              <a:t> de </a:t>
            </a:r>
            <a:r>
              <a:rPr lang="en-US" sz="1200" b="1" dirty="0" err="1">
                <a:solidFill>
                  <a:srgbClr val="0B1F3A"/>
                </a:solidFill>
              </a:rPr>
              <a:t>aprendizado</a:t>
            </a:r>
            <a:r>
              <a:rPr lang="en-US" sz="1200" b="1" dirty="0">
                <a:solidFill>
                  <a:srgbClr val="0B1F3A"/>
                </a:solidFill>
              </a:rPr>
              <a:t> de </a:t>
            </a:r>
            <a:r>
              <a:rPr lang="en-US" sz="1200" b="1" dirty="0" err="1">
                <a:solidFill>
                  <a:srgbClr val="0B1F3A"/>
                </a:solidFill>
              </a:rPr>
              <a:t>máquina</a:t>
            </a:r>
            <a:r>
              <a:rPr lang="en-US" sz="1200" b="1" dirty="0">
                <a:solidFill>
                  <a:srgbClr val="0B1F3A"/>
                </a:solidFill>
              </a:rPr>
              <a:t>?</a:t>
            </a:r>
            <a:endParaRPr lang="en-US" sz="1200" dirty="0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FC64D6B2-B925-B563-2563-42EA30BE63F3}"/>
              </a:ext>
            </a:extLst>
          </p:cNvPr>
          <p:cNvSpPr txBox="1"/>
          <p:nvPr/>
        </p:nvSpPr>
        <p:spPr>
          <a:xfrm>
            <a:off x="689281" y="1875949"/>
            <a:ext cx="101955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dirty="0"/>
              <a:t>O ponto importante é que </a:t>
            </a:r>
            <a:r>
              <a:rPr lang="pt-BR" b="1" dirty="0"/>
              <a:t>balanceada não significa necessariamente representativa da população</a:t>
            </a:r>
            <a:r>
              <a:rPr lang="pt-BR" dirty="0"/>
              <a:t>. No exemplo acima, a população original é 44,4% masculina e 55,6% feminina. </a:t>
            </a:r>
          </a:p>
          <a:p>
            <a:pPr>
              <a:buNone/>
            </a:pPr>
            <a:r>
              <a:rPr lang="pt-BR" dirty="0"/>
              <a:t>Portanto: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dirty="0"/>
              <a:t>a amostra 50/50 é balanceada, mas </a:t>
            </a:r>
            <a:r>
              <a:rPr lang="pt-BR" b="1" dirty="0"/>
              <a:t>não preserva a proporção da população</a:t>
            </a:r>
            <a:r>
              <a:rPr lang="pt-BR" dirty="0"/>
              <a:t>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dirty="0"/>
              <a:t>a amostra 44,4/55,6 é não balanceada, mas </a:t>
            </a:r>
            <a:r>
              <a:rPr lang="pt-BR" b="1" dirty="0"/>
              <a:t>é proporcional à população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6D3FA05C-F1EC-41DA-6993-7F0303DB3CDF}"/>
                  </a:ext>
                </a:extLst>
              </p:cNvPr>
              <p:cNvSpPr txBox="1"/>
              <p:nvPr/>
            </p:nvSpPr>
            <p:spPr>
              <a:xfrm>
                <a:off x="722376" y="3892761"/>
                <a:ext cx="10129371" cy="2310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pt-BR" dirty="0"/>
                  <a:t>Isso é especialmente importante em </a:t>
                </a:r>
                <a:r>
                  <a:rPr lang="pt-BR" b="1" dirty="0"/>
                  <a:t>Machine Learning</a:t>
                </a:r>
                <a:r>
                  <a:rPr lang="pt-BR" dirty="0"/>
                  <a:t>. Imagine um conjunto com: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pt-BR" b="1" dirty="0"/>
                  <a:t>950</a:t>
                </a:r>
                <a:r>
                  <a:rPr lang="pt-BR" dirty="0"/>
                  <a:t> imagens de </a:t>
                </a:r>
                <a:r>
                  <a:rPr lang="pt-BR" b="1" dirty="0"/>
                  <a:t>cães</a:t>
                </a:r>
                <a:r>
                  <a:rPr lang="pt-BR" dirty="0"/>
                  <a:t>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pt-BR" b="1" dirty="0"/>
                  <a:t>   50</a:t>
                </a:r>
                <a:r>
                  <a:rPr lang="pt-BR" dirty="0"/>
                  <a:t> imagens de </a:t>
                </a:r>
                <a:r>
                  <a:rPr lang="pt-BR" b="1" dirty="0"/>
                  <a:t>gatos</a:t>
                </a:r>
                <a:r>
                  <a:rPr lang="pt-BR" dirty="0"/>
                  <a:t> </a:t>
                </a:r>
              </a:p>
              <a:p>
                <a:pPr>
                  <a:lnSpc>
                    <a:spcPct val="150000"/>
                  </a:lnSpc>
                  <a:buNone/>
                </a:pPr>
                <a:r>
                  <a:rPr lang="pt-BR" dirty="0"/>
                  <a:t>O </a:t>
                </a:r>
                <a:r>
                  <a:rPr lang="pt-BR" dirty="0" err="1"/>
                  <a:t>dataset</a:t>
                </a:r>
                <a:r>
                  <a:rPr lang="pt-BR" dirty="0"/>
                  <a:t> está fortemente </a:t>
                </a:r>
                <a:r>
                  <a:rPr lang="pt-BR" b="1" dirty="0"/>
                  <a:t>desbalanceado</a:t>
                </a:r>
                <a:r>
                  <a:rPr lang="pt-BR" dirty="0"/>
                  <a:t>. Um classificador que dissesse sempre “cão” teria: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pt-BR" b="0" i="0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dirty="0" smtClean="0">
                            <a:latin typeface="Cambria Math" panose="02040503050406030204" pitchFamily="18" charset="0"/>
                          </a:rPr>
                          <m:t>950</m:t>
                        </m:r>
                      </m:num>
                      <m:den>
                        <m:r>
                          <a:rPr lang="pt-BR" b="0" i="0" dirty="0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</m:oMath>
                </a14:m>
                <a:r>
                  <a:rPr lang="pt-BR" dirty="0"/>
                  <a:t>​ = 95% </a:t>
                </a:r>
              </a:p>
              <a:p>
                <a:pPr>
                  <a:lnSpc>
                    <a:spcPct val="150000"/>
                  </a:lnSpc>
                  <a:buNone/>
                </a:pPr>
                <a:r>
                  <a:rPr lang="pt-BR" dirty="0"/>
                  <a:t>de acurácia, embora não tivesse aprendido a reconhecer gatos.</a:t>
                </a:r>
              </a:p>
            </p:txBody>
          </p:sp>
        </mc:Choice>
        <mc:Fallback xmlns="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6D3FA05C-F1EC-41DA-6993-7F0303DB3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3892761"/>
                <a:ext cx="10129371" cy="2310441"/>
              </a:xfrm>
              <a:prstGeom prst="rect">
                <a:avLst/>
              </a:prstGeom>
              <a:blipFill>
                <a:blip r:embed="rId3"/>
                <a:stretch>
                  <a:fillRect l="-542" t="-1319" b="-34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Organização e preparação de dados: O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é um DATASET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31520" y="1325880"/>
            <a:ext cx="3246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Unidade de análise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O que será observado?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Ex.: aluno, funcionário, imagem, transação.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480560" y="1325880"/>
            <a:ext cx="3246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Quais </a:t>
            </a:r>
            <a:r>
              <a:rPr lang="en-US" sz="1200" b="1" dirty="0" err="1">
                <a:solidFill>
                  <a:srgbClr val="0B1F3A"/>
                </a:solidFill>
              </a:rPr>
              <a:t>atributos</a:t>
            </a:r>
            <a:r>
              <a:rPr lang="en-US" sz="1200" b="1" dirty="0">
                <a:solidFill>
                  <a:srgbClr val="0B1F3A"/>
                </a:solidFill>
              </a:rPr>
              <a:t> </a:t>
            </a:r>
            <a:r>
              <a:rPr lang="en-US" sz="1200" b="1" dirty="0" err="1">
                <a:solidFill>
                  <a:srgbClr val="0B1F3A"/>
                </a:solidFill>
              </a:rPr>
              <a:t>definem</a:t>
            </a:r>
            <a:r>
              <a:rPr lang="en-US" sz="1200" b="1" dirty="0">
                <a:solidFill>
                  <a:srgbClr val="0B1F3A"/>
                </a:solidFill>
              </a:rPr>
              <a:t> </a:t>
            </a:r>
            <a:r>
              <a:rPr lang="en-US" sz="1200" b="1" dirty="0" err="1">
                <a:solidFill>
                  <a:srgbClr val="0B1F3A"/>
                </a:solidFill>
              </a:rPr>
              <a:t>os</a:t>
            </a:r>
            <a:r>
              <a:rPr lang="en-US" sz="1200" b="1" dirty="0">
                <a:solidFill>
                  <a:srgbClr val="0B1F3A"/>
                </a:solidFill>
              </a:rPr>
              <a:t> </a:t>
            </a:r>
            <a:r>
              <a:rPr lang="en-US" sz="1200" b="1" dirty="0" err="1">
                <a:solidFill>
                  <a:srgbClr val="0B1F3A"/>
                </a:solidFill>
              </a:rPr>
              <a:t>estrato</a:t>
            </a:r>
            <a:r>
              <a:rPr lang="en-US" sz="1200" b="1" dirty="0">
                <a:solidFill>
                  <a:srgbClr val="0B1F3A"/>
                </a:solidFill>
              </a:rPr>
              <a:t> ?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Ex.: idade, curso, renda, classe.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1325880"/>
            <a:ext cx="3246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Alvo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O que queremos explicar ou prever?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Ex.: aprovado, compra, fraude.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08192" y="2606040"/>
            <a:ext cx="0" cy="548640"/>
          </a:xfrm>
          <a:prstGeom prst="line">
            <a:avLst/>
          </a:prstGeom>
          <a:noFill/>
          <a:ln w="19050">
            <a:solidFill>
              <a:srgbClr val="F08A24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434840" y="3291840"/>
            <a:ext cx="3337560" cy="347472"/>
          </a:xfrm>
          <a:prstGeom prst="rect">
            <a:avLst/>
          </a:prstGeom>
          <a:solidFill>
            <a:srgbClr val="F08A24"/>
          </a:solidFill>
          <a:ln>
            <a:solidFill>
              <a:srgbClr val="F08A2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Preparar antes de modelar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479996" y="4322259"/>
            <a:ext cx="7018648" cy="7372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/>
        </p:spPr>
        <p:txBody>
          <a:bodyPr wrap="square" lIns="508" tIns="508" rIns="508" bIns="508" rtlCol="0" anchor="ctr">
            <a:normAutofit fontScale="70000" lnSpcReduction="20000"/>
          </a:bodyPr>
          <a:lstStyle/>
          <a:p>
            <a:pPr algn="just"/>
            <a:r>
              <a:rPr lang="pt-BR" dirty="0"/>
              <a:t>Um </a:t>
            </a:r>
            <a:r>
              <a:rPr lang="pt-BR" b="1" dirty="0"/>
              <a:t>DATASET</a:t>
            </a:r>
            <a:r>
              <a:rPr lang="pt-BR" sz="2000" dirty="0"/>
              <a:t> (ou conjunto de dados) é uma </a:t>
            </a:r>
            <a:r>
              <a:rPr lang="pt-BR" sz="2000" b="1" dirty="0"/>
              <a:t>coleção estruturada de informações organizadas para análise, pesquisa ou uso em inteligência artificial</a:t>
            </a:r>
            <a:r>
              <a:rPr lang="pt-BR" sz="2000" dirty="0"/>
              <a:t>. </a:t>
            </a:r>
          </a:p>
          <a:p>
            <a:pPr algn="just"/>
            <a:r>
              <a:rPr lang="pt-BR" sz="2000" dirty="0"/>
              <a:t>Ele funciona como uma tabela ou planilha grande, onde as linhas representam os registros individuais e as colunas descrevem as características ou atributos desses registros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17320" y="5212080"/>
            <a:ext cx="91440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FF0000"/>
                </a:solidFill>
              </a:rPr>
              <a:t>Um DATASET mal selecionada pode produzir </a:t>
            </a:r>
            <a:r>
              <a:rPr lang="en-US" sz="1400" dirty="0" err="1">
                <a:solidFill>
                  <a:srgbClr val="FF0000"/>
                </a:solidFill>
              </a:rPr>
              <a:t>conclusões</a:t>
            </a:r>
            <a:r>
              <a:rPr lang="en-US" sz="1400" dirty="0">
                <a:solidFill>
                  <a:srgbClr val="FF0000"/>
                </a:solidFill>
              </a:rPr>
              <a:t> ENVIESADAS (</a:t>
            </a:r>
            <a:r>
              <a:rPr lang="en-US" sz="1400" dirty="0" err="1">
                <a:solidFill>
                  <a:srgbClr val="FF0000"/>
                </a:solidFill>
              </a:rPr>
              <a:t>viciadas</a:t>
            </a:r>
            <a:r>
              <a:rPr lang="en-US" sz="1400" dirty="0">
                <a:solidFill>
                  <a:srgbClr val="FF0000"/>
                </a:solidFill>
              </a:rPr>
              <a:t>), mesmo usando bons algoritmos.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A4912A5F-5F16-0BA4-6DD1-BDB71F09BB2B}"/>
              </a:ext>
            </a:extLst>
          </p:cNvPr>
          <p:cNvSpPr/>
          <p:nvPr/>
        </p:nvSpPr>
        <p:spPr>
          <a:xfrm>
            <a:off x="6096000" y="3706396"/>
            <a:ext cx="0" cy="548640"/>
          </a:xfrm>
          <a:prstGeom prst="line">
            <a:avLst/>
          </a:prstGeom>
          <a:noFill/>
          <a:ln w="19050">
            <a:solidFill>
              <a:srgbClr val="F08A2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Exemplo 1 — Alunos de uma universidade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9601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667085"/>
                </a:solidFill>
              </a:rPr>
              <a:t>População: 10.000 alunos  •  Amostra desejada: 1.000 alunos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1600200"/>
            <a:ext cx="2208276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Estrato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39796" y="1600200"/>
            <a:ext cx="1577340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População no estrato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17136" y="1600200"/>
            <a:ext cx="1135685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Proporção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52821" y="1600200"/>
            <a:ext cx="1388059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Amostra proporcional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1984248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Engenharia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39796" y="1984248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3.000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17136" y="1984248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52821" y="1984248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2368296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Administração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939796" y="2368296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2.500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17136" y="2368296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52821" y="2368296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2752344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Direito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39796" y="2752344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2.000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17136" y="2752344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20%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52821" y="2752344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3136392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Saúde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39796" y="3136392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1.500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17136" y="3136392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52821" y="3136392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" y="3520440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Outros cursos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939796" y="3520440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1.000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17136" y="3520440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52821" y="3520440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100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" y="3904488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B1F3A"/>
                </a:solidFill>
              </a:rPr>
              <a:t>Total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939796" y="3904488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10.000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17136" y="3904488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100%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52821" y="3904488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1.000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0" y="1645920"/>
            <a:ext cx="1005840" cy="320040"/>
          </a:xfrm>
          <a:prstGeom prst="rect">
            <a:avLst/>
          </a:prstGeom>
          <a:solidFill>
            <a:srgbClr val="F08A24"/>
          </a:solidFill>
          <a:ln>
            <a:solidFill>
              <a:srgbClr val="F08A2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Cálculo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498080" y="2240280"/>
            <a:ext cx="310896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08A24"/>
                </a:solidFill>
              </a:rPr>
              <a:t>nₕ = n · Nₕ / N</a:t>
            </a:r>
            <a:endParaRPr lang="en-US" sz="2300" dirty="0"/>
          </a:p>
        </p:txBody>
      </p:sp>
      <p:sp>
        <p:nvSpPr>
          <p:cNvPr id="39" name="Text 37"/>
          <p:cNvSpPr/>
          <p:nvPr/>
        </p:nvSpPr>
        <p:spPr>
          <a:xfrm>
            <a:off x="7635240" y="3063240"/>
            <a:ext cx="31546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Engenharia: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1.000 × 3.000 / 10.000 = 300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635240" y="4160520"/>
            <a:ext cx="3154680" cy="530352"/>
          </a:xfrm>
          <a:prstGeom prst="rect">
            <a:avLst/>
          </a:prstGeom>
          <a:solidFill>
            <a:srgbClr val="EAF2FF"/>
          </a:solidFill>
          <a:ln w="12700">
            <a:solidFill>
              <a:srgbClr val="2F69BF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amostra mantém a composição da universidade.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Exemplo 2 — Funcionários de uma empresa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9601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667085"/>
                </a:solidFill>
              </a:rPr>
              <a:t>População: 2.000 funcionários  •  Amostra desejada: 200 funcionários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1600200"/>
            <a:ext cx="2208276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Estrato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39796" y="1600200"/>
            <a:ext cx="1388059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População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27855" y="1600200"/>
            <a:ext cx="1135685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Proporção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63540" y="1600200"/>
            <a:ext cx="1577340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Amostra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1984248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Produção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39796" y="1984248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900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27855" y="1984248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45%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63540" y="1984248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90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2368296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Administrativo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939796" y="2368296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400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27855" y="2368296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20%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63540" y="2368296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40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2752344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Comercial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39796" y="2752344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27855" y="2752344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63540" y="2752344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3136392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Tecnologia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39796" y="3136392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27855" y="3136392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12,5%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63540" y="3136392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" y="3520440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Diretoria/Gestão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939796" y="3520440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27855" y="3520440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7,5%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63540" y="3520440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" y="3904488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B1F3A"/>
                </a:solidFill>
              </a:rPr>
              <a:t>Total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939796" y="3904488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2.000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327855" y="3904488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100%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63540" y="3904488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200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35240" y="1645920"/>
            <a:ext cx="868680" cy="320040"/>
          </a:xfrm>
          <a:prstGeom prst="rect">
            <a:avLst/>
          </a:prstGeom>
          <a:solidFill>
            <a:srgbClr val="2E9D62"/>
          </a:solidFill>
          <a:ln>
            <a:solidFill>
              <a:srgbClr val="2E9D62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Leitura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543800" y="2148840"/>
            <a:ext cx="1481328" cy="347472"/>
          </a:xfrm>
          <a:prstGeom prst="rect">
            <a:avLst/>
          </a:prstGeom>
          <a:solidFill>
            <a:srgbClr val="2F69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43800" y="2569464"/>
            <a:ext cx="1481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0B1F3A"/>
                </a:solidFill>
              </a:rPr>
              <a:t>Produção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9025128" y="2148840"/>
            <a:ext cx="658368" cy="347472"/>
          </a:xfrm>
          <a:prstGeom prst="rect">
            <a:avLst/>
          </a:prstGeom>
          <a:solidFill>
            <a:srgbClr val="2E9D6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25128" y="2569464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0B1F3A"/>
                </a:solidFill>
              </a:rPr>
              <a:t>Adm.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9683496" y="2148840"/>
            <a:ext cx="493776" cy="347472"/>
          </a:xfrm>
          <a:prstGeom prst="rect">
            <a:avLst/>
          </a:prstGeom>
          <a:solidFill>
            <a:srgbClr val="F08A2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83496" y="2569464"/>
            <a:ext cx="4937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0B1F3A"/>
                </a:solidFill>
              </a:rPr>
              <a:t>Com.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10177272" y="2148840"/>
            <a:ext cx="411480" cy="347472"/>
          </a:xfrm>
          <a:prstGeom prst="rect">
            <a:avLst/>
          </a:prstGeom>
          <a:solidFill>
            <a:srgbClr val="6554C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588752" y="2148840"/>
            <a:ext cx="246888" cy="347472"/>
          </a:xfrm>
          <a:prstGeom prst="rect">
            <a:avLst/>
          </a:prstGeom>
          <a:solidFill>
            <a:srgbClr val="36A2A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43800" y="3063240"/>
            <a:ext cx="3429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Produção representa 45% da empresa, então recebe 45% da amostra: 90 pessoas.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543800" y="4069080"/>
            <a:ext cx="3429000" cy="685800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amostra proporcional não iguala os setores: ela preserva as diferenças da população.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816F3F-2762-4A5C-3DF0-CF54BB73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A6423D5-AAB8-19D2-9B0F-484C2BFB8911}"/>
              </a:ext>
            </a:extLst>
          </p:cNvPr>
          <p:cNvSpPr/>
          <p:nvPr/>
        </p:nvSpPr>
        <p:spPr>
          <a:xfrm>
            <a:off x="1787526" y="2701884"/>
            <a:ext cx="7843035" cy="1216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</a:t>
            </a:r>
            <a:endParaRPr lang="en-US" sz="7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34B5DBE-7636-C081-1906-89CDC4FDF501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18B9AD0-CC51-FBAA-35C4-6260C7A3F3B1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37277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BF71F8-FCAC-A20A-2FBE-BB90A4FB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A9A1ED7-E2D8-5566-1B5A-4A5B38FA761B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28AE72-E217-E4B1-79D4-D1D99F6174EC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BD1AB1F-39F3-9FA8-0679-D6B40690C6E8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0E8EE76-0FB1-2360-5A65-E68C78668CE6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39EB3FD-82C9-207F-C744-495DF141251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DCC407E-36E5-F008-B556-E18FA6D3268D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3DB3294-5D8E-3AC0-62F3-2697FB3663CE}"/>
              </a:ext>
            </a:extLst>
          </p:cNvPr>
          <p:cNvSpPr/>
          <p:nvPr/>
        </p:nvSpPr>
        <p:spPr>
          <a:xfrm>
            <a:off x="475488" y="1012330"/>
            <a:ext cx="9875520" cy="1618488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dirty="0"/>
              <a:t>Na </a:t>
            </a:r>
            <a:r>
              <a:rPr lang="pt-BR" b="1" dirty="0"/>
              <a:t>Regressão Linear</a:t>
            </a:r>
            <a:r>
              <a:rPr lang="pt-BR" dirty="0"/>
              <a:t> utilizamos o algoritmo de machine learning para descobrir um </a:t>
            </a:r>
            <a:r>
              <a:rPr lang="pt-BR" b="1" dirty="0"/>
              <a:t>valor numérico</a:t>
            </a:r>
            <a:r>
              <a:rPr lang="pt-BR" dirty="0"/>
              <a:t> contínuo. Chamado valor </a:t>
            </a: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QUANTITATIVO</a:t>
            </a:r>
            <a:r>
              <a:rPr lang="pt-BR" dirty="0"/>
              <a:t>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pt-BR" dirty="0"/>
              <a:t>Na </a:t>
            </a:r>
            <a:r>
              <a:rPr lang="pt-BR" b="1" dirty="0"/>
              <a:t>Regressão Logística</a:t>
            </a:r>
            <a:r>
              <a:rPr lang="pt-BR" dirty="0"/>
              <a:t> utilizamos o algoritmo de machine learning para descobrir um </a:t>
            </a:r>
            <a:r>
              <a:rPr lang="pt-BR" b="1" dirty="0"/>
              <a:t>valor de </a:t>
            </a:r>
            <a:r>
              <a:rPr lang="pt-BR" b="1" dirty="0" err="1"/>
              <a:t>classificação</a:t>
            </a:r>
            <a:r>
              <a:rPr lang="pt-BR" dirty="0" err="1"/>
              <a:t>.Chamado</a:t>
            </a:r>
            <a:r>
              <a:rPr lang="pt-BR" dirty="0"/>
              <a:t> valor </a:t>
            </a: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QUALITATIVO</a:t>
            </a:r>
            <a:r>
              <a:rPr lang="pt-BR" dirty="0"/>
              <a:t>.</a:t>
            </a:r>
          </a:p>
        </p:txBody>
      </p:sp>
      <p:graphicFrame>
        <p:nvGraphicFramePr>
          <p:cNvPr id="34" name="Tabela 33">
            <a:extLst>
              <a:ext uri="{FF2B5EF4-FFF2-40B4-BE49-F238E27FC236}">
                <a16:creationId xmlns:a16="http://schemas.microsoft.com/office/drawing/2014/main" id="{D1461C7E-3899-765A-AB65-3E0A626AD2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592590"/>
              </p:ext>
            </p:extLst>
          </p:nvPr>
        </p:nvGraphicFramePr>
        <p:xfrm>
          <a:off x="515113" y="2707520"/>
          <a:ext cx="9835896" cy="3368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9661">
                  <a:extLst>
                    <a:ext uri="{9D8B030D-6E8A-4147-A177-3AD203B41FA5}">
                      <a16:colId xmlns:a16="http://schemas.microsoft.com/office/drawing/2014/main" val="4024873213"/>
                    </a:ext>
                  </a:extLst>
                </a:gridCol>
                <a:gridCol w="3809805">
                  <a:extLst>
                    <a:ext uri="{9D8B030D-6E8A-4147-A177-3AD203B41FA5}">
                      <a16:colId xmlns:a16="http://schemas.microsoft.com/office/drawing/2014/main" val="1916961231"/>
                    </a:ext>
                  </a:extLst>
                </a:gridCol>
                <a:gridCol w="4356430">
                  <a:extLst>
                    <a:ext uri="{9D8B030D-6E8A-4147-A177-3AD203B41FA5}">
                      <a16:colId xmlns:a16="http://schemas.microsoft.com/office/drawing/2014/main" val="3896147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Contexto / Área</a:t>
                      </a:r>
                    </a:p>
                  </a:txBody>
                  <a:tcPr marL="152400" marR="152400" marT="114300" marB="11430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Valores Qualitativos (Características / Categorias)</a:t>
                      </a:r>
                    </a:p>
                  </a:txBody>
                  <a:tcPr marL="152400" marR="152400" marT="114300" marB="11430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Valores Quantitativos (Medidas / Números)</a:t>
                      </a:r>
                    </a:p>
                  </a:txBody>
                  <a:tcPr marL="152400" marR="152400" marT="114300" marB="11430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065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Perfil Pessoal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Estado civil: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Solteiro, Casado, </a:t>
                      </a:r>
                      <a:r>
                        <a:rPr lang="pt-BR" sz="1200" b="1" i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Viuvo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Cor dos olhos: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Negros, castanhos, verdes, azuis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Sexo: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Masculino, Feminino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Idade: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25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anos);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Altura: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1,75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m);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Número de filhos: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2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0339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Avaliação de Produtos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Nível de satisfação: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Ruim, Bom, Excelente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Marca: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Chevrolet, </a:t>
                      </a:r>
                      <a:r>
                        <a:rPr lang="pt-BR" sz="1200" b="1" i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VolksWagen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, Toyota, BYD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Cor: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amarelo, verde, roxo, marrom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Nota de avaliação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4.5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de 5);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Preço (R$ 99,90); - Peso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500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g);</a:t>
                      </a:r>
                    </a:p>
                  </a:txBody>
                  <a:tcPr marL="152400" marR="152400" marT="95250" marB="95250" anchor="ctr">
                    <a:solidFill>
                      <a:srgbClr val="64D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3855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Saúde e Medicina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Tipo sanguíneo: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O+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Diagnóstico: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Hipertensão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Sintomas: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Coceira, Dor de barriga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Pressão arterial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120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/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80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mmHg);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Batimentos cardíacos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75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 bpm);</a:t>
                      </a:r>
                    </a:p>
                  </a:txBody>
                  <a:tcPr marL="152400" marR="152400" marT="95250" marB="95250"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9398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Educação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Conceito escolar: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Aprovado, Reprovado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Matéria favorita: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ciências, matemática, português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</a:t>
                      </a:r>
                    </a:p>
                  </a:txBody>
                  <a:tcPr marL="152400" marR="152400" marT="95250" marB="9525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Nota da prova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8,5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Faltas no ano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3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); </a:t>
                      </a:r>
                    </a:p>
                    <a:p>
                      <a:pPr marL="171450" marR="0" indent="-171450" algn="l">
                        <a:buFontTx/>
                        <a:buChar char="-"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Tempo de estudo (</a:t>
                      </a:r>
                      <a:r>
                        <a:rPr lang="pt-BR" sz="1200" b="1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Inter"/>
                        </a:rPr>
                        <a:t>2</a:t>
                      </a: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h);</a:t>
                      </a:r>
                    </a:p>
                  </a:txBody>
                  <a:tcPr marL="152400" marR="152400" marT="95250" marB="95250" anchor="ctr">
                    <a:solidFill>
                      <a:srgbClr val="64D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8666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79757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probabilidade e limiar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 37"/>
              <p:cNvSpPr/>
              <p:nvPr/>
            </p:nvSpPr>
            <p:spPr>
              <a:xfrm>
                <a:off x="722376" y="1078990"/>
                <a:ext cx="10954512" cy="2350009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9DEE7"/>
                </a:solidFill>
              </a:ln>
            </p:spPr>
            <p:txBody>
              <a:bodyPr wrap="square" lIns="1143" tIns="1143" rIns="1143" bIns="1143" rtlCol="0" anchor="ctr"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dirty="0"/>
                  <a:t>A regressão logística é uma regressão linear onde aplicamos uma função do tipo </a:t>
                </a:r>
                <a:r>
                  <a:rPr lang="pt-BR" b="1" dirty="0"/>
                  <a:t>sigmoide</a:t>
                </a:r>
                <a:r>
                  <a:rPr lang="pt-BR" dirty="0"/>
                  <a:t> chamada </a:t>
                </a:r>
                <a:r>
                  <a:rPr lang="pt-BR" b="1" dirty="0"/>
                  <a:t>função logística</a:t>
                </a:r>
                <a:r>
                  <a:rPr lang="pt-BR" dirty="0"/>
                  <a:t>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dirty="0"/>
                  <a:t>Quando estudamos Regressão Linear, calculamos a equação da reta para aproximar a reta que o modelo desenhava a todos os pontos formados entre entrada “x” e saída “y”. O modelo tinha o formato da equação de reta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1" i="1" smtClean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pt-BR" dirty="0"/>
                  <a:t> ;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dirty="0"/>
                  <a:t>A missão era descobrir o valor de “w” e “b”. </a:t>
                </a:r>
              </a:p>
            </p:txBody>
          </p:sp>
        </mc:Choice>
        <mc:Fallback xmlns="">
          <p:sp>
            <p:nvSpPr>
              <p:cNvPr id="39" name="Text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1078990"/>
                <a:ext cx="10954512" cy="2350009"/>
              </a:xfrm>
              <a:prstGeom prst="rect">
                <a:avLst/>
              </a:prstGeom>
              <a:blipFill>
                <a:blip r:embed="rId3"/>
                <a:stretch>
                  <a:fillRect l="-1278" b="-4393"/>
                </a:stretch>
              </a:blipFill>
              <a:ln w="12700">
                <a:solidFill>
                  <a:srgbClr val="D9DEE7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 38"/>
          <p:cNvSpPr/>
          <p:nvPr/>
        </p:nvSpPr>
        <p:spPr>
          <a:xfrm>
            <a:off x="722376" y="3807975"/>
            <a:ext cx="3840480" cy="1024128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algn="ctr"/>
            <a:r>
              <a:rPr lang="pt-BR" sz="4000" b="1" i="1" dirty="0"/>
              <a:t>Y  </a:t>
            </a:r>
            <a:r>
              <a:rPr lang="pt-BR" sz="4000" b="1" dirty="0"/>
              <a:t>=  </a:t>
            </a:r>
            <a:r>
              <a:rPr lang="pt-BR" sz="4000" b="1" i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sz="4000" b="1" dirty="0"/>
              <a:t>(</a:t>
            </a:r>
            <a:r>
              <a:rPr lang="pt-BR" sz="4000" b="1" i="1" dirty="0"/>
              <a:t>X</a:t>
            </a:r>
            <a:r>
              <a:rPr lang="pt-BR" sz="4000" b="1" dirty="0"/>
              <a:t>)  +  </a:t>
            </a:r>
            <a:r>
              <a:rPr lang="pt-BR" sz="4000" b="1" i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sz="4000" b="1" dirty="0"/>
              <a:t>;</a:t>
            </a:r>
            <a:endParaRPr lang="en-US" sz="4000" b="1" dirty="0"/>
          </a:p>
        </p:txBody>
      </p:sp>
      <p:pic>
        <p:nvPicPr>
          <p:cNvPr id="42" name="Imagem 41">
            <a:extLst>
              <a:ext uri="{FF2B5EF4-FFF2-40B4-BE49-F238E27FC236}">
                <a16:creationId xmlns:a16="http://schemas.microsoft.com/office/drawing/2014/main" id="{40643323-9D9D-B52F-0456-38F0A77E2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9288" y="3593087"/>
            <a:ext cx="5474404" cy="2414019"/>
          </a:xfrm>
          <a:prstGeom prst="rect">
            <a:avLst/>
          </a:prstGeom>
        </p:spPr>
      </p:pic>
      <p:sp>
        <p:nvSpPr>
          <p:cNvPr id="43" name="Seta: para a Direita 42">
            <a:extLst>
              <a:ext uri="{FF2B5EF4-FFF2-40B4-BE49-F238E27FC236}">
                <a16:creationId xmlns:a16="http://schemas.microsoft.com/office/drawing/2014/main" id="{D52EF24F-ADB2-3E90-8778-48ADD4E08BF5}"/>
              </a:ext>
            </a:extLst>
          </p:cNvPr>
          <p:cNvSpPr/>
          <p:nvPr/>
        </p:nvSpPr>
        <p:spPr>
          <a:xfrm>
            <a:off x="4756558" y="4102218"/>
            <a:ext cx="553673" cy="42783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C3A368-3013-17B8-369D-C693456FC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33CB03B-9303-6793-E2B4-4AB1C03ED359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A4CE411-03DF-0575-E222-D190FAA84242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CF408B0-77A8-0952-532D-A0D73CBAEB8A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probabilidade e limiar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95EB4B8-52A7-4316-9873-3D645395431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A706BF9-676F-3074-E4D8-F98EE78308CA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57EFB06-76D1-3556-0A70-7813CEE8847C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A1BEAEE-76F0-F7D4-DBB5-B4693ED170C8}"/>
              </a:ext>
            </a:extLst>
          </p:cNvPr>
          <p:cNvSpPr/>
          <p:nvPr/>
        </p:nvSpPr>
        <p:spPr>
          <a:xfrm>
            <a:off x="722376" y="1078991"/>
            <a:ext cx="10171316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pt-BR" dirty="0"/>
              <a:t>Vamos agora buscar uma função </a:t>
            </a:r>
            <a:r>
              <a:rPr lang="pt-BR" b="1" dirty="0"/>
              <a:t>que desenhe</a:t>
            </a:r>
            <a:r>
              <a:rPr lang="pt-BR" dirty="0"/>
              <a:t> um </a:t>
            </a:r>
            <a:r>
              <a:rPr lang="pt-BR" sz="4400" dirty="0"/>
              <a:t>“S”. </a:t>
            </a:r>
            <a:r>
              <a:rPr lang="pt-BR" dirty="0"/>
              <a:t>O desafio continua sendo descobrir os valores de “w” e “b”. 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8C041F4A-032B-9141-9BF9-C2FBA2F4E159}"/>
              </a:ext>
            </a:extLst>
          </p:cNvPr>
          <p:cNvSpPr/>
          <p:nvPr/>
        </p:nvSpPr>
        <p:spPr>
          <a:xfrm>
            <a:off x="5338250" y="2615183"/>
            <a:ext cx="3840480" cy="1024128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algn="ctr"/>
            <a:r>
              <a:rPr lang="pt-BR" sz="4000" b="1" i="1" dirty="0"/>
              <a:t>Z  </a:t>
            </a:r>
            <a:r>
              <a:rPr lang="pt-BR" sz="4000" b="1" dirty="0"/>
              <a:t>=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sz="4000" b="1" dirty="0"/>
              <a:t>(</a:t>
            </a:r>
            <a:r>
              <a:rPr lang="pt-BR" sz="4000" b="1" i="1" dirty="0"/>
              <a:t>X</a:t>
            </a:r>
            <a:r>
              <a:rPr lang="pt-BR" sz="4000" b="1" dirty="0"/>
              <a:t>)  +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sz="4000" b="1" dirty="0"/>
              <a:t>;</a:t>
            </a:r>
            <a:endParaRPr lang="en-US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7372155E-DD0B-A98E-6F94-FE7924E42273}"/>
                  </a:ext>
                </a:extLst>
              </p:cNvPr>
              <p:cNvSpPr txBox="1"/>
              <p:nvPr/>
            </p:nvSpPr>
            <p:spPr>
              <a:xfrm>
                <a:off x="722376" y="2381081"/>
                <a:ext cx="4026715" cy="1492332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480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4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7372155E-DD0B-A98E-6F94-FE7924E4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2381081"/>
                <a:ext cx="4026715" cy="1492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eta: para a Esquerda 8">
            <a:extLst>
              <a:ext uri="{FF2B5EF4-FFF2-40B4-BE49-F238E27FC236}">
                <a16:creationId xmlns:a16="http://schemas.microsoft.com/office/drawing/2014/main" id="{63487EA3-9052-5DA0-E171-F5770E803020}"/>
              </a:ext>
            </a:extLst>
          </p:cNvPr>
          <p:cNvSpPr/>
          <p:nvPr/>
        </p:nvSpPr>
        <p:spPr>
          <a:xfrm rot="20708814">
            <a:off x="4410347" y="2985543"/>
            <a:ext cx="1220338" cy="50580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39702197-EBC3-F84E-74A6-CF3993746A2B}"/>
                  </a:ext>
                </a:extLst>
              </p:cNvPr>
              <p:cNvSpPr txBox="1"/>
              <p:nvPr/>
            </p:nvSpPr>
            <p:spPr>
              <a:xfrm>
                <a:off x="722376" y="4641032"/>
                <a:ext cx="5594534" cy="1506118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( </m:t>
                              </m:r>
                              <m:r>
                                <a:rPr lang="pt-BR" sz="4800" b="1" i="1" smtClean="0">
                                  <a:ln w="0"/>
                                  <a:solidFill>
                                    <a:srgbClr val="F43110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sz="4800" b="0" i="1" smtClean="0">
                                  <a:ln w="0"/>
                                  <a:solidFill>
                                    <a:schemeClr val="tx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) + </m:t>
                              </m:r>
                              <m:r>
                                <m:rPr>
                                  <m:sty m:val="p"/>
                                </m:rPr>
                                <a:rPr lang="pt-BR" sz="4800" b="0" i="1" smtClean="0">
                                  <a:ln w="0"/>
                                  <a:solidFill>
                                    <a:srgbClr val="C00000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pt-BR" sz="4800" b="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 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48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39702197-EBC3-F84E-74A6-CF3993746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4641032"/>
                <a:ext cx="5594534" cy="15061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eta: para Baixo 11">
            <a:extLst>
              <a:ext uri="{FF2B5EF4-FFF2-40B4-BE49-F238E27FC236}">
                <a16:creationId xmlns:a16="http://schemas.microsoft.com/office/drawing/2014/main" id="{881DBFFE-5052-9424-94AA-9E99C183B402}"/>
              </a:ext>
            </a:extLst>
          </p:cNvPr>
          <p:cNvSpPr/>
          <p:nvPr/>
        </p:nvSpPr>
        <p:spPr>
          <a:xfrm>
            <a:off x="2659311" y="4025442"/>
            <a:ext cx="645952" cy="46356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695AE91C-06E2-F0CF-CCC3-88C39345C431}"/>
              </a:ext>
            </a:extLst>
          </p:cNvPr>
          <p:cNvSpPr/>
          <p:nvPr/>
        </p:nvSpPr>
        <p:spPr>
          <a:xfrm>
            <a:off x="6686026" y="5157216"/>
            <a:ext cx="696286" cy="5264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1DFAA3B7-C988-F175-7A95-D9024E6846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4858" y="3988797"/>
            <a:ext cx="3730213" cy="233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1123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F03A29-3187-A341-D953-2913B720A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16ADB34-8DFE-28A9-2CCF-5AC174FDC208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60AAF5-3F68-2270-FBDE-76B7294BB073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C31835-0C84-863C-3300-36DC9760C6AB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probabilidade e limiar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FE8057D-6A50-C8C6-15D6-AA81B6B3D65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75FDA90-85D8-12DE-5C77-9601FE581BC9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687874F-9A2F-3ED8-6BDA-29D12B4BEB96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983530E-B93F-EAB4-9705-5A45EDA5BA63}"/>
              </a:ext>
            </a:extLst>
          </p:cNvPr>
          <p:cNvSpPr/>
          <p:nvPr/>
        </p:nvSpPr>
        <p:spPr>
          <a:xfrm>
            <a:off x="722376" y="1078990"/>
            <a:ext cx="10171316" cy="119809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pt-BR" dirty="0"/>
              <a:t>Vamos </a:t>
            </a:r>
            <a:r>
              <a:rPr lang="pt-BR" b="1" dirty="0"/>
              <a:t>inserir</a:t>
            </a:r>
            <a:r>
              <a:rPr lang="pt-BR" dirty="0"/>
              <a:t> a </a:t>
            </a:r>
            <a:r>
              <a:rPr lang="pt-BR" b="1" dirty="0"/>
              <a:t>formula da reta</a:t>
            </a:r>
            <a:r>
              <a:rPr lang="pt-BR" dirty="0"/>
              <a:t> dentro de uma função </a:t>
            </a:r>
            <a:r>
              <a:rPr lang="pt-BR" b="1" dirty="0"/>
              <a:t>que transforme a reta </a:t>
            </a:r>
            <a:r>
              <a:rPr lang="pt-BR" dirty="0"/>
              <a:t>em um </a:t>
            </a:r>
            <a:r>
              <a:rPr lang="pt-BR" sz="4400" dirty="0"/>
              <a:t>“S”.</a:t>
            </a:r>
          </a:p>
          <a:p>
            <a:pPr>
              <a:lnSpc>
                <a:spcPct val="120000"/>
              </a:lnSpc>
            </a:pPr>
            <a:r>
              <a:rPr lang="pt-BR" dirty="0"/>
              <a:t>Devemos ainda garantir que: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Os valores no eixo “x” variam de </a:t>
            </a:r>
            <a:r>
              <a:rPr lang="pt-BR" sz="1200" b="1" dirty="0" err="1"/>
              <a:t>ifinito</a:t>
            </a:r>
            <a:r>
              <a:rPr lang="pt-BR" sz="1200" b="1" dirty="0"/>
              <a:t> negativo </a:t>
            </a:r>
            <a:r>
              <a:rPr lang="pt-BR" sz="1200" dirty="0"/>
              <a:t>a </a:t>
            </a:r>
            <a:r>
              <a:rPr lang="pt-BR" sz="1200" b="1" dirty="0" err="1"/>
              <a:t>ifinito</a:t>
            </a:r>
            <a:r>
              <a:rPr lang="pt-BR" sz="1200" b="1" dirty="0"/>
              <a:t> positivo</a:t>
            </a:r>
            <a:r>
              <a:rPr lang="pt-BR" sz="1200" dirty="0"/>
              <a:t>;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Os valores no eixo “y” variam de “</a:t>
            </a:r>
            <a:r>
              <a:rPr lang="pt-BR" sz="1200" b="1" dirty="0"/>
              <a:t>0</a:t>
            </a:r>
            <a:r>
              <a:rPr lang="pt-BR" sz="1200" dirty="0"/>
              <a:t>” a “</a:t>
            </a:r>
            <a:r>
              <a:rPr lang="pt-BR" sz="1200" b="1" dirty="0"/>
              <a:t>1</a:t>
            </a:r>
            <a:r>
              <a:rPr lang="pt-BR" sz="1200" dirty="0"/>
              <a:t>”;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EE2FB3D-6CDB-6DF8-F911-39C2715FF291}"/>
              </a:ext>
            </a:extLst>
          </p:cNvPr>
          <p:cNvSpPr/>
          <p:nvPr/>
        </p:nvSpPr>
        <p:spPr>
          <a:xfrm>
            <a:off x="722376" y="2788919"/>
            <a:ext cx="3840480" cy="1024128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algn="ctr"/>
            <a:r>
              <a:rPr lang="pt-BR" sz="4000" b="1" i="1" dirty="0">
                <a:solidFill>
                  <a:srgbClr val="4472C4"/>
                </a:solidFill>
              </a:rPr>
              <a:t>Z</a:t>
            </a:r>
            <a:r>
              <a:rPr lang="pt-BR" sz="4000" b="1" i="1" dirty="0"/>
              <a:t>  </a:t>
            </a:r>
            <a:r>
              <a:rPr lang="pt-BR" sz="4000" b="1" dirty="0"/>
              <a:t>=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sz="4000" b="1" dirty="0"/>
              <a:t>(</a:t>
            </a:r>
            <a:r>
              <a:rPr lang="pt-BR" sz="4000" b="1" i="1" dirty="0"/>
              <a:t>X</a:t>
            </a:r>
            <a:r>
              <a:rPr lang="pt-BR" sz="4000" b="1" dirty="0"/>
              <a:t>)  +  </a:t>
            </a:r>
            <a:r>
              <a:rPr lang="pt-BR" sz="4000" b="1" i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sz="4000" b="1" dirty="0"/>
              <a:t>;</a:t>
            </a:r>
            <a:endParaRPr lang="en-US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2C630989-BB52-B210-D700-5A1A774E4D78}"/>
                  </a:ext>
                </a:extLst>
              </p:cNvPr>
              <p:cNvSpPr txBox="1"/>
              <p:nvPr/>
            </p:nvSpPr>
            <p:spPr>
              <a:xfrm>
                <a:off x="722376" y="4580911"/>
                <a:ext cx="4026715" cy="1492332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4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4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4800" i="1" smtClean="0">
                                  <a:ln w="0"/>
                                  <a:solidFill>
                                    <a:schemeClr val="accent1"/>
                                  </a:solidFill>
                                  <a:effectLst>
                                    <a:outerShdw blurRad="38100" dist="25400" dir="5400000" algn="ctr" rotWithShape="0">
                                      <a:srgbClr val="6E747A">
                                        <a:alpha val="43000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4800" dirty="0"/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2C630989-BB52-B210-D700-5A1A774E4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4580911"/>
                <a:ext cx="4026715" cy="1492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Imagem 16">
            <a:extLst>
              <a:ext uri="{FF2B5EF4-FFF2-40B4-BE49-F238E27FC236}">
                <a16:creationId xmlns:a16="http://schemas.microsoft.com/office/drawing/2014/main" id="{CD958404-6E3F-8BF4-E0AC-0914FABA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580911"/>
            <a:ext cx="2453874" cy="1534793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956DFB35-FAF8-62A9-F484-ED5024A91E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594155"/>
            <a:ext cx="2376881" cy="1834382"/>
          </a:xfrm>
          <a:prstGeom prst="rect">
            <a:avLst/>
          </a:prstGeom>
        </p:spPr>
      </p:pic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1F944FA7-9D12-7711-DA32-E38463101EBA}"/>
              </a:ext>
            </a:extLst>
          </p:cNvPr>
          <p:cNvSpPr/>
          <p:nvPr/>
        </p:nvSpPr>
        <p:spPr>
          <a:xfrm>
            <a:off x="4865615" y="3103927"/>
            <a:ext cx="1065402" cy="3250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55CDE57E-68EF-F43A-39CB-1EFD2A850A91}"/>
              </a:ext>
            </a:extLst>
          </p:cNvPr>
          <p:cNvSpPr/>
          <p:nvPr/>
        </p:nvSpPr>
        <p:spPr>
          <a:xfrm>
            <a:off x="4941116" y="5201174"/>
            <a:ext cx="989901" cy="3250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D5ADB98-5A0E-2A9A-6DA0-46BD4425FE30}"/>
              </a:ext>
            </a:extLst>
          </p:cNvPr>
          <p:cNvSpPr txBox="1"/>
          <p:nvPr/>
        </p:nvSpPr>
        <p:spPr>
          <a:xfrm>
            <a:off x="8967831" y="3157403"/>
            <a:ext cx="2838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/>
              <a:t>Forma RETA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F7FBDD4-7785-A45B-35E7-228D9BBB1B4B}"/>
              </a:ext>
            </a:extLst>
          </p:cNvPr>
          <p:cNvSpPr txBox="1"/>
          <p:nvPr/>
        </p:nvSpPr>
        <p:spPr>
          <a:xfrm>
            <a:off x="8967831" y="4973134"/>
            <a:ext cx="30584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Forma Sigmoide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418A0D4-9BAD-C785-7600-8310548712CC}"/>
              </a:ext>
            </a:extLst>
          </p:cNvPr>
          <p:cNvSpPr txBox="1"/>
          <p:nvPr/>
        </p:nvSpPr>
        <p:spPr>
          <a:xfrm>
            <a:off x="1597696" y="2319572"/>
            <a:ext cx="1870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Equação da Reta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F94433CB-6B7A-81BD-E0CD-16AFF1A9E978}"/>
              </a:ext>
            </a:extLst>
          </p:cNvPr>
          <p:cNvSpPr txBox="1"/>
          <p:nvPr/>
        </p:nvSpPr>
        <p:spPr>
          <a:xfrm>
            <a:off x="1707424" y="4102242"/>
            <a:ext cx="2312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Equação “S” logística</a:t>
            </a:r>
          </a:p>
        </p:txBody>
      </p:sp>
    </p:spTree>
    <p:extLst>
      <p:ext uri="{BB962C8B-B14F-4D97-AF65-F5344CB8AC3E}">
        <p14:creationId xmlns:p14="http://schemas.microsoft.com/office/powerpoint/2010/main" val="13874701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fronteira de decisão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138612" y="845385"/>
            <a:ext cx="3931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A fronteira separa regiões do espaço de variáveis.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De um lado, o modelo tende a prever classe 0; do outro, classe 1.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633724" y="1090651"/>
            <a:ext cx="3931920" cy="749808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Boa preparação dos dados ajuda a fronteira a representar melhor a população.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aixaDeTexto 27">
                <a:extLst>
                  <a:ext uri="{FF2B5EF4-FFF2-40B4-BE49-F238E27FC236}">
                    <a16:creationId xmlns:a16="http://schemas.microsoft.com/office/drawing/2014/main" id="{2BF35A62-01BC-EBB2-22A9-28B239000074}"/>
                  </a:ext>
                </a:extLst>
              </p:cNvPr>
              <p:cNvSpPr txBox="1"/>
              <p:nvPr/>
            </p:nvSpPr>
            <p:spPr>
              <a:xfrm>
                <a:off x="475488" y="2416646"/>
                <a:ext cx="10565072" cy="38773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Só que aqui, nossa saída não é mais um valor numérico contínuo, e sim uma 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percentagem de 0 a 100%</a:t>
                </a:r>
                <a:r>
                  <a:rPr lang="pt-BR" dirty="0"/>
                  <a:t> .</a:t>
                </a:r>
              </a:p>
              <a:p>
                <a:r>
                  <a:rPr lang="pt-BR" dirty="0"/>
                  <a:t>Então:</a:t>
                </a:r>
              </a:p>
              <a:p>
                <a:endParaRPr lang="pt-BR" b="0" i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/>
                        </m:rPr>
                        <a:rPr lang="pt-BR" b="1" i="0" smtClean="0">
                          <a:solidFill>
                            <a:schemeClr val="accent2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m:t>Probabilidade</m:t>
                      </m:r>
                      <m:r>
                        <m:rPr>
                          <m:nor/>
                        </m:rPr>
                        <a:rPr lang="pt-BR" b="0" i="0"/>
                        <m:t> </m:t>
                      </m:r>
                      <m:d>
                        <m:dPr>
                          <m:ctrlPr>
                            <a:rPr lang="pt-BR" b="0" i="0" smtClean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b="0" i="0" smtClean="0">
                              <a:solidFill>
                                <a:srgbClr val="FF0000"/>
                              </a:solidFill>
                            </a:rPr>
                            <m:t>y</m:t>
                          </m:r>
                          <m:r>
                            <m:rPr>
                              <m:nor/>
                            </m:rPr>
                            <a:rPr lang="pt-BR" b="0" i="0"/>
                            <m:t> valha ’</m:t>
                          </m:r>
                          <m:r>
                            <m:rPr>
                              <m:nor/>
                            </m:rPr>
                            <a:rPr lang="pt-BR" b="1" i="0" smtClean="0">
                              <a:solidFill>
                                <a:srgbClr val="00206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m:t>verdadeiro</m:t>
                          </m:r>
                          <m:r>
                            <m:rPr>
                              <m:nor/>
                            </m:rPr>
                            <a:rPr lang="pt-BR" b="0" i="0"/>
                            <m:t>’ , ’</m:t>
                          </m:r>
                          <m:r>
                            <m:rPr>
                              <m:nor/>
                            </m:rPr>
                            <a:rPr lang="pt-BR" b="1" i="0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m:t>Tal Que</m:t>
                          </m:r>
                          <m:r>
                            <m:rPr>
                              <m:nor/>
                            </m:rPr>
                            <a:rPr lang="pt-BR" b="0" i="0"/>
                            <m:t>’ </m:t>
                          </m:r>
                          <m:sSub>
                            <m:sSubPr>
                              <m:ctrlPr>
                                <a:rPr lang="pt-BR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nor/>
                        </m:rPr>
                        <a:rPr lang="pt-BR" i="0"/>
                        <m:t> 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=...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ou </a:t>
                </a:r>
                <a:r>
                  <a:rPr lang="pt-BR" dirty="0" err="1"/>
                  <a:t>matemáticamente</a:t>
                </a:r>
                <a:r>
                  <a:rPr lang="pt-BR" dirty="0"/>
                  <a:t> escrito: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i="1" smtClean="0">
                          <a:solidFill>
                            <a:schemeClr val="accent2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1" i="1" smtClean="0">
                              <a:solidFill>
                                <a:srgbClr val="FF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solidFill>
                                <a:srgbClr val="FF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sz="28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800" b="1" i="1" smtClean="0">
                              <a:solidFill>
                                <a:srgbClr val="00206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pt-BR" sz="2800" b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sz="2800">
                          <a:latin typeface="Cambria Math" panose="02040503050406030204" pitchFamily="18" charset="0"/>
                        </a:rPr>
                        <m:t>=...</m:t>
                      </m:r>
                    </m:oMath>
                  </m:oMathPara>
                </a14:m>
                <a:endParaRPr lang="pt-BR" sz="2800" dirty="0"/>
              </a:p>
              <a:p>
                <a:endParaRPr lang="pt-BR" dirty="0"/>
              </a:p>
              <a:p>
                <a:r>
                  <a:rPr lang="pt-BR" dirty="0"/>
                  <a:t>e assim: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=1∣</m:t>
                          </m:r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solidFill>
                                        <a:srgbClr val="C000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 smtClean="0">
                                      <a:solidFill>
                                        <a:srgbClr val="C000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 + </m:t>
                                  </m:r>
                                  <m:r>
                                    <a:rPr lang="pt-BR" b="1" i="1" smtClean="0">
                                      <a:solidFill>
                                        <a:srgbClr val="C000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lang="pt-BR" dirty="0"/>
              </a:p>
              <a:p>
                <a:br>
                  <a:rPr lang="pt-BR" dirty="0"/>
                </a:br>
                <a:endParaRPr lang="pt-BR" dirty="0"/>
              </a:p>
            </p:txBody>
          </p:sp>
        </mc:Choice>
        <mc:Fallback xmlns="">
          <p:sp>
            <p:nvSpPr>
              <p:cNvPr id="28" name="CaixaDeTexto 27">
                <a:extLst>
                  <a:ext uri="{FF2B5EF4-FFF2-40B4-BE49-F238E27FC236}">
                    <a16:creationId xmlns:a16="http://schemas.microsoft.com/office/drawing/2014/main" id="{2BF35A62-01BC-EBB2-22A9-28B2390000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" y="2416646"/>
                <a:ext cx="10565072" cy="3877343"/>
              </a:xfrm>
              <a:prstGeom prst="rect">
                <a:avLst/>
              </a:prstGeom>
              <a:blipFill>
                <a:blip r:embed="rId3"/>
                <a:stretch>
                  <a:fillRect l="-462" t="-7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C296F0-106F-37FD-355D-080804BB4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4E025E8-C74E-8F30-FA3F-C7F6DC3BDEDA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3F82A26-D7F8-2E3F-0CF0-C738169C6E5F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281FB64-CD59-BDC2-F376-C7F68D2C2E08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D8A57E6-A690-BE9D-C34C-4B2E955AAA54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6537BE0-E1C8-E017-C655-444056F4033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CCE52E6-2E99-A7FC-DEF5-744F6950F86B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138B83D6-EA80-1F08-5F27-283C057001BE}"/>
              </a:ext>
            </a:extLst>
          </p:cNvPr>
          <p:cNvSpPr/>
          <p:nvPr/>
        </p:nvSpPr>
        <p:spPr>
          <a:xfrm>
            <a:off x="5103695" y="629791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7326090-C138-E7B9-9D73-A880FC8CBF9C}"/>
              </a:ext>
            </a:extLst>
          </p:cNvPr>
          <p:cNvSpPr/>
          <p:nvPr/>
        </p:nvSpPr>
        <p:spPr>
          <a:xfrm>
            <a:off x="475488" y="1493054"/>
            <a:ext cx="11386544" cy="749808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b="1" dirty="0"/>
              <a:t>Exemplo 01 - Considere os dados dos alunos</a:t>
            </a:r>
            <a:r>
              <a:rPr lang="pt-BR" dirty="0"/>
              <a:t> do ultimo semestre. Construa um modelo para avaliar quais as chances dele passar na disciplina.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721BD14F-4984-8704-64CA-50B36C0C9A51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DCE243F8-6B62-C87E-BA3E-1E189D01E1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63635"/>
              </p:ext>
            </p:extLst>
          </p:nvPr>
        </p:nvGraphicFramePr>
        <p:xfrm>
          <a:off x="475488" y="2275380"/>
          <a:ext cx="11386544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0090">
                  <a:extLst>
                    <a:ext uri="{9D8B030D-6E8A-4147-A177-3AD203B41FA5}">
                      <a16:colId xmlns:a16="http://schemas.microsoft.com/office/drawing/2014/main" val="1513799441"/>
                    </a:ext>
                  </a:extLst>
                </a:gridCol>
                <a:gridCol w="2348917">
                  <a:extLst>
                    <a:ext uri="{9D8B030D-6E8A-4147-A177-3AD203B41FA5}">
                      <a16:colId xmlns:a16="http://schemas.microsoft.com/office/drawing/2014/main" val="1474262703"/>
                    </a:ext>
                  </a:extLst>
                </a:gridCol>
                <a:gridCol w="3380764">
                  <a:extLst>
                    <a:ext uri="{9D8B030D-6E8A-4147-A177-3AD203B41FA5}">
                      <a16:colId xmlns:a16="http://schemas.microsoft.com/office/drawing/2014/main" val="10873138"/>
                    </a:ext>
                  </a:extLst>
                </a:gridCol>
                <a:gridCol w="4286773">
                  <a:extLst>
                    <a:ext uri="{9D8B030D-6E8A-4147-A177-3AD203B41FA5}">
                      <a16:colId xmlns:a16="http://schemas.microsoft.com/office/drawing/2014/main" val="2718546748"/>
                    </a:ext>
                  </a:extLst>
                </a:gridCol>
              </a:tblGrid>
              <a:tr h="380363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RA do aluno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Entrada (X1) -&gt; Horas de Estudo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Saída (y) -&gt; verdadeiro 1, falso 0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1" i="0" dirty="0">
                          <a:solidFill>
                            <a:srgbClr val="374151"/>
                          </a:solidFill>
                          <a:effectLst/>
                          <a:latin typeface="Inter"/>
                        </a:rPr>
                        <a:t>Descrição</a:t>
                      </a:r>
                    </a:p>
                  </a:txBody>
                  <a:tcPr marL="152400" marR="152400" marT="114300" marB="1143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061028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2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744060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2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3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05009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3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5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3804008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4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6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332874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5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8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956074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6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9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3064769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7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976118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8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4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Reprovado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358831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9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7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01676"/>
                  </a:ext>
                </a:extLst>
              </a:tr>
              <a:tr h="345144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1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pt-BR" sz="1200" b="0" i="0" dirty="0">
                          <a:solidFill>
                            <a:srgbClr val="4B5563"/>
                          </a:solidFill>
                          <a:effectLst/>
                          <a:latin typeface="Inter"/>
                        </a:rPr>
                        <a:t>Aprovado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0496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78098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A0F93-6DAC-73B9-D7B2-B0B4FACBF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9AD2F2-925B-B28A-7CF6-6C942DBE48ED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48286D9-3DBB-BAB6-920C-90C49153EE79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A512A7A-EE3D-4D6F-7EAE-DFCB249BEE9B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B0D9C16-8960-60D6-1FEB-E1DB2FA3A5F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DC0E27C-ACA7-FC38-06E8-5B80BD590BB3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4940D4E-433E-C9C1-83BD-24DA3963E3AF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061A12E-D022-4850-A15B-3CCF0818B601}"/>
              </a:ext>
            </a:extLst>
          </p:cNvPr>
          <p:cNvSpPr/>
          <p:nvPr/>
        </p:nvSpPr>
        <p:spPr>
          <a:xfrm>
            <a:off x="5036583" y="999228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4C0197B5-2E74-5799-A5B0-64D329A3D2F3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5AE1BBE-38A9-6138-122A-152B45096E49}"/>
              </a:ext>
            </a:extLst>
          </p:cNvPr>
          <p:cNvSpPr txBox="1"/>
          <p:nvPr/>
        </p:nvSpPr>
        <p:spPr>
          <a:xfrm>
            <a:off x="475488" y="1757760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effectLst/>
                <a:latin typeface="+mn-lt"/>
              </a:rPr>
              <a:t>a) Calcule os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” e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dirty="0"/>
              <a:t>”</a:t>
            </a:r>
            <a:r>
              <a:rPr lang="pt-BR" b="0" i="0" dirty="0">
                <a:effectLst/>
                <a:latin typeface="+mn-lt"/>
              </a:rPr>
              <a:t> da equação </a:t>
            </a:r>
            <a:r>
              <a:rPr lang="pt-BR" b="1" i="0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Z</a:t>
            </a:r>
            <a:r>
              <a:rPr lang="pt-BR" b="0" i="0" dirty="0">
                <a:effectLst/>
                <a:latin typeface="+mn-lt"/>
              </a:rPr>
              <a:t> =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w</a:t>
            </a:r>
            <a:r>
              <a:rPr lang="pt-BR" b="0" i="0" dirty="0">
                <a:effectLst/>
                <a:latin typeface="+mn-lt"/>
              </a:rPr>
              <a:t>(X) +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</a:t>
            </a:r>
            <a:r>
              <a:rPr lang="pt-BR" b="0" i="0" dirty="0">
                <a:effectLst/>
                <a:latin typeface="+mn-lt"/>
              </a:rPr>
              <a:t> ;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03D1A25-1FF8-7AEB-AFE2-E222B751C91A}"/>
              </a:ext>
            </a:extLst>
          </p:cNvPr>
          <p:cNvSpPr txBox="1"/>
          <p:nvPr/>
        </p:nvSpPr>
        <p:spPr>
          <a:xfrm>
            <a:off x="472666" y="2354973"/>
            <a:ext cx="3586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dirty="0"/>
              <a:t>b) Faça a Regressão Logística</a:t>
            </a:r>
            <a:r>
              <a:rPr lang="pt-BR" dirty="0"/>
              <a:t>. Use</a:t>
            </a:r>
            <a:endParaRPr lang="pt-BR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25">
                <a:extLst>
                  <a:ext uri="{FF2B5EF4-FFF2-40B4-BE49-F238E27FC236}">
                    <a16:creationId xmlns:a16="http://schemas.microsoft.com/office/drawing/2014/main" id="{A18B4C2A-1FBE-C4C5-5CFA-4A08F07EBABE}"/>
                  </a:ext>
                </a:extLst>
              </p:cNvPr>
              <p:cNvSpPr/>
              <p:nvPr/>
            </p:nvSpPr>
            <p:spPr>
              <a:xfrm>
                <a:off x="4213543" y="2164735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solidFill>
                                      <a:schemeClr val="accent1">
                                        <a:lumMod val="50000"/>
                                      </a:schemeClr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pt-BR" sz="2800" b="0" i="1" smtClean="0">
                                    <a:solidFill>
                                      <a:schemeClr val="accent1">
                                        <a:lumMod val="50000"/>
                                      </a:schemeClr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5" name="Text 25">
                <a:extLst>
                  <a:ext uri="{FF2B5EF4-FFF2-40B4-BE49-F238E27FC236}">
                    <a16:creationId xmlns:a16="http://schemas.microsoft.com/office/drawing/2014/main" id="{A18B4C2A-1FBE-C4C5-5CFA-4A08F07EBA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3543" y="2164735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367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5C82AD-2522-14E8-AF43-53825220B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77E186-966F-769A-88DD-C9EBD9F0AE71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05D0F5B-2BCE-2A97-392A-005212326CE3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E11D0FF-7D17-0F86-2B9D-C2C153BCA3B4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9A28918-9029-2E98-AF7E-A5B50CF53DAB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6599BB0-46DD-D319-1967-33E45DA4A8A8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45E24D0-800F-A5D2-61D7-605B0BE238FB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B2FC869-F320-55B1-66B6-4B0630ED3EEC}"/>
              </a:ext>
            </a:extLst>
          </p:cNvPr>
          <p:cNvSpPr/>
          <p:nvPr/>
        </p:nvSpPr>
        <p:spPr>
          <a:xfrm>
            <a:off x="5036583" y="999228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82520C17-7780-CBA8-6AB4-005363ECBD97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8F2BB3-CBA5-AE7B-C53A-5C4890659EF4}"/>
              </a:ext>
            </a:extLst>
          </p:cNvPr>
          <p:cNvSpPr txBox="1"/>
          <p:nvPr/>
        </p:nvSpPr>
        <p:spPr>
          <a:xfrm>
            <a:off x="475488" y="1757760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effectLst/>
                <a:latin typeface="+mn-lt"/>
              </a:rPr>
              <a:t>a) Calcule os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” e “</a:t>
            </a:r>
            <a:r>
              <a:rPr lang="pt-BR" b="1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dirty="0"/>
              <a:t>”</a:t>
            </a:r>
            <a:r>
              <a:rPr lang="pt-BR" b="0" i="0" dirty="0">
                <a:effectLst/>
                <a:latin typeface="+mn-lt"/>
              </a:rPr>
              <a:t> da equação Z =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w</a:t>
            </a:r>
            <a:r>
              <a:rPr lang="pt-BR" b="0" i="0" dirty="0">
                <a:effectLst/>
                <a:latin typeface="+mn-lt"/>
              </a:rPr>
              <a:t>(X) + </a:t>
            </a:r>
            <a:r>
              <a:rPr lang="pt-BR" b="1" i="0" dirty="0">
                <a:solidFill>
                  <a:srgbClr val="8B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</a:t>
            </a:r>
            <a:r>
              <a:rPr lang="pt-BR" b="0" i="0" dirty="0">
                <a:effectLst/>
                <a:latin typeface="+mn-lt"/>
              </a:rPr>
              <a:t> ;</a:t>
            </a:r>
            <a:endParaRPr lang="pt-BR" dirty="0"/>
          </a:p>
        </p:txBody>
      </p:sp>
      <p:sp>
        <p:nvSpPr>
          <p:cNvPr id="12" name="Text 25">
            <a:extLst>
              <a:ext uri="{FF2B5EF4-FFF2-40B4-BE49-F238E27FC236}">
                <a16:creationId xmlns:a16="http://schemas.microsoft.com/office/drawing/2014/main" id="{FAEFF46C-85B9-5887-FDFF-1ECC6A70425D}"/>
              </a:ext>
            </a:extLst>
          </p:cNvPr>
          <p:cNvSpPr/>
          <p:nvPr/>
        </p:nvSpPr>
        <p:spPr>
          <a:xfrm>
            <a:off x="566927" y="4062256"/>
            <a:ext cx="8518349" cy="1036198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Z = </a:t>
            </a:r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(X) + </a:t>
            </a:r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</a:p>
          <a:p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</a:t>
            </a:r>
            <a:r>
              <a:rPr lang="pt-BR" dirty="0"/>
              <a:t> = 1,19</a:t>
            </a:r>
          </a:p>
          <a:p>
            <a:r>
              <a:rPr lang="pt-BR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</a:t>
            </a:r>
            <a:r>
              <a:rPr lang="pt-BR" dirty="0"/>
              <a:t> = -6,52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25">
                <a:extLst>
                  <a:ext uri="{FF2B5EF4-FFF2-40B4-BE49-F238E27FC236}">
                    <a16:creationId xmlns:a16="http://schemas.microsoft.com/office/drawing/2014/main" id="{A82A5DF3-0334-0A34-4B17-4D611C8D4013}"/>
                  </a:ext>
                </a:extLst>
              </p:cNvPr>
              <p:cNvSpPr/>
              <p:nvPr/>
            </p:nvSpPr>
            <p:spPr>
              <a:xfrm>
                <a:off x="591507" y="2333318"/>
                <a:ext cx="8518349" cy="1242424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Z = </a:t>
                </a:r>
                <a:r>
                  <a:rPr lang="pt-BR" b="1" dirty="0">
                    <a:solidFill>
                      <a:srgbClr val="C0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w</a:t>
                </a:r>
                <a:r>
                  <a:rPr lang="pt-BR" dirty="0"/>
                  <a:t>(X) + </a:t>
                </a:r>
                <a:r>
                  <a:rPr lang="pt-BR" b="1" dirty="0">
                    <a:solidFill>
                      <a:srgbClr val="C0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b 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, </a:t>
                </a:r>
                <a:r>
                  <a:rPr lang="pt-BR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são calculados através de função de 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Perda de Entropia Cruzada Binária  =&gt;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pt-BR"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i="1">
                            <a:solidFill>
                              <a:srgbClr val="FF00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solidFill>
                                  <a:srgbClr val="FF00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i="1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  <m:r>
                              <a:rPr lang="pt-BR">
                                <a:solidFill>
                                  <a:srgbClr val="FF00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func>
                              <m:funcPr>
                                <m:ctrl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pt-BR">
                                    <a:solidFill>
                                      <a:srgbClr val="FF00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pt-BR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solidFill>
                                                  <a:srgbClr val="FF0000"/>
                                                </a:solidFill>
                                                <a:effectLst>
                                                  <a:outerShdw blurRad="38100" dist="38100" dir="2700000" algn="tl">
                                                    <a:srgbClr val="000000">
                                                      <a:alpha val="43137"/>
                                                    </a:srgbClr>
                                                  </a:outerShdw>
                                                </a:effectLst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solidFill>
                                              <a:srgbClr val="FF00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pt-BR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b="1" dirty="0">
                    <a:solidFill>
                      <a:srgbClr val="00A33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(USE PYTHON para calcular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)</a:t>
                </a:r>
              </a:p>
            </p:txBody>
          </p:sp>
        </mc:Choice>
        <mc:Fallback xmlns="">
          <p:sp>
            <p:nvSpPr>
              <p:cNvPr id="9" name="Text 25">
                <a:extLst>
                  <a:ext uri="{FF2B5EF4-FFF2-40B4-BE49-F238E27FC236}">
                    <a16:creationId xmlns:a16="http://schemas.microsoft.com/office/drawing/2014/main" id="{A82A5DF3-0334-0A34-4B17-4D611C8D40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507" y="2333318"/>
                <a:ext cx="8518349" cy="1242424"/>
              </a:xfrm>
              <a:prstGeom prst="rect">
                <a:avLst/>
              </a:prstGeom>
              <a:blipFill>
                <a:blip r:embed="rId3"/>
                <a:stretch>
                  <a:fillRect l="-1501" b="-21845"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19595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6F8128-B721-2C68-D932-F37DD7E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7A382D9-FCF8-DD50-383F-3E5A1EAF1666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5BD9B5-F47B-EE43-B7AB-2811B0A9B6DF}"/>
              </a:ext>
            </a:extLst>
          </p:cNvPr>
          <p:cNvSpPr/>
          <p:nvPr/>
        </p:nvSpPr>
        <p:spPr>
          <a:xfrm>
            <a:off x="475488" y="54593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47674F2-8B85-09C7-B438-F93FE3D64F85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E5D0541-2348-5526-B5C2-8EE38AA0FE4F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B5C256E-FB1A-0B3F-4EFD-6753D5267A65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8562734-897F-060D-250D-C97F6EC30497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638BCE1B-BB68-73A3-AE22-7231EC2B1CFD}"/>
              </a:ext>
            </a:extLst>
          </p:cNvPr>
          <p:cNvSpPr/>
          <p:nvPr/>
        </p:nvSpPr>
        <p:spPr>
          <a:xfrm>
            <a:off x="5036583" y="113686"/>
            <a:ext cx="6758337" cy="74980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2401A93C-A8DB-5593-893E-85A65CCA0308}"/>
              </a:ext>
            </a:extLst>
          </p:cNvPr>
          <p:cNvSpPr txBox="1"/>
          <p:nvPr/>
        </p:nvSpPr>
        <p:spPr>
          <a:xfrm>
            <a:off x="475488" y="1091204"/>
            <a:ext cx="4498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Bom, vamos entender usando um exemplo: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54E2E6C-4A69-14F9-9C1A-E377AD238918}"/>
              </a:ext>
            </a:extLst>
          </p:cNvPr>
          <p:cNvSpPr txBox="1"/>
          <p:nvPr/>
        </p:nvSpPr>
        <p:spPr>
          <a:xfrm>
            <a:off x="475488" y="1567975"/>
            <a:ext cx="60946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b) Faça a Regressão Logística;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B6EBE6C1-E17B-00C8-96B8-619E7F83212D}"/>
                  </a:ext>
                </a:extLst>
              </p:cNvPr>
              <p:cNvSpPr/>
              <p:nvPr/>
            </p:nvSpPr>
            <p:spPr>
              <a:xfrm>
                <a:off x="5036583" y="970931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1,19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∗(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) − 6,52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B6EBE6C1-E17B-00C8-96B8-619E7F8321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6583" y="970931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6A33D78D-4AE8-6083-8033-3F6F953F85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7846796"/>
                  </p:ext>
                </p:extLst>
              </p:nvPr>
            </p:nvGraphicFramePr>
            <p:xfrm>
              <a:off x="397080" y="0"/>
              <a:ext cx="11247117" cy="6761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9938">
                      <a:extLst>
                        <a:ext uri="{9D8B030D-6E8A-4147-A177-3AD203B41FA5}">
                          <a16:colId xmlns:a16="http://schemas.microsoft.com/office/drawing/2014/main" val="1116698044"/>
                        </a:ext>
                      </a:extLst>
                    </a:gridCol>
                    <a:gridCol w="1328142">
                      <a:extLst>
                        <a:ext uri="{9D8B030D-6E8A-4147-A177-3AD203B41FA5}">
                          <a16:colId xmlns:a16="http://schemas.microsoft.com/office/drawing/2014/main" val="41347572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775188"/>
                        </a:ext>
                      </a:extLst>
                    </a:gridCol>
                    <a:gridCol w="2390863">
                      <a:extLst>
                        <a:ext uri="{9D8B030D-6E8A-4147-A177-3AD203B41FA5}">
                          <a16:colId xmlns:a16="http://schemas.microsoft.com/office/drawing/2014/main" val="2018158403"/>
                        </a:ext>
                      </a:extLst>
                    </a:gridCol>
                    <a:gridCol w="1065402">
                      <a:extLst>
                        <a:ext uri="{9D8B030D-6E8A-4147-A177-3AD203B41FA5}">
                          <a16:colId xmlns:a16="http://schemas.microsoft.com/office/drawing/2014/main" val="1555457240"/>
                        </a:ext>
                      </a:extLst>
                    </a:gridCol>
                    <a:gridCol w="3129093">
                      <a:extLst>
                        <a:ext uri="{9D8B030D-6E8A-4147-A177-3AD203B41FA5}">
                          <a16:colId xmlns:a16="http://schemas.microsoft.com/office/drawing/2014/main" val="1606808806"/>
                        </a:ext>
                      </a:extLst>
                    </a:gridCol>
                    <a:gridCol w="1549279">
                      <a:extLst>
                        <a:ext uri="{9D8B030D-6E8A-4147-A177-3AD203B41FA5}">
                          <a16:colId xmlns:a16="http://schemas.microsoft.com/office/drawing/2014/main" val="19363697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ID do Aluno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Entrada (X1)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Horas de Estudo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Saída (y)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Status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Cálculo de </a:t>
                          </a:r>
                          <a:r>
                            <a:rPr lang="pt-BR" sz="1600" b="1" i="0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z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=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w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* (</a:t>
                          </a:r>
                          <a:r>
                            <a:rPr lang="pt-BR" sz="1200" b="1" i="0" dirty="0" err="1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X_i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 +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b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Valor de “Z”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Regressão Logística</a:t>
                          </a:r>
                          <a:r>
                            <a:rPr lang="pt-BR" sz="1800" b="1" i="0" dirty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pt-BR" sz="1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pt-BR" sz="1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pt-BR" sz="1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1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sz="18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sz="180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d>
                                        <m:dPr>
                                          <m:ctrlPr>
                                            <a:rPr lang="pt-BR" sz="1800" b="1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pt-BR" sz="1800" b="1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Z</m:t>
                                          </m:r>
                                        </m:e>
                                      </m:d>
                                    </m:sup>
                                  </m:sSup>
                                </m:den>
                              </m:f>
                            </m:oMath>
                          </a14:m>
                          <a:endParaRPr lang="pt-BR" sz="1800" b="1" i="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Probabilidade Calculada - Saída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88750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19×2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𝟏𝟒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𝟐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𝟏𝟒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400" b="1" i="0" dirty="0">
                              <a:solidFill>
                                <a:srgbClr val="4B5563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</a:t>
                          </a: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,015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693779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19×3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𝟗𝟓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FF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𝟑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𝟐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𝟗𝟓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𝟒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,049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317096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19×5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𝟓𝟕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𝟓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𝟓𝟕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4B5563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𝟑𝟔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,361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474056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19×6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𝟔𝟐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𝟔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𝟔𝟐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𝟔𝟓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,650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17547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19×8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𝟎𝟎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𝟖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𝟑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𝟎𝟎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,952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92487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19×9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𝟏𝟗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𝟗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𝟏𝟗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𝟗𝟖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,985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03362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19×1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𝟑𝟑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𝟏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𝟓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𝟑𝟑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,005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96247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19×4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𝟕𝟔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𝟒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𝟕𝟔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𝟏𝟒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𝟕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,147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FFB6B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18488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19×7</m:t>
                                    </m:r>
                                  </m:e>
                                </m:d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−6,52)</m:t>
                                </m:r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𝟖𝟏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𝟕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𝟖𝟏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𝟖𝟔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,860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7262664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pt-BR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endChr m:val=","/>
                                    <m:ctrlP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119×10</m:t>
                                    </m:r>
                                    <m:r>
                                      <a:rPr lang="pt-BR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  <m:r>
                                      <a:rPr lang="pt-BR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−6,52)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2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200" b="1" smtClean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pt-BR" sz="1200" b="1" i="0">
                                    <a:solidFill>
                                      <a:srgbClr val="006C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𝟑𝟖</m:t>
                                </m:r>
                              </m:oMath>
                            </m:oMathPara>
                          </a14:m>
                          <a:endParaRPr lang="pt-BR" sz="1200" b="1" i="0" dirty="0">
                            <a:solidFill>
                              <a:srgbClr val="006C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14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TRUE</m:t>
                                    </m:r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∣</m:t>
                                    </m:r>
                                    <m:r>
                                      <a:rPr lang="pt-BR" sz="1400" b="1" i="0" smtClean="0">
                                        <a:solidFill>
                                          <a:srgbClr val="B900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</m:d>
                                <m:r>
                                  <a:rPr lang="pt-BR" sz="14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14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r>
                                          <a:rPr lang="pt-BR" sz="1400" i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1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1400" b="1" smtClean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𝟓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pt-BR" sz="1400" b="1" i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𝟑𝟖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pt-BR" sz="1400" b="1" i="0" dirty="0">
                                            <a:solidFill>
                                              <a:srgbClr val="006C00"/>
                                            </a:solidFill>
                                            <a:effectLst>
                                              <a:outerShdw blurRad="38100" dist="38100" dir="2700000" algn="tl">
                                                <a:srgbClr val="000000">
                                                  <a:alpha val="43137"/>
                                                </a:srgbClr>
                                              </a:outerShdw>
                                            </a:effectLst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pt-BR" sz="1400" b="0" i="0" dirty="0">
                            <a:solidFill>
                              <a:srgbClr val="4B5563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pt-BR" sz="1400" b="1" i="1" smtClean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𝟗𝟗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𝟓</m:t>
                              </m:r>
                              <m:r>
                                <a:rPr lang="pt-BR" sz="1400" b="1" i="0"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%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 (</a:t>
                          </a:r>
                          <a14:m>
                            <m:oMath xmlns:m="http://schemas.openxmlformats.org/officeDocument/2006/math">
                              <m:r>
                                <a:rPr lang="pt-BR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,995</m:t>
                              </m:r>
                            </m:oMath>
                          </a14:m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</a:txBody>
                      <a:tcPr marL="152400" marR="152400" marT="95250" marB="95250" anchor="ctr"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0620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6A33D78D-4AE8-6083-8033-3F6F953F85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7846796"/>
                  </p:ext>
                </p:extLst>
              </p:nvPr>
            </p:nvGraphicFramePr>
            <p:xfrm>
              <a:off x="397080" y="0"/>
              <a:ext cx="11247117" cy="6761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9938">
                      <a:extLst>
                        <a:ext uri="{9D8B030D-6E8A-4147-A177-3AD203B41FA5}">
                          <a16:colId xmlns:a16="http://schemas.microsoft.com/office/drawing/2014/main" val="1116698044"/>
                        </a:ext>
                      </a:extLst>
                    </a:gridCol>
                    <a:gridCol w="1328142">
                      <a:extLst>
                        <a:ext uri="{9D8B030D-6E8A-4147-A177-3AD203B41FA5}">
                          <a16:colId xmlns:a16="http://schemas.microsoft.com/office/drawing/2014/main" val="41347572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775188"/>
                        </a:ext>
                      </a:extLst>
                    </a:gridCol>
                    <a:gridCol w="2390863">
                      <a:extLst>
                        <a:ext uri="{9D8B030D-6E8A-4147-A177-3AD203B41FA5}">
                          <a16:colId xmlns:a16="http://schemas.microsoft.com/office/drawing/2014/main" val="2018158403"/>
                        </a:ext>
                      </a:extLst>
                    </a:gridCol>
                    <a:gridCol w="1065402">
                      <a:extLst>
                        <a:ext uri="{9D8B030D-6E8A-4147-A177-3AD203B41FA5}">
                          <a16:colId xmlns:a16="http://schemas.microsoft.com/office/drawing/2014/main" val="1555457240"/>
                        </a:ext>
                      </a:extLst>
                    </a:gridCol>
                    <a:gridCol w="3129093">
                      <a:extLst>
                        <a:ext uri="{9D8B030D-6E8A-4147-A177-3AD203B41FA5}">
                          <a16:colId xmlns:a16="http://schemas.microsoft.com/office/drawing/2014/main" val="1606808806"/>
                        </a:ext>
                      </a:extLst>
                    </a:gridCol>
                    <a:gridCol w="1549279">
                      <a:extLst>
                        <a:ext uri="{9D8B030D-6E8A-4147-A177-3AD203B41FA5}">
                          <a16:colId xmlns:a16="http://schemas.microsoft.com/office/drawing/2014/main" val="1936369754"/>
                        </a:ext>
                      </a:extLst>
                    </a:gridCol>
                  </a:tblGrid>
                  <a:tr h="777240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ID do Aluno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Entrada (X1)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Horas de Estudo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Saída (y)</a:t>
                          </a:r>
                        </a:p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Status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Cálculo de </a:t>
                          </a:r>
                          <a:r>
                            <a:rPr lang="pt-BR" sz="1600" b="1" i="0" dirty="0">
                              <a:solidFill>
                                <a:schemeClr val="tx1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z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=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w 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* (</a:t>
                          </a:r>
                          <a:r>
                            <a:rPr lang="pt-BR" sz="1200" b="1" i="0" dirty="0" err="1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X_i</a:t>
                          </a: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 + </a:t>
                          </a:r>
                          <a:r>
                            <a:rPr lang="pt-BR" sz="16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b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Valor de “Z”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114300" marB="114300" anchor="ctr">
                        <a:blipFill>
                          <a:blip r:embed="rId4"/>
                          <a:stretch>
                            <a:fillRect l="-209922" t="-1563" r="-50195" b="-76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37415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Probabilidade Calculada - Saída</a:t>
                          </a:r>
                        </a:p>
                      </a:txBody>
                      <a:tcPr marL="152400" marR="152400" marT="114300" marB="114300" anchor="ctr"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8875054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132653" r="-241582" b="-9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132653" r="-441143" b="-9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132653" r="-50195" b="-9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132653" r="-1575" b="-9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69377936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2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232653" r="-241582" b="-8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232653" r="-441143" b="-8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232653" r="-50195" b="-8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232653" r="-1575" b="-8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31709673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3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332653" r="-241582" b="-7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332653" r="-441143" b="-7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332653" r="-50195" b="-7040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332653" r="-1575" b="-704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47405644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428283" r="-241582" b="-596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428283" r="-441143" b="-596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428283" r="-50195" b="-59697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428283" r="-1575" b="-59697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1754755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5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533673" r="-241582" b="-5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533673" r="-441143" b="-5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533673" r="-50195" b="-5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533673" r="-1575" b="-5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9248732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6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633673" r="-241582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633673" r="-441143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633673" r="-50195" b="-4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633673" r="-1575" b="-4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033624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733673" r="-241582" b="-3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733673" r="-441143" b="-3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733673" r="-50195" b="-3030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733673" r="-1575" b="-3030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29624790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8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4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825253" r="-24158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825253" r="-441143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825253" r="-5019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825253" r="-1575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1848800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9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7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934694" r="-241582" b="-1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934694" r="-441143" b="-1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934694" r="-50195" b="-10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934694" r="-1575" b="-10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72626647"/>
                      </a:ext>
                    </a:extLst>
                  </a:tr>
                  <a:tr h="598424"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ctr">
                            <a:buNone/>
                          </a:pPr>
                          <a:r>
                            <a:rPr lang="pt-BR" sz="1200" b="1" i="0" dirty="0">
                              <a:solidFill>
                                <a:srgbClr val="B900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10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pPr marL="0" marR="0" indent="0" algn="l">
                            <a:buNone/>
                          </a:pPr>
                          <a:r>
                            <a:rPr lang="pt-BR" sz="1200" b="0" i="0" dirty="0">
                              <a:solidFill>
                                <a:srgbClr val="4B5563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1</a:t>
                          </a:r>
                        </a:p>
                      </a:txBody>
                      <a:tcPr marL="152400" marR="152400" marT="95250" marB="95250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130612" t="-1034694" r="-241582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516571" t="-1034694" r="-441143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209922" t="-1034694" r="-50195" b="-20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152400" marR="152400" marT="95250" marB="95250" anchor="ctr">
                        <a:blipFill>
                          <a:blip r:embed="rId4"/>
                          <a:stretch>
                            <a:fillRect l="-627165" t="-1034694" r="-1575" b="-20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0620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364185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348CDF-31C7-056F-E70C-A28F2510C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051C3CD-B809-1D7C-573B-AE2E2EEC6403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3B07D85-63C2-9907-119B-7B252BC402B2}"/>
              </a:ext>
            </a:extLst>
          </p:cNvPr>
          <p:cNvSpPr/>
          <p:nvPr/>
        </p:nvSpPr>
        <p:spPr>
          <a:xfrm>
            <a:off x="475488" y="54593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04CF587-6991-7559-C0A9-8F1B43AA073E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BAB1832-9DB3-8BF9-DFAC-9E96DC539A95}"/>
              </a:ext>
            </a:extLst>
          </p:cNvPr>
          <p:cNvSpPr/>
          <p:nvPr/>
        </p:nvSpPr>
        <p:spPr>
          <a:xfrm>
            <a:off x="-4046178" y="93419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63ED447-1D03-DF10-4E1F-4D4CA868FBDE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1456FF-B8E0-EB59-0055-523315A24E8B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170CDFE-234B-4A5A-1DD4-48147CAA0E37}"/>
              </a:ext>
            </a:extLst>
          </p:cNvPr>
          <p:cNvSpPr/>
          <p:nvPr/>
        </p:nvSpPr>
        <p:spPr>
          <a:xfrm>
            <a:off x="386647" y="1049999"/>
            <a:ext cx="2706931" cy="1000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pt-BR" sz="1200" dirty="0"/>
              <a:t>A todos os alunos que tiverem mais de </a:t>
            </a:r>
            <a:r>
              <a:rPr lang="pt-B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50% de chances de passar</a:t>
            </a:r>
            <a:r>
              <a:rPr lang="pt-BR" sz="1200" dirty="0"/>
              <a:t>, marque o aluno como "Aprovado". </a:t>
            </a:r>
          </a:p>
          <a:p>
            <a:r>
              <a:rPr lang="pt-BR" sz="1200" dirty="0"/>
              <a:t>Caso </a:t>
            </a:r>
            <a:r>
              <a:rPr lang="pt-BR" sz="1200" dirty="0" err="1"/>
              <a:t>constrário</a:t>
            </a:r>
            <a:r>
              <a:rPr lang="pt-BR" sz="1200" dirty="0"/>
              <a:t>, marque-o como Reprovado.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67C43D2D-E574-F227-4DE6-485192BEB1DA}"/>
                  </a:ext>
                </a:extLst>
              </p:cNvPr>
              <p:cNvSpPr/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1,19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∗(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) − 6,52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67C43D2D-E574-F227-4DE6-485192BEB1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64700A76-BF86-5989-8EA6-C61F35519D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726" y="1257079"/>
            <a:ext cx="7480155" cy="5290025"/>
          </a:xfrm>
          <a:prstGeom prst="rect">
            <a:avLst/>
          </a:prstGeom>
        </p:spPr>
      </p:pic>
      <p:graphicFrame>
        <p:nvGraphicFramePr>
          <p:cNvPr id="14" name="Tabela 13">
            <a:extLst>
              <a:ext uri="{FF2B5EF4-FFF2-40B4-BE49-F238E27FC236}">
                <a16:creationId xmlns:a16="http://schemas.microsoft.com/office/drawing/2014/main" id="{A5A93322-588A-C193-C1C8-83221D53DC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297356"/>
              </p:ext>
            </p:extLst>
          </p:nvPr>
        </p:nvGraphicFramePr>
        <p:xfrm>
          <a:off x="386648" y="2146525"/>
          <a:ext cx="4134079" cy="4515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5802">
                  <a:extLst>
                    <a:ext uri="{9D8B030D-6E8A-4147-A177-3AD203B41FA5}">
                      <a16:colId xmlns:a16="http://schemas.microsoft.com/office/drawing/2014/main" val="3943174570"/>
                    </a:ext>
                  </a:extLst>
                </a:gridCol>
                <a:gridCol w="609240">
                  <a:extLst>
                    <a:ext uri="{9D8B030D-6E8A-4147-A177-3AD203B41FA5}">
                      <a16:colId xmlns:a16="http://schemas.microsoft.com/office/drawing/2014/main" val="1710357480"/>
                    </a:ext>
                  </a:extLst>
                </a:gridCol>
                <a:gridCol w="504202">
                  <a:extLst>
                    <a:ext uri="{9D8B030D-6E8A-4147-A177-3AD203B41FA5}">
                      <a16:colId xmlns:a16="http://schemas.microsoft.com/office/drawing/2014/main" val="3340239317"/>
                    </a:ext>
                  </a:extLst>
                </a:gridCol>
                <a:gridCol w="854579">
                  <a:extLst>
                    <a:ext uri="{9D8B030D-6E8A-4147-A177-3AD203B41FA5}">
                      <a16:colId xmlns:a16="http://schemas.microsoft.com/office/drawing/2014/main" val="1929324043"/>
                    </a:ext>
                  </a:extLst>
                </a:gridCol>
                <a:gridCol w="871671">
                  <a:extLst>
                    <a:ext uri="{9D8B030D-6E8A-4147-A177-3AD203B41FA5}">
                      <a16:colId xmlns:a16="http://schemas.microsoft.com/office/drawing/2014/main" val="149403153"/>
                    </a:ext>
                  </a:extLst>
                </a:gridCol>
                <a:gridCol w="948585">
                  <a:extLst>
                    <a:ext uri="{9D8B030D-6E8A-4147-A177-3AD203B41FA5}">
                      <a16:colId xmlns:a16="http://schemas.microsoft.com/office/drawing/2014/main" val="309681475"/>
                    </a:ext>
                  </a:extLst>
                </a:gridCol>
              </a:tblGrid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ID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Entrada (X1)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Status Real (y)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/>
                        </a:rPr>
                        <a:t>Par Ordenado </a:t>
                      </a:r>
                    </a:p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/>
                        </a:rPr>
                        <a:t>Real (X,Y)</a:t>
                      </a:r>
                      <a:endParaRPr lang="pt-BR" sz="1100" b="1" dirty="0">
                        <a:solidFill>
                          <a:srgbClr val="8B0000"/>
                        </a:solidFill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 err="1">
                          <a:effectLst/>
                        </a:rPr>
                        <a:t>Probab</a:t>
                      </a:r>
                      <a:endParaRPr lang="pt-BR" sz="1100" dirty="0">
                        <a:effectLst/>
                      </a:endParaRPr>
                    </a:p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P( Y = 1 ∣ X )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0" dirty="0">
                          <a:solidFill>
                            <a:srgbClr val="008000"/>
                          </a:solidFill>
                          <a:effectLst/>
                        </a:rPr>
                        <a:t>Par Ordenado Previsto (X,P)</a:t>
                      </a:r>
                      <a:endParaRPr lang="pt-BR" sz="1100" b="0" dirty="0">
                        <a:solidFill>
                          <a:srgbClr val="008000"/>
                        </a:solidFill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1764141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7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0,005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(1; 0,005)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2302378877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2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(2,0)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0,015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(2; 0,015)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62138233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2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3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(3,0)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0,049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(3; 0,049)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100670884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8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4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(4,0)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0,147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(4; 0,147)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995669415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3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5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(5,0)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0,361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(5; 0,361)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06208340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4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6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(6,1)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0,65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(6; 0,650)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118101856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9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7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(7,1)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0,86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(7; 0,860)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610072331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8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(8,1)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0,952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(8; 0,952)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1737542999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6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9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1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(9,1)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effectLst/>
                        </a:rPr>
                        <a:t>0,985</a:t>
                      </a:r>
                      <a:endParaRPr lang="pt-BR" sz="110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(9; 0,985)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727266286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10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10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1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8B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(10,1)</a:t>
                      </a:r>
                      <a:endParaRPr lang="pt-BR" sz="1100" b="1" dirty="0">
                        <a:solidFill>
                          <a:srgbClr val="8B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effectLst/>
                        </a:rPr>
                        <a:t>0,995</a:t>
                      </a:r>
                      <a:endParaRPr lang="pt-BR" sz="1100" dirty="0">
                        <a:effectLst/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rgbClr val="008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(10; 0,995)</a:t>
                      </a:r>
                      <a:endParaRPr lang="pt-BR" sz="1100" b="1" dirty="0">
                        <a:solidFill>
                          <a:srgbClr val="008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rlito" panose="020F0502020204030204" pitchFamily="34" charset="0"/>
                      </a:endParaRPr>
                    </a:p>
                  </a:txBody>
                  <a:tcPr marL="56511" marR="56511" marT="28255" marB="28255" anchor="b"/>
                </a:tc>
                <a:extLst>
                  <a:ext uri="{0D108BD9-81ED-4DB2-BD59-A6C34878D82A}">
                    <a16:rowId xmlns:a16="http://schemas.microsoft.com/office/drawing/2014/main" val="36600135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57504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3C7DF-C024-972D-5B64-E08DC9442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090CA91-C2FB-DC5C-F8F2-A9AEE7F78CE2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E833DCE-7C23-3355-DE23-9D81A6473555}"/>
              </a:ext>
            </a:extLst>
          </p:cNvPr>
          <p:cNvSpPr/>
          <p:nvPr/>
        </p:nvSpPr>
        <p:spPr>
          <a:xfrm>
            <a:off x="475488" y="545930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3CF6C30-BD7E-3241-1C21-E7E46D5502E4}"/>
              </a:ext>
            </a:extLst>
          </p:cNvPr>
          <p:cNvSpPr/>
          <p:nvPr/>
        </p:nvSpPr>
        <p:spPr>
          <a:xfrm>
            <a:off x="1024128" y="502920"/>
            <a:ext cx="341968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EXEMPLO 01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A7A9302-41B1-0044-B3C9-03979285E26A}"/>
              </a:ext>
            </a:extLst>
          </p:cNvPr>
          <p:cNvSpPr/>
          <p:nvPr/>
        </p:nvSpPr>
        <p:spPr>
          <a:xfrm>
            <a:off x="-4046178" y="93419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4CF0334-8AD4-97BA-3385-2A153DBC9785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AE06A77-30D3-22E6-49D0-D98466DED942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947BC865-3E53-722F-637A-07ECB5FCC820}"/>
                  </a:ext>
                </a:extLst>
              </p:cNvPr>
              <p:cNvSpPr/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solidFill>
                <a:srgbClr val="EAF7EF"/>
              </a:solidFill>
              <a:ln w="12700">
                <a:solidFill>
                  <a:srgbClr val="2E9D62"/>
                </a:solidFill>
              </a:ln>
            </p:spPr>
            <p:txBody>
              <a:bodyPr wrap="square" lIns="1143" tIns="1143" rIns="1143" bIns="1143" rtlCol="0" anchor="ctr"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1,19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∗(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) − 6,52</m:t>
                                </m:r>
                              </m:e>
                            </m:d>
                          </m:sup>
                        </m:sSup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Text 25">
                <a:extLst>
                  <a:ext uri="{FF2B5EF4-FFF2-40B4-BE49-F238E27FC236}">
                    <a16:creationId xmlns:a16="http://schemas.microsoft.com/office/drawing/2014/main" id="{947BC865-3E53-722F-637A-07ECB5FCC8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392" y="184391"/>
                <a:ext cx="3764914" cy="749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E9D62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CaixaDeTexto 21">
            <a:extLst>
              <a:ext uri="{FF2B5EF4-FFF2-40B4-BE49-F238E27FC236}">
                <a16:creationId xmlns:a16="http://schemas.microsoft.com/office/drawing/2014/main" id="{A021C8F0-0F5C-16CE-A107-90FE502AFFA1}"/>
              </a:ext>
            </a:extLst>
          </p:cNvPr>
          <p:cNvSpPr txBox="1"/>
          <p:nvPr/>
        </p:nvSpPr>
        <p:spPr>
          <a:xfrm>
            <a:off x="234069" y="1936737"/>
            <a:ext cx="5021595" cy="3766416"/>
          </a:xfrm>
          <a:prstGeom prst="rect">
            <a:avLst/>
          </a:prstGeom>
          <a:solidFill>
            <a:srgbClr val="F5F5F5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numpy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pandas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Definindo os dados da tabela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dados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{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id_aluno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9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horas_estudo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9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status_real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pd.DataFrame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(dados)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Parâmetros do modelo obtidos (w e b)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w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1.19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b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 -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6.52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008000"/>
                </a:solidFill>
                <a:effectLst/>
                <a:latin typeface="Roboto Mono" pitchFamily="2" charset="0"/>
              </a:rPr>
              <a:t># Continua</a:t>
            </a:r>
            <a:r>
              <a:rPr lang="pt-BR" sz="1200" b="0" i="0" dirty="0">
                <a:solidFill>
                  <a:srgbClr val="000000"/>
                </a:solidFill>
                <a:effectLst/>
                <a:latin typeface="Roboto Mono" pitchFamily="2" charset="0"/>
              </a:rPr>
              <a:t> 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6985BF85-85D5-DD2D-D612-EF5E573C25D5}"/>
              </a:ext>
            </a:extLst>
          </p:cNvPr>
          <p:cNvSpPr txBox="1"/>
          <p:nvPr/>
        </p:nvSpPr>
        <p:spPr>
          <a:xfrm>
            <a:off x="5477678" y="1128824"/>
            <a:ext cx="6599894" cy="53822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008000"/>
                </a:solidFill>
                <a:effectLst/>
                <a:latin typeface="Roboto Mono" pitchFamily="2" charset="0"/>
              </a:rPr>
              <a:t># Continuação</a:t>
            </a: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1. Calculando o valor de z: z = w * X_1 + b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valor_z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(w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*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horas_estudo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+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b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2. Calculando a Probabilidade via Função Sigmoide: P(y=1) = 1 / (1 + e^-z)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'probabilidade'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/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+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np.exp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-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valor_z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3. Formatando a probabilidade para exibição em porcentagem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probabilidade_pct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'probabilidade'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*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100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).round(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).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astype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str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+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'%'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Exibindo o resultado formatado de forma limpa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tabela_resultado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pd.DataFrame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({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'ID do Aluno'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id_aluno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'Horas de Estudo (X1)'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horas_estudo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'Status Real (y)'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status_real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'Valor de z'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valor_z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].round(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'Probabilidade Calculada'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probabilidade_pct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'Probabilidade (Decimal)'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'probabilidade'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].round(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tabela_resultado.to_string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index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False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27" name="Text 2">
            <a:extLst>
              <a:ext uri="{FF2B5EF4-FFF2-40B4-BE49-F238E27FC236}">
                <a16:creationId xmlns:a16="http://schemas.microsoft.com/office/drawing/2014/main" id="{A897F50F-B966-D639-12FA-E521D1358AA5}"/>
              </a:ext>
            </a:extLst>
          </p:cNvPr>
          <p:cNvSpPr/>
          <p:nvPr/>
        </p:nvSpPr>
        <p:spPr>
          <a:xfrm>
            <a:off x="475488" y="1154847"/>
            <a:ext cx="4087028" cy="551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Implementação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Python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1421600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5D2467-992F-9115-FED7-EC778AD20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52D78808-7CE5-BD18-BFCA-17EDABE31853}"/>
              </a:ext>
            </a:extLst>
          </p:cNvPr>
          <p:cNvSpPr/>
          <p:nvPr/>
        </p:nvSpPr>
        <p:spPr>
          <a:xfrm>
            <a:off x="1241572" y="1719744"/>
            <a:ext cx="9387280" cy="249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 </a:t>
            </a:r>
            <a:r>
              <a:rPr lang="en-US" sz="72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72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mais</a:t>
            </a: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72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r>
              <a:rPr lang="en-US" sz="72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- KNN</a:t>
            </a:r>
            <a:endParaRPr lang="en-US" sz="7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EF361FA-C8EB-4A2C-6743-C54A84B05D0F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28E5283-26EA-2644-2CD5-5594968F42FE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055025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1CE108-E0FB-56B8-1A6A-4B2DDB849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17B8D13-E5CA-6670-1BC9-45FDE56DE8EC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C9007B0-C348-4392-143F-496D930AC1F0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657A03-5B54-38F3-F72D-4E3AF257F52D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– KNN – “K” </a:t>
            </a:r>
            <a:r>
              <a:rPr lang="pt-BR" sz="1600" b="1" dirty="0" err="1"/>
              <a:t>Nearest</a:t>
            </a:r>
            <a:r>
              <a:rPr lang="pt-BR" sz="1600" b="1" dirty="0"/>
              <a:t> </a:t>
            </a:r>
            <a:r>
              <a:rPr lang="pt-BR" sz="1600" b="1" dirty="0" err="1"/>
              <a:t>Neighbors</a:t>
            </a:r>
            <a:endParaRPr lang="en-US" sz="1700" b="1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B0AB3CB-7F91-4B09-C4DA-8129766C5D9E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AAC045D-FF6A-888D-09A4-2C72152F7A6A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B3EC3D3-EA56-D2CA-74DF-35213439DC7A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7B70AF3-0265-7DB5-48C1-9E10A62EAC3D}"/>
              </a:ext>
            </a:extLst>
          </p:cNvPr>
          <p:cNvSpPr/>
          <p:nvPr/>
        </p:nvSpPr>
        <p:spPr>
          <a:xfrm>
            <a:off x="475488" y="1775728"/>
            <a:ext cx="9875520" cy="1068139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algn="just"/>
            <a:r>
              <a:rPr lang="pt-BR" dirty="0"/>
              <a:t>Dado um conjunto de elementos com os mesmos atributos com valores diferenciados, qual é a melhor forma de </a:t>
            </a:r>
            <a:r>
              <a:rPr lang="pt-BR" b="1" dirty="0"/>
              <a:t>agrupar</a:t>
            </a:r>
            <a:r>
              <a:rPr lang="pt-BR" dirty="0"/>
              <a:t> elementos de um conjunto pelo seu “</a:t>
            </a:r>
            <a:r>
              <a:rPr lang="pt-BR" b="1" dirty="0"/>
              <a:t>perfil</a:t>
            </a:r>
            <a:r>
              <a:rPr lang="pt-BR" dirty="0"/>
              <a:t>” ?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7C86439-C082-16C9-B7EF-BF7FF054EAAE}"/>
              </a:ext>
            </a:extLst>
          </p:cNvPr>
          <p:cNvSpPr txBox="1"/>
          <p:nvPr/>
        </p:nvSpPr>
        <p:spPr>
          <a:xfrm>
            <a:off x="475488" y="1069712"/>
            <a:ext cx="28831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/>
              <a:t>MOTIVAÇÃO: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758BC6A-19CE-100F-F32F-86F80642B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3071800"/>
            <a:ext cx="5948671" cy="324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057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44E65D-781C-442C-8056-8CDBA450E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E336EF0-3C4B-098B-3996-11171E625D8D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D26FE3F-7B49-ED9C-84F9-CBEA48AA6AE7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C9912FC-65F6-3928-0CDC-F0B75A249A1B}"/>
              </a:ext>
            </a:extLst>
          </p:cNvPr>
          <p:cNvSpPr/>
          <p:nvPr/>
        </p:nvSpPr>
        <p:spPr>
          <a:xfrm>
            <a:off x="1024128" y="502920"/>
            <a:ext cx="2994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428894D-081F-D1DA-2B57-E3B31C6622E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37C89D3-E442-7F88-3D18-BFEC06C0EAB2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FDB0A59-CF5F-222F-06F1-F02CC8193F06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5E35242B-B5FC-8CFA-907A-5600D917C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4070" y="131212"/>
            <a:ext cx="7867738" cy="4294986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8096698C-D6D3-4D1E-32D4-3801D35EC7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875" y="865484"/>
            <a:ext cx="3793105" cy="2070650"/>
          </a:xfrm>
          <a:prstGeom prst="rect">
            <a:avLst/>
          </a:prstGeom>
        </p:spPr>
      </p:pic>
      <p:sp>
        <p:nvSpPr>
          <p:cNvPr id="14" name="Text 6">
            <a:extLst>
              <a:ext uri="{FF2B5EF4-FFF2-40B4-BE49-F238E27FC236}">
                <a16:creationId xmlns:a16="http://schemas.microsoft.com/office/drawing/2014/main" id="{FD09B13C-9276-D4F8-1C4E-ED84AD774846}"/>
              </a:ext>
            </a:extLst>
          </p:cNvPr>
          <p:cNvSpPr/>
          <p:nvPr/>
        </p:nvSpPr>
        <p:spPr>
          <a:xfrm>
            <a:off x="332875" y="4570744"/>
            <a:ext cx="9875520" cy="1068139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algn="just"/>
            <a:r>
              <a:rPr lang="pt-BR" dirty="0"/>
              <a:t>O ponto preto central (</a:t>
            </a:r>
            <a:r>
              <a:rPr lang="pt-BR" dirty="0">
                <a:solidFill>
                  <a:srgbClr val="FF0000"/>
                </a:solidFill>
              </a:rPr>
              <a:t>X</a:t>
            </a:r>
            <a:r>
              <a:rPr lang="pt-BR" dirty="0"/>
              <a:t>,</a:t>
            </a:r>
            <a:r>
              <a:rPr lang="pt-BR" dirty="0">
                <a:solidFill>
                  <a:srgbClr val="FF0000"/>
                </a:solidFill>
              </a:rPr>
              <a:t>Y</a:t>
            </a:r>
            <a:r>
              <a:rPr lang="pt-BR" dirty="0"/>
              <a:t>) acaba de ser adicionado ao banco de dados. Como saber com qual grupo ele se identifica mais ? Com qual </a:t>
            </a:r>
            <a:r>
              <a:rPr lang="pt-BR" b="1" dirty="0"/>
              <a:t>perfil</a:t>
            </a:r>
            <a:r>
              <a:rPr lang="pt-BR" dirty="0"/>
              <a:t> este </a:t>
            </a:r>
            <a:r>
              <a:rPr lang="pt-BR" b="1" dirty="0"/>
              <a:t>novo cliente</a:t>
            </a:r>
            <a:r>
              <a:rPr lang="pt-BR" dirty="0"/>
              <a:t> do mercado se </a:t>
            </a:r>
            <a:r>
              <a:rPr lang="pt-BR" b="1" dirty="0"/>
              <a:t>identifica</a:t>
            </a:r>
            <a:r>
              <a:rPr lang="pt-BR" dirty="0"/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2218038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D33BDC-3D69-5FED-FF25-F600F3730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43E472E-C567-C231-06BD-620338FBA4E6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B1E959A-7CA5-BC40-230E-C8BAD792A86B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31D800-964C-FBAB-32F6-7B40E0BBF2F1}"/>
              </a:ext>
            </a:extLst>
          </p:cNvPr>
          <p:cNvSpPr/>
          <p:nvPr/>
        </p:nvSpPr>
        <p:spPr>
          <a:xfrm>
            <a:off x="1024128" y="502920"/>
            <a:ext cx="2994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17D5FDF-6676-4B0A-349E-A1A7B111ABBB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8821F08-B161-0ADF-CEB0-976318405905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0544965-6DA9-D05E-C08C-202925E74F38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39873E4D-A601-7FBD-12C8-B4FC740BBDE0}"/>
              </a:ext>
            </a:extLst>
          </p:cNvPr>
          <p:cNvSpPr/>
          <p:nvPr/>
        </p:nvSpPr>
        <p:spPr>
          <a:xfrm>
            <a:off x="584545" y="2117581"/>
            <a:ext cx="9875520" cy="1068139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algn="just"/>
            <a:r>
              <a:rPr lang="pt-BR" dirty="0"/>
              <a:t>A </a:t>
            </a:r>
            <a:r>
              <a:rPr lang="pt-BR" b="1" dirty="0"/>
              <a:t>distância euclidiana</a:t>
            </a:r>
            <a:r>
              <a:rPr lang="pt-BR" dirty="0"/>
              <a:t> representa o </a:t>
            </a:r>
            <a:r>
              <a:rPr lang="pt-BR" b="1" dirty="0"/>
              <a:t>comprimento do segmento de reta</a:t>
            </a:r>
            <a:r>
              <a:rPr lang="pt-BR" dirty="0"/>
              <a:t> que conecta diretamente dois pontos em um espaço cartesiano — ou seja, é a menor distância possível ("em linha reta") entre eles.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FFD5874-4432-6FA6-0F3A-9F0AC36EFAAA}"/>
              </a:ext>
            </a:extLst>
          </p:cNvPr>
          <p:cNvSpPr txBox="1"/>
          <p:nvPr/>
        </p:nvSpPr>
        <p:spPr>
          <a:xfrm>
            <a:off x="865624" y="1280160"/>
            <a:ext cx="9095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/>
              <a:t>DISTÂNCIA EUCLIDIANA ENTRE 2 PONTOS: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D31B7B00-C373-8DF3-97E4-7B4778877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45" y="3376810"/>
            <a:ext cx="5426278" cy="2962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4550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84D3F3-0D4E-FEED-0068-4986A30BA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FFBE5F0-6925-AA61-01D8-4C812D41A07F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32135F0-EB9E-4863-EA03-40BFA853AD4D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6AB8BBD-190C-5F29-965A-FBDDD03F1470}"/>
              </a:ext>
            </a:extLst>
          </p:cNvPr>
          <p:cNvSpPr/>
          <p:nvPr/>
        </p:nvSpPr>
        <p:spPr>
          <a:xfrm>
            <a:off x="1024128" y="502920"/>
            <a:ext cx="2994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71D56C1-F483-0721-30D6-E08E7D51F27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B0EF952-C596-D8CB-ADC9-B171D8ED90F0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562D2F9-8207-7CBB-F3E8-991EA05C8494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 6">
                <a:extLst>
                  <a:ext uri="{FF2B5EF4-FFF2-40B4-BE49-F238E27FC236}">
                    <a16:creationId xmlns:a16="http://schemas.microsoft.com/office/drawing/2014/main" id="{F58B38E5-0599-9372-6673-7920909C4E4A}"/>
                  </a:ext>
                </a:extLst>
              </p:cNvPr>
              <p:cNvSpPr/>
              <p:nvPr/>
            </p:nvSpPr>
            <p:spPr>
              <a:xfrm>
                <a:off x="584544" y="1926491"/>
                <a:ext cx="10863743" cy="1259229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508" tIns="508" rIns="508" bIns="508" rtlCol="0" anchor="ctr">
                <a:normAutofit fontScale="85000" lnSpcReduction="20000"/>
              </a:bodyPr>
              <a:lstStyle/>
              <a:p>
                <a:pPr>
                  <a:lnSpc>
                    <a:spcPct val="160000"/>
                  </a:lnSpc>
                </a:pPr>
                <a:r>
                  <a:rPr lang="pt-BR" dirty="0"/>
                  <a:t>Com base na imagem apresentada:</a:t>
                </a:r>
              </a:p>
              <a:p>
                <a:pPr lvl="0">
                  <a:lnSpc>
                    <a:spcPct val="160000"/>
                  </a:lnSpc>
                </a:pPr>
                <a:r>
                  <a:rPr lang="pt-BR" b="1" dirty="0"/>
                  <a:t>Pontos no Espaço:</a:t>
                </a:r>
                <a:r>
                  <a:rPr lang="pt-BR" dirty="0"/>
                  <a:t> Temos o ponto </a:t>
                </a:r>
                <a14:m>
                  <m:oMath xmlns:m="http://schemas.openxmlformats.org/officeDocument/2006/math">
                    <m:r>
                      <a:rPr lang="pt-BR" b="1" i="1"/>
                      <m:t>𝑿</m:t>
                    </m:r>
                    <m:r>
                      <a:rPr lang="pt-BR"/>
                      <m:t>=</m:t>
                    </m:r>
                    <m:d>
                      <m:dPr>
                        <m:ctrlPr>
                          <a:rPr lang="pt-BR" b="1" i="1" smtClean="0">
                            <a:solidFill>
                              <a:srgbClr val="005E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  <m:t>𝒙</m:t>
                            </m:r>
                          </m:e>
                          <m:sub>
                            <m: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  <m:t>𝟏</m:t>
                            </m:r>
                          </m:sub>
                        </m:sSub>
                        <m:r>
                          <a:rPr lang="pt-BR" b="1">
                            <a:solidFill>
                              <a:srgbClr val="005E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,</m:t>
                        </m:r>
                        <m:sSub>
                          <m:sSubPr>
                            <m:ctrlP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  <m:t>𝒚</m:t>
                            </m:r>
                          </m:e>
                          <m:sub>
                            <m: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  <m:t>𝟏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e o ponto </a:t>
                </a:r>
                <a14:m>
                  <m:oMath xmlns:m="http://schemas.openxmlformats.org/officeDocument/2006/math">
                    <m:r>
                      <a:rPr lang="pt-BR" b="1" i="1"/>
                      <m:t>𝒀</m:t>
                    </m:r>
                    <m:r>
                      <a:rPr lang="pt-BR"/>
                      <m:t>=</m:t>
                    </m:r>
                    <m:d>
                      <m:dPr>
                        <m:ctrlPr>
                          <a:rPr lang="pt-BR" b="1" i="1" smtClean="0">
                            <a:solidFill>
                              <a:srgbClr val="004E9A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b="1" i="1">
                                <a:solidFill>
                                  <a:srgbClr val="004E9A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solidFill>
                                  <a:srgbClr val="004E9A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  <m:t>𝒙</m:t>
                            </m:r>
                          </m:e>
                          <m:sub>
                            <m:r>
                              <a:rPr lang="pt-BR" b="1" i="1">
                                <a:solidFill>
                                  <a:srgbClr val="004E9A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  <m:t>𝟐</m:t>
                            </m:r>
                          </m:sub>
                        </m:sSub>
                        <m:r>
                          <a:rPr lang="pt-BR" b="1">
                            <a:solidFill>
                              <a:srgbClr val="004E9A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</a:rPr>
                          <m:t>,</m:t>
                        </m:r>
                        <m:sSub>
                          <m:sSubPr>
                            <m:ctrlPr>
                              <a:rPr lang="pt-BR" b="1" i="1">
                                <a:solidFill>
                                  <a:srgbClr val="004E9A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solidFill>
                                  <a:srgbClr val="004E9A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  <m:t>𝒚</m:t>
                            </m:r>
                          </m:e>
                          <m:sub>
                            <m:r>
                              <a:rPr lang="pt-BR" b="1" i="1">
                                <a:solidFill>
                                  <a:srgbClr val="004E9A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</a:rPr>
                              <m:t>𝟐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onde cada eixo representa uma variável do perfil de compras (</a:t>
                </a:r>
                <a:r>
                  <a:rPr lang="pt-BR" i="1" dirty="0"/>
                  <a:t>Variedade de Itens</a:t>
                </a:r>
                <a:r>
                  <a:rPr lang="pt-BR" dirty="0"/>
                  <a:t> no eixo das abscissas e </a:t>
                </a:r>
                <a:r>
                  <a:rPr lang="pt-BR" i="1" dirty="0"/>
                  <a:t>Volume de Compras</a:t>
                </a:r>
                <a:r>
                  <a:rPr lang="pt-BR" dirty="0"/>
                  <a:t> no eixo das ordenadas).</a:t>
                </a:r>
              </a:p>
              <a:p>
                <a:pPr lvl="0">
                  <a:lnSpc>
                    <a:spcPct val="160000"/>
                  </a:lnSpc>
                </a:pPr>
                <a:r>
                  <a:rPr lang="pt-BR" b="1" dirty="0"/>
                  <a:t>Segmento Tracejado:</a:t>
                </a:r>
                <a:r>
                  <a:rPr lang="pt-BR" dirty="0"/>
                  <a:t> A linha pontilhada que liga o ponto </a:t>
                </a:r>
                <a14:m>
                  <m:oMath xmlns:m="http://schemas.openxmlformats.org/officeDocument/2006/math">
                    <m:r>
                      <a:rPr lang="pt-BR" i="1"/>
                      <m:t>𝑋</m:t>
                    </m:r>
                  </m:oMath>
                </a14:m>
                <a:r>
                  <a:rPr lang="pt-BR" dirty="0"/>
                  <a:t>ao ponto </a:t>
                </a:r>
                <a14:m>
                  <m:oMath xmlns:m="http://schemas.openxmlformats.org/officeDocument/2006/math">
                    <m:r>
                      <a:rPr lang="pt-BR" i="1"/>
                      <m:t>𝑌</m:t>
                    </m:r>
                  </m:oMath>
                </a14:m>
                <a:r>
                  <a:rPr lang="pt-BR" dirty="0"/>
                  <a:t>representa geometricamente o cálculo dessa distância.</a:t>
                </a:r>
              </a:p>
            </p:txBody>
          </p:sp>
        </mc:Choice>
        <mc:Fallback>
          <p:sp>
            <p:nvSpPr>
              <p:cNvPr id="14" name="Text 6">
                <a:extLst>
                  <a:ext uri="{FF2B5EF4-FFF2-40B4-BE49-F238E27FC236}">
                    <a16:creationId xmlns:a16="http://schemas.microsoft.com/office/drawing/2014/main" id="{F58B38E5-0599-9372-6673-7920909C4E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544" y="1926491"/>
                <a:ext cx="10863743" cy="1259229"/>
              </a:xfrm>
              <a:prstGeom prst="rect">
                <a:avLst/>
              </a:prstGeom>
              <a:blipFill>
                <a:blip r:embed="rId3"/>
                <a:stretch>
                  <a:fillRect l="-1066" r="-168" b="-9179"/>
                </a:stretch>
              </a:blipFill>
              <a:ln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ixaDeTexto 8">
            <a:extLst>
              <a:ext uri="{FF2B5EF4-FFF2-40B4-BE49-F238E27FC236}">
                <a16:creationId xmlns:a16="http://schemas.microsoft.com/office/drawing/2014/main" id="{C3F8EB8F-868C-C0FE-C43A-CA536BF54BBC}"/>
              </a:ext>
            </a:extLst>
          </p:cNvPr>
          <p:cNvSpPr txBox="1"/>
          <p:nvPr/>
        </p:nvSpPr>
        <p:spPr>
          <a:xfrm>
            <a:off x="865624" y="1280160"/>
            <a:ext cx="9095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/>
              <a:t>DISTÂNCIA EUCLIDIANA ENTRE 2 PONTOS: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91E8E4A2-6715-72BB-8221-DE550A4078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13" y="3376810"/>
            <a:ext cx="5426278" cy="296219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FAFC084D-7BE7-A7E2-E7A1-9A08BECD7F20}"/>
                  </a:ext>
                </a:extLst>
              </p:cNvPr>
              <p:cNvSpPr txBox="1"/>
              <p:nvPr/>
            </p:nvSpPr>
            <p:spPr>
              <a:xfrm>
                <a:off x="6096000" y="3506598"/>
                <a:ext cx="5735496" cy="10473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pt-BR" sz="2800" i="1"/>
                        <m:t>𝑑</m:t>
                      </m:r>
                      <m:d>
                        <m:dPr>
                          <m:ctrlPr>
                            <a:rPr lang="pt-BR" sz="2800" b="1" i="1" smtClean="0">
                              <a:solidFill>
                                <a:srgbClr val="005E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solidFill>
                                <a:srgbClr val="005E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m:t>𝑿</m:t>
                          </m:r>
                          <m:r>
                            <a:rPr lang="pt-BR" sz="2800"/>
                            <m:t>,</m:t>
                          </m:r>
                          <m:r>
                            <a:rPr lang="pt-BR" sz="2800" b="1" i="1" smtClean="0">
                              <a:solidFill>
                                <a:srgbClr val="004E9A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m:t>𝒀</m:t>
                          </m:r>
                        </m:e>
                      </m:d>
                      <m:r>
                        <a:rPr lang="pt-BR" sz="2800"/>
                        <m:t>=</m:t>
                      </m:r>
                      <m:rad>
                        <m:radPr>
                          <m:degHide m:val="on"/>
                          <m:ctrlPr>
                            <a:rPr lang="pt-BR" sz="2800" i="1"/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pt-BR" sz="2800" i="1"/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800" b="1" i="1" smtClean="0">
                                      <a:solidFill>
                                        <a:srgbClr val="005E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8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8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pt-BR" sz="2800"/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28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8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800"/>
                                <m:t>2</m:t>
                              </m:r>
                            </m:sup>
                          </m:sSup>
                          <m:r>
                            <a:rPr lang="pt-BR" sz="2800"/>
                            <m:t>+</m:t>
                          </m:r>
                          <m:sSup>
                            <m:sSupPr>
                              <m:ctrlPr>
                                <a:rPr lang="pt-BR" sz="2800" i="1"/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800" b="1" i="1" smtClean="0">
                                      <a:solidFill>
                                        <a:srgbClr val="005E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8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pt-BR" sz="28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pt-BR" sz="2800"/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28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pt-BR" sz="28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800"/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pt-BR" sz="2800" dirty="0"/>
              </a:p>
              <a:p>
                <a:endParaRPr lang="pt-BR" sz="2800" dirty="0"/>
              </a:p>
            </p:txBody>
          </p:sp>
        </mc:Choice>
        <mc:Fallback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FAFC084D-7BE7-A7E2-E7A1-9A08BECD7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506598"/>
                <a:ext cx="5735496" cy="104733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C1154878-94F9-E5A1-E6B8-F1ADC2C8237F}"/>
                  </a:ext>
                </a:extLst>
              </p:cNvPr>
              <p:cNvSpPr txBox="1"/>
              <p:nvPr/>
            </p:nvSpPr>
            <p:spPr>
              <a:xfrm>
                <a:off x="6535024" y="4553936"/>
                <a:ext cx="4244047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O “</a:t>
                </a:r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K</a:t>
                </a:r>
                <a:r>
                  <a:rPr lang="pt-BR" dirty="0"/>
                  <a:t>” :</a:t>
                </a:r>
              </a:p>
              <a:p>
                <a:r>
                  <a:rPr lang="pt-BR" dirty="0"/>
                  <a:t>Ele seleciona os </a:t>
                </a:r>
                <a:endParaRPr lang="pt-BR" i="1" dirty="0"/>
              </a:p>
              <a:p>
                <a14:m>
                  <m:oMath xmlns:m="http://schemas.openxmlformats.org/officeDocument/2006/math">
                    <m:r>
                      <a:rPr lang="pt-BR" i="1"/>
                      <m:t>𝐾</m:t>
                    </m:r>
                  </m:oMath>
                </a14:m>
                <a:r>
                  <a:rPr lang="pt-BR" b="1" dirty="0"/>
                  <a:t> vizinhos com as menores distâncias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C1154878-94F9-E5A1-E6B8-F1ADC2C82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5024" y="4553936"/>
                <a:ext cx="4244047" cy="923330"/>
              </a:xfrm>
              <a:prstGeom prst="rect">
                <a:avLst/>
              </a:prstGeom>
              <a:blipFill>
                <a:blip r:embed="rId6"/>
                <a:stretch>
                  <a:fillRect l="-1149" t="-3289" r="-718" b="-986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ixaDeTexto 11">
            <a:extLst>
              <a:ext uri="{FF2B5EF4-FFF2-40B4-BE49-F238E27FC236}">
                <a16:creationId xmlns:a16="http://schemas.microsoft.com/office/drawing/2014/main" id="{18AC0FC6-D4E7-3359-9615-D12E90124B2A}"/>
              </a:ext>
            </a:extLst>
          </p:cNvPr>
          <p:cNvSpPr txBox="1"/>
          <p:nvPr/>
        </p:nvSpPr>
        <p:spPr>
          <a:xfrm>
            <a:off x="6535023" y="5496458"/>
            <a:ext cx="37089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NESTE CASO, TEMOS </a:t>
            </a:r>
            <a:r>
              <a:rPr lang="pt-BR" b="1" dirty="0"/>
              <a:t>K=1 </a:t>
            </a:r>
          </a:p>
          <a:p>
            <a:r>
              <a:rPr lang="pt-BR" b="1" dirty="0"/>
              <a:t>PORQUE </a:t>
            </a:r>
          </a:p>
          <a:p>
            <a:r>
              <a:rPr lang="pt-BR" b="1" dirty="0"/>
              <a:t>“Y” </a:t>
            </a:r>
            <a:r>
              <a:rPr lang="pt-BR" dirty="0"/>
              <a:t>tem apenas 1 vizinho, que é “</a:t>
            </a:r>
            <a:r>
              <a:rPr lang="pt-BR" b="1" dirty="0"/>
              <a:t>X”</a:t>
            </a:r>
          </a:p>
        </p:txBody>
      </p:sp>
    </p:spTree>
    <p:extLst>
      <p:ext uri="{BB962C8B-B14F-4D97-AF65-F5344CB8AC3E}">
        <p14:creationId xmlns:p14="http://schemas.microsoft.com/office/powerpoint/2010/main" val="8180697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E17388-84D6-80E1-F1C3-A8614D720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9E9913F-0118-344C-986E-27F7ACFDD1F4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A62B4-CFB9-EA08-201A-907E74AEF03F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57BFB3C-331D-C46C-197E-2F0FCD7557E5}"/>
              </a:ext>
            </a:extLst>
          </p:cNvPr>
          <p:cNvSpPr/>
          <p:nvPr/>
        </p:nvSpPr>
        <p:spPr>
          <a:xfrm>
            <a:off x="1024128" y="502920"/>
            <a:ext cx="2994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D2474B9-3EB2-77BE-0BF4-147A8866B243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C743047-2B1B-BD31-5682-2DDFB42B5A8D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B6C8D68-A6DB-77A3-432B-73ADAEEAF5F8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32D9C28-7485-A31C-4F5C-5D82C02D8EA4}"/>
              </a:ext>
            </a:extLst>
          </p:cNvPr>
          <p:cNvSpPr txBox="1"/>
          <p:nvPr/>
        </p:nvSpPr>
        <p:spPr>
          <a:xfrm>
            <a:off x="395841" y="944029"/>
            <a:ext cx="686803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/>
              <a:t>DISTÂNCIA EUCLIDIANA ENTRE: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2400" b="1" dirty="0"/>
              <a:t>Ponto central (novo cliente);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2400" b="1" dirty="0"/>
              <a:t>Ponto mais próximo de cada grupo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95B56BC9-5A91-BD91-6F6A-F88C0E4CB675}"/>
                  </a:ext>
                </a:extLst>
              </p:cNvPr>
              <p:cNvSpPr txBox="1"/>
              <p:nvPr/>
            </p:nvSpPr>
            <p:spPr>
              <a:xfrm>
                <a:off x="7801760" y="3506598"/>
                <a:ext cx="4169330" cy="895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000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sz="2000" b="1" i="1" smtClean="0">
                              <a:solidFill>
                                <a:srgbClr val="005E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1" i="1" smtClean="0">
                              <a:solidFill>
                                <a:srgbClr val="005E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pt-BR" sz="20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000" b="1" i="1" smtClean="0">
                              <a:solidFill>
                                <a:srgbClr val="004E9A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</m:d>
                      <m:r>
                        <a:rPr lang="pt-BR" sz="20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pt-BR" sz="2000" b="1" i="1" smtClean="0">
                                  <a:solidFill>
                                    <a:srgbClr val="005E0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000" b="1" i="1">
                                      <a:solidFill>
                                        <a:srgbClr val="005E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pt-BR" sz="20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00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000" b="1" i="1" smtClean="0">
                                  <a:solidFill>
                                    <a:srgbClr val="005E0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000" b="1" i="1">
                                      <a:solidFill>
                                        <a:srgbClr val="005E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pt-BR" sz="20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pt-BR" sz="2000" dirty="0"/>
              </a:p>
              <a:p>
                <a:endParaRPr lang="pt-BR" sz="2800" dirty="0"/>
              </a:p>
            </p:txBody>
          </p:sp>
        </mc:Choice>
        <mc:Fallback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95B56BC9-5A91-BD91-6F6A-F88C0E4CB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1760" y="3506598"/>
                <a:ext cx="4169330" cy="8959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Imagem 14">
            <a:extLst>
              <a:ext uri="{FF2B5EF4-FFF2-40B4-BE49-F238E27FC236}">
                <a16:creationId xmlns:a16="http://schemas.microsoft.com/office/drawing/2014/main" id="{2277DE57-DE68-2D02-DB8A-973E268ACA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3407" y="1117154"/>
            <a:ext cx="3793105" cy="2070650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16FD4242-855A-5770-C88A-811E61B991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181" y="2340364"/>
            <a:ext cx="7555328" cy="412444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A7050E18-761A-24C3-F9BA-A19EFBD3A0CD}"/>
                  </a:ext>
                </a:extLst>
              </p:cNvPr>
              <p:cNvSpPr txBox="1"/>
              <p:nvPr/>
            </p:nvSpPr>
            <p:spPr>
              <a:xfrm>
                <a:off x="7818509" y="4352367"/>
                <a:ext cx="4305281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Na imagem, vemos 5 linhas tracejadas </a:t>
                </a:r>
              </a:p>
              <a:p>
                <a:r>
                  <a:rPr lang="pt-BR" dirty="0"/>
                  <a:t>conectando o ponto central </a:t>
                </a:r>
              </a:p>
              <a:p>
                <a:r>
                  <a:rPr lang="pt-BR" dirty="0"/>
                  <a:t>(o </a:t>
                </a:r>
                <a:r>
                  <a:rPr lang="pt-BR" b="1" dirty="0"/>
                  <a:t>NOVO CLIENTE</a:t>
                </a:r>
                <a:r>
                  <a:rPr lang="pt-BR" dirty="0"/>
                  <a:t>) às </a:t>
                </a:r>
              </a:p>
              <a:p>
                <a:r>
                  <a:rPr lang="pt-BR" dirty="0"/>
                  <a:t>5 distâncias calculadas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/>
                        </m:ctrlPr>
                      </m:sSubPr>
                      <m:e>
                        <m:r>
                          <a:rPr lang="pt-BR" i="1"/>
                          <m:t>𝑑</m:t>
                        </m:r>
                      </m:e>
                      <m:sub>
                        <m:r>
                          <a:rPr lang="pt-BR"/>
                          <m:t>1</m:t>
                        </m:r>
                      </m:sub>
                    </m:sSub>
                    <m:r>
                      <a:rPr lang="pt-BR"/>
                      <m:t>,</m:t>
                    </m:r>
                    <m:sSub>
                      <m:sSubPr>
                        <m:ctrlPr>
                          <a:rPr lang="pt-BR" i="1"/>
                        </m:ctrlPr>
                      </m:sSubPr>
                      <m:e>
                        <m:r>
                          <a:rPr lang="pt-BR" i="1"/>
                          <m:t>𝑑</m:t>
                        </m:r>
                      </m:e>
                      <m:sub>
                        <m:r>
                          <a:rPr lang="pt-BR"/>
                          <m:t>2</m:t>
                        </m:r>
                      </m:sub>
                    </m:sSub>
                    <m:r>
                      <a:rPr lang="pt-BR"/>
                      <m:t>,</m:t>
                    </m:r>
                    <m:sSub>
                      <m:sSubPr>
                        <m:ctrlPr>
                          <a:rPr lang="pt-BR" i="1"/>
                        </m:ctrlPr>
                      </m:sSubPr>
                      <m:e>
                        <m:r>
                          <a:rPr lang="pt-BR" i="1"/>
                          <m:t>𝑑</m:t>
                        </m:r>
                      </m:e>
                      <m:sub>
                        <m:r>
                          <a:rPr lang="pt-BR"/>
                          <m:t>3</m:t>
                        </m:r>
                      </m:sub>
                    </m:sSub>
                    <m:r>
                      <a:rPr lang="pt-BR"/>
                      <m:t>,</m:t>
                    </m:r>
                    <m:sSub>
                      <m:sSubPr>
                        <m:ctrlPr>
                          <a:rPr lang="pt-BR" i="1"/>
                        </m:ctrlPr>
                      </m:sSubPr>
                      <m:e>
                        <m:r>
                          <a:rPr lang="pt-BR" i="1"/>
                          <m:t>𝑑</m:t>
                        </m:r>
                      </m:e>
                      <m:sub>
                        <m:r>
                          <a:rPr lang="pt-BR"/>
                          <m:t>4</m:t>
                        </m:r>
                      </m:sub>
                    </m:sSub>
                    <m:r>
                      <a:rPr lang="pt-BR"/>
                      <m:t>,</m:t>
                    </m:r>
                    <m:sSub>
                      <m:sSubPr>
                        <m:ctrlPr>
                          <a:rPr lang="pt-BR" i="1"/>
                        </m:ctrlPr>
                      </m:sSubPr>
                      <m:e>
                        <m:r>
                          <a:rPr lang="pt-BR" i="1"/>
                          <m:t>𝑑</m:t>
                        </m:r>
                      </m:e>
                      <m:sub>
                        <m:r>
                          <a:rPr lang="pt-BR"/>
                          <m:t>5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</p:txBody>
          </p:sp>
        </mc:Choice>
        <mc:Fallback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A7050E18-761A-24C3-F9BA-A19EFBD3A0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8509" y="4352367"/>
                <a:ext cx="4305281" cy="1200329"/>
              </a:xfrm>
              <a:prstGeom prst="rect">
                <a:avLst/>
              </a:prstGeom>
              <a:blipFill>
                <a:blip r:embed="rId6"/>
                <a:stretch>
                  <a:fillRect l="-1275" t="-2538" r="-283" b="-76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aixaDeTexto 18">
            <a:extLst>
              <a:ext uri="{FF2B5EF4-FFF2-40B4-BE49-F238E27FC236}">
                <a16:creationId xmlns:a16="http://schemas.microsoft.com/office/drawing/2014/main" id="{EE76E3E9-5E39-25D9-021A-B649FF261A18}"/>
              </a:ext>
            </a:extLst>
          </p:cNvPr>
          <p:cNvSpPr txBox="1"/>
          <p:nvPr/>
        </p:nvSpPr>
        <p:spPr>
          <a:xfrm>
            <a:off x="7818509" y="5666852"/>
            <a:ext cx="668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 = 5</a:t>
            </a:r>
          </a:p>
        </p:txBody>
      </p:sp>
    </p:spTree>
    <p:extLst>
      <p:ext uri="{BB962C8B-B14F-4D97-AF65-F5344CB8AC3E}">
        <p14:creationId xmlns:p14="http://schemas.microsoft.com/office/powerpoint/2010/main" val="33091613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9060B5-19BB-9E1C-17AA-7675C7A5C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DF058AF-6316-7A59-5D81-346DCDBC44D5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253AC14-9982-62B6-581F-3E653F7C1347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BC6ECD0-74E0-A744-B96C-D899987D329E}"/>
              </a:ext>
            </a:extLst>
          </p:cNvPr>
          <p:cNvSpPr/>
          <p:nvPr/>
        </p:nvSpPr>
        <p:spPr>
          <a:xfrm>
            <a:off x="1024128" y="502920"/>
            <a:ext cx="2994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C63E479-2C33-CD90-0003-8D76A65B1AF8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471308B-73E1-ED0D-09A9-238D98910691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52113A5-3B0C-C118-D7F4-1F3024AFA9FC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A6441EC-0ADB-74EE-5756-BE7903B7D4D5}"/>
              </a:ext>
            </a:extLst>
          </p:cNvPr>
          <p:cNvSpPr txBox="1"/>
          <p:nvPr/>
        </p:nvSpPr>
        <p:spPr>
          <a:xfrm>
            <a:off x="395841" y="944029"/>
            <a:ext cx="2955489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/>
              <a:t>MENOR DISTÂNCIA:</a:t>
            </a:r>
          </a:p>
          <a:p>
            <a:r>
              <a:rPr lang="pt-BR" sz="2400" b="1" dirty="0">
                <a:solidFill>
                  <a:srgbClr val="E24F46"/>
                </a:solidFill>
              </a:rPr>
              <a:t>D</a:t>
            </a:r>
            <a:r>
              <a:rPr lang="pt-BR" sz="1600" b="1" dirty="0">
                <a:solidFill>
                  <a:srgbClr val="E24F46"/>
                </a:solidFill>
              </a:rPr>
              <a:t>5 = </a:t>
            </a:r>
            <a:r>
              <a:rPr lang="pt-BR" sz="2800" b="1" dirty="0">
                <a:solidFill>
                  <a:srgbClr val="E24F46"/>
                </a:solidFill>
              </a:rPr>
              <a:t>4,2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323AC589-3627-4E74-3D9E-08257B6A345E}"/>
                  </a:ext>
                </a:extLst>
              </p:cNvPr>
              <p:cNvSpPr txBox="1"/>
              <p:nvPr/>
            </p:nvSpPr>
            <p:spPr>
              <a:xfrm>
                <a:off x="7801760" y="3506598"/>
                <a:ext cx="4169330" cy="895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000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sz="2000" b="1" i="1" smtClean="0">
                              <a:solidFill>
                                <a:srgbClr val="005E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1" i="1" smtClean="0">
                              <a:solidFill>
                                <a:srgbClr val="005E00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pt-BR" sz="20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000" b="1" i="1" smtClean="0">
                              <a:solidFill>
                                <a:srgbClr val="004E9A"/>
                              </a:solidFill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  <a:latin typeface="Cambria Math" panose="02040503050406030204" pitchFamily="18" charset="0"/>
                            </a:rPr>
                            <m:t>𝒀</m:t>
                          </m:r>
                        </m:e>
                      </m:d>
                      <m:r>
                        <a:rPr lang="pt-BR" sz="20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pt-BR" sz="2000" b="1" i="1">
                                  <a:solidFill>
                                    <a:srgbClr val="005E0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000" b="1" i="1">
                                      <a:solidFill>
                                        <a:srgbClr val="005E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pt-BR" sz="20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00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000" b="1" i="1">
                                  <a:solidFill>
                                    <a:srgbClr val="005E00"/>
                                  </a:solidFill>
                                  <a:effectLst>
                                    <a:outerShdw blurRad="38100" dist="38100" dir="2700000" algn="tl">
                                      <a:srgbClr val="000000">
                                        <a:alpha val="43137"/>
                                      </a:srgbClr>
                                    </a:outerShdw>
                                  </a:effectLst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000" b="1" i="1">
                                      <a:solidFill>
                                        <a:srgbClr val="005E00"/>
                                      </a:solidFill>
                                      <a:effectLst>
                                        <a:outerShdw blurRad="38100" dist="38100" dir="2700000" algn="tl">
                                          <a:srgbClr val="000000">
                                            <a:alpha val="43137"/>
                                          </a:srgbClr>
                                        </a:outerShdw>
                                      </a:effectLst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5E00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pt-BR" sz="20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pt-BR" sz="2000" b="1" i="1">
                                          <a:solidFill>
                                            <a:srgbClr val="004E9A"/>
                                          </a:solidFill>
                                          <a:effectLst>
                                            <a:outerShdw blurRad="38100" dist="38100" dir="2700000" algn="tl">
                                              <a:srgbClr val="000000">
                                                <a:alpha val="43137"/>
                                              </a:srgbClr>
                                            </a:outerShdw>
                                          </a:effectLst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pt-BR" sz="2000" dirty="0"/>
              </a:p>
              <a:p>
                <a:endParaRPr lang="pt-BR" sz="2800" dirty="0"/>
              </a:p>
            </p:txBody>
          </p:sp>
        </mc:Choice>
        <mc:Fallback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323AC589-3627-4E74-3D9E-08257B6A34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1760" y="3506598"/>
                <a:ext cx="4169330" cy="8959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Imagem 14">
            <a:extLst>
              <a:ext uri="{FF2B5EF4-FFF2-40B4-BE49-F238E27FC236}">
                <a16:creationId xmlns:a16="http://schemas.microsoft.com/office/drawing/2014/main" id="{1FB6492D-9F78-7210-0088-E8E42627B9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3407" y="1117154"/>
            <a:ext cx="3793105" cy="2070650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BEE9A7B7-136C-38D9-CACF-14423FCFF0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181" y="2340364"/>
            <a:ext cx="7555328" cy="4124442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8B17D96B-75EB-A8B9-16AD-0AFDFBF7D09F}"/>
              </a:ext>
            </a:extLst>
          </p:cNvPr>
          <p:cNvSpPr txBox="1"/>
          <p:nvPr/>
        </p:nvSpPr>
        <p:spPr>
          <a:xfrm>
            <a:off x="3829634" y="1403987"/>
            <a:ext cx="34898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/>
              <a:t>Portanto novo cliente é:</a:t>
            </a:r>
          </a:p>
          <a:p>
            <a:r>
              <a:rPr lang="pt-BR" sz="2400" b="1" dirty="0">
                <a:solidFill>
                  <a:srgbClr val="E24F46"/>
                </a:solidFill>
              </a:rPr>
              <a:t>Caçador de Ofertas</a:t>
            </a:r>
            <a:endParaRPr lang="pt-BR" sz="2800" b="1" dirty="0">
              <a:solidFill>
                <a:srgbClr val="E24F46"/>
              </a:solidFill>
            </a:endParaRP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276BF83E-2754-6770-8BE0-AADC8D049890}"/>
              </a:ext>
            </a:extLst>
          </p:cNvPr>
          <p:cNvSpPr/>
          <p:nvPr/>
        </p:nvSpPr>
        <p:spPr>
          <a:xfrm>
            <a:off x="1627464" y="1518569"/>
            <a:ext cx="2097272" cy="2499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44001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CBF7B-3056-3A49-1485-D018A1157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564E76-0DB9-139B-CD3E-34D98C11ED17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2DE34E4-9E93-EBEF-7B9C-216376A952DC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7756624-6B87-EC0C-D94C-AFB9337603C2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D74CA72-C359-1717-9080-73716BD55F6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93626B-D56B-5A22-D9ED-4B899318CB74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E4569AD-E100-9170-B70F-7792AF23D657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>
                <a:extLst>
                  <a:ext uri="{FF2B5EF4-FFF2-40B4-BE49-F238E27FC236}">
                    <a16:creationId xmlns:a16="http://schemas.microsoft.com/office/drawing/2014/main" id="{9E0AD4D7-89FC-A30A-C0F9-74D5DFB86529}"/>
                  </a:ext>
                </a:extLst>
              </p:cNvPr>
              <p:cNvSpPr/>
              <p:nvPr/>
            </p:nvSpPr>
            <p:spPr>
              <a:xfrm>
                <a:off x="475488" y="1012330"/>
                <a:ext cx="9875520" cy="2762716"/>
              </a:xfrm>
              <a:prstGeom prst="rect">
                <a:avLst/>
              </a:prstGeom>
              <a:solidFill>
                <a:schemeClr val="bg1"/>
              </a:solidFill>
              <a:ln/>
            </p:spPr>
            <p:txBody>
              <a:bodyPr wrap="square" lIns="508" tIns="508" rIns="508" bIns="508" rtlCol="0" anchor="ctr">
                <a:normAutofit/>
              </a:bodyPr>
              <a:lstStyle/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pt-BR" dirty="0"/>
                  <a:t>Os algoritmos anteriores ( </a:t>
                </a:r>
                <a:r>
                  <a:rPr lang="pt-BR" b="1" dirty="0"/>
                  <a:t>Regressão Linear</a:t>
                </a:r>
                <a:r>
                  <a:rPr lang="pt-BR" dirty="0"/>
                  <a:t>, </a:t>
                </a:r>
                <a:r>
                  <a:rPr lang="pt-BR" b="1" dirty="0"/>
                  <a:t>Regressão Logística</a:t>
                </a:r>
                <a:r>
                  <a:rPr lang="pt-BR" dirty="0"/>
                  <a:t>) eram </a:t>
                </a:r>
                <a:r>
                  <a:rPr lang="pt-BR" b="1" dirty="0">
                    <a:solidFill>
                      <a:srgbClr val="00206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PARAMÉTRICOS</a:t>
                </a:r>
                <a:r>
                  <a:rPr lang="pt-BR" dirty="0"/>
                  <a:t>: </a:t>
                </a:r>
              </a:p>
              <a:p>
                <a:pPr algn="just"/>
                <a:r>
                  <a:rPr lang="pt-BR" b="1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- w (peso) ;</a:t>
                </a:r>
              </a:p>
              <a:p>
                <a:pPr algn="just"/>
                <a:r>
                  <a:rPr lang="pt-BR" b="1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- b (vício ou </a:t>
                </a:r>
                <a:r>
                  <a:rPr lang="pt-BR" b="1" dirty="0" err="1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viez</a:t>
                </a:r>
                <a:r>
                  <a:rPr lang="pt-BR" b="1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) ;</a:t>
                </a:r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285750" indent="-285750" algn="just">
                  <a:buFont typeface="Arial" panose="020B0604020202020204" pitchFamily="34" charset="0"/>
                  <a:buChar char="•"/>
                </a:pPr>
                <a:r>
                  <a:rPr lang="pt-BR" dirty="0"/>
                  <a:t>O algoritmo KNN é </a:t>
                </a:r>
                <a:r>
                  <a:rPr lang="pt-BR" b="1" dirty="0">
                    <a:solidFill>
                      <a:srgbClr val="00206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NÃO-PARAMÉTRICO</a:t>
                </a:r>
                <a:r>
                  <a:rPr lang="pt-BR" dirty="0"/>
                  <a:t> (</a:t>
                </a:r>
                <a:r>
                  <a:rPr lang="pt-BR" b="1" u="sng" dirty="0"/>
                  <a:t>não existe </a:t>
                </a:r>
                <a:r>
                  <a:rPr lang="pt-BR" b="1" u="sng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w</a:t>
                </a:r>
                <a:r>
                  <a:rPr lang="pt-BR" b="1" u="sng" dirty="0"/>
                  <a:t> e </a:t>
                </a:r>
                <a:r>
                  <a:rPr lang="pt-BR" b="1" u="sng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b </a:t>
                </a:r>
                <a:r>
                  <a:rPr lang="pt-BR" b="1" u="sng" dirty="0"/>
                  <a:t>no Teorema de Pitágoras</a:t>
                </a:r>
                <a:r>
                  <a:rPr lang="pt-BR" dirty="0"/>
                  <a:t> ):</a:t>
                </a:r>
              </a:p>
              <a:p>
                <a:pPr algn="just"/>
                <a:r>
                  <a:rPr lang="pt-BR" b="1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-</a:t>
                </a:r>
                <a:r>
                  <a:rPr lang="pt-BR" b="1" dirty="0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b="1" i="1">
                            <a:solidFill>
                              <a:srgbClr val="005E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rgbClr val="005E00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𝑿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1" i="1">
                            <a:solidFill>
                              <a:srgbClr val="004E9A"/>
                            </a:solidFill>
                            <a:effectLst>
                              <a:outerShdw blurRad="38100" dist="38100" dir="2700000" algn="tl">
                                <a:srgbClr val="000000">
                                  <a:alpha val="43137"/>
                                </a:srgbClr>
                              </a:outerShdw>
                            </a:effectLst>
                            <a:latin typeface="Cambria Math" panose="02040503050406030204" pitchFamily="18" charset="0"/>
                          </a:rPr>
                          <m:t>𝒀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b="1" i="1">
                                    <a:solidFill>
                                      <a:srgbClr val="005E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b="1" i="1">
                                        <a:solidFill>
                                          <a:srgbClr val="005E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solidFill>
                                          <a:srgbClr val="005E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solidFill>
                                          <a:srgbClr val="005E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pt-BR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b="1" i="1">
                                        <a:solidFill>
                                          <a:srgbClr val="004E9A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solidFill>
                                          <a:srgbClr val="004E9A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solidFill>
                                          <a:srgbClr val="004E9A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pt-BR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pt-BR" b="1" i="1">
                                <a:solidFill>
                                  <a:srgbClr val="005E00"/>
                                </a:solidFill>
                                <a:effectLst>
                                  <a:outerShdw blurRad="38100" dist="38100" dir="2700000" algn="tl">
                                    <a:srgbClr val="000000">
                                      <a:alpha val="43137"/>
                                    </a:srgbClr>
                                  </a:outerShdw>
                                </a:effectLst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b="1" i="1">
                                    <a:solidFill>
                                      <a:srgbClr val="005E00"/>
                                    </a:solidFill>
                                    <a:effectLst>
                                      <a:outerShdw blurRad="38100" dist="38100" dir="2700000" algn="tl">
                                        <a:srgbClr val="000000">
                                          <a:alpha val="43137"/>
                                        </a:srgbClr>
                                      </a:outerShdw>
                                    </a:effectLst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b="1" i="1">
                                        <a:solidFill>
                                          <a:srgbClr val="005E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solidFill>
                                          <a:srgbClr val="005E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solidFill>
                                          <a:srgbClr val="005E00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pt-BR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b="1" i="1">
                                        <a:solidFill>
                                          <a:srgbClr val="004E9A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solidFill>
                                          <a:srgbClr val="004E9A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solidFill>
                                          <a:srgbClr val="004E9A"/>
                                        </a:solidFill>
                                        <a:effectLst>
                                          <a:outerShdw blurRad="38100" dist="38100" dir="2700000" algn="tl">
                                            <a:srgbClr val="000000">
                                              <a:alpha val="43137"/>
                                            </a:srgbClr>
                                          </a:outerShdw>
                                        </a:effectLst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pt-BR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pt-BR" dirty="0"/>
              </a:p>
              <a:p>
                <a:pPr algn="just"/>
                <a:endParaRPr lang="pt-BR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mc:Choice>
        <mc:Fallback>
          <p:sp>
            <p:nvSpPr>
              <p:cNvPr id="8" name="Text 6">
                <a:extLst>
                  <a:ext uri="{FF2B5EF4-FFF2-40B4-BE49-F238E27FC236}">
                    <a16:creationId xmlns:a16="http://schemas.microsoft.com/office/drawing/2014/main" id="{9E0AD4D7-89FC-A30A-C0F9-74D5DFB865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" y="1012330"/>
                <a:ext cx="9875520" cy="2762716"/>
              </a:xfrm>
              <a:prstGeom prst="rect">
                <a:avLst/>
              </a:prstGeom>
              <a:blipFill>
                <a:blip r:embed="rId3"/>
                <a:stretch>
                  <a:fillRect l="-1481"/>
                </a:stretch>
              </a:blipFill>
              <a:ln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61604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3DE41E-E8F4-DA3F-551F-A4BA60279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00D3EF3-510B-B5CD-7559-4CA03FEFED1D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11BEEB-1BD2-A39D-43F4-98140FF3D8C5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D1C4B19-FF35-132E-73AD-14A4C312233D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6F8D320-643C-4379-EDB3-ED8EA6ADA4DE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1E8FEB8-A96D-E23C-2FDC-672C510880F9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5283E82-9F47-F352-1CCC-D7E19383B55A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3225676-43D4-9F77-0FA4-82EF94D5B6AD}"/>
              </a:ext>
            </a:extLst>
          </p:cNvPr>
          <p:cNvSpPr txBox="1"/>
          <p:nvPr/>
        </p:nvSpPr>
        <p:spPr>
          <a:xfrm>
            <a:off x="395841" y="1048435"/>
            <a:ext cx="5138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/>
              <a:t>KNN EXEMPLO PYTHON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307B1DAE-F364-2EB1-BF25-BC57F70C9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483" y="1014960"/>
            <a:ext cx="3793105" cy="2070650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9C39BD6E-4A1E-5E46-BFE0-A5B0901929FA}"/>
              </a:ext>
            </a:extLst>
          </p:cNvPr>
          <p:cNvSpPr txBox="1"/>
          <p:nvPr/>
        </p:nvSpPr>
        <p:spPr>
          <a:xfrm>
            <a:off x="771787" y="2978092"/>
            <a:ext cx="4630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Criar os dados de exemplo  em PYTHON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305947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CD3B1A-37BC-A300-13EB-195BAD68F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8AC7338-F0A1-1912-221C-9F776F317307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EE818E4-DF92-3979-407C-4A40E4586E6D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52DAAF4-53EA-16D1-C2C6-33440068F298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178F3B6-F89C-7CFB-03CD-896E3BF637A8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5919E8-44AC-DE19-3A54-97797B9DDDB6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211EE04-1236-08C7-C618-628641072189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2D8F9605-9145-7B6B-8FCF-9844D6072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483" y="1014960"/>
            <a:ext cx="3793105" cy="2070650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C17C6F0-22E2-0BFC-0384-77DC9CD2FA6D}"/>
              </a:ext>
            </a:extLst>
          </p:cNvPr>
          <p:cNvSpPr txBox="1"/>
          <p:nvPr/>
        </p:nvSpPr>
        <p:spPr>
          <a:xfrm>
            <a:off x="3047301" y="-22388375"/>
            <a:ext cx="6094602" cy="13126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import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pandas as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pd</a:t>
            </a: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import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numpy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as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</a:t>
            </a: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# Configurar semente para reprodutibilidade dos resultados na aula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np.random.seed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(42)</a:t>
            </a: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def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gerar_clientes_por_perfil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(perfil,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"""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Gera dados sintéticos baseados nas características de cada perfil de cliente.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Atributos: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-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qtd_frescos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: % de itens hortifrúti/frescos na cesta (0 a 100)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-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qtd_industrializados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: % de itens ultraprocessados/congelados (0 a 100)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-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preco_medio_item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: Valor médio gasto por item em R$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-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volume_total_itens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: Quantidade total de itens no carrinho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- %_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itens_promocao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: Porcentagem de itens comprados com desconto (0 a 100)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"""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if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perfil == "Cliente Saudável":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frescos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=70,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industrializados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volume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elif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perfil == "Família Grande":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frescos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industrializados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=45,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=12,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volume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=12,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=40,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elif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perfil == "Casal Jovem Gourmet":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frescos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=45,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=7,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industrializados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volume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=4,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=4,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elif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perfil == "Solteiro Prático":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frescos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=4,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industrializados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=70,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volume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=12,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elif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perfil == "Caçador de Ofertas":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frescos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=6,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industrializados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volume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=35,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np.random.normal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loc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=80,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scale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=8,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size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df_perfil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pd.DataFrame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({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'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pct_frescos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':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np.clip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(frescos, 0, 100),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'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pct_industrializados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':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np.clip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(industrializados, 0, 100),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'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preco_medio_item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':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np.clip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preco_medio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, 1,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None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),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'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volume_total_itens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':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np.clip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(volume, 1,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None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).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astype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int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),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'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pct_promocao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':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np.clip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promocao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, 0, 100),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    '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perfil_cliente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': perfil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})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return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df_perfil</a:t>
            </a: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# Gerar 20 amostras para cada um dos 5 perfis (Total: 100 clientes)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perfis = ["Cliente Saudável", "Família Grande", "Casal Jovem Gourmet", "Solteiro Prático", "Caçador de Ofertas"]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[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gerar_clientes_por_perfil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(p,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n_amostras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=20) for p in perfis]</a:t>
            </a: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# Combinar em um único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DataFrame</a:t>
            </a: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df_clientes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pd.concat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ignore_index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=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True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# Arredondar valores numéricos para melhor apresentação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df_clientes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df_clientes.round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(2)</a:t>
            </a:r>
          </a:p>
          <a:p>
            <a:pPr marL="0" marR="0" indent="0" algn="l">
              <a:lnSpc>
                <a:spcPct val="100000"/>
              </a:lnSpc>
              <a:buNone/>
            </a:pPr>
            <a:endParaRPr lang="pt-BR" sz="11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# Exibir os 5 primeiros registros e salvar em CSV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print(</a:t>
            </a: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df_clientes.head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())</a:t>
            </a:r>
          </a:p>
          <a:p>
            <a:pPr marL="0" marR="0" indent="0" algn="l">
              <a:lnSpc>
                <a:spcPct val="100000"/>
              </a:lnSpc>
              <a:buNone/>
            </a:pPr>
            <a:r>
              <a:rPr lang="pt-BR" sz="1100" b="0" i="0" dirty="0" err="1">
                <a:solidFill>
                  <a:schemeClr val="tx1"/>
                </a:solidFill>
                <a:effectLst/>
                <a:latin typeface="+mn-lt"/>
              </a:rPr>
              <a:t>df_clientes.to_csv</a:t>
            </a:r>
            <a:r>
              <a:rPr lang="pt-BR" sz="1100" b="0" i="0" dirty="0">
                <a:solidFill>
                  <a:schemeClr val="tx1"/>
                </a:solidFill>
                <a:effectLst/>
                <a:latin typeface="+mn-lt"/>
              </a:rPr>
              <a:t>("clientes_supermercado_knn.csv", index=False)</a:t>
            </a:r>
            <a:endParaRPr lang="pt-BR" sz="11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4DCDE43-C379-0231-6B72-C59ADB9B3AD5}"/>
              </a:ext>
            </a:extLst>
          </p:cNvPr>
          <p:cNvSpPr txBox="1"/>
          <p:nvPr/>
        </p:nvSpPr>
        <p:spPr>
          <a:xfrm>
            <a:off x="515112" y="1042416"/>
            <a:ext cx="7014721" cy="1578893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pandas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numpy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Configurar semente para reprodutibilidade dos resultados na aula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np.random.seed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def</a:t>
            </a:r>
            <a:r>
              <a:rPr lang="pt-BR" sz="1200" b="0" i="0" dirty="0">
                <a:solidFill>
                  <a:srgbClr val="9C27B0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9C27B0"/>
                </a:solidFill>
                <a:effectLst/>
                <a:latin typeface="Roboto Mono" pitchFamily="2" charset="0"/>
              </a:rPr>
              <a:t>gerar_clientes_por_perfil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(perfil,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"""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Gera dados sintéticos baseados nas características de cada perfil de cliente.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Atributos: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- 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qtd_frescos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% de itens hortifrúti/frescos na cesta (0 a 100)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- 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qtd_industrializados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% de itens ultraprocessados/congelados (0 a 100)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- 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preco_medio_item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Valor médio gasto por item em R$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- 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volume_total_itens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Quantidade total de itens no carrinho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- %_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itens_promocao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 Porcentagem de itens comprados com desconto (0 a 100)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"""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perfil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==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"Cliente Saudável"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frescos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industrializados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preco_medio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volume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promocao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elif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perfil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==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"Família Grande"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frescos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industrializados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preco_medio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volume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promocao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elif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perfil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==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"Casal Jovem Gourmet"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frescos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industrializados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preco_medio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volume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promocao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elif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perfil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==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"Solteiro Prático"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frescos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industrializados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preco_medio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volume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promocao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elif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perfil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==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"Caçador de Ofertas"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frescos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industrializados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preco_medio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volume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35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promocao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np.random.normal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loc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scale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size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df_perfil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pd.DataFrame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({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pct_frescos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np.clip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(frescos,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pct_industrializados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np.clip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(industrializados,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preco_medio_item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np.clip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preco_medio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C53929"/>
                </a:solidFill>
                <a:effectLst/>
                <a:latin typeface="Roboto Mono" pitchFamily="2" charset="0"/>
              </a:rPr>
              <a:t>None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volume_total_itens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np.clip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(volume,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C53929"/>
                </a:solidFill>
                <a:effectLst/>
                <a:latin typeface="Roboto Mono" pitchFamily="2" charset="0"/>
              </a:rPr>
              <a:t>None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).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astype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int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pct_promocao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np.clip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promocao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),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    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perfil_cliente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perfil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})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   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return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df_perfil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Gerar 20 amostras para cada um dos 5 perfis (Total: 100 clientes)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perfis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"Cliente Saudável"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"Família Grande"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"Casal Jovem Gourmet"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"Solteiro Prático"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"Caçador de Ofertas"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[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gerar_clientes_por_perfil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(p,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n_amostras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for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in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perfis]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Combinar em um único </a:t>
            </a:r>
            <a:r>
              <a:rPr lang="pt-BR" sz="1200" b="0" i="0" dirty="0" err="1">
                <a:solidFill>
                  <a:srgbClr val="D81B60"/>
                </a:solidFill>
                <a:effectLst/>
                <a:latin typeface="Roboto Mono" pitchFamily="2" charset="0"/>
              </a:rPr>
              <a:t>DataFrame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pd.concat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ignore_index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 err="1">
                <a:solidFill>
                  <a:srgbClr val="C53929"/>
                </a:solidFill>
                <a:effectLst/>
                <a:latin typeface="Roboto Mono" pitchFamily="2" charset="0"/>
              </a:rPr>
              <a:t>True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Arredondar valores numéricos para melhor apresentação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df_clientes.round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Exibir os 5 primeiros registros e salvar em CSV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df_clientes.head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())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df_clientes.to_csv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"clientes_supermercado_knn.csv"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index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False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5717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85B7B5-4EFF-B4B0-6F24-1F9FA8F8D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D3D9F0E-9A22-361E-BE08-B7CFFB9814A0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7B14295-051D-3F82-C406-3344BCCC8017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AF50487-D10D-C846-5463-3F6629E0D6E9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F317EAD-F1F3-FAD8-0C84-1037575FD289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F363D1B-E10A-EF2B-E298-D3A762D3F1FD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DB1936F-528E-2542-FC3E-4A192D1AAB0A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C882EBD-6C20-2695-55DB-6C1E0E6099A8}"/>
              </a:ext>
            </a:extLst>
          </p:cNvPr>
          <p:cNvSpPr txBox="1"/>
          <p:nvPr/>
        </p:nvSpPr>
        <p:spPr>
          <a:xfrm>
            <a:off x="395841" y="1048435"/>
            <a:ext cx="5138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b="1" dirty="0"/>
              <a:t>KNN EXEMPLO PYTHON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BCAD8EBA-AACA-7BA0-3CA6-AB9928DDF8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483" y="1014960"/>
            <a:ext cx="3793105" cy="2070650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0C275905-3F32-E663-560B-E188D3475AC8}"/>
              </a:ext>
            </a:extLst>
          </p:cNvPr>
          <p:cNvSpPr txBox="1"/>
          <p:nvPr/>
        </p:nvSpPr>
        <p:spPr>
          <a:xfrm>
            <a:off x="177727" y="2835638"/>
            <a:ext cx="72297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/>
              <a:t>APLICAR O AGRUPAMENTO USANDO KNN</a:t>
            </a:r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val="10652921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CE19F9-CB6E-1162-F8A6-932F1AE3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5F20B4F-117B-476A-6D90-3074AFA20256}"/>
              </a:ext>
            </a:extLst>
          </p:cNvPr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EA884F7-8611-CBBB-9DAF-84BAE295B397}"/>
              </a:ext>
            </a:extLst>
          </p:cNvPr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1201064-7EC0-FFDE-AA3F-99290D950B4E}"/>
              </a:ext>
            </a:extLst>
          </p:cNvPr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–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Vizinhos</a:t>
            </a: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Mais </a:t>
            </a:r>
            <a:r>
              <a:rPr lang="en-US" sz="1700" b="1" dirty="0" err="1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</a:t>
            </a:r>
            <a:endParaRPr lang="en-US" sz="17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8E6196E-8635-E267-39FB-336203A436E7}"/>
              </a:ext>
            </a:extLst>
          </p:cNvPr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48B9387-0AFA-A6F3-B82A-88AFDAEF8429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BF88342-12E9-38FF-1FCA-70DC87A31E4D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96865AAB-4EF3-2F11-8DCA-E764FE94F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483" y="1014960"/>
            <a:ext cx="3793105" cy="2070650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0BA7762D-7B16-B9C5-C094-E2EDC8070E8E}"/>
              </a:ext>
            </a:extLst>
          </p:cNvPr>
          <p:cNvSpPr txBox="1"/>
          <p:nvPr/>
        </p:nvSpPr>
        <p:spPr>
          <a:xfrm>
            <a:off x="6207853" y="3214921"/>
            <a:ext cx="5984147" cy="33047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3. Treinar o modelo KNN com k=5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knn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KNeighborsClassifier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n_neighbors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knn.fit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X_scaled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y)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4. Exemplo de um NOVO cliente que acabou de passar no caixa: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Exemplo: 12% frescos, 68% industrializados, </a:t>
            </a: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R$ 14.50 preço médio, 10 itens, 15% promoção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novo_cliente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np.array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([[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12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68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14.50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15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]])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novo_cliente_scaled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scaler.transform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novo_cliente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Predição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predicao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knn.predict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novo_cliente_scaled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print(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f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\</a:t>
            </a:r>
            <a:r>
              <a:rPr lang="pt-BR" sz="1200" b="0" i="0" dirty="0" err="1">
                <a:solidFill>
                  <a:srgbClr val="C53929"/>
                </a:solidFill>
                <a:effectLst/>
                <a:latin typeface="Roboto Mono" pitchFamily="2" charset="0"/>
              </a:rPr>
              <a:t>n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Perfil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previsto para o novo cliente: 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{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predicao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r>
              <a:rPr lang="pt-BR" sz="12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}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Saída esperada: "Solteiro Prático"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0C96806-FBD8-72ED-A708-8E8942FCCE61}"/>
              </a:ext>
            </a:extLst>
          </p:cNvPr>
          <p:cNvSpPr txBox="1"/>
          <p:nvPr/>
        </p:nvSpPr>
        <p:spPr>
          <a:xfrm>
            <a:off x="362824" y="1011936"/>
            <a:ext cx="5733176" cy="284308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from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sklearn.model_selection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train_test_split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from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sklearn.preprocessing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StandardScaler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from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sklearn.neighbors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KNeighborsClassifier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1. Separar Atributos (X) e Rótulo (y)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X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df_clientes.drop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sz="12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columns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perfil_cliente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y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df_clientes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perfil_cliente</a:t>
            </a:r>
            <a:r>
              <a:rPr lang="pt-BR" sz="12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'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# 2. Padronização dos dados </a:t>
            </a: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>
                <a:solidFill>
                  <a:srgbClr val="D81B60"/>
                </a:solidFill>
                <a:effectLst/>
                <a:latin typeface="Roboto Mono" pitchFamily="2" charset="0"/>
              </a:rPr>
              <a:t>(fundamental para explicar o impacto da distância no KNN)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scaler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StandardScaler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marL="0" marR="0" indent="0" algn="l">
              <a:lnSpc>
                <a:spcPct val="125022"/>
              </a:lnSpc>
              <a:buNone/>
            </a:pP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X_scaled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2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scaler.fit_transform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(X)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7281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E2876329B5D3B4FBA1D26A8667C2633" ma:contentTypeVersion="14" ma:contentTypeDescription="Crie um novo documento." ma:contentTypeScope="" ma:versionID="c18e529f75eeba5e3380f7426394bcf9">
  <xsd:schema xmlns:xsd="http://www.w3.org/2001/XMLSchema" xmlns:xs="http://www.w3.org/2001/XMLSchema" xmlns:p="http://schemas.microsoft.com/office/2006/metadata/properties" xmlns:ns3="1ea3c9c0-e698-4ea3-9529-a2c71b2c9eef" xmlns:ns4="38d922ee-4e44-47a7-a878-a22d9e8094bc" targetNamespace="http://schemas.microsoft.com/office/2006/metadata/properties" ma:root="true" ma:fieldsID="6a86d318e1343c5a9145aa5d09437703" ns3:_="" ns4:_="">
    <xsd:import namespace="1ea3c9c0-e698-4ea3-9529-a2c71b2c9eef"/>
    <xsd:import namespace="38d922ee-4e44-47a7-a878-a22d9e8094b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a3c9c0-e698-4ea3-9529-a2c71b2c9e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d922ee-4e44-47a7-a878-a22d9e8094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ea3c9c0-e698-4ea3-9529-a2c71b2c9eef" xsi:nil="true"/>
  </documentManagement>
</p:properties>
</file>

<file path=customXml/itemProps1.xml><?xml version="1.0" encoding="utf-8"?>
<ds:datastoreItem xmlns:ds="http://schemas.openxmlformats.org/officeDocument/2006/customXml" ds:itemID="{CA2158D8-4C33-4132-A61E-E0532140A88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ea3c9c0-e698-4ea3-9529-a2c71b2c9eef"/>
    <ds:schemaRef ds:uri="38d922ee-4e44-47a7-a878-a22d9e8094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D4652CD-F36D-4B45-A152-BCD8A2661B4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91E0874-EAAB-4A60-8F28-27A437EC07BB}">
  <ds:schemaRefs>
    <ds:schemaRef ds:uri="http://schemas.microsoft.com/office/2006/metadata/properties"/>
    <ds:schemaRef ds:uri="http://schemas.microsoft.com/office/infopath/2007/PartnerControls"/>
    <ds:schemaRef ds:uri="1ea3c9c0-e698-4ea3-9529-a2c71b2c9eef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944</TotalTime>
  <Words>6040</Words>
  <Application>Microsoft Office PowerPoint</Application>
  <PresentationFormat>Widescreen</PresentationFormat>
  <Paragraphs>992</Paragraphs>
  <Slides>37</Slides>
  <Notes>37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37</vt:i4>
      </vt:variant>
    </vt:vector>
  </HeadingPairs>
  <TitlesOfParts>
    <vt:vector size="49" baseType="lpstr">
      <vt:lpstr>Aptos</vt:lpstr>
      <vt:lpstr>Aptos Display</vt:lpstr>
      <vt:lpstr>Arial</vt:lpstr>
      <vt:lpstr>Cambria Math</vt:lpstr>
      <vt:lpstr>Carlito</vt:lpstr>
      <vt:lpstr>Inter</vt:lpstr>
      <vt:lpstr>Roboto Mono</vt:lpstr>
      <vt:lpstr>Symbol</vt:lpstr>
      <vt:lpstr>Times New Roman</vt:lpstr>
      <vt:lpstr>Wingdings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04 - Organização e Preparação de Dados; Regressão Logística e KNN</dc:title>
  <dc:subject>Organização e Preparação de Dados; Regressão Logística e KNN</dc:subject>
  <dc:creator>OpenAI</dc:creator>
  <cp:lastModifiedBy>Miguel Suarez Xavier Penteado</cp:lastModifiedBy>
  <cp:revision>30</cp:revision>
  <dcterms:created xsi:type="dcterms:W3CDTF">2026-08-22T16:19:43Z</dcterms:created>
  <dcterms:modified xsi:type="dcterms:W3CDTF">2026-09-01T19:48:40Z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0x0101002E2876329B5D3B4FBA1D26A8667C2633</vt:lpwstr>
  </property>
</Properties>
</file>