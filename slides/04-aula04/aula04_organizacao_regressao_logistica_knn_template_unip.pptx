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50" r:id="rId5"/>
  </p:sldMasterIdLst>
  <p:notesMasterIdLst>
    <p:notesMasterId r:id="rId24"/>
  </p:notesMasterIdLst>
  <p:sldIdLst>
    <p:sldId id="273" r:id="rId6"/>
    <p:sldId id="274" r:id="rId7"/>
    <p:sldId id="256" r:id="rId8"/>
    <p:sldId id="275" r:id="rId9"/>
    <p:sldId id="276" r:id="rId10"/>
    <p:sldId id="277" r:id="rId11"/>
    <p:sldId id="278" r:id="rId12"/>
    <p:sldId id="257" r:id="rId13"/>
    <p:sldId id="258" r:id="rId14"/>
    <p:sldId id="261" r:id="rId15"/>
    <p:sldId id="262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F76"/>
    <a:srgbClr val="0099FF"/>
    <a:srgbClr val="009A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5662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F0D617-58B0-48D7-90B7-0ABD06AE6839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DejaVu Sans"/>
                <a:cs typeface="DejaVu San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DejaVu Sans"/>
              <a:cs typeface="DejaVu San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CF82339-5E22-4774-A41C-D5077A7CFDFF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DejaVu Sans"/>
                <a:cs typeface="DejaVu San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DejaVu Sans"/>
              <a:cs typeface="DejaVu San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834A3-0D05-5EDC-B610-F00E9FFDC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1BC1DE-D2EE-98CF-E1E7-700DB0DC62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B2AD98-D497-213D-337C-A50DE48554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A16D8E-91C5-2FF6-D681-5633224DC0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2917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0CC94-4415-64F9-50CF-6B422CED2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FF5DF-D8AA-8BC0-4EC9-6E74E07399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5735EB-F7D1-17AD-D3FF-D12D4A1C49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02654C-3BB9-CF1C-4D74-B12666E564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0710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87425-A340-7889-990C-A0AC8B423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1AAD0E-FB32-433F-10B1-E58995BB3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ADB8BF-5AE5-A3ED-0F0A-4145B7C2EB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F36AF0-0A4A-9B81-9988-2552C6F5DD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3139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3FDE0-34AF-0572-8F54-B3523425B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80FF88-2007-E97B-F0F2-2336E6298B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DD795-29E9-E331-A26C-48240B2F9A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453D6-D89F-E6E1-D267-97B89BFF90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9131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521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>
              <a:buNone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do texto do título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de texto dos tópicos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2.º nível de tópicos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3.º nível de tópicos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4.º nível de tópicos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5.º nível de tópicos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6.º nível de tópicos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7.º nível de tópicos</a:t>
            </a:r>
          </a:p>
        </p:txBody>
      </p:sp>
    </p:spTree>
    <p:extLst>
      <p:ext uri="{BB962C8B-B14F-4D97-AF65-F5344CB8AC3E}">
        <p14:creationId xmlns:p14="http://schemas.microsoft.com/office/powerpoint/2010/main" val="1623070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4"/>
          <p:cNvSpPr/>
          <p:nvPr/>
        </p:nvSpPr>
        <p:spPr>
          <a:xfrm>
            <a:off x="702360" y="712800"/>
            <a:ext cx="9301332" cy="20287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Aula 04 – 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Organização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 e 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Preparação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 de dados, 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Regressão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 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Logística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 e 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Agrupamentos</a:t>
            </a: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 com KNN</a:t>
            </a:r>
            <a:endParaRPr kumimoji="0" lang="pt-BR" sz="4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Text 5"/>
          <p:cNvSpPr/>
          <p:nvPr/>
        </p:nvSpPr>
        <p:spPr>
          <a:xfrm>
            <a:off x="701280" y="2814972"/>
            <a:ext cx="2432689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D7EAF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Professor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D7EAF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Miguél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D7EAF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Suares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hape 6"/>
              <p:cNvSpPr/>
              <p:nvPr/>
            </p:nvSpPr>
            <p:spPr>
              <a:xfrm>
                <a:off x="6942166" y="2559846"/>
                <a:ext cx="4220307" cy="949262"/>
              </a:xfrm>
              <a:prstGeom prst="roundRect">
                <a:avLst>
                  <a:gd name="adj" fmla="val 9412"/>
                </a:avLst>
              </a:prstGeom>
              <a:solidFill>
                <a:srgbClr val="132F55"/>
              </a:solidFill>
              <a:ln w="15240">
                <a:solidFill>
                  <a:srgbClr val="4DA3FF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lvl="0"/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US" sz="2400" i="0" dirty="0">
                          <a:solidFill>
                            <a:srgbClr val="FFFFFF"/>
                          </a:solidFill>
                          <a:latin typeface="Cambria Math"/>
                          <a:ea typeface="Cambria Math"/>
                        </a:rPr>
                        <m:t>ŷ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pt-BR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pt-BR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pt-BR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1+</m:t>
                          </m:r>
                          <m:sSup>
                            <m:sSupPr>
                              <m:ctrlPr>
                                <a:rPr kumimoji="0" lang="pt-BR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pt-BR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𝑒</m:t>
                              </m:r>
                            </m:e>
                            <m:sup>
                              <m:r>
                                <a:rPr kumimoji="0" lang="pt-BR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FFFF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kumimoji="0" lang="pt-BR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FFFF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kumimoji="0" lang="pt-BR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FFFF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kumimoji="0" lang="pt-BR" sz="2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rgbClr val="FFFF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+…+</m:t>
                                  </m:r>
                                  <m:sSub>
                                    <m:sSubPr>
                                      <m:ctrlP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kumimoji="0" lang="pt-BR" sz="24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srgbClr val="FFFFFF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sup>
                          </m:sSup>
                        </m:den>
                      </m:f>
                    </m:oMath>
                  </m:oMathPara>
                </a14:m>
                <a:endParaRPr kumimoji="0" lang="pt-BR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3" name="Shap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2166" y="2559846"/>
                <a:ext cx="4220307" cy="949262"/>
              </a:xfrm>
              <a:prstGeom prst="roundRect">
                <a:avLst>
                  <a:gd name="adj" fmla="val 9412"/>
                </a:avLst>
              </a:prstGeom>
              <a:blipFill>
                <a:blip r:embed="rId3"/>
                <a:stretch>
                  <a:fillRect/>
                </a:stretch>
              </a:blipFill>
              <a:ln w="15240">
                <a:solidFill>
                  <a:srgbClr val="4DA3FF"/>
                </a:solidFill>
                <a:round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 7"/>
          <p:cNvSpPr/>
          <p:nvPr/>
        </p:nvSpPr>
        <p:spPr>
          <a:xfrm>
            <a:off x="7551732" y="2632926"/>
            <a:ext cx="3017160" cy="63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lvl="0" algn="ctr">
              <a:tabLst>
                <a:tab pos="0" algn="l"/>
              </a:tabLst>
            </a:pPr>
            <a:endParaRPr kumimoji="0" lang="pt-BR" sz="2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Shape 8"/>
          <p:cNvSpPr/>
          <p:nvPr/>
        </p:nvSpPr>
        <p:spPr>
          <a:xfrm>
            <a:off x="537698" y="4189320"/>
            <a:ext cx="1188360" cy="456840"/>
          </a:xfrm>
          <a:prstGeom prst="roundRect">
            <a:avLst>
              <a:gd name="adj" fmla="val 16000"/>
            </a:avLst>
          </a:prstGeom>
          <a:solidFill>
            <a:srgbClr val="EAF4FF"/>
          </a:solidFill>
          <a:ln w="15240">
            <a:solidFill>
              <a:srgbClr val="EAF4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6" name="Text 9"/>
          <p:cNvSpPr/>
          <p:nvPr/>
        </p:nvSpPr>
        <p:spPr>
          <a:xfrm>
            <a:off x="610778" y="4262400"/>
            <a:ext cx="104220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População</a:t>
            </a:r>
            <a:endParaRPr kumimoji="0" lang="pt-BR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Shape 10"/>
          <p:cNvSpPr/>
          <p:nvPr/>
        </p:nvSpPr>
        <p:spPr>
          <a:xfrm>
            <a:off x="1785428" y="4417920"/>
            <a:ext cx="230945" cy="0"/>
          </a:xfrm>
          <a:prstGeom prst="line">
            <a:avLst/>
          </a:prstGeom>
          <a:ln w="19050">
            <a:solidFill>
              <a:srgbClr val="FFFFFF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Shape 11"/>
          <p:cNvSpPr/>
          <p:nvPr/>
        </p:nvSpPr>
        <p:spPr>
          <a:xfrm>
            <a:off x="2094523" y="4188186"/>
            <a:ext cx="836246" cy="456840"/>
          </a:xfrm>
          <a:prstGeom prst="roundRect">
            <a:avLst>
              <a:gd name="adj" fmla="val 16000"/>
            </a:avLst>
          </a:prstGeom>
          <a:solidFill>
            <a:srgbClr val="EAF4FF"/>
          </a:solidFill>
          <a:ln w="15240">
            <a:solidFill>
              <a:srgbClr val="EAF4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" name="Text 12"/>
          <p:cNvSpPr/>
          <p:nvPr/>
        </p:nvSpPr>
        <p:spPr>
          <a:xfrm>
            <a:off x="2163133" y="4261266"/>
            <a:ext cx="699045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Estrato</a:t>
            </a:r>
            <a:endParaRPr kumimoji="0" lang="pt-BR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" name="Shape 13"/>
          <p:cNvSpPr/>
          <p:nvPr/>
        </p:nvSpPr>
        <p:spPr>
          <a:xfrm>
            <a:off x="2977281" y="4418091"/>
            <a:ext cx="231727" cy="0"/>
          </a:xfrm>
          <a:prstGeom prst="line">
            <a:avLst/>
          </a:prstGeom>
          <a:ln w="19050">
            <a:solidFill>
              <a:srgbClr val="FFFFFF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1" name="Shape 14"/>
          <p:cNvSpPr/>
          <p:nvPr/>
        </p:nvSpPr>
        <p:spPr>
          <a:xfrm>
            <a:off x="3272913" y="4189320"/>
            <a:ext cx="836247" cy="456840"/>
          </a:xfrm>
          <a:prstGeom prst="roundRect">
            <a:avLst>
              <a:gd name="adj" fmla="val 16000"/>
            </a:avLst>
          </a:prstGeom>
          <a:solidFill>
            <a:srgbClr val="EAF4FF"/>
          </a:solidFill>
          <a:ln w="15240">
            <a:solidFill>
              <a:srgbClr val="EAF4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" name="Text 15"/>
          <p:cNvSpPr/>
          <p:nvPr/>
        </p:nvSpPr>
        <p:spPr>
          <a:xfrm>
            <a:off x="3272913" y="4262400"/>
            <a:ext cx="792715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 fontScale="925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Proporção</a:t>
            </a:r>
            <a:endParaRPr kumimoji="0" lang="pt-BR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" name="Text 16"/>
          <p:cNvSpPr/>
          <p:nvPr/>
        </p:nvSpPr>
        <p:spPr>
          <a:xfrm>
            <a:off x="749880" y="5039280"/>
            <a:ext cx="3017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BBD7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UNIP • GTI – Oferta 2026 - Gestão e Análise de Dados</a:t>
            </a:r>
            <a:endParaRPr kumimoji="0" lang="pt-BR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" name="Retângulo 18"/>
          <p:cNvSpPr/>
          <p:nvPr/>
        </p:nvSpPr>
        <p:spPr>
          <a:xfrm>
            <a:off x="0" y="0"/>
            <a:ext cx="12191760" cy="712800"/>
          </a:xfrm>
          <a:prstGeom prst="rect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Retângulo 20"/>
          <p:cNvSpPr/>
          <p:nvPr/>
        </p:nvSpPr>
        <p:spPr>
          <a:xfrm>
            <a:off x="-360" y="5852160"/>
            <a:ext cx="12191760" cy="712800"/>
          </a:xfrm>
          <a:prstGeom prst="rect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6" name="Imagem 25"/>
          <p:cNvPicPr/>
          <p:nvPr/>
        </p:nvPicPr>
        <p:blipFill>
          <a:blip r:embed="rId4"/>
          <a:stretch/>
        </p:blipFill>
        <p:spPr>
          <a:xfrm>
            <a:off x="4116960" y="0"/>
            <a:ext cx="3533400" cy="712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Shape 14">
            <a:extLst>
              <a:ext uri="{FF2B5EF4-FFF2-40B4-BE49-F238E27FC236}">
                <a16:creationId xmlns:a16="http://schemas.microsoft.com/office/drawing/2014/main" id="{159F20C1-21F3-15F3-A4A0-2329B7122AF5}"/>
              </a:ext>
            </a:extLst>
          </p:cNvPr>
          <p:cNvSpPr/>
          <p:nvPr/>
        </p:nvSpPr>
        <p:spPr>
          <a:xfrm>
            <a:off x="4477624" y="4189671"/>
            <a:ext cx="836247" cy="456840"/>
          </a:xfrm>
          <a:prstGeom prst="roundRect">
            <a:avLst>
              <a:gd name="adj" fmla="val 16000"/>
            </a:avLst>
          </a:prstGeom>
          <a:solidFill>
            <a:srgbClr val="EAF4FF"/>
          </a:solidFill>
          <a:ln w="15240">
            <a:solidFill>
              <a:srgbClr val="EAF4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" name="Text 15">
            <a:extLst>
              <a:ext uri="{FF2B5EF4-FFF2-40B4-BE49-F238E27FC236}">
                <a16:creationId xmlns:a16="http://schemas.microsoft.com/office/drawing/2014/main" id="{5D8A1016-2A44-C929-ACBF-2BC36BEE5495}"/>
              </a:ext>
            </a:extLst>
          </p:cNvPr>
          <p:cNvSpPr/>
          <p:nvPr/>
        </p:nvSpPr>
        <p:spPr>
          <a:xfrm>
            <a:off x="4477624" y="4262751"/>
            <a:ext cx="792715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Amostra</a:t>
            </a:r>
            <a:endParaRPr kumimoji="0" lang="pt-BR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Shape 13">
            <a:extLst>
              <a:ext uri="{FF2B5EF4-FFF2-40B4-BE49-F238E27FC236}">
                <a16:creationId xmlns:a16="http://schemas.microsoft.com/office/drawing/2014/main" id="{DF024D0B-016C-16B0-E6D1-2D6EBEC0E55D}"/>
              </a:ext>
            </a:extLst>
          </p:cNvPr>
          <p:cNvSpPr/>
          <p:nvPr/>
        </p:nvSpPr>
        <p:spPr>
          <a:xfrm>
            <a:off x="4184754" y="4414191"/>
            <a:ext cx="231727" cy="0"/>
          </a:xfrm>
          <a:prstGeom prst="line">
            <a:avLst/>
          </a:prstGeom>
          <a:ln w="19050">
            <a:solidFill>
              <a:srgbClr val="FFFFFF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97C5F692-AE42-214C-C3EF-AE62453E5EBA}"/>
              </a:ext>
            </a:extLst>
          </p:cNvPr>
          <p:cNvSpPr/>
          <p:nvPr/>
        </p:nvSpPr>
        <p:spPr>
          <a:xfrm>
            <a:off x="6942166" y="4090769"/>
            <a:ext cx="4220306" cy="776880"/>
          </a:xfrm>
          <a:prstGeom prst="roundRect">
            <a:avLst>
              <a:gd name="adj" fmla="val 9412"/>
            </a:avLst>
          </a:prstGeom>
          <a:solidFill>
            <a:srgbClr val="132F55"/>
          </a:solidFill>
          <a:ln w="15240">
            <a:solidFill>
              <a:srgbClr val="4DA3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 7">
                <a:extLst>
                  <a:ext uri="{FF2B5EF4-FFF2-40B4-BE49-F238E27FC236}">
                    <a16:creationId xmlns:a16="http://schemas.microsoft.com/office/drawing/2014/main" id="{34AAE648-BB1E-45E7-F484-AE16157E41D8}"/>
                  </a:ext>
                </a:extLst>
              </p:cNvPr>
              <p:cNvSpPr/>
              <p:nvPr/>
            </p:nvSpPr>
            <p:spPr>
              <a:xfrm>
                <a:off x="7021585" y="4163849"/>
                <a:ext cx="4043494" cy="63072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360" tIns="360" rIns="360" bIns="360" anchor="ctr">
                <a:normAutofit fontScale="77500" lnSpcReduction="20000"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>
                    <a:tab pos="0" algn="l"/>
                  </a:tabLst>
                  <a:defRPr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kumimoji="0" lang="pt-BR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kumimoji="0" lang="pt-BR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  <m:t>cateto</m:t>
                          </m:r>
                        </m:e>
                        <m:sup>
                          <m:r>
                            <a:rPr kumimoji="0" lang="en-US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  <m:t>2</m:t>
                          </m:r>
                        </m:sup>
                      </m:sSup>
                      <m:r>
                        <a:rPr kumimoji="0" lang="en-US" sz="2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/>
                          <a:cs typeface="+mn-cs"/>
                        </a:rPr>
                        <m:t>+</m:t>
                      </m:r>
                      <m:sSup>
                        <m:sSupPr>
                          <m:ctrlPr>
                            <a:rPr kumimoji="0" lang="pt-BR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kumimoji="0" lang="pt-BR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  <m:t>cateto</m:t>
                          </m:r>
                        </m:e>
                        <m:sup>
                          <m:r>
                            <a:rPr kumimoji="0" lang="en-US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  <m:t>2</m:t>
                          </m:r>
                        </m:sup>
                      </m:sSup>
                      <m:r>
                        <a:rPr kumimoji="0" lang="en-US" sz="2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/>
                          <a:cs typeface="+mn-cs"/>
                        </a:rPr>
                        <m:t>=</m:t>
                      </m:r>
                      <m:sSup>
                        <m:sSupPr>
                          <m:ctrlPr>
                            <a:rPr kumimoji="0" lang="pt-BR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kumimoji="0" lang="pt-BR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  <m:t>hipotenusa</m:t>
                          </m:r>
                        </m:e>
                        <m:sup>
                          <m:r>
                            <a:rPr kumimoji="0" lang="en-US" sz="2800" b="0" i="0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FFFFFF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/>
                              <a:cs typeface="+mn-cs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kumimoji="0" lang="pt-BR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28" name="Text 7">
                <a:extLst>
                  <a:ext uri="{FF2B5EF4-FFF2-40B4-BE49-F238E27FC236}">
                    <a16:creationId xmlns:a16="http://schemas.microsoft.com/office/drawing/2014/main" id="{34AAE648-BB1E-45E7-F484-AE16157E41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1585" y="4163849"/>
                <a:ext cx="4043494" cy="630720"/>
              </a:xfrm>
              <a:prstGeom prst="rect">
                <a:avLst/>
              </a:prstGeom>
              <a:blipFill>
                <a:blip r:embed="rId5"/>
                <a:stretch>
                  <a:fillRect l="-120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" name="Text 3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AGENDA</a:t>
            </a:r>
            <a:endParaRPr kumimoji="0" lang="pt-BR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Regressão Linear</a:t>
            </a:r>
            <a:endParaRPr kumimoji="0" lang="pt-BR" sz="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01</a:t>
            </a:r>
            <a:endParaRPr kumimoji="0" lang="pt-BR" sz="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" name="Shape 6"/>
          <p:cNvSpPr/>
          <p:nvPr/>
        </p:nvSpPr>
        <p:spPr>
          <a:xfrm>
            <a:off x="731520" y="1234440"/>
            <a:ext cx="456840" cy="456840"/>
          </a:xfrm>
          <a:prstGeom prst="ellipse">
            <a:avLst/>
          </a:prstGeom>
          <a:solidFill>
            <a:srgbClr val="2563EB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" name="Text 7"/>
          <p:cNvSpPr/>
          <p:nvPr/>
        </p:nvSpPr>
        <p:spPr>
          <a:xfrm>
            <a:off x="731520" y="134424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" name="Text 8"/>
          <p:cNvSpPr/>
          <p:nvPr/>
        </p:nvSpPr>
        <p:spPr>
          <a:xfrm>
            <a:off x="1371600" y="1024200"/>
            <a:ext cx="6712560" cy="66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>
              <a:tabLst>
                <a:tab pos="0" algn="l"/>
              </a:tabLst>
              <a:defRPr/>
            </a:pPr>
            <a:r>
              <a:rPr lang="en-US" b="1" dirty="0" err="1">
                <a:solidFill>
                  <a:srgbClr val="0B1F3A"/>
                </a:solidFill>
              </a:rPr>
              <a:t>Organização</a:t>
            </a:r>
            <a:r>
              <a:rPr lang="en-US" b="1" dirty="0">
                <a:solidFill>
                  <a:srgbClr val="0B1F3A"/>
                </a:solidFill>
              </a:rPr>
              <a:t> e </a:t>
            </a:r>
            <a:r>
              <a:rPr lang="en-US" b="1" dirty="0" err="1">
                <a:solidFill>
                  <a:srgbClr val="0B1F3A"/>
                </a:solidFill>
              </a:rPr>
              <a:t>Preparação</a:t>
            </a:r>
            <a:r>
              <a:rPr lang="en-US" b="1" dirty="0">
                <a:solidFill>
                  <a:srgbClr val="0B1F3A"/>
                </a:solidFill>
              </a:rPr>
              <a:t> de Dados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:</a:t>
            </a:r>
          </a:p>
          <a:p>
            <a:pPr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População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,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Estrato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,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proporção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e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Amostra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" name="Shape 9"/>
          <p:cNvSpPr/>
          <p:nvPr/>
        </p:nvSpPr>
        <p:spPr>
          <a:xfrm>
            <a:off x="731520" y="2057400"/>
            <a:ext cx="456840" cy="456840"/>
          </a:xfrm>
          <a:prstGeom prst="ellipse">
            <a:avLst/>
          </a:prstGeom>
          <a:solidFill>
            <a:srgbClr val="2563EB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" name="Text 10"/>
          <p:cNvSpPr/>
          <p:nvPr/>
        </p:nvSpPr>
        <p:spPr>
          <a:xfrm>
            <a:off x="731520" y="216720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" name="Text 11"/>
          <p:cNvSpPr/>
          <p:nvPr/>
        </p:nvSpPr>
        <p:spPr>
          <a:xfrm>
            <a:off x="1371600" y="214884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Amostra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Balanceada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e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Amostra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não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Balanceada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8" name="Shape 12"/>
          <p:cNvSpPr/>
          <p:nvPr/>
        </p:nvSpPr>
        <p:spPr>
          <a:xfrm>
            <a:off x="731520" y="2880360"/>
            <a:ext cx="456840" cy="4568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" name="Text 13"/>
          <p:cNvSpPr/>
          <p:nvPr/>
        </p:nvSpPr>
        <p:spPr>
          <a:xfrm>
            <a:off x="731520" y="299016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0" name="Text 14"/>
          <p:cNvSpPr/>
          <p:nvPr/>
        </p:nvSpPr>
        <p:spPr>
          <a:xfrm>
            <a:off x="1371600" y="297180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Regressão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Logística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" name="Shape 15"/>
          <p:cNvSpPr/>
          <p:nvPr/>
        </p:nvSpPr>
        <p:spPr>
          <a:xfrm>
            <a:off x="731520" y="3703320"/>
            <a:ext cx="456840" cy="4568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" name="Text 16"/>
          <p:cNvSpPr/>
          <p:nvPr/>
        </p:nvSpPr>
        <p:spPr>
          <a:xfrm>
            <a:off x="731520" y="381312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4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" name="Text 17"/>
          <p:cNvSpPr/>
          <p:nvPr/>
        </p:nvSpPr>
        <p:spPr>
          <a:xfrm>
            <a:off x="1371600" y="379476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KNN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4" name="Shape 18"/>
          <p:cNvSpPr/>
          <p:nvPr/>
        </p:nvSpPr>
        <p:spPr>
          <a:xfrm>
            <a:off x="731520" y="4526280"/>
            <a:ext cx="456840" cy="4568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" name="Text 19"/>
          <p:cNvSpPr/>
          <p:nvPr/>
        </p:nvSpPr>
        <p:spPr>
          <a:xfrm>
            <a:off x="731520" y="463608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5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" name="Text 20"/>
          <p:cNvSpPr/>
          <p:nvPr/>
        </p:nvSpPr>
        <p:spPr>
          <a:xfrm>
            <a:off x="1371600" y="461772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Exemplos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em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1182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Python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7" name="Shape 21"/>
          <p:cNvSpPr/>
          <p:nvPr/>
        </p:nvSpPr>
        <p:spPr>
          <a:xfrm>
            <a:off x="8412480" y="1280160"/>
            <a:ext cx="2651400" cy="776880"/>
          </a:xfrm>
          <a:prstGeom prst="roundRect">
            <a:avLst>
              <a:gd name="adj" fmla="val 9412"/>
            </a:avLst>
          </a:prstGeom>
          <a:solidFill>
            <a:srgbClr val="EAF4FF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Text 22"/>
          <p:cNvSpPr/>
          <p:nvPr/>
        </p:nvSpPr>
        <p:spPr>
          <a:xfrm>
            <a:off x="8485560" y="1353240"/>
            <a:ext cx="2505240" cy="63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Parte 0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Funções → Modelos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9" name="Shape 23"/>
          <p:cNvSpPr/>
          <p:nvPr/>
        </p:nvSpPr>
        <p:spPr>
          <a:xfrm>
            <a:off x="8412480" y="2377440"/>
            <a:ext cx="265140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0" name="Text 24"/>
          <p:cNvSpPr/>
          <p:nvPr/>
        </p:nvSpPr>
        <p:spPr>
          <a:xfrm>
            <a:off x="8485560" y="2450520"/>
            <a:ext cx="2505240" cy="63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Parte I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Problema de regressão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1" name="Shape 25"/>
          <p:cNvSpPr/>
          <p:nvPr/>
        </p:nvSpPr>
        <p:spPr>
          <a:xfrm>
            <a:off x="8412480" y="3474720"/>
            <a:ext cx="265140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" name="Text 26"/>
          <p:cNvSpPr/>
          <p:nvPr/>
        </p:nvSpPr>
        <p:spPr>
          <a:xfrm>
            <a:off x="8485560" y="3547800"/>
            <a:ext cx="2505240" cy="63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Parte II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Modelo, erro e otimização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3" name="Shape 27"/>
          <p:cNvSpPr/>
          <p:nvPr/>
        </p:nvSpPr>
        <p:spPr>
          <a:xfrm>
            <a:off x="8412480" y="4572000"/>
            <a:ext cx="2651400" cy="77688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240">
            <a:solidFill>
              <a:srgbClr val="CBD5E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4" name="Text 28"/>
          <p:cNvSpPr/>
          <p:nvPr/>
        </p:nvSpPr>
        <p:spPr>
          <a:xfrm>
            <a:off x="8485560" y="4645080"/>
            <a:ext cx="2505240" cy="63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Parte III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Python e exercício</a:t>
            </a:r>
            <a:endParaRPr kumimoji="0" lang="pt-BR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457200"/>
            <a:ext cx="2423160" cy="512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13990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04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658368" y="1783080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Organização</a:t>
            </a:r>
            <a:r>
              <a:rPr lang="en-US" sz="2400" b="1" dirty="0">
                <a:solidFill>
                  <a:srgbClr val="0B1F3A"/>
                </a:solidFill>
              </a:rPr>
              <a:t> e </a:t>
            </a:r>
            <a:r>
              <a:rPr lang="en-US" sz="2400" b="1" dirty="0" err="1">
                <a:solidFill>
                  <a:srgbClr val="0B1F3A"/>
                </a:solidFill>
              </a:rPr>
              <a:t>Preparação</a:t>
            </a:r>
            <a:r>
              <a:rPr lang="en-US" sz="2400" b="1" dirty="0">
                <a:solidFill>
                  <a:srgbClr val="0B1F3A"/>
                </a:solidFill>
              </a:rPr>
              <a:t> de Dados</a:t>
            </a:r>
            <a:r>
              <a:rPr lang="en-US" sz="2400" b="1" dirty="0">
                <a:solidFill>
                  <a:srgbClr val="111827"/>
                </a:solidFill>
              </a:rPr>
              <a:t>:</a:t>
            </a:r>
          </a:p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111827"/>
                </a:solidFill>
              </a:rPr>
              <a:t>População</a:t>
            </a:r>
            <a:r>
              <a:rPr lang="en-US" sz="2400" b="1" dirty="0">
                <a:solidFill>
                  <a:srgbClr val="111827"/>
                </a:solidFill>
              </a:rPr>
              <a:t>, </a:t>
            </a:r>
            <a:r>
              <a:rPr lang="en-US" sz="2400" b="1" dirty="0" err="1">
                <a:solidFill>
                  <a:srgbClr val="111827"/>
                </a:solidFill>
              </a:rPr>
              <a:t>Estrato</a:t>
            </a:r>
            <a:r>
              <a:rPr lang="en-US" sz="2400" b="1" dirty="0">
                <a:solidFill>
                  <a:srgbClr val="111827"/>
                </a:solidFill>
              </a:rPr>
              <a:t> , </a:t>
            </a:r>
            <a:r>
              <a:rPr lang="en-US" sz="2400" b="1" dirty="0" err="1">
                <a:solidFill>
                  <a:srgbClr val="111827"/>
                </a:solidFill>
              </a:rPr>
              <a:t>proporção</a:t>
            </a:r>
            <a:r>
              <a:rPr lang="en-US" sz="2400" b="1" dirty="0">
                <a:solidFill>
                  <a:srgbClr val="111827"/>
                </a:solidFill>
              </a:rPr>
              <a:t> e </a:t>
            </a:r>
            <a:r>
              <a:rPr lang="en-US" sz="2400" b="1" dirty="0" err="1">
                <a:solidFill>
                  <a:srgbClr val="111827"/>
                </a:solidFill>
              </a:rPr>
              <a:t>Amostra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 2"/>
          <p:cNvSpPr/>
          <p:nvPr/>
        </p:nvSpPr>
        <p:spPr>
          <a:xfrm>
            <a:off x="658368" y="294436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População</a:t>
            </a:r>
            <a:r>
              <a:rPr lang="en-US" sz="1700" dirty="0">
                <a:solidFill>
                  <a:srgbClr val="111827"/>
                </a:solidFill>
              </a:rPr>
              <a:t>: 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pic>
        <p:nvPicPr>
          <p:cNvPr id="82" name="Imagem 81">
            <a:extLst>
              <a:ext uri="{FF2B5EF4-FFF2-40B4-BE49-F238E27FC236}">
                <a16:creationId xmlns:a16="http://schemas.microsoft.com/office/drawing/2014/main" id="{275D7EA1-71EC-BA8A-7429-38EFA39EC5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8140" y="226335"/>
            <a:ext cx="3624044" cy="2718033"/>
          </a:xfrm>
          <a:prstGeom prst="rect">
            <a:avLst/>
          </a:prstGeom>
        </p:spPr>
      </p:pic>
      <p:pic>
        <p:nvPicPr>
          <p:cNvPr id="84" name="Imagem 83">
            <a:extLst>
              <a:ext uri="{FF2B5EF4-FFF2-40B4-BE49-F238E27FC236}">
                <a16:creationId xmlns:a16="http://schemas.microsoft.com/office/drawing/2014/main" id="{C8FAE4D5-F2F0-3696-2B17-05819D2D68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8140" y="3067015"/>
            <a:ext cx="3624044" cy="2718033"/>
          </a:xfrm>
          <a:prstGeom prst="rect">
            <a:avLst/>
          </a:prstGeom>
        </p:spPr>
      </p:pic>
      <p:pic>
        <p:nvPicPr>
          <p:cNvPr id="86" name="Imagem 85">
            <a:extLst>
              <a:ext uri="{FF2B5EF4-FFF2-40B4-BE49-F238E27FC236}">
                <a16:creationId xmlns:a16="http://schemas.microsoft.com/office/drawing/2014/main" id="{77EE33E2-4C04-67EA-5341-5F6CCD187B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0624" y="3068972"/>
            <a:ext cx="2716076" cy="27160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C0BCFA-6CBA-4049-0780-7E2C40578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E0AB3C18-0B8D-7422-588D-A722694C84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45720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567D955F-E961-F834-D21B-36B8074E3554}"/>
              </a:ext>
            </a:extLst>
          </p:cNvPr>
          <p:cNvSpPr/>
          <p:nvPr/>
        </p:nvSpPr>
        <p:spPr>
          <a:xfrm>
            <a:off x="658368" y="13990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04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68B07564-AE0C-762C-7B31-911DE6C3CFD7}"/>
              </a:ext>
            </a:extLst>
          </p:cNvPr>
          <p:cNvSpPr/>
          <p:nvPr/>
        </p:nvSpPr>
        <p:spPr>
          <a:xfrm>
            <a:off x="658368" y="1783080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Organização</a:t>
            </a:r>
            <a:r>
              <a:rPr lang="en-US" sz="2400" b="1" dirty="0">
                <a:solidFill>
                  <a:srgbClr val="0B1F3A"/>
                </a:solidFill>
              </a:rPr>
              <a:t> e </a:t>
            </a:r>
            <a:r>
              <a:rPr lang="en-US" sz="2400" b="1" dirty="0" err="1">
                <a:solidFill>
                  <a:srgbClr val="0B1F3A"/>
                </a:solidFill>
              </a:rPr>
              <a:t>Preparação</a:t>
            </a:r>
            <a:r>
              <a:rPr lang="en-US" sz="2400" b="1" dirty="0">
                <a:solidFill>
                  <a:srgbClr val="0B1F3A"/>
                </a:solidFill>
              </a:rPr>
              <a:t> de Dados</a:t>
            </a:r>
            <a:r>
              <a:rPr lang="en-US" sz="2400" b="1" dirty="0">
                <a:solidFill>
                  <a:srgbClr val="111827"/>
                </a:solidFill>
              </a:rPr>
              <a:t>:</a:t>
            </a:r>
          </a:p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111827"/>
                </a:solidFill>
              </a:rPr>
              <a:t>População</a:t>
            </a:r>
            <a:r>
              <a:rPr lang="en-US" sz="2400" b="1" dirty="0">
                <a:solidFill>
                  <a:srgbClr val="111827"/>
                </a:solidFill>
              </a:rPr>
              <a:t>, </a:t>
            </a:r>
            <a:r>
              <a:rPr lang="en-US" sz="2400" b="1" dirty="0" err="1">
                <a:solidFill>
                  <a:srgbClr val="111827"/>
                </a:solidFill>
              </a:rPr>
              <a:t>Estrato</a:t>
            </a:r>
            <a:r>
              <a:rPr lang="en-US" sz="2400" b="1" dirty="0">
                <a:solidFill>
                  <a:srgbClr val="111827"/>
                </a:solidFill>
              </a:rPr>
              <a:t> , </a:t>
            </a:r>
            <a:r>
              <a:rPr lang="en-US" sz="2400" b="1" dirty="0" err="1">
                <a:solidFill>
                  <a:srgbClr val="111827"/>
                </a:solidFill>
              </a:rPr>
              <a:t>proporção</a:t>
            </a:r>
            <a:r>
              <a:rPr lang="en-US" sz="2400" b="1" dirty="0">
                <a:solidFill>
                  <a:srgbClr val="111827"/>
                </a:solidFill>
              </a:rPr>
              <a:t> e </a:t>
            </a:r>
            <a:r>
              <a:rPr lang="en-US" sz="2400" b="1" dirty="0" err="1">
                <a:solidFill>
                  <a:srgbClr val="111827"/>
                </a:solidFill>
              </a:rPr>
              <a:t>Amostra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16EFC8B-D8A7-326B-564A-9872743E71F6}"/>
              </a:ext>
            </a:extLst>
          </p:cNvPr>
          <p:cNvSpPr/>
          <p:nvPr/>
        </p:nvSpPr>
        <p:spPr>
          <a:xfrm>
            <a:off x="658368" y="294436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Estrato</a:t>
            </a:r>
            <a:r>
              <a:rPr lang="en-US" sz="1700" dirty="0">
                <a:solidFill>
                  <a:srgbClr val="111827"/>
                </a:solidFill>
              </a:rPr>
              <a:t>: </a:t>
            </a:r>
            <a:endParaRPr lang="en-US" sz="17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B15E194A-956B-A1D3-20AB-77E4FB40B4A4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4E2154F2-B365-B16F-7657-5A40300AFC9A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81A6E200-3807-B315-0B0C-794EB966D8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9108" y="545452"/>
            <a:ext cx="2811988" cy="2108991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1CB8E0B1-1A67-FA86-BD0A-3EC0A8024A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2025" y="3724984"/>
            <a:ext cx="2249925" cy="224992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969A65EE-317A-D359-C12A-F238FD6E3E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3328" y="3705550"/>
            <a:ext cx="2269359" cy="2269359"/>
          </a:xfrm>
          <a:prstGeom prst="rect">
            <a:avLst/>
          </a:prstGeom>
        </p:spPr>
      </p:pic>
      <p:sp>
        <p:nvSpPr>
          <p:cNvPr id="15" name="Text 2">
            <a:extLst>
              <a:ext uri="{FF2B5EF4-FFF2-40B4-BE49-F238E27FC236}">
                <a16:creationId xmlns:a16="http://schemas.microsoft.com/office/drawing/2014/main" id="{23E15EC4-C439-35CF-213F-748C2BE2CCAD}"/>
              </a:ext>
            </a:extLst>
          </p:cNvPr>
          <p:cNvSpPr/>
          <p:nvPr/>
        </p:nvSpPr>
        <p:spPr>
          <a:xfrm>
            <a:off x="8909108" y="23129"/>
            <a:ext cx="27708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por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</a:p>
          <a:p>
            <a:pPr marL="0" indent="0" algn="ctr">
              <a:buNone/>
            </a:pPr>
            <a:r>
              <a:rPr lang="en-US" sz="1700" dirty="0" err="1">
                <a:solidFill>
                  <a:srgbClr val="111827"/>
                </a:solidFill>
              </a:rPr>
              <a:t>sexo</a:t>
            </a:r>
            <a:r>
              <a:rPr lang="en-US" sz="1700" dirty="0">
                <a:solidFill>
                  <a:srgbClr val="111827"/>
                </a:solidFill>
              </a:rPr>
              <a:t> da </a:t>
            </a:r>
            <a:r>
              <a:rPr lang="en-US" sz="1700" dirty="0" err="1">
                <a:solidFill>
                  <a:srgbClr val="111827"/>
                </a:solidFill>
              </a:rPr>
              <a:t>população</a:t>
            </a:r>
            <a:r>
              <a:rPr lang="en-US" sz="1700" dirty="0">
                <a:solidFill>
                  <a:srgbClr val="111827"/>
                </a:solidFill>
              </a:rPr>
              <a:t>:</a:t>
            </a:r>
            <a:endParaRPr lang="en-US" sz="1700" dirty="0"/>
          </a:p>
        </p:txBody>
      </p:sp>
      <p:sp>
        <p:nvSpPr>
          <p:cNvPr id="19" name="Text 2">
            <a:extLst>
              <a:ext uri="{FF2B5EF4-FFF2-40B4-BE49-F238E27FC236}">
                <a16:creationId xmlns:a16="http://schemas.microsoft.com/office/drawing/2014/main" id="{7FA3D225-D9F1-D0EB-8D53-35D39FEF7E06}"/>
              </a:ext>
            </a:extLst>
          </p:cNvPr>
          <p:cNvSpPr/>
          <p:nvPr/>
        </p:nvSpPr>
        <p:spPr>
          <a:xfrm>
            <a:off x="8972025" y="3267592"/>
            <a:ext cx="22499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por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</a:p>
          <a:p>
            <a:pPr marL="0" indent="0" algn="ctr">
              <a:buNone/>
            </a:pPr>
            <a:r>
              <a:rPr lang="en-US" sz="1700" dirty="0" err="1">
                <a:solidFill>
                  <a:srgbClr val="111827"/>
                </a:solidFill>
              </a:rPr>
              <a:t>idade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populacional</a:t>
            </a:r>
            <a:r>
              <a:rPr lang="en-US" sz="1700" dirty="0">
                <a:solidFill>
                  <a:srgbClr val="111827"/>
                </a:solidFill>
              </a:rPr>
              <a:t>: </a:t>
            </a:r>
            <a:endParaRPr lang="en-US" sz="1700" dirty="0"/>
          </a:p>
        </p:txBody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80602B2E-EDB6-AE80-3356-B6E875B166BF}"/>
              </a:ext>
            </a:extLst>
          </p:cNvPr>
          <p:cNvSpPr/>
          <p:nvPr/>
        </p:nvSpPr>
        <p:spPr>
          <a:xfrm>
            <a:off x="5633146" y="3180743"/>
            <a:ext cx="3205476" cy="4923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Cor </a:t>
            </a:r>
            <a:r>
              <a:rPr lang="en-US" sz="1700" dirty="0" err="1">
                <a:solidFill>
                  <a:srgbClr val="111827"/>
                </a:solidFill>
              </a:rPr>
              <a:t>ou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Raça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</a:p>
          <a:p>
            <a:pPr marL="0" indent="0" algn="ctr">
              <a:buNone/>
            </a:pPr>
            <a:r>
              <a:rPr lang="en-US" sz="1700" dirty="0">
                <a:solidFill>
                  <a:srgbClr val="111827"/>
                </a:solidFill>
              </a:rPr>
              <a:t>(IBGE CENSO DEMOGRÁFICO): 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2226121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BFB95E-35D2-4F29-43DD-366610AE9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DEE26815-3A9B-5742-A7F0-9ECB8AFCAB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44367"/>
            <a:ext cx="2423160" cy="512064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E0B68325-FAEB-1F22-B22A-DE1CF41AB8C1}"/>
              </a:ext>
            </a:extLst>
          </p:cNvPr>
          <p:cNvSpPr/>
          <p:nvPr/>
        </p:nvSpPr>
        <p:spPr>
          <a:xfrm>
            <a:off x="360055" y="644282"/>
            <a:ext cx="3888465" cy="89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b="1" dirty="0" err="1">
                <a:solidFill>
                  <a:srgbClr val="0B1F3A"/>
                </a:solidFill>
              </a:rPr>
              <a:t>Organização</a:t>
            </a:r>
            <a:r>
              <a:rPr lang="en-US" b="1" dirty="0">
                <a:solidFill>
                  <a:srgbClr val="0B1F3A"/>
                </a:solidFill>
              </a:rPr>
              <a:t> e </a:t>
            </a:r>
            <a:r>
              <a:rPr lang="en-US" b="1" dirty="0" err="1">
                <a:solidFill>
                  <a:srgbClr val="0B1F3A"/>
                </a:solidFill>
              </a:rPr>
              <a:t>Preparação</a:t>
            </a:r>
            <a:r>
              <a:rPr lang="en-US" b="1" dirty="0">
                <a:solidFill>
                  <a:srgbClr val="0B1F3A"/>
                </a:solidFill>
              </a:rPr>
              <a:t> de Dados</a:t>
            </a:r>
            <a:r>
              <a:rPr lang="en-US" b="1" dirty="0">
                <a:solidFill>
                  <a:srgbClr val="111827"/>
                </a:solidFill>
              </a:rPr>
              <a:t>:</a:t>
            </a:r>
          </a:p>
          <a:p>
            <a:pPr>
              <a:tabLst>
                <a:tab pos="0" algn="l"/>
              </a:tabLst>
              <a:defRPr/>
            </a:pPr>
            <a:r>
              <a:rPr lang="en-US" b="1" dirty="0" err="1">
                <a:solidFill>
                  <a:srgbClr val="111827"/>
                </a:solidFill>
              </a:rPr>
              <a:t>População</a:t>
            </a:r>
            <a:r>
              <a:rPr lang="en-US" b="1" dirty="0">
                <a:solidFill>
                  <a:srgbClr val="111827"/>
                </a:solidFill>
              </a:rPr>
              <a:t>, </a:t>
            </a:r>
            <a:r>
              <a:rPr lang="en-US" b="1" dirty="0" err="1">
                <a:solidFill>
                  <a:srgbClr val="111827"/>
                </a:solidFill>
              </a:rPr>
              <a:t>Estrato</a:t>
            </a:r>
            <a:r>
              <a:rPr lang="en-US" b="1" dirty="0">
                <a:solidFill>
                  <a:srgbClr val="111827"/>
                </a:solidFill>
              </a:rPr>
              <a:t> , </a:t>
            </a:r>
            <a:r>
              <a:rPr lang="en-US" b="1" dirty="0" err="1">
                <a:solidFill>
                  <a:srgbClr val="111827"/>
                </a:solidFill>
              </a:rPr>
              <a:t>proporção</a:t>
            </a:r>
            <a:r>
              <a:rPr lang="en-US" b="1" dirty="0">
                <a:solidFill>
                  <a:srgbClr val="111827"/>
                </a:solidFill>
              </a:rPr>
              <a:t> e </a:t>
            </a:r>
            <a:r>
              <a:rPr lang="en-US" b="1" dirty="0" err="1">
                <a:solidFill>
                  <a:srgbClr val="111827"/>
                </a:solidFill>
              </a:rPr>
              <a:t>Amostra</a:t>
            </a:r>
            <a:endParaRPr lang="pt-BR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AC3E9A74-7A94-CD05-31C0-DD91AED976F3}"/>
              </a:ext>
            </a:extLst>
          </p:cNvPr>
          <p:cNvSpPr/>
          <p:nvPr/>
        </p:nvSpPr>
        <p:spPr>
          <a:xfrm>
            <a:off x="360055" y="1560061"/>
            <a:ext cx="2142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Proporção</a:t>
            </a:r>
            <a:r>
              <a:rPr lang="en-US" sz="1700" dirty="0">
                <a:solidFill>
                  <a:srgbClr val="111827"/>
                </a:solidFill>
              </a:rPr>
              <a:t> do </a:t>
            </a:r>
            <a:r>
              <a:rPr lang="en-US" sz="1700" dirty="0" err="1">
                <a:solidFill>
                  <a:srgbClr val="111827"/>
                </a:solidFill>
              </a:rPr>
              <a:t>estrato</a:t>
            </a:r>
            <a:r>
              <a:rPr lang="en-US" sz="1700" dirty="0">
                <a:solidFill>
                  <a:srgbClr val="111827"/>
                </a:solidFill>
              </a:rPr>
              <a:t>: </a:t>
            </a:r>
            <a:endParaRPr lang="en-US" sz="17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D2CBBD45-CFB5-0F33-B2D5-D3AE302C1E19}"/>
              </a:ext>
            </a:extLst>
          </p:cNvPr>
          <p:cNvSpPr/>
          <p:nvPr/>
        </p:nvSpPr>
        <p:spPr>
          <a:xfrm>
            <a:off x="180195" y="62793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ED2BD48F-9548-38B4-82EF-18557FDC5B92}"/>
              </a:ext>
            </a:extLst>
          </p:cNvPr>
          <p:cNvSpPr/>
          <p:nvPr/>
        </p:nvSpPr>
        <p:spPr>
          <a:xfrm>
            <a:off x="180195" y="6590224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070464FE-14EF-EC62-48D8-9554792E25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8224" y="478340"/>
            <a:ext cx="2811988" cy="2108991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8BE5B3A4-5C42-F322-4C62-236F929AA1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71171" y="3583698"/>
            <a:ext cx="2249925" cy="224992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2D75614A-4B5F-06B1-879C-499FF88A05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3378" y="2960977"/>
            <a:ext cx="2374085" cy="237408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72D40DAB-A688-E6B7-C096-8BAC040D52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83643613"/>
                  </p:ext>
                </p:extLst>
              </p:nvPr>
            </p:nvGraphicFramePr>
            <p:xfrm>
              <a:off x="5536733" y="468018"/>
              <a:ext cx="3741491" cy="192995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06011">
                      <a:extLst>
                        <a:ext uri="{9D8B030D-6E8A-4147-A177-3AD203B41FA5}">
                          <a16:colId xmlns:a16="http://schemas.microsoft.com/office/drawing/2014/main" val="2623616122"/>
                        </a:ext>
                      </a:extLst>
                    </a:gridCol>
                    <a:gridCol w="906011">
                      <a:extLst>
                        <a:ext uri="{9D8B030D-6E8A-4147-A177-3AD203B41FA5}">
                          <a16:colId xmlns:a16="http://schemas.microsoft.com/office/drawing/2014/main" val="633702682"/>
                        </a:ext>
                      </a:extLst>
                    </a:gridCol>
                    <a:gridCol w="1929469">
                      <a:extLst>
                        <a:ext uri="{9D8B030D-6E8A-4147-A177-3AD203B41FA5}">
                          <a16:colId xmlns:a16="http://schemas.microsoft.com/office/drawing/2014/main" val="1457167182"/>
                        </a:ext>
                      </a:extLst>
                    </a:gridCol>
                  </a:tblGrid>
                  <a:tr h="60178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20703876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44,44%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69474747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55,56%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62729573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0301151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72D40DAB-A688-E6B7-C096-8BAC040D52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83643613"/>
                  </p:ext>
                </p:extLst>
              </p:nvPr>
            </p:nvGraphicFramePr>
            <p:xfrm>
              <a:off x="5536733" y="468018"/>
              <a:ext cx="3741491" cy="192995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06011">
                      <a:extLst>
                        <a:ext uri="{9D8B030D-6E8A-4147-A177-3AD203B41FA5}">
                          <a16:colId xmlns:a16="http://schemas.microsoft.com/office/drawing/2014/main" val="2623616122"/>
                        </a:ext>
                      </a:extLst>
                    </a:gridCol>
                    <a:gridCol w="906011">
                      <a:extLst>
                        <a:ext uri="{9D8B030D-6E8A-4147-A177-3AD203B41FA5}">
                          <a16:colId xmlns:a16="http://schemas.microsoft.com/office/drawing/2014/main" val="633702682"/>
                        </a:ext>
                      </a:extLst>
                    </a:gridCol>
                    <a:gridCol w="1929469">
                      <a:extLst>
                        <a:ext uri="{9D8B030D-6E8A-4147-A177-3AD203B41FA5}">
                          <a16:colId xmlns:a16="http://schemas.microsoft.com/office/drawing/2014/main" val="1457167182"/>
                        </a:ext>
                      </a:extLst>
                    </a:gridCol>
                  </a:tblGrid>
                  <a:tr h="60178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20703876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94322" t="-126582" r="-631" b="-1974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9474747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94322" t="-223750" r="-631" b="-9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272957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0301151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0" name="Tabela 9">
                <a:extLst>
                  <a:ext uri="{FF2B5EF4-FFF2-40B4-BE49-F238E27FC236}">
                    <a16:creationId xmlns:a16="http://schemas.microsoft.com/office/drawing/2014/main" id="{F43D50B2-4074-331F-CFD9-D4F87361460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8713823"/>
                  </p:ext>
                </p:extLst>
              </p:nvPr>
            </p:nvGraphicFramePr>
            <p:xfrm>
              <a:off x="5981349" y="3564983"/>
              <a:ext cx="3489821" cy="3011987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80178">
                      <a:extLst>
                        <a:ext uri="{9D8B030D-6E8A-4147-A177-3AD203B41FA5}">
                          <a16:colId xmlns:a16="http://schemas.microsoft.com/office/drawing/2014/main" val="2226377696"/>
                        </a:ext>
                      </a:extLst>
                    </a:gridCol>
                    <a:gridCol w="897622">
                      <a:extLst>
                        <a:ext uri="{9D8B030D-6E8A-4147-A177-3AD203B41FA5}">
                          <a16:colId xmlns:a16="http://schemas.microsoft.com/office/drawing/2014/main" val="1515602878"/>
                        </a:ext>
                      </a:extLst>
                    </a:gridCol>
                    <a:gridCol w="1812021">
                      <a:extLst>
                        <a:ext uri="{9D8B030D-6E8A-4147-A177-3AD203B41FA5}">
                          <a16:colId xmlns:a16="http://schemas.microsoft.com/office/drawing/2014/main" val="2517524203"/>
                        </a:ext>
                      </a:extLst>
                    </a:gridCol>
                  </a:tblGrid>
                  <a:tr h="787202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216136"/>
                      </a:ext>
                    </a:extLst>
                  </a:tr>
                  <a:tr h="59165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dirty="0"/>
                            <a:t>Crianças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 =&gt; 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37,50%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95441628"/>
                      </a:ext>
                    </a:extLst>
                  </a:tr>
                  <a:tr h="59165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dirty="0"/>
                            <a:t>Adultos jovens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50,00%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69240490"/>
                      </a:ext>
                    </a:extLst>
                  </a:tr>
                  <a:tr h="59165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dirty="0"/>
                            <a:t>Adultos idosos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12,50%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29410062"/>
                      </a:ext>
                    </a:extLst>
                  </a:tr>
                  <a:tr h="449829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6911308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0" name="Tabela 9">
                <a:extLst>
                  <a:ext uri="{FF2B5EF4-FFF2-40B4-BE49-F238E27FC236}">
                    <a16:creationId xmlns:a16="http://schemas.microsoft.com/office/drawing/2014/main" id="{F43D50B2-4074-331F-CFD9-D4F87361460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8713823"/>
                  </p:ext>
                </p:extLst>
              </p:nvPr>
            </p:nvGraphicFramePr>
            <p:xfrm>
              <a:off x="5981349" y="3564983"/>
              <a:ext cx="3489821" cy="3011987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80178">
                      <a:extLst>
                        <a:ext uri="{9D8B030D-6E8A-4147-A177-3AD203B41FA5}">
                          <a16:colId xmlns:a16="http://schemas.microsoft.com/office/drawing/2014/main" val="2226377696"/>
                        </a:ext>
                      </a:extLst>
                    </a:gridCol>
                    <a:gridCol w="897622">
                      <a:extLst>
                        <a:ext uri="{9D8B030D-6E8A-4147-A177-3AD203B41FA5}">
                          <a16:colId xmlns:a16="http://schemas.microsoft.com/office/drawing/2014/main" val="1515602878"/>
                        </a:ext>
                      </a:extLst>
                    </a:gridCol>
                    <a:gridCol w="1812021">
                      <a:extLst>
                        <a:ext uri="{9D8B030D-6E8A-4147-A177-3AD203B41FA5}">
                          <a16:colId xmlns:a16="http://schemas.microsoft.com/office/drawing/2014/main" val="2517524203"/>
                        </a:ext>
                      </a:extLst>
                    </a:gridCol>
                  </a:tblGrid>
                  <a:tr h="787202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216136"/>
                      </a:ext>
                    </a:extLst>
                  </a:tr>
                  <a:tr h="59165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dirty="0"/>
                            <a:t>Crianças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8"/>
                          <a:stretch>
                            <a:fillRect l="-92617" t="-132653" r="-671" b="-2836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95441628"/>
                      </a:ext>
                    </a:extLst>
                  </a:tr>
                  <a:tr h="59165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dirty="0"/>
                            <a:t>Adultos jovens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8"/>
                          <a:stretch>
                            <a:fillRect l="-92617" t="-235052" r="-671" b="-18659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69240490"/>
                      </a:ext>
                    </a:extLst>
                  </a:tr>
                  <a:tr h="59165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dirty="0"/>
                            <a:t>Adultos idosos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8"/>
                          <a:stretch>
                            <a:fillRect l="-92617" t="-335052" r="-671" b="-8659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9410062"/>
                      </a:ext>
                    </a:extLst>
                  </a:tr>
                  <a:tr h="449829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6911308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2" name="Tabela 11">
                <a:extLst>
                  <a:ext uri="{FF2B5EF4-FFF2-40B4-BE49-F238E27FC236}">
                    <a16:creationId xmlns:a16="http://schemas.microsoft.com/office/drawing/2014/main" id="{B023BCCD-3A3D-F3F7-622A-6BD16E87546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01467461"/>
                  </p:ext>
                </p:extLst>
              </p:nvPr>
            </p:nvGraphicFramePr>
            <p:xfrm>
              <a:off x="181538" y="2960977"/>
              <a:ext cx="3291840" cy="323050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6418">
                      <a:extLst>
                        <a:ext uri="{9D8B030D-6E8A-4147-A177-3AD203B41FA5}">
                          <a16:colId xmlns:a16="http://schemas.microsoft.com/office/drawing/2014/main" val="2084369836"/>
                        </a:ext>
                      </a:extLst>
                    </a:gridCol>
                    <a:gridCol w="964734">
                      <a:extLst>
                        <a:ext uri="{9D8B030D-6E8A-4147-A177-3AD203B41FA5}">
                          <a16:colId xmlns:a16="http://schemas.microsoft.com/office/drawing/2014/main" val="2688386803"/>
                        </a:ext>
                      </a:extLst>
                    </a:gridCol>
                    <a:gridCol w="1560688">
                      <a:extLst>
                        <a:ext uri="{9D8B030D-6E8A-4147-A177-3AD203B41FA5}">
                          <a16:colId xmlns:a16="http://schemas.microsoft.com/office/drawing/2014/main" val="72672263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425008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Branca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5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25,00%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1747034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Preta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20,00%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24083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Parda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40,00%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8937315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Amarela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10,00%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245012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Indígena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20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5,00%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90253693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20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9126905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2" name="Tabela 11">
                <a:extLst>
                  <a:ext uri="{FF2B5EF4-FFF2-40B4-BE49-F238E27FC236}">
                    <a16:creationId xmlns:a16="http://schemas.microsoft.com/office/drawing/2014/main" id="{B023BCCD-3A3D-F3F7-622A-6BD16E87546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01467461"/>
                  </p:ext>
                </p:extLst>
              </p:nvPr>
            </p:nvGraphicFramePr>
            <p:xfrm>
              <a:off x="181538" y="2960977"/>
              <a:ext cx="3291840" cy="323050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6418">
                      <a:extLst>
                        <a:ext uri="{9D8B030D-6E8A-4147-A177-3AD203B41FA5}">
                          <a16:colId xmlns:a16="http://schemas.microsoft.com/office/drawing/2014/main" val="2084369836"/>
                        </a:ext>
                      </a:extLst>
                    </a:gridCol>
                    <a:gridCol w="964734">
                      <a:extLst>
                        <a:ext uri="{9D8B030D-6E8A-4147-A177-3AD203B41FA5}">
                          <a16:colId xmlns:a16="http://schemas.microsoft.com/office/drawing/2014/main" val="2688386803"/>
                        </a:ext>
                      </a:extLst>
                    </a:gridCol>
                    <a:gridCol w="1560688">
                      <a:extLst>
                        <a:ext uri="{9D8B030D-6E8A-4147-A177-3AD203B41FA5}">
                          <a16:colId xmlns:a16="http://schemas.microsoft.com/office/drawing/2014/main" val="726722638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4250087"/>
                      </a:ext>
                    </a:extLst>
                  </a:tr>
                  <a:tr h="48495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Branca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5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9"/>
                          <a:stretch>
                            <a:fillRect l="-111719" t="-95000" r="-781" b="-4912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17470346"/>
                      </a:ext>
                    </a:extLst>
                  </a:tr>
                  <a:tr h="47993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Preta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9"/>
                          <a:stretch>
                            <a:fillRect l="-111719" t="-197468" r="-781" b="-3974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240836"/>
                      </a:ext>
                    </a:extLst>
                  </a:tr>
                  <a:tr h="48107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Parda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9"/>
                          <a:stretch>
                            <a:fillRect l="-111719" t="-297468" r="-781" b="-2974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89373157"/>
                      </a:ext>
                    </a:extLst>
                  </a:tr>
                  <a:tr h="48107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Amarela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9"/>
                          <a:stretch>
                            <a:fillRect l="-111719" t="-397468" r="-781" b="-1974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2450121"/>
                      </a:ext>
                    </a:extLst>
                  </a:tr>
                  <a:tr h="48050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Indígena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9"/>
                          <a:stretch>
                            <a:fillRect l="-111719" t="-497468" r="-781" b="-974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0253693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20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9126905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" name="Retângulo 13">
            <a:extLst>
              <a:ext uri="{FF2B5EF4-FFF2-40B4-BE49-F238E27FC236}">
                <a16:creationId xmlns:a16="http://schemas.microsoft.com/office/drawing/2014/main" id="{1CC45CE6-4188-F736-A399-E2D9FB5CB3B0}"/>
              </a:ext>
            </a:extLst>
          </p:cNvPr>
          <p:cNvSpPr/>
          <p:nvPr/>
        </p:nvSpPr>
        <p:spPr>
          <a:xfrm>
            <a:off x="181538" y="2960977"/>
            <a:ext cx="5665925" cy="3230500"/>
          </a:xfrm>
          <a:prstGeom prst="rect">
            <a:avLst/>
          </a:prstGeom>
          <a:noFill/>
          <a:ln>
            <a:solidFill>
              <a:srgbClr val="0070C0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F2A78D4D-A91A-BEA5-2586-01C4BBE4430D}"/>
              </a:ext>
            </a:extLst>
          </p:cNvPr>
          <p:cNvSpPr/>
          <p:nvPr/>
        </p:nvSpPr>
        <p:spPr>
          <a:xfrm>
            <a:off x="5536733" y="468018"/>
            <a:ext cx="6553479" cy="2108991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7B9CB8D3-3E4B-482C-C226-4EDCA948D14A}"/>
              </a:ext>
            </a:extLst>
          </p:cNvPr>
          <p:cNvSpPr/>
          <p:nvPr/>
        </p:nvSpPr>
        <p:spPr>
          <a:xfrm>
            <a:off x="5981349" y="3564983"/>
            <a:ext cx="5739747" cy="3011987"/>
          </a:xfrm>
          <a:prstGeom prst="rect">
            <a:avLst/>
          </a:prstGeom>
          <a:noFill/>
          <a:ln>
            <a:solidFill>
              <a:srgbClr val="0070C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Text 2">
            <a:extLst>
              <a:ext uri="{FF2B5EF4-FFF2-40B4-BE49-F238E27FC236}">
                <a16:creationId xmlns:a16="http://schemas.microsoft.com/office/drawing/2014/main" id="{257F7CB5-1E30-5312-A373-76B3DF2C0E7B}"/>
              </a:ext>
            </a:extLst>
          </p:cNvPr>
          <p:cNvSpPr/>
          <p:nvPr/>
        </p:nvSpPr>
        <p:spPr>
          <a:xfrm>
            <a:off x="214437" y="2544883"/>
            <a:ext cx="54565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Cor </a:t>
            </a:r>
            <a:r>
              <a:rPr lang="en-US" sz="1700" dirty="0" err="1">
                <a:solidFill>
                  <a:srgbClr val="111827"/>
                </a:solidFill>
              </a:rPr>
              <a:t>ou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Raça</a:t>
            </a:r>
            <a:r>
              <a:rPr lang="en-US" sz="1700" dirty="0">
                <a:solidFill>
                  <a:srgbClr val="111827"/>
                </a:solidFill>
              </a:rPr>
              <a:t> (IBGE CENSO DEMOGRÁFICO): </a:t>
            </a:r>
            <a:endParaRPr lang="en-US" sz="1700" dirty="0"/>
          </a:p>
        </p:txBody>
      </p:sp>
      <p:sp>
        <p:nvSpPr>
          <p:cNvPr id="22" name="Text 2">
            <a:extLst>
              <a:ext uri="{FF2B5EF4-FFF2-40B4-BE49-F238E27FC236}">
                <a16:creationId xmlns:a16="http://schemas.microsoft.com/office/drawing/2014/main" id="{65CE3FA1-0D49-232A-2F48-6E116A73AF53}"/>
              </a:ext>
            </a:extLst>
          </p:cNvPr>
          <p:cNvSpPr/>
          <p:nvPr/>
        </p:nvSpPr>
        <p:spPr>
          <a:xfrm>
            <a:off x="5981349" y="3188901"/>
            <a:ext cx="4034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por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idade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populacional</a:t>
            </a:r>
            <a:r>
              <a:rPr lang="en-US" sz="1700" dirty="0">
                <a:solidFill>
                  <a:srgbClr val="111827"/>
                </a:solidFill>
              </a:rPr>
              <a:t>: </a:t>
            </a:r>
            <a:endParaRPr lang="en-US" sz="1700" dirty="0"/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109844AB-A0EE-0925-F149-89536C5D0F6A}"/>
              </a:ext>
            </a:extLst>
          </p:cNvPr>
          <p:cNvSpPr/>
          <p:nvPr/>
        </p:nvSpPr>
        <p:spPr>
          <a:xfrm>
            <a:off x="5536733" y="69271"/>
            <a:ext cx="4034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por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sexo</a:t>
            </a:r>
            <a:r>
              <a:rPr lang="en-US" sz="1700" dirty="0">
                <a:solidFill>
                  <a:srgbClr val="111827"/>
                </a:solidFill>
              </a:rPr>
              <a:t> da </a:t>
            </a:r>
            <a:r>
              <a:rPr lang="en-US" sz="1700" dirty="0" err="1">
                <a:solidFill>
                  <a:srgbClr val="111827"/>
                </a:solidFill>
              </a:rPr>
              <a:t>população</a:t>
            </a:r>
            <a:r>
              <a:rPr lang="en-US" sz="1700" dirty="0">
                <a:solidFill>
                  <a:srgbClr val="111827"/>
                </a:solidFill>
              </a:rPr>
              <a:t>: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3252815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516E0A-1744-500E-B05A-A7BBCB2BD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9DA32686-4D0D-1BBF-C9A9-78C9887599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44367"/>
            <a:ext cx="2423160" cy="512064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031D66DB-4978-DF12-4596-0F0F7BE91B89}"/>
              </a:ext>
            </a:extLst>
          </p:cNvPr>
          <p:cNvSpPr/>
          <p:nvPr/>
        </p:nvSpPr>
        <p:spPr>
          <a:xfrm>
            <a:off x="360055" y="644282"/>
            <a:ext cx="3888465" cy="89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b="1" dirty="0" err="1">
                <a:solidFill>
                  <a:srgbClr val="0B1F3A"/>
                </a:solidFill>
              </a:rPr>
              <a:t>Organização</a:t>
            </a:r>
            <a:r>
              <a:rPr lang="en-US" b="1" dirty="0">
                <a:solidFill>
                  <a:srgbClr val="0B1F3A"/>
                </a:solidFill>
              </a:rPr>
              <a:t> e </a:t>
            </a:r>
            <a:r>
              <a:rPr lang="en-US" b="1" dirty="0" err="1">
                <a:solidFill>
                  <a:srgbClr val="0B1F3A"/>
                </a:solidFill>
              </a:rPr>
              <a:t>Preparação</a:t>
            </a:r>
            <a:r>
              <a:rPr lang="en-US" b="1" dirty="0">
                <a:solidFill>
                  <a:srgbClr val="0B1F3A"/>
                </a:solidFill>
              </a:rPr>
              <a:t> de Dados</a:t>
            </a:r>
            <a:r>
              <a:rPr lang="en-US" b="1" dirty="0">
                <a:solidFill>
                  <a:srgbClr val="111827"/>
                </a:solidFill>
              </a:rPr>
              <a:t>:</a:t>
            </a:r>
          </a:p>
          <a:p>
            <a:pPr>
              <a:tabLst>
                <a:tab pos="0" algn="l"/>
              </a:tabLst>
              <a:defRPr/>
            </a:pPr>
            <a:r>
              <a:rPr lang="en-US" b="1" dirty="0" err="1">
                <a:solidFill>
                  <a:srgbClr val="111827"/>
                </a:solidFill>
              </a:rPr>
              <a:t>População</a:t>
            </a:r>
            <a:r>
              <a:rPr lang="en-US" b="1" dirty="0">
                <a:solidFill>
                  <a:srgbClr val="111827"/>
                </a:solidFill>
              </a:rPr>
              <a:t>, </a:t>
            </a:r>
            <a:r>
              <a:rPr lang="en-US" b="1" dirty="0" err="1">
                <a:solidFill>
                  <a:srgbClr val="111827"/>
                </a:solidFill>
              </a:rPr>
              <a:t>Estrato</a:t>
            </a:r>
            <a:r>
              <a:rPr lang="en-US" b="1" dirty="0">
                <a:solidFill>
                  <a:srgbClr val="111827"/>
                </a:solidFill>
              </a:rPr>
              <a:t> , </a:t>
            </a:r>
            <a:r>
              <a:rPr lang="en-US" b="1" dirty="0" err="1">
                <a:solidFill>
                  <a:srgbClr val="111827"/>
                </a:solidFill>
              </a:rPr>
              <a:t>proporção</a:t>
            </a:r>
            <a:r>
              <a:rPr lang="en-US" b="1" dirty="0">
                <a:solidFill>
                  <a:srgbClr val="111827"/>
                </a:solidFill>
              </a:rPr>
              <a:t> e </a:t>
            </a:r>
            <a:r>
              <a:rPr lang="en-US" b="1" dirty="0" err="1">
                <a:solidFill>
                  <a:srgbClr val="111827"/>
                </a:solidFill>
              </a:rPr>
              <a:t>Amostra</a:t>
            </a:r>
            <a:endParaRPr lang="pt-BR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90BA6A4B-8E08-0C58-BE95-8FF4BB5A16B2}"/>
              </a:ext>
            </a:extLst>
          </p:cNvPr>
          <p:cNvSpPr/>
          <p:nvPr/>
        </p:nvSpPr>
        <p:spPr>
          <a:xfrm>
            <a:off x="381194" y="1402687"/>
            <a:ext cx="11573118" cy="5157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dirty="0" err="1">
                <a:solidFill>
                  <a:srgbClr val="111827"/>
                </a:solidFill>
              </a:rPr>
              <a:t>Amostra</a:t>
            </a:r>
            <a:r>
              <a:rPr lang="en-US" sz="1700" dirty="0">
                <a:solidFill>
                  <a:srgbClr val="111827"/>
                </a:solidFill>
              </a:rPr>
              <a:t> PROPORCIONAL: </a:t>
            </a:r>
            <a:r>
              <a:rPr lang="en-US" sz="1700" dirty="0" err="1">
                <a:solidFill>
                  <a:srgbClr val="111827"/>
                </a:solidFill>
              </a:rPr>
              <a:t>uma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b="1" dirty="0" err="1">
                <a:solidFill>
                  <a:srgbClr val="111827"/>
                </a:solidFill>
              </a:rPr>
              <a:t>amostra</a:t>
            </a:r>
            <a:r>
              <a:rPr lang="en-US" sz="1700" b="1" dirty="0">
                <a:solidFill>
                  <a:srgbClr val="111827"/>
                </a:solidFill>
              </a:rPr>
              <a:t> é </a:t>
            </a:r>
            <a:r>
              <a:rPr lang="en-US" sz="1700" b="1" dirty="0" err="1">
                <a:solidFill>
                  <a:srgbClr val="111827"/>
                </a:solidFill>
              </a:rPr>
              <a:t>proporcional</a:t>
            </a:r>
            <a:r>
              <a:rPr lang="en-US" sz="1700" b="1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quando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pt-BR" dirty="0"/>
              <a:t>os estratos (grupos ou classes) de interesse aparecem com quantidades proporcionais a aquelas encontradas nos estratos da população.</a:t>
            </a:r>
            <a:endParaRPr lang="en-US" sz="20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4E0E1F86-9EDD-81AE-B645-7C13A8A67D7B}"/>
              </a:ext>
            </a:extLst>
          </p:cNvPr>
          <p:cNvSpPr/>
          <p:nvPr/>
        </p:nvSpPr>
        <p:spPr>
          <a:xfrm>
            <a:off x="180195" y="62793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B0E25D4-3A5A-EA14-10ED-A0195D18008D}"/>
              </a:ext>
            </a:extLst>
          </p:cNvPr>
          <p:cNvSpPr/>
          <p:nvPr/>
        </p:nvSpPr>
        <p:spPr>
          <a:xfrm>
            <a:off x="180195" y="6590224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1BBD6EB-5FC4-599D-3CA6-702AB494C9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9601" y="2105804"/>
            <a:ext cx="2811988" cy="210899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8A655E59-539E-956B-7164-A717369D42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69535578"/>
                  </p:ext>
                </p:extLst>
              </p:nvPr>
            </p:nvGraphicFramePr>
            <p:xfrm>
              <a:off x="318110" y="2095482"/>
              <a:ext cx="3741491" cy="192995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06011">
                      <a:extLst>
                        <a:ext uri="{9D8B030D-6E8A-4147-A177-3AD203B41FA5}">
                          <a16:colId xmlns:a16="http://schemas.microsoft.com/office/drawing/2014/main" val="2623616122"/>
                        </a:ext>
                      </a:extLst>
                    </a:gridCol>
                    <a:gridCol w="906011">
                      <a:extLst>
                        <a:ext uri="{9D8B030D-6E8A-4147-A177-3AD203B41FA5}">
                          <a16:colId xmlns:a16="http://schemas.microsoft.com/office/drawing/2014/main" val="633702682"/>
                        </a:ext>
                      </a:extLst>
                    </a:gridCol>
                    <a:gridCol w="1929469">
                      <a:extLst>
                        <a:ext uri="{9D8B030D-6E8A-4147-A177-3AD203B41FA5}">
                          <a16:colId xmlns:a16="http://schemas.microsoft.com/office/drawing/2014/main" val="1457167182"/>
                        </a:ext>
                      </a:extLst>
                    </a:gridCol>
                  </a:tblGrid>
                  <a:tr h="60178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20703876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44,44%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69474747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55,56%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62729573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0301151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8A655E59-539E-956B-7164-A717369D426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69535578"/>
                  </p:ext>
                </p:extLst>
              </p:nvPr>
            </p:nvGraphicFramePr>
            <p:xfrm>
              <a:off x="318110" y="2095482"/>
              <a:ext cx="3741491" cy="192995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06011">
                      <a:extLst>
                        <a:ext uri="{9D8B030D-6E8A-4147-A177-3AD203B41FA5}">
                          <a16:colId xmlns:a16="http://schemas.microsoft.com/office/drawing/2014/main" val="2623616122"/>
                        </a:ext>
                      </a:extLst>
                    </a:gridCol>
                    <a:gridCol w="906011">
                      <a:extLst>
                        <a:ext uri="{9D8B030D-6E8A-4147-A177-3AD203B41FA5}">
                          <a16:colId xmlns:a16="http://schemas.microsoft.com/office/drawing/2014/main" val="633702682"/>
                        </a:ext>
                      </a:extLst>
                    </a:gridCol>
                    <a:gridCol w="1929469">
                      <a:extLst>
                        <a:ext uri="{9D8B030D-6E8A-4147-A177-3AD203B41FA5}">
                          <a16:colId xmlns:a16="http://schemas.microsoft.com/office/drawing/2014/main" val="1457167182"/>
                        </a:ext>
                      </a:extLst>
                    </a:gridCol>
                  </a:tblGrid>
                  <a:tr h="60178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20703876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94006" t="-126582" r="-946" b="-1974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9474747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94006" t="-223750" r="-946" b="-9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272957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0301151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5" name="Retângulo 14">
            <a:extLst>
              <a:ext uri="{FF2B5EF4-FFF2-40B4-BE49-F238E27FC236}">
                <a16:creationId xmlns:a16="http://schemas.microsoft.com/office/drawing/2014/main" id="{F1C8DD4C-1729-B71C-71A4-9608FF6A27D9}"/>
              </a:ext>
            </a:extLst>
          </p:cNvPr>
          <p:cNvSpPr/>
          <p:nvPr/>
        </p:nvSpPr>
        <p:spPr>
          <a:xfrm>
            <a:off x="318110" y="2095482"/>
            <a:ext cx="6553479" cy="2108991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A58E2657-E3C7-36EB-036C-CF619276D3C2}"/>
              </a:ext>
            </a:extLst>
          </p:cNvPr>
          <p:cNvSpPr/>
          <p:nvPr/>
        </p:nvSpPr>
        <p:spPr>
          <a:xfrm>
            <a:off x="5536733" y="69271"/>
            <a:ext cx="4034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por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sexo</a:t>
            </a:r>
            <a:r>
              <a:rPr lang="en-US" sz="1700" dirty="0">
                <a:solidFill>
                  <a:srgbClr val="111827"/>
                </a:solidFill>
              </a:rPr>
              <a:t> da </a:t>
            </a:r>
            <a:r>
              <a:rPr lang="en-US" sz="1700" dirty="0" err="1">
                <a:solidFill>
                  <a:srgbClr val="111827"/>
                </a:solidFill>
              </a:rPr>
              <a:t>população</a:t>
            </a:r>
            <a:r>
              <a:rPr lang="en-US" sz="1700" dirty="0">
                <a:solidFill>
                  <a:srgbClr val="111827"/>
                </a:solidFill>
              </a:rPr>
              <a:t>:</a:t>
            </a:r>
            <a:endParaRPr lang="en-US" sz="17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0C5C045B-5F75-5B1F-D260-ECAED6D9EF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45507831"/>
                  </p:ext>
                </p:extLst>
              </p:nvPr>
            </p:nvGraphicFramePr>
            <p:xfrm>
              <a:off x="318110" y="4348282"/>
              <a:ext cx="6553478" cy="1971739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15072">
                      <a:extLst>
                        <a:ext uri="{9D8B030D-6E8A-4147-A177-3AD203B41FA5}">
                          <a16:colId xmlns:a16="http://schemas.microsoft.com/office/drawing/2014/main" val="4069882098"/>
                        </a:ext>
                      </a:extLst>
                    </a:gridCol>
                    <a:gridCol w="897622">
                      <a:extLst>
                        <a:ext uri="{9D8B030D-6E8A-4147-A177-3AD203B41FA5}">
                          <a16:colId xmlns:a16="http://schemas.microsoft.com/office/drawing/2014/main" val="3846902585"/>
                        </a:ext>
                      </a:extLst>
                    </a:gridCol>
                    <a:gridCol w="1921079">
                      <a:extLst>
                        <a:ext uri="{9D8B030D-6E8A-4147-A177-3AD203B41FA5}">
                          <a16:colId xmlns:a16="http://schemas.microsoft.com/office/drawing/2014/main" val="1444617292"/>
                        </a:ext>
                      </a:extLst>
                    </a:gridCol>
                    <a:gridCol w="1258348">
                      <a:extLst>
                        <a:ext uri="{9D8B030D-6E8A-4147-A177-3AD203B41FA5}">
                          <a16:colId xmlns:a16="http://schemas.microsoft.com/office/drawing/2014/main" val="338402198"/>
                        </a:ext>
                      </a:extLst>
                    </a:gridCol>
                    <a:gridCol w="1561357">
                      <a:extLst>
                        <a:ext uri="{9D8B030D-6E8A-4147-A177-3AD203B41FA5}">
                          <a16:colId xmlns:a16="http://schemas.microsoft.com/office/drawing/2014/main" val="2098839796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Amostra</a:t>
                          </a:r>
                          <a:r>
                            <a:rPr lang="pt-BR" sz="1200" dirty="0"/>
                            <a:t> proporcional ((</a:t>
                          </a:r>
                          <a:r>
                            <a:rPr lang="pt-BR" sz="1200" b="1" dirty="0"/>
                            <a:t>n=9</a:t>
                          </a:r>
                          <a:r>
                            <a:rPr lang="pt-BR" sz="1200" dirty="0"/>
                            <a:t>))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da amostra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347440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dirty="0">
                              <a:solidFill>
                                <a:srgbClr val="FF0000"/>
                              </a:solidFill>
                            </a:rPr>
                            <a:t>44,44%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4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009A2C"/>
                              </a:solidFill>
                            </a:rPr>
                            <a:t>44,44%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67833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dirty="0">
                              <a:solidFill>
                                <a:srgbClr val="FF0000"/>
                              </a:solidFill>
                            </a:rPr>
                            <a:t>55,56%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5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009A2C"/>
                              </a:solidFill>
                            </a:rPr>
                            <a:t>55,56%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775592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9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659746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0C5C045B-5F75-5B1F-D260-ECAED6D9EF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45507831"/>
                  </p:ext>
                </p:extLst>
              </p:nvPr>
            </p:nvGraphicFramePr>
            <p:xfrm>
              <a:off x="318110" y="4348282"/>
              <a:ext cx="6553478" cy="1971739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15072">
                      <a:extLst>
                        <a:ext uri="{9D8B030D-6E8A-4147-A177-3AD203B41FA5}">
                          <a16:colId xmlns:a16="http://schemas.microsoft.com/office/drawing/2014/main" val="4069882098"/>
                        </a:ext>
                      </a:extLst>
                    </a:gridCol>
                    <a:gridCol w="897622">
                      <a:extLst>
                        <a:ext uri="{9D8B030D-6E8A-4147-A177-3AD203B41FA5}">
                          <a16:colId xmlns:a16="http://schemas.microsoft.com/office/drawing/2014/main" val="3846902585"/>
                        </a:ext>
                      </a:extLst>
                    </a:gridCol>
                    <a:gridCol w="1921079">
                      <a:extLst>
                        <a:ext uri="{9D8B030D-6E8A-4147-A177-3AD203B41FA5}">
                          <a16:colId xmlns:a16="http://schemas.microsoft.com/office/drawing/2014/main" val="1444617292"/>
                        </a:ext>
                      </a:extLst>
                    </a:gridCol>
                    <a:gridCol w="1258348">
                      <a:extLst>
                        <a:ext uri="{9D8B030D-6E8A-4147-A177-3AD203B41FA5}">
                          <a16:colId xmlns:a16="http://schemas.microsoft.com/office/drawing/2014/main" val="338402198"/>
                        </a:ext>
                      </a:extLst>
                    </a:gridCol>
                    <a:gridCol w="1561357">
                      <a:extLst>
                        <a:ext uri="{9D8B030D-6E8A-4147-A177-3AD203B41FA5}">
                          <a16:colId xmlns:a16="http://schemas.microsoft.com/office/drawing/2014/main" val="2098839796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Amostra</a:t>
                          </a:r>
                          <a:r>
                            <a:rPr lang="pt-BR" sz="1200" dirty="0"/>
                            <a:t> proporcional ((</a:t>
                          </a:r>
                          <a:r>
                            <a:rPr lang="pt-BR" sz="1200" b="1" dirty="0"/>
                            <a:t>n=9</a:t>
                          </a:r>
                          <a:r>
                            <a:rPr lang="pt-BR" sz="1200" dirty="0"/>
                            <a:t>))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da amostra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3474404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94921" t="-134177" r="-147619" b="-1987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4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320703" t="-134177" r="-781" b="-19873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6783355"/>
                      </a:ext>
                    </a:extLst>
                  </a:tr>
                  <a:tr h="48469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94921" t="-231250" r="-147619" b="-96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5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320703" t="-231250" r="-781" b="-962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775592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9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6597468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21" name="Imagem 20">
            <a:extLst>
              <a:ext uri="{FF2B5EF4-FFF2-40B4-BE49-F238E27FC236}">
                <a16:creationId xmlns:a16="http://schemas.microsoft.com/office/drawing/2014/main" id="{51BAAB2D-1C10-2CF5-9851-3E8F8FDC52D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1100" y="3298385"/>
            <a:ext cx="4389120" cy="3291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0360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656448-84C1-6836-9EA5-BF6D094F2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F78DB071-75D2-6A49-349A-8AA8A4BF44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44367"/>
            <a:ext cx="2423160" cy="512064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68CC72E9-FCD1-37D3-4DA9-E51DC0B7747E}"/>
              </a:ext>
            </a:extLst>
          </p:cNvPr>
          <p:cNvSpPr/>
          <p:nvPr/>
        </p:nvSpPr>
        <p:spPr>
          <a:xfrm>
            <a:off x="360055" y="644282"/>
            <a:ext cx="5319292" cy="7584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b="1" dirty="0" err="1">
                <a:solidFill>
                  <a:srgbClr val="0B1F3A"/>
                </a:solidFill>
              </a:rPr>
              <a:t>Organização</a:t>
            </a:r>
            <a:r>
              <a:rPr lang="en-US" b="1" dirty="0">
                <a:solidFill>
                  <a:srgbClr val="0B1F3A"/>
                </a:solidFill>
              </a:rPr>
              <a:t> e </a:t>
            </a:r>
            <a:r>
              <a:rPr lang="en-US" b="1" dirty="0" err="1">
                <a:solidFill>
                  <a:srgbClr val="0B1F3A"/>
                </a:solidFill>
              </a:rPr>
              <a:t>Preparação</a:t>
            </a:r>
            <a:r>
              <a:rPr lang="en-US" b="1" dirty="0">
                <a:solidFill>
                  <a:srgbClr val="0B1F3A"/>
                </a:solidFill>
              </a:rPr>
              <a:t> de Dados</a:t>
            </a:r>
            <a:r>
              <a:rPr lang="en-US" b="1" dirty="0">
                <a:solidFill>
                  <a:srgbClr val="111827"/>
                </a:solidFill>
              </a:rPr>
              <a:t>:</a:t>
            </a:r>
          </a:p>
          <a:p>
            <a:pPr>
              <a:tabLst>
                <a:tab pos="0" algn="l"/>
              </a:tabLst>
              <a:defRPr/>
            </a:pPr>
            <a:r>
              <a:rPr lang="en-US" b="1" dirty="0" err="1">
                <a:solidFill>
                  <a:srgbClr val="111827"/>
                </a:solidFill>
              </a:rPr>
              <a:t>População</a:t>
            </a:r>
            <a:r>
              <a:rPr lang="en-US" b="1" dirty="0">
                <a:solidFill>
                  <a:srgbClr val="111827"/>
                </a:solidFill>
              </a:rPr>
              <a:t>, </a:t>
            </a:r>
            <a:r>
              <a:rPr lang="en-US" b="1" dirty="0" err="1">
                <a:solidFill>
                  <a:srgbClr val="111827"/>
                </a:solidFill>
              </a:rPr>
              <a:t>Estrato</a:t>
            </a:r>
            <a:r>
              <a:rPr lang="en-US" b="1" dirty="0">
                <a:solidFill>
                  <a:srgbClr val="111827"/>
                </a:solidFill>
              </a:rPr>
              <a:t> , </a:t>
            </a:r>
            <a:r>
              <a:rPr lang="en-US" b="1" dirty="0" err="1">
                <a:solidFill>
                  <a:srgbClr val="111827"/>
                </a:solidFill>
              </a:rPr>
              <a:t>proporção</a:t>
            </a:r>
            <a:r>
              <a:rPr lang="en-US" b="1" dirty="0">
                <a:solidFill>
                  <a:srgbClr val="111827"/>
                </a:solidFill>
              </a:rPr>
              <a:t> e </a:t>
            </a:r>
            <a:r>
              <a:rPr lang="en-US" b="1" dirty="0" err="1">
                <a:solidFill>
                  <a:srgbClr val="111827"/>
                </a:solidFill>
              </a:rPr>
              <a:t>Amostra</a:t>
            </a:r>
            <a:endParaRPr lang="pt-BR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3DC19198-26F4-979E-3E16-F97241DE5E36}"/>
              </a:ext>
            </a:extLst>
          </p:cNvPr>
          <p:cNvSpPr/>
          <p:nvPr/>
        </p:nvSpPr>
        <p:spPr>
          <a:xfrm>
            <a:off x="381194" y="1402687"/>
            <a:ext cx="11450751" cy="5157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dirty="0" err="1">
                <a:solidFill>
                  <a:srgbClr val="111827"/>
                </a:solidFill>
              </a:rPr>
              <a:t>Amostra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b="1" dirty="0">
                <a:solidFill>
                  <a:srgbClr val="111827"/>
                </a:solidFill>
              </a:rPr>
              <a:t>BALANCEADA</a:t>
            </a:r>
            <a:r>
              <a:rPr lang="en-US" sz="1700" dirty="0">
                <a:solidFill>
                  <a:srgbClr val="111827"/>
                </a:solidFill>
              </a:rPr>
              <a:t>: </a:t>
            </a:r>
            <a:r>
              <a:rPr lang="pt-BR" sz="1600" dirty="0"/>
              <a:t>Uma </a:t>
            </a:r>
            <a:r>
              <a:rPr lang="pt-BR" sz="1600" b="1" dirty="0"/>
              <a:t>amostra balanceada</a:t>
            </a:r>
            <a:r>
              <a:rPr lang="pt-BR" sz="1600" dirty="0"/>
              <a:t> é aquela em que os estratos (grupos ou classes) de interesse aparecem com quantidades iguais, ou aproximadamente iguais, na amostra.</a:t>
            </a:r>
            <a:endParaRPr lang="en-US" sz="17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17BF7F3D-7D1A-6311-A2FF-3A7CF9085773}"/>
              </a:ext>
            </a:extLst>
          </p:cNvPr>
          <p:cNvSpPr/>
          <p:nvPr/>
        </p:nvSpPr>
        <p:spPr>
          <a:xfrm>
            <a:off x="180195" y="62793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D87C1190-3ADF-77F0-F268-5C71E7CA60C3}"/>
              </a:ext>
            </a:extLst>
          </p:cNvPr>
          <p:cNvSpPr/>
          <p:nvPr/>
        </p:nvSpPr>
        <p:spPr>
          <a:xfrm>
            <a:off x="180195" y="6590224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5D54DEC4-C7FD-2CF0-F5E5-25310476B9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9601" y="2105804"/>
            <a:ext cx="2811988" cy="210899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0F88D9FB-CBDB-E97B-65DC-4FB0FC43748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18110" y="2095482"/>
              <a:ext cx="3741491" cy="192995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06011">
                      <a:extLst>
                        <a:ext uri="{9D8B030D-6E8A-4147-A177-3AD203B41FA5}">
                          <a16:colId xmlns:a16="http://schemas.microsoft.com/office/drawing/2014/main" val="2623616122"/>
                        </a:ext>
                      </a:extLst>
                    </a:gridCol>
                    <a:gridCol w="906011">
                      <a:extLst>
                        <a:ext uri="{9D8B030D-6E8A-4147-A177-3AD203B41FA5}">
                          <a16:colId xmlns:a16="http://schemas.microsoft.com/office/drawing/2014/main" val="633702682"/>
                        </a:ext>
                      </a:extLst>
                    </a:gridCol>
                    <a:gridCol w="1929469">
                      <a:extLst>
                        <a:ext uri="{9D8B030D-6E8A-4147-A177-3AD203B41FA5}">
                          <a16:colId xmlns:a16="http://schemas.microsoft.com/office/drawing/2014/main" val="1457167182"/>
                        </a:ext>
                      </a:extLst>
                    </a:gridCol>
                  </a:tblGrid>
                  <a:tr h="60178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20703876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44,44%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69474747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  =&gt;  </a:t>
                          </a:r>
                          <a:r>
                            <a:rPr lang="pt-BR" b="1" dirty="0">
                              <a:solidFill>
                                <a:srgbClr val="FF0000"/>
                              </a:solidFill>
                            </a:rPr>
                            <a:t>55,56%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62729573"/>
                      </a:ext>
                    </a:extLst>
                  </a:tr>
                  <a:tr h="359316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03011514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0F88D9FB-CBDB-E97B-65DC-4FB0FC43748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18110" y="2095482"/>
              <a:ext cx="3741491" cy="192995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06011">
                      <a:extLst>
                        <a:ext uri="{9D8B030D-6E8A-4147-A177-3AD203B41FA5}">
                          <a16:colId xmlns:a16="http://schemas.microsoft.com/office/drawing/2014/main" val="2623616122"/>
                        </a:ext>
                      </a:extLst>
                    </a:gridCol>
                    <a:gridCol w="906011">
                      <a:extLst>
                        <a:ext uri="{9D8B030D-6E8A-4147-A177-3AD203B41FA5}">
                          <a16:colId xmlns:a16="http://schemas.microsoft.com/office/drawing/2014/main" val="633702682"/>
                        </a:ext>
                      </a:extLst>
                    </a:gridCol>
                    <a:gridCol w="1929469">
                      <a:extLst>
                        <a:ext uri="{9D8B030D-6E8A-4147-A177-3AD203B41FA5}">
                          <a16:colId xmlns:a16="http://schemas.microsoft.com/office/drawing/2014/main" val="1457167182"/>
                        </a:ext>
                      </a:extLst>
                    </a:gridCol>
                  </a:tblGrid>
                  <a:tr h="601784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20703876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94006" t="-126582" r="-946" b="-19746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9474747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94006" t="-223750" r="-946" b="-9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272957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buNone/>
                          </a:pPr>
                          <a:r>
                            <a:rPr lang="pt-BR" b="1" dirty="0"/>
                            <a:t>100%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0301151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5" name="Retângulo 14">
            <a:extLst>
              <a:ext uri="{FF2B5EF4-FFF2-40B4-BE49-F238E27FC236}">
                <a16:creationId xmlns:a16="http://schemas.microsoft.com/office/drawing/2014/main" id="{06908664-E8D8-97F6-1B83-CF637849FF09}"/>
              </a:ext>
            </a:extLst>
          </p:cNvPr>
          <p:cNvSpPr/>
          <p:nvPr/>
        </p:nvSpPr>
        <p:spPr>
          <a:xfrm>
            <a:off x="318110" y="2095482"/>
            <a:ext cx="6553479" cy="2108991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E6EC1D27-F9E4-7774-F955-214A14E2ADA1}"/>
              </a:ext>
            </a:extLst>
          </p:cNvPr>
          <p:cNvSpPr/>
          <p:nvPr/>
        </p:nvSpPr>
        <p:spPr>
          <a:xfrm>
            <a:off x="5536733" y="69271"/>
            <a:ext cx="4034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 err="1">
                <a:solidFill>
                  <a:srgbClr val="111827"/>
                </a:solidFill>
              </a:rPr>
              <a:t>Estratificação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por</a:t>
            </a:r>
            <a:r>
              <a:rPr lang="en-US" sz="1700" dirty="0">
                <a:solidFill>
                  <a:srgbClr val="111827"/>
                </a:solidFill>
              </a:rPr>
              <a:t> </a:t>
            </a:r>
            <a:r>
              <a:rPr lang="en-US" sz="1700" dirty="0" err="1">
                <a:solidFill>
                  <a:srgbClr val="111827"/>
                </a:solidFill>
              </a:rPr>
              <a:t>sexo</a:t>
            </a:r>
            <a:r>
              <a:rPr lang="en-US" sz="1700" dirty="0">
                <a:solidFill>
                  <a:srgbClr val="111827"/>
                </a:solidFill>
              </a:rPr>
              <a:t> da </a:t>
            </a:r>
            <a:r>
              <a:rPr lang="en-US" sz="1700" dirty="0" err="1">
                <a:solidFill>
                  <a:srgbClr val="111827"/>
                </a:solidFill>
              </a:rPr>
              <a:t>população</a:t>
            </a:r>
            <a:r>
              <a:rPr lang="en-US" sz="1700" dirty="0">
                <a:solidFill>
                  <a:srgbClr val="111827"/>
                </a:solidFill>
              </a:rPr>
              <a:t>:</a:t>
            </a:r>
            <a:endParaRPr lang="en-US" sz="17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D41280DF-035B-021A-BC3C-118133C841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34671767"/>
                  </p:ext>
                </p:extLst>
              </p:nvPr>
            </p:nvGraphicFramePr>
            <p:xfrm>
              <a:off x="318110" y="4348282"/>
              <a:ext cx="6553478" cy="1968246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15072">
                      <a:extLst>
                        <a:ext uri="{9D8B030D-6E8A-4147-A177-3AD203B41FA5}">
                          <a16:colId xmlns:a16="http://schemas.microsoft.com/office/drawing/2014/main" val="4069882098"/>
                        </a:ext>
                      </a:extLst>
                    </a:gridCol>
                    <a:gridCol w="897622">
                      <a:extLst>
                        <a:ext uri="{9D8B030D-6E8A-4147-A177-3AD203B41FA5}">
                          <a16:colId xmlns:a16="http://schemas.microsoft.com/office/drawing/2014/main" val="3846902585"/>
                        </a:ext>
                      </a:extLst>
                    </a:gridCol>
                    <a:gridCol w="1921079">
                      <a:extLst>
                        <a:ext uri="{9D8B030D-6E8A-4147-A177-3AD203B41FA5}">
                          <a16:colId xmlns:a16="http://schemas.microsoft.com/office/drawing/2014/main" val="1444617292"/>
                        </a:ext>
                      </a:extLst>
                    </a:gridCol>
                    <a:gridCol w="1258348">
                      <a:extLst>
                        <a:ext uri="{9D8B030D-6E8A-4147-A177-3AD203B41FA5}">
                          <a16:colId xmlns:a16="http://schemas.microsoft.com/office/drawing/2014/main" val="338402198"/>
                        </a:ext>
                      </a:extLst>
                    </a:gridCol>
                    <a:gridCol w="1561357">
                      <a:extLst>
                        <a:ext uri="{9D8B030D-6E8A-4147-A177-3AD203B41FA5}">
                          <a16:colId xmlns:a16="http://schemas.microsoft.com/office/drawing/2014/main" val="2098839796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Amostra balanceada ((n=8))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Proporção da amostra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347440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/>
                            <a:t>44,44%</a:t>
                          </a:r>
                          <a:endParaRPr lang="pt-BR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/>
                            <a:t>4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003F76"/>
                              </a:solidFill>
                            </a:rPr>
                            <a:t>50,00%</a:t>
                          </a:r>
                          <a:endParaRPr lang="pt-BR" dirty="0">
                            <a:solidFill>
                              <a:srgbClr val="003F76"/>
                            </a:solidFill>
                          </a:endParaRP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67833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/>
                            <a:t>55,56%</a:t>
                          </a:r>
                          <a:endParaRPr lang="pt-BR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dirty="0"/>
                            <a:t>4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num>
                                <m:den>
                                  <m:r>
                                    <a:rPr lang="pt-BR" b="0" i="1" dirty="0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den>
                              </m:f>
                            </m:oMath>
                          </a14:m>
                          <a:r>
                            <a:rPr lang="pt-BR" dirty="0"/>
                            <a:t> = </a:t>
                          </a:r>
                          <a:r>
                            <a:rPr lang="pt-BR" b="1" dirty="0">
                              <a:solidFill>
                                <a:srgbClr val="003F76"/>
                              </a:solidFill>
                            </a:rPr>
                            <a:t>50,00%</a:t>
                          </a:r>
                          <a:endParaRPr lang="pt-BR" dirty="0">
                            <a:solidFill>
                              <a:srgbClr val="003F76"/>
                            </a:solidFill>
                          </a:endParaRP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775592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  <a:endParaRPr lang="pt-BR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/>
                            <a:t>18</a:t>
                          </a:r>
                          <a:endParaRPr lang="pt-BR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/>
                            <a:t>100%</a:t>
                          </a:r>
                          <a:endParaRPr lang="pt-BR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/>
                            <a:t>8</a:t>
                          </a:r>
                          <a:endParaRPr lang="pt-BR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 dirty="0"/>
                            <a:t>100%</a:t>
                          </a:r>
                          <a:endParaRPr lang="pt-BR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659746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D41280DF-035B-021A-BC3C-118133C841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34671767"/>
                  </p:ext>
                </p:extLst>
              </p:nvPr>
            </p:nvGraphicFramePr>
            <p:xfrm>
              <a:off x="318110" y="4348282"/>
              <a:ext cx="6553478" cy="1968246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915072">
                      <a:extLst>
                        <a:ext uri="{9D8B030D-6E8A-4147-A177-3AD203B41FA5}">
                          <a16:colId xmlns:a16="http://schemas.microsoft.com/office/drawing/2014/main" val="4069882098"/>
                        </a:ext>
                      </a:extLst>
                    </a:gridCol>
                    <a:gridCol w="897622">
                      <a:extLst>
                        <a:ext uri="{9D8B030D-6E8A-4147-A177-3AD203B41FA5}">
                          <a16:colId xmlns:a16="http://schemas.microsoft.com/office/drawing/2014/main" val="3846902585"/>
                        </a:ext>
                      </a:extLst>
                    </a:gridCol>
                    <a:gridCol w="1921079">
                      <a:extLst>
                        <a:ext uri="{9D8B030D-6E8A-4147-A177-3AD203B41FA5}">
                          <a16:colId xmlns:a16="http://schemas.microsoft.com/office/drawing/2014/main" val="1444617292"/>
                        </a:ext>
                      </a:extLst>
                    </a:gridCol>
                    <a:gridCol w="1258348">
                      <a:extLst>
                        <a:ext uri="{9D8B030D-6E8A-4147-A177-3AD203B41FA5}">
                          <a16:colId xmlns:a16="http://schemas.microsoft.com/office/drawing/2014/main" val="338402198"/>
                        </a:ext>
                      </a:extLst>
                    </a:gridCol>
                    <a:gridCol w="1561357">
                      <a:extLst>
                        <a:ext uri="{9D8B030D-6E8A-4147-A177-3AD203B41FA5}">
                          <a16:colId xmlns:a16="http://schemas.microsoft.com/office/drawing/2014/main" val="2098839796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População no estrato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Proporção na população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Amostra balanceada ((n=8))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sz="1200" dirty="0"/>
                            <a:t>Proporção da amostra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3474404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Masculino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dirty="0"/>
                            <a:t>8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94921" t="-132500" r="-147619" b="-19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/>
                            <a:t>4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320703" t="-132500" r="-781" b="-1937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6783355"/>
                      </a:ext>
                    </a:extLst>
                  </a:tr>
                  <a:tr h="48120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dirty="0"/>
                            <a:t>Feminino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/>
                            <a:t>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94921" t="-235443" r="-147619" b="-9620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dirty="0"/>
                            <a:t>4</a:t>
                          </a:r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320703" t="-235443" r="-781" b="-962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775592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200" b="1" dirty="0"/>
                            <a:t>Total</a:t>
                          </a:r>
                          <a:endParaRPr lang="pt-BR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/>
                            <a:t>18</a:t>
                          </a:r>
                          <a:endParaRPr lang="pt-BR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/>
                            <a:t>100%</a:t>
                          </a:r>
                          <a:endParaRPr lang="pt-BR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/>
                            <a:t>8</a:t>
                          </a:r>
                          <a:endParaRPr lang="pt-BR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>
                            <a:buNone/>
                          </a:pPr>
                          <a:r>
                            <a:rPr lang="pt-BR" b="1" dirty="0"/>
                            <a:t>100%</a:t>
                          </a:r>
                          <a:endParaRPr lang="pt-BR" dirty="0"/>
                        </a:p>
                      </a:txBody>
                      <a:tcPr anchor="ctr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6597468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1" name="Imagem 10">
            <a:extLst>
              <a:ext uri="{FF2B5EF4-FFF2-40B4-BE49-F238E27FC236}">
                <a16:creationId xmlns:a16="http://schemas.microsoft.com/office/drawing/2014/main" id="{F8717012-3C1E-9429-F213-7C0E9C9FA2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89027" y="3261137"/>
            <a:ext cx="4438782" cy="3329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3509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Agenda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Roteiro da aula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22376" y="1106425"/>
            <a:ext cx="10195560" cy="530352"/>
          </a:xfrm>
          <a:prstGeom prst="rect">
            <a:avLst/>
          </a:prstGeom>
          <a:solidFill>
            <a:srgbClr val="EAF2FF"/>
          </a:solidFill>
          <a:ln w="12700">
            <a:solidFill>
              <a:srgbClr val="2F69BF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0B1F3A"/>
                </a:solidFill>
              </a:rPr>
              <a:t>Pergunta central: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0B1F3A"/>
                </a:solidFill>
              </a:rPr>
              <a:t>Como preparar uma base de dados para </a:t>
            </a:r>
            <a:r>
              <a:rPr lang="en-US" sz="1200" b="1" u="sng" dirty="0">
                <a:solidFill>
                  <a:srgbClr val="0B1F3A"/>
                </a:solidFill>
              </a:rPr>
              <a:t>representar corretamente a população</a:t>
            </a:r>
            <a:r>
              <a:rPr lang="en-US" sz="1200" b="1" dirty="0">
                <a:solidFill>
                  <a:srgbClr val="0B1F3A"/>
                </a:solidFill>
              </a:rPr>
              <a:t> antes de treinar um </a:t>
            </a:r>
            <a:r>
              <a:rPr lang="en-US" sz="1200" b="1" dirty="0" err="1">
                <a:solidFill>
                  <a:srgbClr val="0B1F3A"/>
                </a:solidFill>
              </a:rPr>
              <a:t>modelo</a:t>
            </a:r>
            <a:r>
              <a:rPr lang="en-US" sz="1200" b="1" dirty="0">
                <a:solidFill>
                  <a:srgbClr val="0B1F3A"/>
                </a:solidFill>
              </a:rPr>
              <a:t> de </a:t>
            </a:r>
            <a:r>
              <a:rPr lang="en-US" sz="1200" b="1" dirty="0" err="1">
                <a:solidFill>
                  <a:srgbClr val="0B1F3A"/>
                </a:solidFill>
              </a:rPr>
              <a:t>aprendizado</a:t>
            </a:r>
            <a:r>
              <a:rPr lang="en-US" sz="1200" b="1" dirty="0">
                <a:solidFill>
                  <a:srgbClr val="0B1F3A"/>
                </a:solidFill>
              </a:rPr>
              <a:t> de </a:t>
            </a:r>
            <a:r>
              <a:rPr lang="en-US" sz="1200" b="1" dirty="0" err="1">
                <a:solidFill>
                  <a:srgbClr val="0B1F3A"/>
                </a:solidFill>
              </a:rPr>
              <a:t>máquina</a:t>
            </a:r>
            <a:r>
              <a:rPr lang="en-US" sz="1200" b="1" dirty="0">
                <a:solidFill>
                  <a:srgbClr val="0B1F3A"/>
                </a:solidFill>
              </a:rPr>
              <a:t>?</a:t>
            </a:r>
            <a:endParaRPr lang="en-US" sz="1200" dirty="0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FC64D6B2-B925-B563-2563-42EA30BE63F3}"/>
              </a:ext>
            </a:extLst>
          </p:cNvPr>
          <p:cNvSpPr txBox="1"/>
          <p:nvPr/>
        </p:nvSpPr>
        <p:spPr>
          <a:xfrm>
            <a:off x="722376" y="2276935"/>
            <a:ext cx="1019556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dirty="0"/>
              <a:t>O ponto importante é que </a:t>
            </a:r>
            <a:r>
              <a:rPr lang="pt-BR" b="1" dirty="0"/>
              <a:t>balanceada não significa necessariamente representativa da população</a:t>
            </a:r>
            <a:r>
              <a:rPr lang="pt-BR" dirty="0"/>
              <a:t>. No exemplo acima, a população original é 44,4% masculina e 55,6% feminina. </a:t>
            </a:r>
          </a:p>
          <a:p>
            <a:pPr>
              <a:buNone/>
            </a:pPr>
            <a:r>
              <a:rPr lang="pt-BR" dirty="0"/>
              <a:t>Portanto: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t-BR" dirty="0"/>
              <a:t>a amostra 50/50 é balanceada, mas </a:t>
            </a:r>
            <a:r>
              <a:rPr lang="pt-BR" b="1" dirty="0"/>
              <a:t>não preserva a proporção da população</a:t>
            </a:r>
            <a:r>
              <a:rPr lang="pt-BR" dirty="0"/>
              <a:t>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pt-BR" dirty="0"/>
              <a:t>a amostra 44,4/55,6 é não balanceada, mas </a:t>
            </a:r>
            <a:r>
              <a:rPr lang="pt-BR" b="1" dirty="0"/>
              <a:t>é proporcional à população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6D3FA05C-F1EC-41DA-6993-7F0303DB3CDF}"/>
                  </a:ext>
                </a:extLst>
              </p:cNvPr>
              <p:cNvSpPr txBox="1"/>
              <p:nvPr/>
            </p:nvSpPr>
            <p:spPr>
              <a:xfrm>
                <a:off x="722376" y="3892761"/>
                <a:ext cx="10129371" cy="2310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pt-BR" dirty="0"/>
                  <a:t>Isso é especialmente importante em </a:t>
                </a:r>
                <a:r>
                  <a:rPr lang="pt-BR" b="1" dirty="0"/>
                  <a:t>Machine Learning</a:t>
                </a:r>
                <a:r>
                  <a:rPr lang="pt-BR" dirty="0"/>
                  <a:t>. Imagine um conjunto com: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pt-BR" b="1" dirty="0"/>
                  <a:t>950</a:t>
                </a:r>
                <a:r>
                  <a:rPr lang="pt-BR" dirty="0"/>
                  <a:t> imagens de </a:t>
                </a:r>
                <a:r>
                  <a:rPr lang="pt-BR" b="1" dirty="0"/>
                  <a:t>cães</a:t>
                </a:r>
                <a:r>
                  <a:rPr lang="pt-BR" dirty="0"/>
                  <a:t> 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pt-BR" b="1" dirty="0"/>
                  <a:t>   50</a:t>
                </a:r>
                <a:r>
                  <a:rPr lang="pt-BR" dirty="0"/>
                  <a:t> imagens de </a:t>
                </a:r>
                <a:r>
                  <a:rPr lang="pt-BR" b="1" dirty="0"/>
                  <a:t>gatos</a:t>
                </a:r>
                <a:r>
                  <a:rPr lang="pt-BR" dirty="0"/>
                  <a:t> </a:t>
                </a:r>
              </a:p>
              <a:p>
                <a:pPr>
                  <a:lnSpc>
                    <a:spcPct val="150000"/>
                  </a:lnSpc>
                  <a:buNone/>
                </a:pPr>
                <a:r>
                  <a:rPr lang="pt-BR" dirty="0"/>
                  <a:t>O </a:t>
                </a:r>
                <a:r>
                  <a:rPr lang="pt-BR" dirty="0" err="1"/>
                  <a:t>dataset</a:t>
                </a:r>
                <a:r>
                  <a:rPr lang="pt-BR" dirty="0"/>
                  <a:t> está fortemente </a:t>
                </a:r>
                <a:r>
                  <a:rPr lang="pt-BR" b="1" dirty="0"/>
                  <a:t>desbalanceado</a:t>
                </a:r>
                <a:r>
                  <a:rPr lang="pt-BR" dirty="0"/>
                  <a:t>. Um classificador que dissesse sempre “cão” teria:</a:t>
                </a:r>
              </a:p>
              <a:p>
                <a:pPr>
                  <a:lnSpc>
                    <a:spcPct val="150000"/>
                  </a:lnSpc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pt-BR" b="0" i="0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0" dirty="0" smtClean="0">
                            <a:latin typeface="Cambria Math" panose="02040503050406030204" pitchFamily="18" charset="0"/>
                          </a:rPr>
                          <m:t>950</m:t>
                        </m:r>
                      </m:num>
                      <m:den>
                        <m:r>
                          <a:rPr lang="pt-BR" b="0" i="0" dirty="0" smtClean="0">
                            <a:latin typeface="Cambria Math" panose="02040503050406030204" pitchFamily="18" charset="0"/>
                          </a:rPr>
                          <m:t>1000</m:t>
                        </m:r>
                      </m:den>
                    </m:f>
                  </m:oMath>
                </a14:m>
                <a:r>
                  <a:rPr lang="pt-BR" dirty="0"/>
                  <a:t>​ = 95% </a:t>
                </a:r>
              </a:p>
              <a:p>
                <a:pPr>
                  <a:lnSpc>
                    <a:spcPct val="150000"/>
                  </a:lnSpc>
                  <a:buNone/>
                </a:pPr>
                <a:r>
                  <a:rPr lang="pt-BR" dirty="0"/>
                  <a:t>de acurácia, embora não tivesse aprendido a reconhecer gatos.</a:t>
                </a:r>
              </a:p>
            </p:txBody>
          </p:sp>
        </mc:Choice>
        <mc:Fallback>
          <p:sp>
            <p:nvSpPr>
              <p:cNvPr id="27" name="CaixaDeTexto 26">
                <a:extLst>
                  <a:ext uri="{FF2B5EF4-FFF2-40B4-BE49-F238E27FC236}">
                    <a16:creationId xmlns:a16="http://schemas.microsoft.com/office/drawing/2014/main" id="{6D3FA05C-F1EC-41DA-6993-7F0303DB3C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76" y="3892761"/>
                <a:ext cx="10129371" cy="2310441"/>
              </a:xfrm>
              <a:prstGeom prst="rect">
                <a:avLst/>
              </a:prstGeom>
              <a:blipFill>
                <a:blip r:embed="rId3"/>
                <a:stretch>
                  <a:fillRect l="-542" t="-1319" b="-34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Organização e preparação de dados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31520" y="1325880"/>
            <a:ext cx="32461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Unidade de análise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O que será observado?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Ex.: aluno, funcionário, imagem, transação.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480560" y="1325880"/>
            <a:ext cx="32461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Quais </a:t>
            </a:r>
            <a:r>
              <a:rPr lang="en-US" sz="1200" b="1" dirty="0" err="1">
                <a:solidFill>
                  <a:srgbClr val="0B1F3A"/>
                </a:solidFill>
              </a:rPr>
              <a:t>atributos</a:t>
            </a:r>
            <a:r>
              <a:rPr lang="en-US" sz="1200" b="1" dirty="0">
                <a:solidFill>
                  <a:srgbClr val="0B1F3A"/>
                </a:solidFill>
              </a:rPr>
              <a:t> </a:t>
            </a:r>
            <a:r>
              <a:rPr lang="en-US" sz="1200" b="1" dirty="0" err="1">
                <a:solidFill>
                  <a:srgbClr val="0B1F3A"/>
                </a:solidFill>
              </a:rPr>
              <a:t>definem</a:t>
            </a:r>
            <a:r>
              <a:rPr lang="en-US" sz="1200" b="1" dirty="0">
                <a:solidFill>
                  <a:srgbClr val="0B1F3A"/>
                </a:solidFill>
              </a:rPr>
              <a:t> </a:t>
            </a:r>
            <a:r>
              <a:rPr lang="en-US" sz="1200" b="1" dirty="0" err="1">
                <a:solidFill>
                  <a:srgbClr val="0B1F3A"/>
                </a:solidFill>
              </a:rPr>
              <a:t>os</a:t>
            </a:r>
            <a:r>
              <a:rPr lang="en-US" sz="1200" b="1" dirty="0">
                <a:solidFill>
                  <a:srgbClr val="0B1F3A"/>
                </a:solidFill>
              </a:rPr>
              <a:t> </a:t>
            </a:r>
            <a:r>
              <a:rPr lang="en-US" sz="1200" b="1" dirty="0" err="1">
                <a:solidFill>
                  <a:srgbClr val="0B1F3A"/>
                </a:solidFill>
              </a:rPr>
              <a:t>estrato</a:t>
            </a:r>
            <a:r>
              <a:rPr lang="en-US" sz="1200" b="1" dirty="0">
                <a:solidFill>
                  <a:srgbClr val="0B1F3A"/>
                </a:solidFill>
              </a:rPr>
              <a:t> ?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Ex.: idade, curso, renda, classe.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0" y="1325880"/>
            <a:ext cx="32461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Alvo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O que queremos explicar ou prever?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Ex.: aprovado, compra, fraude.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08192" y="2606040"/>
            <a:ext cx="0" cy="548640"/>
          </a:xfrm>
          <a:prstGeom prst="line">
            <a:avLst/>
          </a:prstGeom>
          <a:noFill/>
          <a:ln w="19050">
            <a:solidFill>
              <a:srgbClr val="F08A24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4434840" y="3291840"/>
            <a:ext cx="3337560" cy="347472"/>
          </a:xfrm>
          <a:prstGeom prst="rect">
            <a:avLst/>
          </a:prstGeom>
          <a:solidFill>
            <a:srgbClr val="F08A24"/>
          </a:solidFill>
          <a:ln>
            <a:solidFill>
              <a:srgbClr val="F08A24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Preparar antes de modelar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51560" y="4160520"/>
            <a:ext cx="987552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F3A"/>
                </a:solidFill>
              </a:rPr>
              <a:t>A qualidade da amostra influencia diretamente o resultado do modelo.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417320" y="4736592"/>
            <a:ext cx="91440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FF0000"/>
                </a:solidFill>
              </a:rPr>
              <a:t>Uma base mal selecionada pode produzir </a:t>
            </a:r>
            <a:r>
              <a:rPr lang="en-US" sz="1400" dirty="0" err="1">
                <a:solidFill>
                  <a:srgbClr val="FF0000"/>
                </a:solidFill>
              </a:rPr>
              <a:t>conclusões</a:t>
            </a:r>
            <a:r>
              <a:rPr lang="en-US" sz="1400" dirty="0">
                <a:solidFill>
                  <a:srgbClr val="FF0000"/>
                </a:solidFill>
              </a:rPr>
              <a:t> ENVIESADAS (</a:t>
            </a:r>
            <a:r>
              <a:rPr lang="en-US" sz="1400" dirty="0" err="1">
                <a:solidFill>
                  <a:srgbClr val="FF0000"/>
                </a:solidFill>
              </a:rPr>
              <a:t>viciadas</a:t>
            </a:r>
            <a:r>
              <a:rPr lang="en-US" sz="1400" dirty="0">
                <a:solidFill>
                  <a:srgbClr val="FF0000"/>
                </a:solidFill>
              </a:rPr>
              <a:t>), mesmo usando bons algoritmos.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Exemplo 1 — Alunos de uma universidade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77240" y="1143000"/>
            <a:ext cx="9601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667085"/>
                </a:solidFill>
              </a:rPr>
              <a:t>População: 10.000 alunos  •  Amostra desejada: 1.000 alunos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31520" y="1600200"/>
            <a:ext cx="2208276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Estrato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39796" y="1600200"/>
            <a:ext cx="1577340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População no estrato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17136" y="1600200"/>
            <a:ext cx="1135685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Proporção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52821" y="1600200"/>
            <a:ext cx="1388059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Amostra proporcional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1984248"/>
            <a:ext cx="2208276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Engenharia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939796" y="1984248"/>
            <a:ext cx="1577340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3.000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17136" y="1984248"/>
            <a:ext cx="1135685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30%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652821" y="1984248"/>
            <a:ext cx="1388059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300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2368296"/>
            <a:ext cx="2208276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Administração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939796" y="2368296"/>
            <a:ext cx="157734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2.500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17136" y="2368296"/>
            <a:ext cx="1135685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25%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52821" y="2368296"/>
            <a:ext cx="1388059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250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2752344"/>
            <a:ext cx="2208276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Direito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939796" y="2752344"/>
            <a:ext cx="1577340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2.000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17136" y="2752344"/>
            <a:ext cx="1135685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20%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652821" y="2752344"/>
            <a:ext cx="1388059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31520" y="3136392"/>
            <a:ext cx="2208276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Saúde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939796" y="3136392"/>
            <a:ext cx="157734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1.500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17136" y="3136392"/>
            <a:ext cx="1135685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15%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52821" y="3136392"/>
            <a:ext cx="1388059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150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31520" y="3520440"/>
            <a:ext cx="2208276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Outros cursos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939796" y="3520440"/>
            <a:ext cx="1577340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1.000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17136" y="3520440"/>
            <a:ext cx="1135685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10%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52821" y="3520440"/>
            <a:ext cx="1388059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100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31520" y="3904488"/>
            <a:ext cx="2208276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B1F3A"/>
                </a:solidFill>
              </a:rPr>
              <a:t>Total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939796" y="3904488"/>
            <a:ext cx="157734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</a:rPr>
              <a:t>10.000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17136" y="3904488"/>
            <a:ext cx="1135685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</a:rPr>
              <a:t>100%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652821" y="3904488"/>
            <a:ext cx="1388059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</a:rPr>
              <a:t>1.000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680960" y="1645920"/>
            <a:ext cx="1005840" cy="320040"/>
          </a:xfrm>
          <a:prstGeom prst="rect">
            <a:avLst/>
          </a:prstGeom>
          <a:solidFill>
            <a:srgbClr val="F08A24"/>
          </a:solidFill>
          <a:ln>
            <a:solidFill>
              <a:srgbClr val="F08A24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Cálculo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498080" y="2240280"/>
            <a:ext cx="3108960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08A24"/>
                </a:solidFill>
              </a:rPr>
              <a:t>nₕ = n · Nₕ / N</a:t>
            </a:r>
            <a:endParaRPr lang="en-US" sz="2300" dirty="0"/>
          </a:p>
        </p:txBody>
      </p:sp>
      <p:sp>
        <p:nvSpPr>
          <p:cNvPr id="39" name="Text 37"/>
          <p:cNvSpPr/>
          <p:nvPr/>
        </p:nvSpPr>
        <p:spPr>
          <a:xfrm>
            <a:off x="7635240" y="3063240"/>
            <a:ext cx="31546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F08A24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</a:rPr>
              <a:t>Engenharia: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</a:rPr>
              <a:t>1.000 × 3.000 / 10.000 = 300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635240" y="4160520"/>
            <a:ext cx="3154680" cy="530352"/>
          </a:xfrm>
          <a:prstGeom prst="rect">
            <a:avLst/>
          </a:prstGeom>
          <a:solidFill>
            <a:srgbClr val="EAF2FF"/>
          </a:solidFill>
          <a:ln w="12700">
            <a:solidFill>
              <a:srgbClr val="2F69BF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</a:rPr>
              <a:t>A amostra mantém a composição da universidade.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Exemplo 2 — Funcionários de uma empresa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77240" y="1143000"/>
            <a:ext cx="9601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667085"/>
                </a:solidFill>
              </a:rPr>
              <a:t>População: 2.000 funcionários  •  Amostra desejada: 200 funcionários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31520" y="1600200"/>
            <a:ext cx="2208276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Estrato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39796" y="1600200"/>
            <a:ext cx="1388059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População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327855" y="1600200"/>
            <a:ext cx="1135685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Proporção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63540" y="1600200"/>
            <a:ext cx="1577340" cy="384048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Amostra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1984248"/>
            <a:ext cx="2208276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Produção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939796" y="1984248"/>
            <a:ext cx="1388059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900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327855" y="1984248"/>
            <a:ext cx="1135685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45%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63540" y="1984248"/>
            <a:ext cx="1577340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90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2368296"/>
            <a:ext cx="2208276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Administrativo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939796" y="2368296"/>
            <a:ext cx="1388059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400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327855" y="2368296"/>
            <a:ext cx="1135685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20%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63540" y="2368296"/>
            <a:ext cx="157734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40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2752344"/>
            <a:ext cx="2208276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Comercial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939796" y="2752344"/>
            <a:ext cx="1388059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300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327855" y="2752344"/>
            <a:ext cx="1135685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15%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463540" y="2752344"/>
            <a:ext cx="1577340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31520" y="3136392"/>
            <a:ext cx="2208276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Tecnologia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939796" y="3136392"/>
            <a:ext cx="1388059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250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327855" y="3136392"/>
            <a:ext cx="1135685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12,5%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63540" y="3136392"/>
            <a:ext cx="157734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31520" y="3520440"/>
            <a:ext cx="2208276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Diretoria/Gestão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939796" y="3520440"/>
            <a:ext cx="1388059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150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327855" y="3520440"/>
            <a:ext cx="1135685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7,5%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63540" y="3520440"/>
            <a:ext cx="1577340" cy="384048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31520" y="3904488"/>
            <a:ext cx="2208276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B1F3A"/>
                </a:solidFill>
              </a:rPr>
              <a:t>Total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939796" y="3904488"/>
            <a:ext cx="1388059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</a:rPr>
              <a:t>2.000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327855" y="3904488"/>
            <a:ext cx="1135685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</a:rPr>
              <a:t>100%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463540" y="3904488"/>
            <a:ext cx="157734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</a:rPr>
              <a:t>200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635240" y="1645920"/>
            <a:ext cx="868680" cy="320040"/>
          </a:xfrm>
          <a:prstGeom prst="rect">
            <a:avLst/>
          </a:prstGeom>
          <a:solidFill>
            <a:srgbClr val="2E9D62"/>
          </a:solidFill>
          <a:ln>
            <a:solidFill>
              <a:srgbClr val="2E9D62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Leitura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7543800" y="2148840"/>
            <a:ext cx="1481328" cy="347472"/>
          </a:xfrm>
          <a:prstGeom prst="rect">
            <a:avLst/>
          </a:prstGeom>
          <a:solidFill>
            <a:srgbClr val="2F69B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43800" y="2569464"/>
            <a:ext cx="1481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0B1F3A"/>
                </a:solidFill>
              </a:rPr>
              <a:t>Produção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9025128" y="2148840"/>
            <a:ext cx="658368" cy="347472"/>
          </a:xfrm>
          <a:prstGeom prst="rect">
            <a:avLst/>
          </a:prstGeom>
          <a:solidFill>
            <a:srgbClr val="2E9D6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025128" y="2569464"/>
            <a:ext cx="65836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0B1F3A"/>
                </a:solidFill>
              </a:rPr>
              <a:t>Adm.</a:t>
            </a:r>
            <a:endParaRPr lang="en-US" sz="720" dirty="0"/>
          </a:p>
        </p:txBody>
      </p:sp>
      <p:sp>
        <p:nvSpPr>
          <p:cNvPr id="42" name="Shape 40"/>
          <p:cNvSpPr/>
          <p:nvPr/>
        </p:nvSpPr>
        <p:spPr>
          <a:xfrm>
            <a:off x="9683496" y="2148840"/>
            <a:ext cx="493776" cy="347472"/>
          </a:xfrm>
          <a:prstGeom prst="rect">
            <a:avLst/>
          </a:prstGeom>
          <a:solidFill>
            <a:srgbClr val="F08A2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83496" y="2569464"/>
            <a:ext cx="4937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0B1F3A"/>
                </a:solidFill>
              </a:rPr>
              <a:t>Com.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10177272" y="2148840"/>
            <a:ext cx="411480" cy="347472"/>
          </a:xfrm>
          <a:prstGeom prst="rect">
            <a:avLst/>
          </a:prstGeom>
          <a:solidFill>
            <a:srgbClr val="6554C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588752" y="2148840"/>
            <a:ext cx="246888" cy="347472"/>
          </a:xfrm>
          <a:prstGeom prst="rect">
            <a:avLst/>
          </a:prstGeom>
          <a:solidFill>
            <a:srgbClr val="36A2A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43800" y="3063240"/>
            <a:ext cx="34290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Produção representa 45% da empresa, então recebe 45% da amostra: 90 pessoas.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7543800" y="4069080"/>
            <a:ext cx="3429000" cy="685800"/>
          </a:xfrm>
          <a:prstGeom prst="rect">
            <a:avLst/>
          </a:prstGeom>
          <a:solidFill>
            <a:srgbClr val="FFF1E6"/>
          </a:solidFill>
          <a:ln w="12700">
            <a:solidFill>
              <a:srgbClr val="F08A24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</a:rPr>
              <a:t>A amostra proporcional não iguala os setores: ela preserva as diferenças da população.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77240" y="1170432"/>
            <a:ext cx="98755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667085"/>
                </a:solidFill>
              </a:rPr>
              <a:t>Apesar do nome “regressão”, ela é muito usada para classificação.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14400" y="1828800"/>
            <a:ext cx="1234440" cy="320040"/>
          </a:xfrm>
          <a:prstGeom prst="rect">
            <a:avLst/>
          </a:prstGeom>
          <a:solidFill>
            <a:srgbClr val="6554C0"/>
          </a:solidFill>
          <a:ln>
            <a:solidFill>
              <a:srgbClr val="6554C0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Ideia central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005840" y="2468880"/>
            <a:ext cx="297180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08A24"/>
                </a:solidFill>
              </a:rPr>
              <a:t>P(Y = 1 | X)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914400" y="3337560"/>
            <a:ext cx="3566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</a:rPr>
              <a:t>O modelo estima uma probabilidade entre 0 e 1.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</a:rPr>
              <a:t>Depois usamos um limiar, por exemplo 0,5.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212080" y="1828800"/>
            <a:ext cx="868680" cy="320040"/>
          </a:xfrm>
          <a:prstGeom prst="rect">
            <a:avLst/>
          </a:prstGeom>
          <a:solidFill>
            <a:srgbClr val="2E9D62"/>
          </a:solidFill>
          <a:ln>
            <a:solidFill>
              <a:srgbClr val="2E9D62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Exemplo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166360" y="2331720"/>
            <a:ext cx="765810" cy="365760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Aluno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932170" y="2331720"/>
            <a:ext cx="765810" cy="365760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Horas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97980" y="2331720"/>
            <a:ext cx="765810" cy="365760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Faltas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463790" y="2331720"/>
            <a:ext cx="765810" cy="365760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Aprovado?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166360" y="2697480"/>
            <a:ext cx="765810" cy="365760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32170" y="2697480"/>
            <a:ext cx="765810" cy="365760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8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697980" y="2697480"/>
            <a:ext cx="765810" cy="365760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63790" y="2697480"/>
            <a:ext cx="765810" cy="365760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Sim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166360" y="3063240"/>
            <a:ext cx="76581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B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932170" y="3063240"/>
            <a:ext cx="76581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697980" y="3063240"/>
            <a:ext cx="76581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7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463790" y="3063240"/>
            <a:ext cx="76581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Não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166360" y="3429000"/>
            <a:ext cx="765810" cy="365760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0B1F3A"/>
                </a:solidFill>
              </a:rPr>
              <a:t>C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932170" y="3429000"/>
            <a:ext cx="765810" cy="365760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97980" y="3429000"/>
            <a:ext cx="765810" cy="365760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2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463790" y="3429000"/>
            <a:ext cx="765810" cy="365760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0B1F3A"/>
                </a:solidFill>
              </a:rPr>
              <a:t>Sim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66360" y="3794760"/>
            <a:ext cx="76581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B1F3A"/>
                </a:solidFill>
              </a:rPr>
              <a:t>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32170" y="3794760"/>
            <a:ext cx="76581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</a:rPr>
              <a:t>3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697980" y="3794760"/>
            <a:ext cx="76581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</a:rPr>
              <a:t>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463790" y="3794760"/>
            <a:ext cx="765810" cy="365760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F3A"/>
                </a:solidFill>
              </a:rPr>
              <a:t>Não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732520" y="2359152"/>
            <a:ext cx="2423160" cy="868680"/>
          </a:xfrm>
          <a:prstGeom prst="rect">
            <a:avLst/>
          </a:prstGeom>
          <a:solidFill>
            <a:srgbClr val="F1EEFF"/>
          </a:solidFill>
          <a:ln w="12700">
            <a:solidFill>
              <a:srgbClr val="6554C0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</a:rPr>
              <a:t>Se P(aprovado) ≥ 0,5 → aprovado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</a:rPr>
              <a:t>Se P(aprovado) &lt; 0,5 → reprovado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probabilidade e limiar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005840" y="1417320"/>
            <a:ext cx="512064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80160" y="4800600"/>
            <a:ext cx="461772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80160" y="1645920"/>
            <a:ext cx="0" cy="315468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17320" y="4780710"/>
            <a:ext cx="177394" cy="0"/>
          </a:xfrm>
          <a:prstGeom prst="line">
            <a:avLst/>
          </a:prstGeom>
          <a:noFill/>
          <a:ln w="25400">
            <a:solidFill>
              <a:srgbClr val="2F69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94714" y="4771025"/>
            <a:ext cx="177394" cy="0"/>
          </a:xfrm>
          <a:prstGeom prst="line">
            <a:avLst/>
          </a:prstGeom>
          <a:noFill/>
          <a:ln w="25400">
            <a:solidFill>
              <a:srgbClr val="2F69B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2107" y="4756695"/>
            <a:ext cx="177394" cy="0"/>
          </a:xfrm>
          <a:prstGeom prst="line">
            <a:avLst/>
          </a:prstGeom>
          <a:noFill/>
          <a:ln w="25400">
            <a:solidFill>
              <a:srgbClr val="2F69B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9501" y="4735573"/>
            <a:ext cx="177394" cy="0"/>
          </a:xfrm>
          <a:prstGeom prst="line">
            <a:avLst/>
          </a:prstGeom>
          <a:noFill/>
          <a:ln w="25400">
            <a:solidFill>
              <a:srgbClr val="2F69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26894" y="4704624"/>
            <a:ext cx="177394" cy="0"/>
          </a:xfrm>
          <a:prstGeom prst="line">
            <a:avLst/>
          </a:prstGeom>
          <a:noFill/>
          <a:ln w="25400">
            <a:solidFill>
              <a:srgbClr val="2F69B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04288" y="4659660"/>
            <a:ext cx="177394" cy="0"/>
          </a:xfrm>
          <a:prstGeom prst="line">
            <a:avLst/>
          </a:prstGeom>
          <a:noFill/>
          <a:ln w="25400">
            <a:solidFill>
              <a:srgbClr val="2F69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481682" y="4595134"/>
            <a:ext cx="177394" cy="0"/>
          </a:xfrm>
          <a:prstGeom prst="line">
            <a:avLst/>
          </a:prstGeom>
          <a:noFill/>
          <a:ln w="25400">
            <a:solidFill>
              <a:srgbClr val="2F69B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59075" y="4504161"/>
            <a:ext cx="177394" cy="0"/>
          </a:xfrm>
          <a:prstGeom prst="line">
            <a:avLst/>
          </a:prstGeom>
          <a:noFill/>
          <a:ln w="25400">
            <a:solidFill>
              <a:srgbClr val="2F69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6469" y="4379047"/>
            <a:ext cx="177394" cy="0"/>
          </a:xfrm>
          <a:prstGeom prst="line">
            <a:avLst/>
          </a:prstGeom>
          <a:noFill/>
          <a:ln w="25400">
            <a:solidFill>
              <a:srgbClr val="2F69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013862" y="4212730"/>
            <a:ext cx="177394" cy="0"/>
          </a:xfrm>
          <a:prstGeom prst="line">
            <a:avLst/>
          </a:prstGeom>
          <a:noFill/>
          <a:ln w="25400">
            <a:solidFill>
              <a:srgbClr val="2F69B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91256" y="4001360"/>
            <a:ext cx="177394" cy="0"/>
          </a:xfrm>
          <a:prstGeom prst="line">
            <a:avLst/>
          </a:prstGeom>
          <a:noFill/>
          <a:ln w="25400">
            <a:solidFill>
              <a:srgbClr val="2F69B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68650" y="3747561"/>
            <a:ext cx="177394" cy="0"/>
          </a:xfrm>
          <a:prstGeom prst="line">
            <a:avLst/>
          </a:prstGeom>
          <a:noFill/>
          <a:ln w="25400">
            <a:solidFill>
              <a:srgbClr val="2F69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46043" y="3462797"/>
            <a:ext cx="177394" cy="0"/>
          </a:xfrm>
          <a:prstGeom prst="line">
            <a:avLst/>
          </a:prstGeom>
          <a:noFill/>
          <a:ln w="25400">
            <a:solidFill>
              <a:srgbClr val="2F69B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3437" y="3166603"/>
            <a:ext cx="177394" cy="0"/>
          </a:xfrm>
          <a:prstGeom prst="line">
            <a:avLst/>
          </a:prstGeom>
          <a:noFill/>
          <a:ln w="25400">
            <a:solidFill>
              <a:srgbClr val="2F69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900830" y="2881839"/>
            <a:ext cx="177394" cy="0"/>
          </a:xfrm>
          <a:prstGeom prst="line">
            <a:avLst/>
          </a:prstGeom>
          <a:noFill/>
          <a:ln w="25400">
            <a:solidFill>
              <a:srgbClr val="2F69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78224" y="2628040"/>
            <a:ext cx="177394" cy="0"/>
          </a:xfrm>
          <a:prstGeom prst="line">
            <a:avLst/>
          </a:prstGeom>
          <a:noFill/>
          <a:ln w="25400">
            <a:solidFill>
              <a:srgbClr val="2F69B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55618" y="2416670"/>
            <a:ext cx="177394" cy="0"/>
          </a:xfrm>
          <a:prstGeom prst="line">
            <a:avLst/>
          </a:prstGeom>
          <a:noFill/>
          <a:ln w="25400">
            <a:solidFill>
              <a:srgbClr val="2F69B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33011" y="2250353"/>
            <a:ext cx="177394" cy="0"/>
          </a:xfrm>
          <a:prstGeom prst="line">
            <a:avLst/>
          </a:prstGeom>
          <a:noFill/>
          <a:ln w="25400">
            <a:solidFill>
              <a:srgbClr val="2F69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10405" y="2125239"/>
            <a:ext cx="177394" cy="0"/>
          </a:xfrm>
          <a:prstGeom prst="line">
            <a:avLst/>
          </a:prstGeom>
          <a:noFill/>
          <a:ln w="25400">
            <a:solidFill>
              <a:srgbClr val="2F69B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87798" y="2034266"/>
            <a:ext cx="177394" cy="0"/>
          </a:xfrm>
          <a:prstGeom prst="line">
            <a:avLst/>
          </a:prstGeom>
          <a:noFill/>
          <a:ln w="25400">
            <a:solidFill>
              <a:srgbClr val="2F69B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65192" y="1969740"/>
            <a:ext cx="177394" cy="0"/>
          </a:xfrm>
          <a:prstGeom prst="line">
            <a:avLst/>
          </a:prstGeom>
          <a:noFill/>
          <a:ln w="25400">
            <a:solidFill>
              <a:srgbClr val="2F69B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142586" y="1924776"/>
            <a:ext cx="177394" cy="0"/>
          </a:xfrm>
          <a:prstGeom prst="line">
            <a:avLst/>
          </a:prstGeom>
          <a:noFill/>
          <a:ln w="25400">
            <a:solidFill>
              <a:srgbClr val="2F69B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319979" y="1893827"/>
            <a:ext cx="177394" cy="0"/>
          </a:xfrm>
          <a:prstGeom prst="line">
            <a:avLst/>
          </a:prstGeom>
          <a:noFill/>
          <a:ln w="25400">
            <a:solidFill>
              <a:srgbClr val="2F69B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97373" y="1872705"/>
            <a:ext cx="177394" cy="0"/>
          </a:xfrm>
          <a:prstGeom prst="line">
            <a:avLst/>
          </a:prstGeom>
          <a:noFill/>
          <a:ln w="25400">
            <a:solidFill>
              <a:srgbClr val="2F69B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74766" y="1858375"/>
            <a:ext cx="177394" cy="0"/>
          </a:xfrm>
          <a:prstGeom prst="line">
            <a:avLst/>
          </a:prstGeom>
          <a:noFill/>
          <a:ln w="25400">
            <a:solidFill>
              <a:srgbClr val="2F69B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280160" y="3314700"/>
            <a:ext cx="4617720" cy="0"/>
          </a:xfrm>
          <a:prstGeom prst="line">
            <a:avLst/>
          </a:prstGeom>
          <a:noFill/>
          <a:ln w="12700">
            <a:solidFill>
              <a:srgbClr val="F08A2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42416" y="3241548"/>
            <a:ext cx="3200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08A24"/>
                </a:solidFill>
              </a:rPr>
              <a:t>0,5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2743200" y="1645920"/>
            <a:ext cx="17373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667085"/>
                </a:solidFill>
              </a:rPr>
              <a:t>probabilidade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949440" y="1691640"/>
            <a:ext cx="384048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</a:rPr>
              <a:t>O limiar transforma probabilidade em classe.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</a:rPr>
              <a:t>Ex.: acima de 0,5 classificamos como classe 1.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949440" y="3246120"/>
            <a:ext cx="3840480" cy="1024128"/>
          </a:xfrm>
          <a:prstGeom prst="rect">
            <a:avLst/>
          </a:prstGeom>
          <a:solidFill>
            <a:srgbClr val="FFF1E6"/>
          </a:solidFill>
          <a:ln w="12700">
            <a:solidFill>
              <a:srgbClr val="F08A24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180" b="1" dirty="0">
                <a:solidFill>
                  <a:srgbClr val="0B1F3A"/>
                </a:solidFill>
              </a:rPr>
              <a:t>Em problemas reais, o limiar pode mudar. Em fraude, por exemplo, talvez seja melhor investigar probabilidades menores.</a:t>
            </a:r>
            <a:endParaRPr lang="en-US" sz="11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III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Regressão Logística — fronteira de decisão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914400" y="1234440"/>
            <a:ext cx="530352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34440" y="5212080"/>
            <a:ext cx="470916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34440" y="1463040"/>
            <a:ext cx="0" cy="374904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28800" y="4572000"/>
            <a:ext cx="3520440" cy="0"/>
          </a:xfrm>
          <a:prstGeom prst="line">
            <a:avLst/>
          </a:prstGeom>
          <a:noFill/>
          <a:ln w="25400">
            <a:solidFill>
              <a:srgbClr val="F08A2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11680" y="4434840"/>
            <a:ext cx="109728" cy="109728"/>
          </a:xfrm>
          <a:prstGeom prst="ellipse">
            <a:avLst/>
          </a:prstGeom>
          <a:solidFill>
            <a:srgbClr val="2F69BF"/>
          </a:solidFill>
          <a:ln w="12700">
            <a:solidFill>
              <a:srgbClr val="2F69B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77440" y="4069080"/>
            <a:ext cx="109728" cy="109728"/>
          </a:xfrm>
          <a:prstGeom prst="ellipse">
            <a:avLst/>
          </a:prstGeom>
          <a:solidFill>
            <a:srgbClr val="2F69BF"/>
          </a:solidFill>
          <a:ln w="12700">
            <a:solidFill>
              <a:srgbClr val="2F69B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43200" y="4389120"/>
            <a:ext cx="109728" cy="109728"/>
          </a:xfrm>
          <a:prstGeom prst="ellipse">
            <a:avLst/>
          </a:prstGeom>
          <a:solidFill>
            <a:srgbClr val="2F69BF"/>
          </a:solidFill>
          <a:ln w="12700">
            <a:solidFill>
              <a:srgbClr val="2F69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8960" y="3931920"/>
            <a:ext cx="109728" cy="109728"/>
          </a:xfrm>
          <a:prstGeom prst="ellipse">
            <a:avLst/>
          </a:prstGeom>
          <a:solidFill>
            <a:srgbClr val="2F69BF"/>
          </a:solidFill>
          <a:ln w="12700">
            <a:solidFill>
              <a:srgbClr val="2F69B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29000" y="4480560"/>
            <a:ext cx="109728" cy="109728"/>
          </a:xfrm>
          <a:prstGeom prst="ellipse">
            <a:avLst/>
          </a:prstGeom>
          <a:solidFill>
            <a:srgbClr val="2F69BF"/>
          </a:solidFill>
          <a:ln w="12700">
            <a:solidFill>
              <a:srgbClr val="2F69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703320" y="3840480"/>
            <a:ext cx="109728" cy="109728"/>
          </a:xfrm>
          <a:prstGeom prst="ellipse">
            <a:avLst/>
          </a:prstGeom>
          <a:solidFill>
            <a:srgbClr val="2F69BF"/>
          </a:solidFill>
          <a:ln w="12700">
            <a:solidFill>
              <a:srgbClr val="2F69B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0" y="3154680"/>
            <a:ext cx="109728" cy="109728"/>
          </a:xfrm>
          <a:prstGeom prst="ellipse">
            <a:avLst/>
          </a:prstGeom>
          <a:solidFill>
            <a:srgbClr val="2E9D62"/>
          </a:solidFill>
          <a:ln w="12700">
            <a:solidFill>
              <a:srgbClr val="2E9D6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80560" y="2743200"/>
            <a:ext cx="109728" cy="109728"/>
          </a:xfrm>
          <a:prstGeom prst="ellipse">
            <a:avLst/>
          </a:prstGeom>
          <a:solidFill>
            <a:srgbClr val="2E9D62"/>
          </a:solidFill>
          <a:ln w="12700">
            <a:solidFill>
              <a:srgbClr val="2E9D6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37760" y="3017520"/>
            <a:ext cx="109728" cy="109728"/>
          </a:xfrm>
          <a:prstGeom prst="ellipse">
            <a:avLst/>
          </a:prstGeom>
          <a:solidFill>
            <a:srgbClr val="2E9D62"/>
          </a:solidFill>
          <a:ln w="12700">
            <a:solidFill>
              <a:srgbClr val="2E9D6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0" y="2514600"/>
            <a:ext cx="109728" cy="109728"/>
          </a:xfrm>
          <a:prstGeom prst="ellipse">
            <a:avLst/>
          </a:prstGeom>
          <a:solidFill>
            <a:srgbClr val="2E9D62"/>
          </a:solidFill>
          <a:ln w="12700">
            <a:solidFill>
              <a:srgbClr val="2E9D6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63440" y="3520440"/>
            <a:ext cx="109728" cy="109728"/>
          </a:xfrm>
          <a:prstGeom prst="ellipse">
            <a:avLst/>
          </a:prstGeom>
          <a:solidFill>
            <a:srgbClr val="2E9D62"/>
          </a:solidFill>
          <a:ln w="12700">
            <a:solidFill>
              <a:srgbClr val="2E9D6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32120" y="3291840"/>
            <a:ext cx="109728" cy="109728"/>
          </a:xfrm>
          <a:prstGeom prst="ellipse">
            <a:avLst/>
          </a:prstGeom>
          <a:solidFill>
            <a:srgbClr val="2E9D62"/>
          </a:solidFill>
          <a:ln w="12700">
            <a:solidFill>
              <a:srgbClr val="2E9D6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4480" y="5074920"/>
            <a:ext cx="91440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F69BF"/>
                </a:solidFill>
              </a:rPr>
              <a:t>classe 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663440" y="1664208"/>
            <a:ext cx="91440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E9D62"/>
                </a:solidFill>
              </a:rPr>
              <a:t>classe 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903720" y="1572768"/>
            <a:ext cx="39319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</a:rPr>
              <a:t>A fronteira separa regiões do espaço de variáveis.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</a:rPr>
              <a:t>De um lado, o modelo tende a prever classe 0; do outro, classe 1.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903720" y="3383280"/>
            <a:ext cx="3931920" cy="749808"/>
          </a:xfrm>
          <a:prstGeom prst="rect">
            <a:avLst/>
          </a:prstGeom>
          <a:solidFill>
            <a:srgbClr val="EAF7EF"/>
          </a:solidFill>
          <a:ln w="12700">
            <a:solidFill>
              <a:srgbClr val="2E9D62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Boa preparação dos dados ajuda a fronteira a representar melhor a população.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IV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KNN — K Nearest Neighbors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77240" y="1170432"/>
            <a:ext cx="106984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667085"/>
                </a:solidFill>
              </a:rPr>
              <a:t>O KNN classifica uma nova observação olhando para seus K vizinhos mais próximos.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1554480"/>
            <a:ext cx="521208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74520" y="3931920"/>
            <a:ext cx="109728" cy="109728"/>
          </a:xfrm>
          <a:prstGeom prst="ellipse">
            <a:avLst/>
          </a:prstGeom>
          <a:solidFill>
            <a:srgbClr val="2F69BF"/>
          </a:solidFill>
          <a:ln w="12700">
            <a:solidFill>
              <a:srgbClr val="2F69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77440" y="4206240"/>
            <a:ext cx="109728" cy="109728"/>
          </a:xfrm>
          <a:prstGeom prst="ellipse">
            <a:avLst/>
          </a:prstGeom>
          <a:solidFill>
            <a:srgbClr val="2F69BF"/>
          </a:solidFill>
          <a:ln w="12700">
            <a:solidFill>
              <a:srgbClr val="2F69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51760" y="3703320"/>
            <a:ext cx="109728" cy="109728"/>
          </a:xfrm>
          <a:prstGeom prst="ellipse">
            <a:avLst/>
          </a:prstGeom>
          <a:solidFill>
            <a:srgbClr val="2F69BF"/>
          </a:solidFill>
          <a:ln w="12700">
            <a:solidFill>
              <a:srgbClr val="2F69B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1800" y="4389120"/>
            <a:ext cx="109728" cy="109728"/>
          </a:xfrm>
          <a:prstGeom prst="ellipse">
            <a:avLst/>
          </a:prstGeom>
          <a:solidFill>
            <a:srgbClr val="2F69BF"/>
          </a:solidFill>
          <a:ln w="12700">
            <a:solidFill>
              <a:srgbClr val="2F69B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86000" y="3337560"/>
            <a:ext cx="109728" cy="109728"/>
          </a:xfrm>
          <a:prstGeom prst="ellipse">
            <a:avLst/>
          </a:prstGeom>
          <a:solidFill>
            <a:srgbClr val="2F69BF"/>
          </a:solidFill>
          <a:ln w="12700">
            <a:solidFill>
              <a:srgbClr val="2F69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83280" y="3886200"/>
            <a:ext cx="109728" cy="109728"/>
          </a:xfrm>
          <a:prstGeom prst="ellipse">
            <a:avLst/>
          </a:prstGeom>
          <a:solidFill>
            <a:srgbClr val="2F69BF"/>
          </a:solidFill>
          <a:ln w="12700">
            <a:solidFill>
              <a:srgbClr val="2F69B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86200" y="2514600"/>
            <a:ext cx="109728" cy="109728"/>
          </a:xfrm>
          <a:prstGeom prst="ellipse">
            <a:avLst/>
          </a:prstGeom>
          <a:solidFill>
            <a:srgbClr val="2E9D62"/>
          </a:solidFill>
          <a:ln w="12700">
            <a:solidFill>
              <a:srgbClr val="2E9D6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3400" y="2834640"/>
            <a:ext cx="109728" cy="109728"/>
          </a:xfrm>
          <a:prstGeom prst="ellipse">
            <a:avLst/>
          </a:prstGeom>
          <a:solidFill>
            <a:srgbClr val="2E9D62"/>
          </a:solidFill>
          <a:ln w="12700">
            <a:solidFill>
              <a:srgbClr val="2E9D6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09160" y="2331720"/>
            <a:ext cx="109728" cy="109728"/>
          </a:xfrm>
          <a:prstGeom prst="ellipse">
            <a:avLst/>
          </a:prstGeom>
          <a:solidFill>
            <a:srgbClr val="2E9D62"/>
          </a:solidFill>
          <a:ln w="12700">
            <a:solidFill>
              <a:srgbClr val="2E9D6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12080" y="2880360"/>
            <a:ext cx="109728" cy="109728"/>
          </a:xfrm>
          <a:prstGeom prst="ellipse">
            <a:avLst/>
          </a:prstGeom>
          <a:solidFill>
            <a:srgbClr val="2E9D62"/>
          </a:solidFill>
          <a:ln w="12700">
            <a:solidFill>
              <a:srgbClr val="2E9D6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80560" y="3383280"/>
            <a:ext cx="109728" cy="109728"/>
          </a:xfrm>
          <a:prstGeom prst="ellipse">
            <a:avLst/>
          </a:prstGeom>
          <a:solidFill>
            <a:srgbClr val="2E9D62"/>
          </a:solidFill>
          <a:ln w="12700">
            <a:solidFill>
              <a:srgbClr val="2E9D6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94960" y="2240280"/>
            <a:ext cx="109728" cy="109728"/>
          </a:xfrm>
          <a:prstGeom prst="ellipse">
            <a:avLst/>
          </a:prstGeom>
          <a:solidFill>
            <a:srgbClr val="2E9D62"/>
          </a:solidFill>
          <a:ln w="12700">
            <a:solidFill>
              <a:srgbClr val="2E9D6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3703320"/>
            <a:ext cx="164592" cy="164592"/>
          </a:xfrm>
          <a:prstGeom prst="ellipse">
            <a:avLst/>
          </a:prstGeom>
          <a:solidFill>
            <a:srgbClr val="F08A24"/>
          </a:solidFill>
          <a:ln w="12700">
            <a:solidFill>
              <a:srgbClr val="F08A2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43200" y="2743200"/>
            <a:ext cx="1920240" cy="1920240"/>
          </a:xfrm>
          <a:prstGeom prst="ellipse">
            <a:avLst/>
          </a:prstGeom>
          <a:solidFill>
            <a:srgbClr val="FFFFFF">
              <a:alpha val="0"/>
            </a:srgbClr>
          </a:solidFill>
          <a:ln w="12700">
            <a:solidFill>
              <a:srgbClr val="F08A2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83280" y="3611880"/>
            <a:ext cx="914400" cy="274320"/>
          </a:xfrm>
          <a:prstGeom prst="rect">
            <a:avLst/>
          </a:prstGeom>
          <a:solidFill>
            <a:srgbClr val="F08A24"/>
          </a:solidFill>
          <a:ln>
            <a:solidFill>
              <a:srgbClr val="F08A24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novo ponto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903720" y="1691640"/>
            <a:ext cx="39319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</a:rPr>
              <a:t>KNN não aprende uma equação explícita.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</a:rPr>
              <a:t>Ele armazena os exemplos e compara distâncias.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903720" y="3063240"/>
            <a:ext cx="3931920" cy="960120"/>
          </a:xfrm>
          <a:prstGeom prst="rect">
            <a:avLst/>
          </a:prstGeom>
          <a:solidFill>
            <a:srgbClr val="EAF2FF"/>
          </a:solidFill>
          <a:ln w="12700">
            <a:solidFill>
              <a:srgbClr val="2F69BF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“Agrupamento” aqui significa vizinhança local: a classe do novo ponto é decidida pelo grupo de vizinhos próximos.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Parte IV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KNN — passo a passo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85800" y="1572768"/>
            <a:ext cx="1627632" cy="713232"/>
          </a:xfrm>
          <a:prstGeom prst="rect">
            <a:avLst/>
          </a:prstGeom>
          <a:solidFill>
            <a:srgbClr val="EAF2FF"/>
          </a:solidFill>
          <a:ln w="12700">
            <a:solidFill>
              <a:srgbClr val="2F69BF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030" b="1" dirty="0">
                <a:solidFill>
                  <a:srgbClr val="0B1F3A"/>
                </a:solidFill>
              </a:rPr>
              <a:t>1</a:t>
            </a:r>
            <a:endParaRPr lang="en-US" sz="1030" dirty="0"/>
          </a:p>
          <a:p>
            <a:pPr marL="0" indent="0">
              <a:buNone/>
            </a:pPr>
            <a:r>
              <a:rPr lang="en-US" sz="1030" b="1" dirty="0">
                <a:solidFill>
                  <a:srgbClr val="0B1F3A"/>
                </a:solidFill>
              </a:rPr>
              <a:t>Escolher K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2350008" y="1920240"/>
            <a:ext cx="393192" cy="0"/>
          </a:xfrm>
          <a:prstGeom prst="line">
            <a:avLst/>
          </a:prstGeom>
          <a:noFill/>
          <a:ln w="19050">
            <a:solidFill>
              <a:srgbClr val="F08A24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907792" y="1572768"/>
            <a:ext cx="1627632" cy="713232"/>
          </a:xfrm>
          <a:prstGeom prst="rect">
            <a:avLst/>
          </a:prstGeom>
          <a:solidFill>
            <a:srgbClr val="EAF7EF"/>
          </a:solidFill>
          <a:ln w="12700">
            <a:solidFill>
              <a:srgbClr val="2E9D62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030" b="1" dirty="0">
                <a:solidFill>
                  <a:srgbClr val="0B1F3A"/>
                </a:solidFill>
              </a:rPr>
              <a:t>2</a:t>
            </a:r>
            <a:endParaRPr lang="en-US" sz="1030" dirty="0"/>
          </a:p>
          <a:p>
            <a:pPr marL="0" indent="0">
              <a:buNone/>
            </a:pPr>
            <a:r>
              <a:rPr lang="en-US" sz="1030" b="1" dirty="0">
                <a:solidFill>
                  <a:srgbClr val="0B1F3A"/>
                </a:solidFill>
              </a:rPr>
              <a:t>Medir distâncias</a:t>
            </a:r>
            <a:endParaRPr lang="en-US" sz="1030" dirty="0"/>
          </a:p>
        </p:txBody>
      </p:sp>
      <p:sp>
        <p:nvSpPr>
          <p:cNvPr id="11" name="Shape 9"/>
          <p:cNvSpPr/>
          <p:nvPr/>
        </p:nvSpPr>
        <p:spPr>
          <a:xfrm>
            <a:off x="4572000" y="1920240"/>
            <a:ext cx="393192" cy="0"/>
          </a:xfrm>
          <a:prstGeom prst="line">
            <a:avLst/>
          </a:prstGeom>
          <a:noFill/>
          <a:ln w="19050">
            <a:solidFill>
              <a:srgbClr val="F08A24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5129784" y="1572768"/>
            <a:ext cx="1627632" cy="713232"/>
          </a:xfrm>
          <a:prstGeom prst="rect">
            <a:avLst/>
          </a:prstGeom>
          <a:solidFill>
            <a:srgbClr val="FFF1E6"/>
          </a:solidFill>
          <a:ln w="12700">
            <a:solidFill>
              <a:srgbClr val="F08A24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030" b="1" dirty="0">
                <a:solidFill>
                  <a:srgbClr val="0B1F3A"/>
                </a:solidFill>
              </a:rPr>
              <a:t>3</a:t>
            </a:r>
            <a:endParaRPr lang="en-US" sz="1030" dirty="0"/>
          </a:p>
          <a:p>
            <a:pPr marL="0" indent="0">
              <a:buNone/>
            </a:pPr>
            <a:r>
              <a:rPr lang="en-US" sz="1030" b="1" dirty="0">
                <a:solidFill>
                  <a:srgbClr val="0B1F3A"/>
                </a:solidFill>
              </a:rPr>
              <a:t>Selecionar vizinhos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6793992" y="1920240"/>
            <a:ext cx="393192" cy="0"/>
          </a:xfrm>
          <a:prstGeom prst="line">
            <a:avLst/>
          </a:prstGeom>
          <a:noFill/>
          <a:ln w="19050">
            <a:solidFill>
              <a:srgbClr val="F08A24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7351776" y="1572768"/>
            <a:ext cx="1627632" cy="713232"/>
          </a:xfrm>
          <a:prstGeom prst="rect">
            <a:avLst/>
          </a:prstGeom>
          <a:solidFill>
            <a:srgbClr val="F1EEFF"/>
          </a:solidFill>
          <a:ln w="12700">
            <a:solidFill>
              <a:srgbClr val="6554C0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030" b="1" dirty="0">
                <a:solidFill>
                  <a:srgbClr val="0B1F3A"/>
                </a:solidFill>
              </a:rPr>
              <a:t>4</a:t>
            </a:r>
            <a:endParaRPr lang="en-US" sz="1030" dirty="0"/>
          </a:p>
          <a:p>
            <a:pPr marL="0" indent="0">
              <a:buNone/>
            </a:pPr>
            <a:r>
              <a:rPr lang="en-US" sz="1030" b="1" dirty="0">
                <a:solidFill>
                  <a:srgbClr val="0B1F3A"/>
                </a:solidFill>
              </a:rPr>
              <a:t>Voto majoritário</a:t>
            </a:r>
            <a:endParaRPr lang="en-US" sz="1030" dirty="0"/>
          </a:p>
        </p:txBody>
      </p:sp>
      <p:sp>
        <p:nvSpPr>
          <p:cNvPr id="15" name="Shape 13"/>
          <p:cNvSpPr/>
          <p:nvPr/>
        </p:nvSpPr>
        <p:spPr>
          <a:xfrm>
            <a:off x="9015984" y="1920240"/>
            <a:ext cx="393192" cy="0"/>
          </a:xfrm>
          <a:prstGeom prst="line">
            <a:avLst/>
          </a:prstGeom>
          <a:noFill/>
          <a:ln w="19050">
            <a:solidFill>
              <a:srgbClr val="F08A24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573768" y="1572768"/>
            <a:ext cx="1627632" cy="713232"/>
          </a:xfrm>
          <a:prstGeom prst="rect">
            <a:avLst/>
          </a:prstGeom>
          <a:solidFill>
            <a:srgbClr val="EAF9FA"/>
          </a:solidFill>
          <a:ln w="12700">
            <a:solidFill>
              <a:srgbClr val="36A2A6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030" b="1" dirty="0">
                <a:solidFill>
                  <a:srgbClr val="0B1F3A"/>
                </a:solidFill>
              </a:rPr>
              <a:t>5</a:t>
            </a:r>
            <a:endParaRPr lang="en-US" sz="1030" dirty="0"/>
          </a:p>
          <a:p>
            <a:pPr marL="0" indent="0">
              <a:buNone/>
            </a:pPr>
            <a:r>
              <a:rPr lang="en-US" sz="1030" b="1" dirty="0">
                <a:solidFill>
                  <a:srgbClr val="0B1F3A"/>
                </a:solidFill>
              </a:rPr>
              <a:t>Classificar</a:t>
            </a:r>
            <a:endParaRPr lang="en-US" sz="1030" dirty="0"/>
          </a:p>
        </p:txBody>
      </p:sp>
      <p:sp>
        <p:nvSpPr>
          <p:cNvPr id="17" name="Text 15"/>
          <p:cNvSpPr/>
          <p:nvPr/>
        </p:nvSpPr>
        <p:spPr>
          <a:xfrm>
            <a:off x="914400" y="3063240"/>
            <a:ext cx="868680" cy="320040"/>
          </a:xfrm>
          <a:prstGeom prst="rect">
            <a:avLst/>
          </a:prstGeom>
          <a:solidFill>
            <a:srgbClr val="2E9D62"/>
          </a:solidFill>
          <a:ln>
            <a:solidFill>
              <a:srgbClr val="2E9D62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Exemplo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914400" y="365760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</a:rPr>
              <a:t>K = 5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</a:rPr>
              <a:t>Se 3 vizinhos são da classe “A” e 2 são da classe “B”, o novo ponto é classificado como “A”.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0" y="3063240"/>
            <a:ext cx="868680" cy="320040"/>
          </a:xfrm>
          <a:prstGeom prst="rect">
            <a:avLst/>
          </a:prstGeom>
          <a:solidFill>
            <a:srgbClr val="D8473F"/>
          </a:solidFill>
          <a:ln>
            <a:solidFill>
              <a:srgbClr val="D8473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Cuidado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400800" y="3657600"/>
            <a:ext cx="4114800" cy="914400"/>
          </a:xfrm>
          <a:prstGeom prst="rect">
            <a:avLst/>
          </a:prstGeom>
          <a:solidFill>
            <a:srgbClr val="FDECEC"/>
          </a:solidFill>
          <a:ln w="12700">
            <a:solidFill>
              <a:srgbClr val="D8473F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</a:rPr>
              <a:t>Como KNN depende de distância, variáveis em escalas muito diferentes precisam ser padronizadas.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Fechamento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Resumo final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1234440"/>
            <a:ext cx="2937967" cy="347472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Tema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3596335" y="1234440"/>
            <a:ext cx="5005426" cy="347472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Ideia principal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8601761" y="1234440"/>
            <a:ext cx="2937967" cy="347472"/>
          </a:xfrm>
          <a:prstGeom prst="rect">
            <a:avLst/>
          </a:prstGeom>
          <a:solidFill>
            <a:srgbClr val="2F69BF"/>
          </a:solidFill>
          <a:ln w="8890">
            <a:solidFill>
              <a:srgbClr val="FFFFFF"/>
            </a:solidFill>
          </a:ln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FFFFFF"/>
                </a:solidFill>
              </a:rPr>
              <a:t>Pergunta prática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658368" y="1581912"/>
            <a:ext cx="2937967" cy="347472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B1F3A"/>
                </a:solidFill>
              </a:rPr>
              <a:t>População</a:t>
            </a:r>
            <a:endParaRPr lang="en-US" sz="860" dirty="0"/>
          </a:p>
        </p:txBody>
      </p:sp>
      <p:sp>
        <p:nvSpPr>
          <p:cNvPr id="12" name="Text 10"/>
          <p:cNvSpPr/>
          <p:nvPr/>
        </p:nvSpPr>
        <p:spPr>
          <a:xfrm>
            <a:off x="3596335" y="1581912"/>
            <a:ext cx="5005426" cy="347472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B1F3A"/>
                </a:solidFill>
              </a:rPr>
              <a:t>Conjunto completo de interesse</a:t>
            </a:r>
            <a:endParaRPr lang="en-US" sz="860" dirty="0"/>
          </a:p>
        </p:txBody>
      </p:sp>
      <p:sp>
        <p:nvSpPr>
          <p:cNvPr id="13" name="Text 11"/>
          <p:cNvSpPr/>
          <p:nvPr/>
        </p:nvSpPr>
        <p:spPr>
          <a:xfrm>
            <a:off x="8601761" y="1581912"/>
            <a:ext cx="2937967" cy="347472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B1F3A"/>
                </a:solidFill>
              </a:rPr>
              <a:t>Sobre quem quero concluir?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658368" y="1929384"/>
            <a:ext cx="2937967" cy="3474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B1F3A"/>
                </a:solidFill>
              </a:rPr>
              <a:t>Estratos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596335" y="1929384"/>
            <a:ext cx="5005426" cy="3474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B1F3A"/>
                </a:solidFill>
              </a:rPr>
              <a:t>Grupos dentro da população</a:t>
            </a:r>
            <a:endParaRPr lang="en-US" sz="860" dirty="0"/>
          </a:p>
        </p:txBody>
      </p:sp>
      <p:sp>
        <p:nvSpPr>
          <p:cNvPr id="16" name="Text 14"/>
          <p:cNvSpPr/>
          <p:nvPr/>
        </p:nvSpPr>
        <p:spPr>
          <a:xfrm>
            <a:off x="8601761" y="1929384"/>
            <a:ext cx="2937967" cy="3474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B1F3A"/>
                </a:solidFill>
              </a:rPr>
              <a:t>Quais grupos existem?</a:t>
            </a:r>
            <a:endParaRPr lang="en-US" sz="860" dirty="0"/>
          </a:p>
        </p:txBody>
      </p:sp>
      <p:sp>
        <p:nvSpPr>
          <p:cNvPr id="17" name="Text 15"/>
          <p:cNvSpPr/>
          <p:nvPr/>
        </p:nvSpPr>
        <p:spPr>
          <a:xfrm>
            <a:off x="658368" y="2276856"/>
            <a:ext cx="2937967" cy="347472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B1F3A"/>
                </a:solidFill>
              </a:rPr>
              <a:t>Proporção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3596335" y="2276856"/>
            <a:ext cx="5005426" cy="347472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B1F3A"/>
                </a:solidFill>
              </a:rPr>
              <a:t>Participação de cada estrato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8601761" y="2276856"/>
            <a:ext cx="2937967" cy="347472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B1F3A"/>
                </a:solidFill>
              </a:rPr>
              <a:t>Quanto cada grupo representa?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658368" y="2624328"/>
            <a:ext cx="2937967" cy="3474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B1F3A"/>
                </a:solidFill>
              </a:rPr>
              <a:t>AAS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3596335" y="2624328"/>
            <a:ext cx="5005426" cy="3474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B1F3A"/>
                </a:solidFill>
              </a:rPr>
              <a:t>Sorteio probabilístico direto</a:t>
            </a:r>
            <a:endParaRPr lang="en-US" sz="860" dirty="0"/>
          </a:p>
        </p:txBody>
      </p:sp>
      <p:sp>
        <p:nvSpPr>
          <p:cNvPr id="22" name="Text 20"/>
          <p:cNvSpPr/>
          <p:nvPr/>
        </p:nvSpPr>
        <p:spPr>
          <a:xfrm>
            <a:off x="8601761" y="2624328"/>
            <a:ext cx="2937967" cy="3474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B1F3A"/>
                </a:solidFill>
              </a:rPr>
              <a:t>Todos têm chance igual?</a:t>
            </a:r>
            <a:endParaRPr lang="en-US" sz="860" dirty="0"/>
          </a:p>
        </p:txBody>
      </p:sp>
      <p:sp>
        <p:nvSpPr>
          <p:cNvPr id="23" name="Text 21"/>
          <p:cNvSpPr/>
          <p:nvPr/>
        </p:nvSpPr>
        <p:spPr>
          <a:xfrm>
            <a:off x="658368" y="2971800"/>
            <a:ext cx="2937967" cy="347472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B1F3A"/>
                </a:solidFill>
              </a:rPr>
              <a:t>Balanceamento</a:t>
            </a:r>
            <a:endParaRPr lang="en-US" sz="860" dirty="0"/>
          </a:p>
        </p:txBody>
      </p:sp>
      <p:sp>
        <p:nvSpPr>
          <p:cNvPr id="24" name="Text 22"/>
          <p:cNvSpPr/>
          <p:nvPr/>
        </p:nvSpPr>
        <p:spPr>
          <a:xfrm>
            <a:off x="3596335" y="2971800"/>
            <a:ext cx="5005426" cy="347472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B1F3A"/>
                </a:solidFill>
              </a:rPr>
              <a:t>Distribuição entre grupos/classes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8601761" y="2971800"/>
            <a:ext cx="2937967" cy="347472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B1F3A"/>
                </a:solidFill>
              </a:rPr>
              <a:t>Algum grupo domina?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658368" y="3319272"/>
            <a:ext cx="2937967" cy="3474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B1F3A"/>
                </a:solidFill>
              </a:rPr>
              <a:t>Regressão Logística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3596335" y="3319272"/>
            <a:ext cx="5005426" cy="3474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B1F3A"/>
                </a:solidFill>
              </a:rPr>
              <a:t>Probabilidade de uma classe</a:t>
            </a:r>
            <a:endParaRPr lang="en-US" sz="860" dirty="0"/>
          </a:p>
        </p:txBody>
      </p:sp>
      <p:sp>
        <p:nvSpPr>
          <p:cNvPr id="28" name="Text 26"/>
          <p:cNvSpPr/>
          <p:nvPr/>
        </p:nvSpPr>
        <p:spPr>
          <a:xfrm>
            <a:off x="8601761" y="3319272"/>
            <a:ext cx="2937967" cy="347472"/>
          </a:xfrm>
          <a:prstGeom prst="rect">
            <a:avLst/>
          </a:prstGeom>
          <a:solidFill>
            <a:srgbClr val="FFFFFF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B1F3A"/>
                </a:solidFill>
              </a:rPr>
              <a:t>Qual é P(Y=1|X)?</a:t>
            </a:r>
            <a:endParaRPr lang="en-US" sz="860" dirty="0"/>
          </a:p>
        </p:txBody>
      </p:sp>
      <p:sp>
        <p:nvSpPr>
          <p:cNvPr id="29" name="Text 27"/>
          <p:cNvSpPr/>
          <p:nvPr/>
        </p:nvSpPr>
        <p:spPr>
          <a:xfrm>
            <a:off x="658368" y="3666744"/>
            <a:ext cx="2937967" cy="347472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60" b="1" dirty="0">
                <a:solidFill>
                  <a:srgbClr val="0B1F3A"/>
                </a:solidFill>
              </a:rPr>
              <a:t>KNN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3596335" y="3666744"/>
            <a:ext cx="5005426" cy="347472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0B1F3A"/>
                </a:solidFill>
              </a:rPr>
              <a:t>Classe dos vizinhos próximos</a:t>
            </a:r>
            <a:endParaRPr lang="en-US" sz="860" dirty="0"/>
          </a:p>
        </p:txBody>
      </p:sp>
      <p:sp>
        <p:nvSpPr>
          <p:cNvPr id="31" name="Text 29"/>
          <p:cNvSpPr/>
          <p:nvPr/>
        </p:nvSpPr>
        <p:spPr>
          <a:xfrm>
            <a:off x="8601761" y="3666744"/>
            <a:ext cx="2937967" cy="347472"/>
          </a:xfrm>
          <a:prstGeom prst="rect">
            <a:avLst/>
          </a:prstGeom>
          <a:solidFill>
            <a:srgbClr val="E9EEF7"/>
          </a:solidFill>
          <a:ln w="8890">
            <a:solidFill>
              <a:srgbClr val="FFFFFF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0B1F3A"/>
                </a:solidFill>
              </a:rPr>
              <a:t>Quem está perto?</a:t>
            </a:r>
            <a:endParaRPr lang="en-US" sz="860" dirty="0"/>
          </a:p>
        </p:txBody>
      </p:sp>
      <p:sp>
        <p:nvSpPr>
          <p:cNvPr id="32" name="Text 30"/>
          <p:cNvSpPr/>
          <p:nvPr/>
        </p:nvSpPr>
        <p:spPr>
          <a:xfrm>
            <a:off x="1143000" y="5532120"/>
            <a:ext cx="9921240" cy="502920"/>
          </a:xfrm>
          <a:prstGeom prst="rect">
            <a:avLst/>
          </a:prstGeom>
          <a:solidFill>
            <a:srgbClr val="EAF2FF"/>
          </a:solidFill>
          <a:ln w="12700">
            <a:solidFill>
              <a:srgbClr val="2F69BF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180" b="1" dirty="0">
                <a:solidFill>
                  <a:srgbClr val="0B1F3A"/>
                </a:solidFill>
              </a:rPr>
              <a:t>Ideia central: um bom modelo começa antes do algoritmo — começa na definição correta da população, da amostra e da organização dos dados.</a:t>
            </a:r>
            <a:endParaRPr lang="en-US" sz="11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9260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Aplicação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75488" y="493776"/>
            <a:ext cx="493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F69B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24128" y="502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Exercício em sala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75488" y="932688"/>
            <a:ext cx="11247120" cy="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4937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7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</a:rPr>
              <a:t>Cenário</a:t>
            </a:r>
            <a:endParaRPr lang="en-US" sz="1250" dirty="0"/>
          </a:p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</a:rPr>
              <a:t>Uma empresa quer prever se clientes vão comprar um produto. Ela tem 10.000 clientes divididos em grupos por faixa de renda.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2606040"/>
            <a:ext cx="4937760" cy="502920"/>
          </a:xfrm>
          <a:prstGeom prst="rect">
            <a:avLst/>
          </a:prstGeom>
          <a:solidFill>
            <a:srgbClr val="EAF2FF"/>
          </a:solidFill>
          <a:ln w="12700">
            <a:solidFill>
              <a:srgbClr val="2F69BF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Tarefa 1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Defina a população e os estratos.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337560"/>
            <a:ext cx="4937760" cy="640080"/>
          </a:xfrm>
          <a:prstGeom prst="rect">
            <a:avLst/>
          </a:prstGeom>
          <a:solidFill>
            <a:srgbClr val="EAF7EF"/>
          </a:solidFill>
          <a:ln w="12700">
            <a:solidFill>
              <a:srgbClr val="2E9D62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Tarefa 2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Calcule a proporção de cada estrato e proponha uma amostra de 1.000 clientes.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4206240"/>
            <a:ext cx="4937760" cy="594360"/>
          </a:xfrm>
          <a:prstGeom prst="rect">
            <a:avLst/>
          </a:prstGeom>
          <a:solidFill>
            <a:srgbClr val="FFF1E6"/>
          </a:solidFill>
          <a:ln w="12700">
            <a:solidFill>
              <a:srgbClr val="F08A24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Tarefa 3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Explique se a amostra ficou balanceada ou não balanceada.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5029200"/>
            <a:ext cx="4937760" cy="530352"/>
          </a:xfrm>
          <a:prstGeom prst="rect">
            <a:avLst/>
          </a:prstGeom>
          <a:solidFill>
            <a:srgbClr val="F1EEFF"/>
          </a:solidFill>
          <a:ln w="12700">
            <a:solidFill>
              <a:srgbClr val="6554C0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Tarefa 4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</a:rPr>
              <a:t>Escolha: Regressão Logística ou KNN. Justifique.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498080" y="1554480"/>
            <a:ext cx="1097280" cy="320040"/>
          </a:xfrm>
          <a:prstGeom prst="rect">
            <a:avLst/>
          </a:prstGeom>
          <a:solidFill>
            <a:srgbClr val="0B1F3A"/>
          </a:solidFill>
          <a:ln>
            <a:solidFill>
              <a:srgbClr val="0B1F3A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Discussão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720840" y="2148840"/>
            <a:ext cx="402336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F3A"/>
                </a:solidFill>
              </a:rPr>
              <a:t>A amostra deve representar fielmente a população ou deve ser balanceada para facilitar o treinamento do modelo?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2E2876329B5D3B4FBA1D26A8667C2633" ma:contentTypeVersion="14" ma:contentTypeDescription="Crie um novo documento." ma:contentTypeScope="" ma:versionID="c18e529f75eeba5e3380f7426394bcf9">
  <xsd:schema xmlns:xsd="http://www.w3.org/2001/XMLSchema" xmlns:xs="http://www.w3.org/2001/XMLSchema" xmlns:p="http://schemas.microsoft.com/office/2006/metadata/properties" xmlns:ns3="1ea3c9c0-e698-4ea3-9529-a2c71b2c9eef" xmlns:ns4="38d922ee-4e44-47a7-a878-a22d9e8094bc" targetNamespace="http://schemas.microsoft.com/office/2006/metadata/properties" ma:root="true" ma:fieldsID="6a86d318e1343c5a9145aa5d09437703" ns3:_="" ns4:_="">
    <xsd:import namespace="1ea3c9c0-e698-4ea3-9529-a2c71b2c9eef"/>
    <xsd:import namespace="38d922ee-4e44-47a7-a878-a22d9e8094bc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earchProperties" minOccurs="0"/>
                <xsd:element ref="ns3:MediaServiceDateTaken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a3c9c0-e698-4ea3-9529-a2c71b2c9ee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d922ee-4e44-47a7-a878-a22d9e8094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ea3c9c0-e698-4ea3-9529-a2c71b2c9eef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A2158D8-4C33-4132-A61E-E0532140A88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ea3c9c0-e698-4ea3-9529-a2c71b2c9eef"/>
    <ds:schemaRef ds:uri="38d922ee-4e44-47a7-a878-a22d9e8094b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91E0874-EAAB-4A60-8F28-27A437EC07BB}">
  <ds:schemaRefs>
    <ds:schemaRef ds:uri="http://schemas.microsoft.com/office/2006/metadata/properties"/>
    <ds:schemaRef ds:uri="http://schemas.microsoft.com/office/infopath/2007/PartnerControls"/>
    <ds:schemaRef ds:uri="1ea3c9c0-e698-4ea3-9529-a2c71b2c9eef"/>
  </ds:schemaRefs>
</ds:datastoreItem>
</file>

<file path=customXml/itemProps3.xml><?xml version="1.0" encoding="utf-8"?>
<ds:datastoreItem xmlns:ds="http://schemas.openxmlformats.org/officeDocument/2006/customXml" ds:itemID="{ED4652CD-F36D-4B45-A152-BCD8A2661B4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380</TotalTime>
  <Words>1687</Words>
  <Application>Microsoft Office PowerPoint</Application>
  <PresentationFormat>Widescreen</PresentationFormat>
  <Paragraphs>443</Paragraphs>
  <Slides>18</Slides>
  <Notes>18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18</vt:i4>
      </vt:variant>
    </vt:vector>
  </HeadingPairs>
  <TitlesOfParts>
    <vt:vector size="27" baseType="lpstr">
      <vt:lpstr>Aptos</vt:lpstr>
      <vt:lpstr>Aptos Display</vt:lpstr>
      <vt:lpstr>Arial</vt:lpstr>
      <vt:lpstr>Cambria Math</vt:lpstr>
      <vt:lpstr>Symbol</vt:lpstr>
      <vt:lpstr>Times New Roman</vt:lpstr>
      <vt:lpstr>Wingdings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04 - Organização e Preparação de Dados; Regressão Logística e KNN</dc:title>
  <dc:subject>Organização e Preparação de Dados; Regressão Logística e KNN</dc:subject>
  <dc:creator>OpenAI</dc:creator>
  <cp:lastModifiedBy>Miguel Suarez Xavier Penteado</cp:lastModifiedBy>
  <cp:revision>9</cp:revision>
  <dcterms:created xsi:type="dcterms:W3CDTF">2026-08-22T16:19:43Z</dcterms:created>
  <dcterms:modified xsi:type="dcterms:W3CDTF">2026-08-24T05:56:12Z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0x0101002E2876329B5D3B4FBA1D26A8667C2633</vt:lpwstr>
  </property>
</Properties>
</file>