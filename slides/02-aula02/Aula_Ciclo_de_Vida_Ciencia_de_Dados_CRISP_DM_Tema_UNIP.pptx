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B9F3"/>
          </a:solidFill>
          <a:ln w="12700">
            <a:solidFill>
              <a:srgbClr val="5DB9F3"/>
            </a:solidFill>
            <a:prstDash val="solid"/>
          </a:ln>
        </p:spPr>
      </p:sp>
      <p:pic>
        <p:nvPicPr>
          <p:cNvPr id="3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1168"/>
            <a:ext cx="2999232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Aula 06 – O Ciclo de Vida do Projeto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de Ciência de Dados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30352" y="24871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2ED"/>
                </a:solidFill>
              </a:rPr>
              <a:t>Kelleher &amp; Tierney • CRISP-DM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352" y="3063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Professor Miguél Suares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0352" y="34290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DF"/>
                </a:solidFill>
              </a:rPr>
              <a:t>UNIP • GTI – Oferta 2026 - Gestão e Análise de Dados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30352" y="4160520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424281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F58"/>
                </a:solidFill>
              </a:rPr>
              <a:t>ITERATIVO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423160" y="4160520"/>
            <a:ext cx="2011680" cy="310896"/>
          </a:xfrm>
          <a:prstGeom prst="roundRect">
            <a:avLst>
              <a:gd name="adj" fmla="val 8824"/>
            </a:avLst>
          </a:prstGeom>
          <a:solidFill>
            <a:srgbClr val="5DB9F3"/>
          </a:solidFill>
          <a:ln w="12700">
            <a:solidFill>
              <a:srgbClr val="5DB9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3160" y="424281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F58"/>
                </a:solidFill>
              </a:rPr>
              <a:t>SEMI-ESTRUTURADO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754880" y="4160520"/>
            <a:ext cx="2377440" cy="310896"/>
          </a:xfrm>
          <a:prstGeom prst="roundRect">
            <a:avLst>
              <a:gd name="adj" fmla="val 8824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424281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ORIENTADO AO NEGÓCIO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8288" y="4892040"/>
            <a:ext cx="12152376" cy="502920"/>
          </a:xfrm>
          <a:prstGeom prst="roundRect">
            <a:avLst>
              <a:gd name="adj" fmla="val 5455"/>
            </a:avLst>
          </a:prstGeom>
          <a:solidFill>
            <a:srgbClr val="0A2F58"/>
          </a:solidFill>
          <a:ln w="13970">
            <a:solidFill>
              <a:srgbClr val="5DB9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5001768"/>
            <a:ext cx="11384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200"/>
                </a:solidFill>
              </a:rPr>
              <a:t>NEGÓCIO  ⇒  DADOS  ⇒  MODELO  ⇒  IMPLANTAÇÃO  ⇒  MONITORAMENTO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" y="5760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EF"/>
                </a:solidFill>
              </a:rPr>
              <a:t>Da pergunta de negócio ao modelo em produção — e de volta aos dados.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OBJETIVOS DA AULA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1024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Ao final, o aluno deve conseguir explicar o fluxo completo de um projeto de Ciência de Dados.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2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627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1. Reconhecer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7512" y="1965960"/>
            <a:ext cx="326440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As seis etapas do CRISP-DM e a finalidade de cada uma.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508760"/>
            <a:ext cx="54864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627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2. Relacionar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462272" y="1965960"/>
            <a:ext cx="326440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Cada etapa a atividades práticas: coleta, limpeza, treino, teste e implantação.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1508760"/>
            <a:ext cx="54864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16276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3. Entender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57032" y="1965960"/>
            <a:ext cx="326440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Por que o processo é iterativo e por que modelos precisam ser monitorados.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3703320"/>
            <a:ext cx="10744200" cy="1280160"/>
          </a:xfrm>
          <a:prstGeom prst="roundRect">
            <a:avLst>
              <a:gd name="adj" fmla="val 285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39136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72C4"/>
                </a:solidFill>
              </a:rPr>
              <a:t>IDEIA CENTRAL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05840" y="4279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111"/>
                </a:solidFill>
              </a:rPr>
              <a:t>Ciência de Dados não é apenas “treinar um algoritmo”. É um processo que começa com uma necessidade real, passa pelos dados e termina com uma solução que precisa continuar funcionando no mundo real.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CRISP-DM: UMA VISÃO DO CICLO COMPLETO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1024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Cross Industry Standard Process for Data Mining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3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1078992" cy="107899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8328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Negócio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19072" y="2185416"/>
            <a:ext cx="502920" cy="411480"/>
          </a:xfrm>
          <a:prstGeom prst="chevron">
            <a:avLst/>
          </a:prstGeom>
          <a:solidFill>
            <a:srgbClr val="AEB9C5"/>
          </a:solidFill>
          <a:ln w="12700">
            <a:solidFill>
              <a:srgbClr val="AEB9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87168" y="1874520"/>
            <a:ext cx="1078992" cy="10789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231136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Dados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11880" y="2185416"/>
            <a:ext cx="502920" cy="411480"/>
          </a:xfrm>
          <a:prstGeom prst="chevron">
            <a:avLst/>
          </a:prstGeom>
          <a:solidFill>
            <a:srgbClr val="AEB9C5"/>
          </a:solidFill>
          <a:ln w="12700">
            <a:solidFill>
              <a:srgbClr val="AEB9C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9976" y="1874520"/>
            <a:ext cx="1078992" cy="10789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79976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123944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Preparação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04688" y="2185416"/>
            <a:ext cx="502920" cy="411480"/>
          </a:xfrm>
          <a:prstGeom prst="chevron">
            <a:avLst/>
          </a:prstGeom>
          <a:solidFill>
            <a:srgbClr val="AEB9C5"/>
          </a:solidFill>
          <a:ln w="12700">
            <a:solidFill>
              <a:srgbClr val="AEB9C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72784" y="1874520"/>
            <a:ext cx="1078992" cy="1078992"/>
          </a:xfrm>
          <a:prstGeom prst="ellipse">
            <a:avLst/>
          </a:prstGeom>
          <a:solidFill>
            <a:srgbClr val="7C5CB3"/>
          </a:solidFill>
          <a:ln w="12700">
            <a:solidFill>
              <a:srgbClr val="7C5C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016752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Modelagem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97496" y="2185416"/>
            <a:ext cx="502920" cy="411480"/>
          </a:xfrm>
          <a:prstGeom prst="chevron">
            <a:avLst/>
          </a:prstGeom>
          <a:solidFill>
            <a:srgbClr val="AEB9C5"/>
          </a:solidFill>
          <a:ln w="12700">
            <a:solidFill>
              <a:srgbClr val="AEB9C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65592" y="1874520"/>
            <a:ext cx="1078992" cy="1078992"/>
          </a:xfrm>
          <a:prstGeom prst="ellipse">
            <a:avLst/>
          </a:prstGeom>
          <a:solidFill>
            <a:srgbClr val="4D8F3A"/>
          </a:solidFill>
          <a:ln w="12700">
            <a:solidFill>
              <a:srgbClr val="4D8F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65592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909560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Avaliação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290304" y="2185416"/>
            <a:ext cx="502920" cy="411480"/>
          </a:xfrm>
          <a:prstGeom prst="chevron">
            <a:avLst/>
          </a:prstGeom>
          <a:solidFill>
            <a:srgbClr val="AEB9C5"/>
          </a:solidFill>
          <a:ln w="12700">
            <a:solidFill>
              <a:srgbClr val="AEB9C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58400" y="1874520"/>
            <a:ext cx="1078992" cy="1078992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0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802368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Implantação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" y="1243584"/>
            <a:ext cx="9921240" cy="3749040"/>
          </a:xfrm>
          <a:prstGeom prst="arc">
            <a:avLst/>
          </a:prstGeom>
          <a:solidFill>
            <a:srgbClr val="FFFFFF">
              <a:alpha val="0"/>
            </a:srgbClr>
          </a:solidFill>
          <a:ln w="20320">
            <a:solidFill>
              <a:srgbClr val="4472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0160" y="4754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↻  O processo pode voltar a etapas anteriores sempre que surgirem novos dados, hipóteses ou problemas.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977640" y="5486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</a:rPr>
              <a:t>Estrutura iterativa e semiestruturada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1 – COMPREENSÃO DO NEGÓCIO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4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Compreensão do Negócio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Business Understanding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72C4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Qual problema precisa ser resolvido?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2487168"/>
            <a:ext cx="630936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Definir o objetivo do projeto em linguagem de negócio.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Identificar quem usará o resultado e qual decisão será apoiada.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Transformar uma necessidade ampla em uma pergunta clara e mensurável.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Estabelecer critérios de sucesso antes de escolher qualquer algoritmo.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2514600"/>
            <a:ext cx="41605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2514600"/>
            <a:ext cx="54864" cy="2240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633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Exemplo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34072" y="2971800"/>
            <a:ext cx="390448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Uma universidade quer reduzir a evasão.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Pergunta de negócio: “É possível identificar, com antecedência, alunos com maior risco de abandonar o curso?”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97680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NÃO COMEÇA PELO ALGORITMO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2 – COMPREENSÃO DOS DADOS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5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Compreensão dos Dados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Data Understanding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5B5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Os dados disponíveis conseguem responder à pergunta?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2487168"/>
            <a:ext cx="630936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Localizar as fontes de dados relevantes.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Explorar variáveis, tipos, valores ausentes e distribuições.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Verificar qualidade, cobertura, granularidade e atualidade.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Detectar limitações, vieses e possíveis problemas de coleta.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2514600"/>
            <a:ext cx="4160520" cy="2240280"/>
          </a:xfrm>
          <a:prstGeom prst="roundRect">
            <a:avLst>
              <a:gd name="adj" fmla="val 2041"/>
            </a:avLst>
          </a:prstGeom>
          <a:solidFill>
            <a:srgbClr val="E5EFF8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2514600"/>
            <a:ext cx="54864" cy="22402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633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Exemplo de exploração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34072" y="2971800"/>
            <a:ext cx="390448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Dados acadêmicos possíveis: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frequência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notas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atrasos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disciplinas reprovadas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perfil de matrícula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43400" y="5623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5B5"/>
                </a:solidFill>
              </a:rPr>
              <a:t>EXPLORAR ANTES DE MODELAR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3 – PREPARAÇÃO DOS DADOS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6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Preparação dos Dados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Data Preparation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28C28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Como transformar dados brutos em dados prontos para análise?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" y="2651760"/>
            <a:ext cx="192024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" y="28620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Coletar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463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reunir fontes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368296" y="2990088"/>
            <a:ext cx="274320" cy="320040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2651760"/>
            <a:ext cx="192024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16352" y="28620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Limpar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81635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corrigir e tratar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00016" y="2990088"/>
            <a:ext cx="274320" cy="320040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74920" y="2651760"/>
            <a:ext cx="192024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48072" y="28620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Integrar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14807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combinar bases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031736" y="2990088"/>
            <a:ext cx="274320" cy="320040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2651760"/>
            <a:ext cx="192024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79792" y="28620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Formatar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7979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padronizar tipos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363456" y="2990088"/>
            <a:ext cx="274320" cy="320040"/>
          </a:xfrm>
          <a:prstGeom prst="chevron">
            <a:avLst/>
          </a:prstGeom>
          <a:solidFill>
            <a:srgbClr val="B7C0CB"/>
          </a:solidFill>
          <a:ln w="12700">
            <a:solidFill>
              <a:srgbClr val="B7C0C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38360" y="2651760"/>
            <a:ext cx="1920240" cy="1024128"/>
          </a:xfrm>
          <a:prstGeom prst="roundRect">
            <a:avLst>
              <a:gd name="adj" fmla="val 2679"/>
            </a:avLst>
          </a:prstGeom>
          <a:solidFill>
            <a:srgbClr val="FCE6D5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11512" y="28620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Construir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81151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tabela analítica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914400" y="4297680"/>
            <a:ext cx="10332720" cy="914400"/>
          </a:xfrm>
          <a:prstGeom prst="roundRect">
            <a:avLst>
              <a:gd name="adj" fmla="val 4000"/>
            </a:avLst>
          </a:prstGeom>
          <a:solidFill>
            <a:srgbClr val="FFF5E8"/>
          </a:solidFill>
          <a:ln w="12700">
            <a:solidFill>
              <a:srgbClr val="F0BE8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3444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≈ 80% do tempo do projeto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023360" y="452628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Kelleher &amp; Tierney destacam que grande parte do trabalho real de Ciência de Dados ocorre nesta fase.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74520" y="553212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Resultado típico: analytics base table — uma base organizada e consistente para modelagem.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4 – MODELAGEM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7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7C5CB3"/>
          </a:solidFill>
          <a:ln w="12700">
            <a:solidFill>
              <a:srgbClr val="7C5CB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Modelagem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Modeling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7C5CB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5CB3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Qual técnica transforma os dados em um modelo útil?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2487168"/>
            <a:ext cx="630936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Escolher algoritmos adequados ao tipo de problema.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Separar dados de treino e teste quando necessário.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Treinar modelos e ajustar seus parâmetros.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Comparar diferentes abordagens com métricas apropriadas.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2514600"/>
            <a:ext cx="4160520" cy="2240280"/>
          </a:xfrm>
          <a:prstGeom prst="roundRect">
            <a:avLst>
              <a:gd name="adj" fmla="val 2041"/>
            </a:avLst>
          </a:prstGeom>
          <a:solidFill>
            <a:srgbClr val="F0EA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2514600"/>
            <a:ext cx="54864" cy="2240280"/>
          </a:xfrm>
          <a:prstGeom prst="rect">
            <a:avLst/>
          </a:prstGeom>
          <a:solidFill>
            <a:srgbClr val="7C5CB3"/>
          </a:solidFill>
          <a:ln w="12700">
            <a:solidFill>
              <a:srgbClr val="7C5C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633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Exemplos de modelos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34072" y="2971800"/>
            <a:ext cx="390448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Regressão Linear — valor numérico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Regressão Logística — classe/probabilidade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KNN — vizinhança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Árvore — regras de decisão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400" y="55595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B3"/>
                </a:solidFill>
              </a:rPr>
              <a:t>O algoritmo é apenas uma parte do projeto — e aparece somente depois que problema e dados foram compreendidos.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5 – AVALIAÇÃO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8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4D8F3A"/>
          </a:solidFill>
          <a:ln w="12700">
            <a:solidFill>
              <a:srgbClr val="4D8F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Avaliação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Evaluation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4D8F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8F3A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O modelo atende ao objetivo do negócio?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2606040"/>
            <a:ext cx="498348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606040"/>
            <a:ext cx="54864" cy="2057400"/>
          </a:xfrm>
          <a:prstGeom prst="rect">
            <a:avLst/>
          </a:prstGeom>
          <a:solidFill>
            <a:srgbClr val="4D8F3A"/>
          </a:solidFill>
          <a:ln w="12700">
            <a:solidFill>
              <a:srgbClr val="4D8F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27249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Avaliação técnica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0392" y="3063240"/>
            <a:ext cx="472744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erro / acurácia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desempenho em dados de teste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estabilidade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comparação entre modelos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2606040"/>
            <a:ext cx="4983480" cy="2057400"/>
          </a:xfrm>
          <a:prstGeom prst="roundRect">
            <a:avLst>
              <a:gd name="adj" fmla="val 2222"/>
            </a:avLst>
          </a:prstGeom>
          <a:solidFill>
            <a:srgbClr val="E9F2E8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2606040"/>
            <a:ext cx="54864" cy="2057400"/>
          </a:xfrm>
          <a:prstGeom prst="rect">
            <a:avLst/>
          </a:prstGeom>
          <a:solidFill>
            <a:srgbClr val="4D8F3A"/>
          </a:solidFill>
          <a:ln w="12700">
            <a:solidFill>
              <a:srgbClr val="4D8F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27249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Avaliação no contexto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65392" y="3063240"/>
            <a:ext cx="472744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é útil para a decisão?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é interpretável o suficiente?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gera benefício real?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• há riscos ou efeitos indesejados?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828800" y="5257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Um modelo tecnicamente bom pode ser inadequado para o negócio.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ETAPA 6 – IMPLANTAÇÃO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9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12064" cy="512064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733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F58"/>
                </a:solidFill>
              </a:rPr>
              <a:t>Implantação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" y="1865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Deployment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18120" y="1481328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240">
            <a:solidFill>
              <a:srgbClr val="F044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4438"/>
                </a:solidFill>
              </a:rPr>
              <a:t>Pergunta-chave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42832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Como colocar o modelo em uso real?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2487168"/>
            <a:ext cx="630936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Integrar o modelo a um sistema, aplicação, dashboard ou rotina.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Definir quem usa, quando usa e para quê.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Registrar logs, monitorar desempenho e planejar atualização.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</a:rPr>
              <a:t>Acompanhar dados reais e efeitos do uso do modelo.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2514600"/>
            <a:ext cx="4160520" cy="2240280"/>
          </a:xfrm>
          <a:prstGeom prst="roundRect">
            <a:avLst>
              <a:gd name="adj" fmla="val 2041"/>
            </a:avLst>
          </a:prstGeom>
          <a:solidFill>
            <a:srgbClr val="FDE9E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2514600"/>
            <a:ext cx="54864" cy="224028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633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Operação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34072" y="2971800"/>
            <a:ext cx="390448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Implantar não significa “terminar”. É o início da fase em que o modelo enfrenta dados reais, usuários reais e mudanças reais.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O PONTO FUNDAMENTAL: O CICLO É CONTÍNUO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1024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Modelos envelhecem porque o mundo que gera os dados muda.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10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731520" y="1828800"/>
            <a:ext cx="1600200" cy="1600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implantado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14600" y="2359152"/>
            <a:ext cx="685800" cy="502920"/>
          </a:xfrm>
          <a:prstGeom prst="chevron">
            <a:avLst/>
          </a:prstGeom>
          <a:solidFill>
            <a:srgbClr val="B3BEC9"/>
          </a:solidFill>
          <a:ln w="12700">
            <a:solidFill>
              <a:srgbClr val="B3BE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828800"/>
            <a:ext cx="1600200" cy="1600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40680" y="2359152"/>
            <a:ext cx="685800" cy="502920"/>
          </a:xfrm>
          <a:prstGeom prst="chevron">
            <a:avLst/>
          </a:prstGeom>
          <a:solidFill>
            <a:srgbClr val="B3BEC9"/>
          </a:solidFill>
          <a:ln w="12700">
            <a:solidFill>
              <a:srgbClr val="B3BE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1828800"/>
            <a:ext cx="1600200" cy="1600200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Desempenho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66760" y="2359152"/>
            <a:ext cx="685800" cy="502920"/>
          </a:xfrm>
          <a:prstGeom prst="chevron">
            <a:avLst/>
          </a:prstGeom>
          <a:solidFill>
            <a:srgbClr val="B3BEC9"/>
          </a:solidFill>
          <a:ln w="12700">
            <a:solidFill>
              <a:srgbClr val="B3BE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0" y="1828800"/>
            <a:ext cx="1600200" cy="160020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Reavaliar 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retreinar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91840" y="3931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F58"/>
                </a:solidFill>
              </a:rPr>
              <a:t>CONCEPT DRIFT (DERIVA DE CONCEITO)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554480" y="4498848"/>
            <a:ext cx="9098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</a:rPr>
              <a:t>A relação entre entradas e resultados pode mudar ao longo do tempo. Por isso, o desempenho precisa ser acompanhado e o ciclo pode recomeçar.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2880360" y="54864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</a:rPr>
              <a:t>MONITORAR   →   DETECTAR MUDANÇA   →   RETREINAR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EXEMPLO COMPLETO: PREVISÃO DE EVASÃO UNIVERSITÁRIA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1024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Como as seis etapas se conectam em um único projeto.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11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658368" y="1591056"/>
            <a:ext cx="393192" cy="39319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66420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6187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Negócio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834640" y="1572768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reduzir evasão e apoiar ações preventivas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2304288"/>
            <a:ext cx="393192" cy="393192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37744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61872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Dados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34640" y="2286000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frequência, notas, reprovações e matrícula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3017520"/>
            <a:ext cx="393192" cy="3931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090672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61872" y="2999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Preparação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834640" y="2999232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limpar, integrar e criar variáveis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3730752"/>
            <a:ext cx="393192" cy="393192"/>
          </a:xfrm>
          <a:prstGeom prst="ellipse">
            <a:avLst/>
          </a:prstGeom>
          <a:solidFill>
            <a:srgbClr val="7C5CB3"/>
          </a:solidFill>
          <a:ln w="12700">
            <a:solidFill>
              <a:srgbClr val="7C5C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80390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261872" y="37124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Modelagem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834640" y="3712464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treinar modelos de classificação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443984"/>
            <a:ext cx="393192" cy="393192"/>
          </a:xfrm>
          <a:prstGeom prst="ellipse">
            <a:avLst/>
          </a:prstGeom>
          <a:solidFill>
            <a:srgbClr val="4D8F3A"/>
          </a:solidFill>
          <a:ln w="12700">
            <a:solidFill>
              <a:srgbClr val="4D8F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451713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261872" y="4425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834640" y="4425696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validar técnica e utilidade prática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58368" y="5157216"/>
            <a:ext cx="393192" cy="393192"/>
          </a:xfrm>
          <a:prstGeom prst="ellipse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523036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261872" y="5138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F58"/>
                </a:solidFill>
              </a:rPr>
              <a:t>Implantação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2834640" y="5138928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gerar alertas e acompanhar desempenho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1097280" y="589788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EAF2F9"/>
          </a:solidFill>
          <a:ln w="12700">
            <a:solidFill>
              <a:srgbClr val="C7D8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34440" y="599846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72C4"/>
                </a:solidFill>
              </a:rPr>
              <a:t>Depois da implantação, novos semestres podem mudar o padrão → monitorar e repetir o ciclo.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ATIVIDADE EM SALA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" y="1024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Em duplas, escolham um problema simples e percorram o ciclo.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12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10927080" cy="603504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7D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18488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Sugestões: prever preço de imóveis • identificar fraude • recomendar produtos • prever atraso de entregas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560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2551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Negócio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43000" y="2898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Qual decisão queremos apoiar?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407408" y="242316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4568" y="2560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10328" y="2551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Dados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0328" y="2898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Quais dados seriam necessários?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174736" y="242316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11896" y="2560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2551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Preparação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77656" y="2898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O que precisaria ser limpo ou integrado?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40080" y="384048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Modelagem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3000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Que tipo de modelo faria sentido?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407408" y="384048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44568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10328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Avaliação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10328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Como saberemos se funcionou?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8174736" y="3840480"/>
            <a:ext cx="3429000" cy="106984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11896" y="3977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77656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58"/>
                </a:solidFill>
              </a:rPr>
              <a:t>Implantação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77656" y="4315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111"/>
                </a:solidFill>
              </a:rPr>
              <a:t>Onde o resultado seria usado?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2011680" y="56692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Tempo sugerido: 10–15 minutos • Entrega: um fluxograma com as 6 etapas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13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103120" y="7132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11111"/>
                </a:solidFill>
              </a:rPr>
              <a:t>O que levar desta aula? 🙂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960120" y="1828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F58"/>
                </a:solidFill>
              </a:rPr>
              <a:t>Comece pelo problema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18288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Não pelo algoritmo.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05840" y="2304288"/>
            <a:ext cx="987552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670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26700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F58"/>
                </a:solidFill>
              </a:rPr>
              <a:t>Dados exigem trabalho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267004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Preparação costuma consumir a maior parte do esforço.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05840" y="3145536"/>
            <a:ext cx="987552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5112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03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45920" y="35112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F58"/>
                </a:solidFill>
              </a:rPr>
              <a:t>Modelo bom ≠ solução boa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3511296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Avalie no contexto técnico e organizacional.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986784"/>
            <a:ext cx="987552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525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04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43525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F58"/>
                </a:solidFill>
              </a:rPr>
              <a:t>Produção é dinâmica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0" y="435254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Monitore deriva e retreine quando necessário.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51560" y="5486400"/>
            <a:ext cx="10058400" cy="530352"/>
          </a:xfrm>
          <a:prstGeom prst="roundRect">
            <a:avLst>
              <a:gd name="adj" fmla="val 5172"/>
            </a:avLst>
          </a:prstGeom>
          <a:solidFill>
            <a:srgbClr val="0A2F58"/>
          </a:solidFill>
          <a:ln w="12700">
            <a:solidFill>
              <a:srgbClr val="0A2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25880" y="5650992"/>
            <a:ext cx="9509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CIÊNCIA DE DADOS É UM CICLO DE APRENDIZADO ENTRE NEGÓCIO, DADOS, MODELOS E OPERAÇÃO.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36576"/>
            <a:ext cx="120700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420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72C4"/>
                </a:solidFill>
              </a:rPr>
              <a:t>Aula 06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228600" y="65836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REFERÊNCIA E LEITURA COMPLEMENTAR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UNIP • GTI – Oferta 2026 - Gestão e Análise de Dados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631168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B88"/>
                </a:solidFill>
              </a:rPr>
              <a:t>14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10698480" cy="16002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F58"/>
                </a:solidFill>
              </a:rPr>
              <a:t>Kelleher, J. D.; Tierney, B.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224028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Data Science — discussão do ciclo de vida de projetos e uso do CRISP-DM como estrutura de referência.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</a:rPr>
              <a:t>Conceitos-chave para revisar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4160520"/>
            <a:ext cx="38404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Business Understanding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Data Understanding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Data Preparation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Modeling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Evaluation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Deployment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</a:rPr>
              <a:t>Concept drift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379476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E7F0F8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3794760"/>
            <a:ext cx="54864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39136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F58"/>
                </a:solidFill>
              </a:rPr>
              <a:t>Próxima aula sugerida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99632" y="4251960"/>
            <a:ext cx="454456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Da preparação dos dados à divisão treino × teste e construção do primeiro modelo.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Ciclo de Vida do Projeto de Ciência de Dados (Kelleher &amp; Tierney)</dc:title>
  <dc:subject>Ciclo de Vida do Projeto de Ciência de Dados</dc:subject>
  <dc:creator>OpenAI</dc:creator>
  <cp:lastModifiedBy>OpenAI</cp:lastModifiedBy>
  <cp:revision>1</cp:revision>
  <dcterms:created xsi:type="dcterms:W3CDTF">2026-09-29T04:43:42Z</dcterms:created>
  <dcterms:modified xsi:type="dcterms:W3CDTF">2026-09-29T04:43:42Z</dcterms:modified>
</cp:coreProperties>
</file>