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mover o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378AFA5-C619-4378-A078-7F975340CE15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6F0D617-58B0-48D7-90B7-0ABD06AE683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CF82339-5E22-4774-A41C-D5077A7CFDF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332CDC57-B2C3-4941-9063-6C71E463BAB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428A320-4A8A-433E-A69D-53BE28680A4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B3089D3-5D6F-42CE-AB8E-58CF3913945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123CE71-EA05-4A05-B67C-61384B4DEF3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38EAD43F-5E83-47A3-B9B9-19825C96484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34702DB-8DE4-4F01-BE98-7D877F64387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BB42EA1-DD21-4E6E-AD80-24CF294E840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705375B-3AB8-433E-B77B-974C1CEBD09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5EBC192-9766-451E-87BD-69D38AB8990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EB55894-F565-45A1-A1A5-6437A1E4E44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ECE7957-8246-49A0-BC49-1ED0C878779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9499BBC-699D-48AF-8C01-859A7618C65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920942A-8D24-4686-85B1-BBAEAFC417A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78DA961-13F2-4E03-A574-547C01212FF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5020DCC-A5BB-4D9E-B7C1-28667E21EA7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E6C90ED-1C05-4490-8969-6C578336794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8034C3C-9B27-4836-9BC2-2475D698A29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1C826EC-B353-4AF3-98DB-181ED4F86B4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FB174DC-31FE-4815-8830-E9F5212497D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0214C49-61FD-4B3E-BF29-4A69C0E8BB1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7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0486F6E-3017-4E78-9B13-4E322F185D9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2562497-A9E9-4BF1-955A-5E9F4186306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2BBA3B1-7669-40A6-9840-483EEAC5D2E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6C1330C-22F9-464E-BA8D-84979D89424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14ED1BB-4E7B-4C9C-9119-73FEDC451D6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4"/>
          <p:cNvSpPr/>
          <p:nvPr/>
        </p:nvSpPr>
        <p:spPr>
          <a:xfrm>
            <a:off x="702360" y="1188720"/>
            <a:ext cx="64040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Aula 03 - Regressão Linear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5"/>
          <p:cNvSpPr/>
          <p:nvPr/>
        </p:nvSpPr>
        <p:spPr>
          <a:xfrm>
            <a:off x="713160" y="2200320"/>
            <a:ext cx="6949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7EAFE"/>
                </a:solidFill>
                <a:effectLst/>
                <a:uFillTx/>
                <a:latin typeface="Aptos"/>
              </a:rPr>
              <a:t>Professor Miguél Suares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6"/>
          <p:cNvSpPr/>
          <p:nvPr/>
        </p:nvSpPr>
        <p:spPr>
          <a:xfrm>
            <a:off x="749880" y="4023360"/>
            <a:ext cx="3291480" cy="776880"/>
          </a:xfrm>
          <a:prstGeom prst="roundRect">
            <a:avLst>
              <a:gd name="adj" fmla="val 9412"/>
            </a:avLst>
          </a:prstGeom>
          <a:solidFill>
            <a:srgbClr val="132F55"/>
          </a:solidFill>
          <a:ln w="15240">
            <a:solidFill>
              <a:srgbClr val="4D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7"/>
          <p:cNvSpPr/>
          <p:nvPr/>
        </p:nvSpPr>
        <p:spPr>
          <a:xfrm>
            <a:off x="887040" y="4096440"/>
            <a:ext cx="301716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Cambria Math"/>
                <a:ea typeface="Cambria Math"/>
              </a:rPr>
              <a:t>ŷ = wx + b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8"/>
          <p:cNvSpPr/>
          <p:nvPr/>
        </p:nvSpPr>
        <p:spPr>
          <a:xfrm>
            <a:off x="4937760" y="4160520"/>
            <a:ext cx="1188360" cy="456840"/>
          </a:xfrm>
          <a:prstGeom prst="roundRect">
            <a:avLst>
              <a:gd name="adj" fmla="val 16000"/>
            </a:avLst>
          </a:prstGeom>
          <a:solidFill>
            <a:srgbClr val="EAF4FF"/>
          </a:solidFill>
          <a:ln w="15240">
            <a:solidFill>
              <a:srgbClr val="EAF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9"/>
          <p:cNvSpPr/>
          <p:nvPr/>
        </p:nvSpPr>
        <p:spPr>
          <a:xfrm>
            <a:off x="5010840" y="4233600"/>
            <a:ext cx="10422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dados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10"/>
          <p:cNvSpPr/>
          <p:nvPr/>
        </p:nvSpPr>
        <p:spPr>
          <a:xfrm>
            <a:off x="6263640" y="4389120"/>
            <a:ext cx="640080" cy="360"/>
          </a:xfrm>
          <a:prstGeom prst="line">
            <a:avLst/>
          </a:prstGeom>
          <a:ln w="19050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1"/>
          <p:cNvSpPr/>
          <p:nvPr/>
        </p:nvSpPr>
        <p:spPr>
          <a:xfrm>
            <a:off x="7086600" y="4160520"/>
            <a:ext cx="1508400" cy="456840"/>
          </a:xfrm>
          <a:prstGeom prst="roundRect">
            <a:avLst>
              <a:gd name="adj" fmla="val 16000"/>
            </a:avLst>
          </a:prstGeom>
          <a:solidFill>
            <a:srgbClr val="EAF4FF"/>
          </a:solidFill>
          <a:ln w="15240">
            <a:solidFill>
              <a:srgbClr val="EAF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7159680" y="4233600"/>
            <a:ext cx="1362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modelo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8732520" y="4389120"/>
            <a:ext cx="640080" cy="360"/>
          </a:xfrm>
          <a:prstGeom prst="line">
            <a:avLst/>
          </a:prstGeom>
          <a:ln w="19050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9555480" y="4160520"/>
            <a:ext cx="1508400" cy="456840"/>
          </a:xfrm>
          <a:prstGeom prst="roundRect">
            <a:avLst>
              <a:gd name="adj" fmla="val 16000"/>
            </a:avLst>
          </a:prstGeom>
          <a:solidFill>
            <a:srgbClr val="EAF4FF"/>
          </a:solidFill>
          <a:ln w="15240">
            <a:solidFill>
              <a:srgbClr val="EAF4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9628560" y="4233600"/>
            <a:ext cx="1362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previsão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749880" y="50392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BD7FF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Retângulo 18"/>
          <p:cNvSpPr/>
          <p:nvPr/>
        </p:nvSpPr>
        <p:spPr>
          <a:xfrm>
            <a:off x="0" y="0"/>
            <a:ext cx="12191760" cy="712800"/>
          </a:xfrm>
          <a:prstGeom prst="rect">
            <a:avLst/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" name="Retângulo 20"/>
          <p:cNvSpPr/>
          <p:nvPr/>
        </p:nvSpPr>
        <p:spPr>
          <a:xfrm>
            <a:off x="-360" y="5852160"/>
            <a:ext cx="12191760" cy="712800"/>
          </a:xfrm>
          <a:prstGeom prst="rect">
            <a:avLst/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26" name="Imagem 25"/>
          <p:cNvPicPr/>
          <p:nvPr/>
        </p:nvPicPr>
        <p:blipFill>
          <a:blip r:embed="rId3"/>
          <a:stretch/>
        </p:blipFill>
        <p:spPr>
          <a:xfrm>
            <a:off x="4116960" y="0"/>
            <a:ext cx="3533400" cy="712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AGENDA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01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731520" y="1234440"/>
            <a:ext cx="456840" cy="456840"/>
          </a:xfrm>
          <a:prstGeom prst="ellipse">
            <a:avLst/>
          </a:prstGeom>
          <a:solidFill>
            <a:srgbClr val="2563EB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731520" y="134424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1371600" y="132588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Revisão de Funções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9"/>
          <p:cNvSpPr/>
          <p:nvPr/>
        </p:nvSpPr>
        <p:spPr>
          <a:xfrm>
            <a:off x="731520" y="2057400"/>
            <a:ext cx="456840" cy="456840"/>
          </a:xfrm>
          <a:prstGeom prst="ellipse">
            <a:avLst/>
          </a:prstGeom>
          <a:solidFill>
            <a:srgbClr val="2563EB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731520" y="216720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1371600" y="214884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Conhecendo a Regressão Linear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2"/>
          <p:cNvSpPr/>
          <p:nvPr/>
        </p:nvSpPr>
        <p:spPr>
          <a:xfrm>
            <a:off x="731520" y="2880360"/>
            <a:ext cx="456840" cy="456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731520" y="299016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3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1371600" y="297180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Medir erro com resíduos e MSE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5"/>
          <p:cNvSpPr/>
          <p:nvPr/>
        </p:nvSpPr>
        <p:spPr>
          <a:xfrm>
            <a:off x="731520" y="3703320"/>
            <a:ext cx="456840" cy="456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731520" y="381312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4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1371600" y="379476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Entender mínimos quadrados, gradiente e SGD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8"/>
          <p:cNvSpPr/>
          <p:nvPr/>
        </p:nvSpPr>
        <p:spPr>
          <a:xfrm>
            <a:off x="731520" y="4526280"/>
            <a:ext cx="456840" cy="456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731520" y="4636080"/>
            <a:ext cx="456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5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1371600" y="461772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Aplicar uma regressão linear simples em Python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1"/>
          <p:cNvSpPr/>
          <p:nvPr/>
        </p:nvSpPr>
        <p:spPr>
          <a:xfrm>
            <a:off x="8412480" y="1280160"/>
            <a:ext cx="2651400" cy="77688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8485560" y="1353240"/>
            <a:ext cx="250524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Parte 0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Funções → Modelos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3"/>
          <p:cNvSpPr/>
          <p:nvPr/>
        </p:nvSpPr>
        <p:spPr>
          <a:xfrm>
            <a:off x="8412480" y="2377440"/>
            <a:ext cx="265140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4"/>
          <p:cNvSpPr/>
          <p:nvPr/>
        </p:nvSpPr>
        <p:spPr>
          <a:xfrm>
            <a:off x="8485560" y="2450520"/>
            <a:ext cx="250524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Parte I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Problema de regressão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5"/>
          <p:cNvSpPr/>
          <p:nvPr/>
        </p:nvSpPr>
        <p:spPr>
          <a:xfrm>
            <a:off x="8412480" y="3474720"/>
            <a:ext cx="265140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6"/>
          <p:cNvSpPr/>
          <p:nvPr/>
        </p:nvSpPr>
        <p:spPr>
          <a:xfrm>
            <a:off x="8485560" y="3547800"/>
            <a:ext cx="250524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Parte II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Modelo, erro e otimização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7"/>
          <p:cNvSpPr/>
          <p:nvPr/>
        </p:nvSpPr>
        <p:spPr>
          <a:xfrm>
            <a:off x="8412480" y="4572000"/>
            <a:ext cx="2651400" cy="7768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8"/>
          <p:cNvSpPr/>
          <p:nvPr/>
        </p:nvSpPr>
        <p:spPr>
          <a:xfrm>
            <a:off x="8485560" y="4645080"/>
            <a:ext cx="250524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Parte III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Python e exercício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</a:rPr>
              <a:t>Funções de Primeiro Grau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02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822960" y="4576320"/>
            <a:ext cx="191988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896040" y="4649400"/>
            <a:ext cx="1773720" cy="72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Entrada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x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2880360" y="5005800"/>
            <a:ext cx="128016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4297680" y="4393440"/>
            <a:ext cx="2742840" cy="1234080"/>
          </a:xfrm>
          <a:prstGeom prst="roundRect">
            <a:avLst>
              <a:gd name="adj" fmla="val 5926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4370760" y="4466520"/>
            <a:ext cx="259668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Função / fórmula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y = f(x)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7178040" y="5005800"/>
            <a:ext cx="128016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8595360" y="4576320"/>
            <a:ext cx="191988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8668440" y="4649400"/>
            <a:ext cx="1773720" cy="72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Saída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y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3429000" y="3341880"/>
            <a:ext cx="4525920" cy="59400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06B6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5"/>
          <p:cNvSpPr/>
          <p:nvPr/>
        </p:nvSpPr>
        <p:spPr>
          <a:xfrm>
            <a:off x="3566160" y="3414960"/>
            <a:ext cx="425160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y = 2x + 10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6"/>
          <p:cNvSpPr/>
          <p:nvPr/>
        </p:nvSpPr>
        <p:spPr>
          <a:xfrm>
            <a:off x="960120" y="1170360"/>
            <a:ext cx="9875160" cy="68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9999"/>
          </a:bodyPr>
          <a:lstStyle/>
          <a:p>
            <a:pPr marL="285840" indent="-285840" defTabSz="914400">
              <a:lnSpc>
                <a:spcPct val="100000"/>
              </a:lnSpc>
              <a:buClr>
                <a:srgbClr val="334155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Na matemática tradicional, função é uma regra, uma “formula” já é conhecida.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334155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Normalmente essa “formula”, vamos chama-la de MODELO, já nos é fornecida.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334155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O trabalho é aplicar a “formula” a uma entrada X e obter uma saída Y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4"/>
          <p:cNvSpPr/>
          <p:nvPr/>
        </p:nvSpPr>
        <p:spPr>
          <a:xfrm>
            <a:off x="3429000" y="2101320"/>
            <a:ext cx="4525920" cy="59400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06B6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3566160" y="2174400"/>
            <a:ext cx="425160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f(x) = 2x + 10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8"/>
          <p:cNvSpPr/>
          <p:nvPr/>
        </p:nvSpPr>
        <p:spPr>
          <a:xfrm>
            <a:off x="5564520" y="2695320"/>
            <a:ext cx="360" cy="594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Exemplo: aplicar a “formula” ou MODELO 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03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6"/>
          <p:cNvSpPr/>
          <p:nvPr/>
        </p:nvSpPr>
        <p:spPr>
          <a:xfrm>
            <a:off x="730800" y="1851840"/>
            <a:ext cx="33829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867960" y="1924920"/>
            <a:ext cx="31086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f(x) = 2x + 10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8"/>
          <p:cNvSpPr/>
          <p:nvPr/>
        </p:nvSpPr>
        <p:spPr>
          <a:xfrm>
            <a:off x="852840" y="4393440"/>
            <a:ext cx="1416960" cy="52992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9"/>
          <p:cNvSpPr/>
          <p:nvPr/>
        </p:nvSpPr>
        <p:spPr>
          <a:xfrm>
            <a:off x="925920" y="4466520"/>
            <a:ext cx="12708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x = 5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0"/>
          <p:cNvSpPr/>
          <p:nvPr/>
        </p:nvSpPr>
        <p:spPr>
          <a:xfrm>
            <a:off x="2406960" y="4649400"/>
            <a:ext cx="73152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1"/>
          <p:cNvSpPr/>
          <p:nvPr/>
        </p:nvSpPr>
        <p:spPr>
          <a:xfrm>
            <a:off x="3321720" y="4393440"/>
            <a:ext cx="1828440" cy="529920"/>
          </a:xfrm>
          <a:prstGeom prst="roundRect">
            <a:avLst>
              <a:gd name="adj" fmla="val 13793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3394800" y="4466520"/>
            <a:ext cx="16822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2·(5) + 10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3"/>
          <p:cNvSpPr/>
          <p:nvPr/>
        </p:nvSpPr>
        <p:spPr>
          <a:xfrm>
            <a:off x="5287320" y="4649400"/>
            <a:ext cx="77724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4"/>
          <p:cNvSpPr/>
          <p:nvPr/>
        </p:nvSpPr>
        <p:spPr>
          <a:xfrm>
            <a:off x="6247800" y="4393440"/>
            <a:ext cx="1508400" cy="52992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5"/>
          <p:cNvSpPr/>
          <p:nvPr/>
        </p:nvSpPr>
        <p:spPr>
          <a:xfrm>
            <a:off x="6320880" y="4466520"/>
            <a:ext cx="1362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y = 20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6"/>
          <p:cNvSpPr/>
          <p:nvPr/>
        </p:nvSpPr>
        <p:spPr>
          <a:xfrm>
            <a:off x="730800" y="1344240"/>
            <a:ext cx="7223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Como o modelo já existe, não há aprendizado: há apenas cálculo.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6"/>
          <p:cNvSpPr/>
          <p:nvPr/>
        </p:nvSpPr>
        <p:spPr>
          <a:xfrm>
            <a:off x="746280" y="2756880"/>
            <a:ext cx="33829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883440" y="2829960"/>
            <a:ext cx="31086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y = 2x + 10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0"/>
          <p:cNvSpPr/>
          <p:nvPr/>
        </p:nvSpPr>
        <p:spPr>
          <a:xfrm>
            <a:off x="2101680" y="2529000"/>
            <a:ext cx="360" cy="16848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6"/>
          <p:cNvSpPr/>
          <p:nvPr/>
        </p:nvSpPr>
        <p:spPr>
          <a:xfrm>
            <a:off x="746280" y="3684960"/>
            <a:ext cx="7223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B1F3A"/>
              </a:buClr>
              <a:buFont typeface="Arial"/>
              <a:buChar char="•"/>
            </a:pPr>
            <a:r>
              <a:rPr lang="en-US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Dado o modelo </a:t>
            </a:r>
            <a:r>
              <a:rPr lang="en-US" sz="2000" b="1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Aptos"/>
              </a:rPr>
              <a:t>y = 2x + 10 </a:t>
            </a:r>
            <a:r>
              <a:rPr lang="en-US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, calcule o valor para entrada 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5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784800" y="5139000"/>
            <a:ext cx="7223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B1F3A"/>
              </a:buClr>
              <a:buFont typeface="Arial"/>
              <a:buChar char="•"/>
            </a:pPr>
            <a:r>
              <a:rPr lang="en-US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Neste MODELO, para entrada 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x=5</a:t>
            </a:r>
            <a:r>
              <a:rPr lang="en-US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 , a saída é </a:t>
            </a:r>
            <a:r>
              <a:rPr lang="en-US" sz="2000" b="1" u="none" strike="noStrike">
                <a:solidFill>
                  <a:srgbClr val="002060"/>
                </a:solidFill>
                <a:effectLst/>
                <a:uFillTx/>
                <a:latin typeface="Aptos"/>
              </a:rPr>
              <a:t>y=20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m 39"/>
          <p:cNvPicPr/>
          <p:nvPr/>
        </p:nvPicPr>
        <p:blipFill>
          <a:blip r:embed="rId3"/>
          <a:stretch/>
        </p:blipFill>
        <p:spPr>
          <a:xfrm>
            <a:off x="8298720" y="1265040"/>
            <a:ext cx="3161880" cy="3952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Exemplo: aplicar a “formula” ou MODELO 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03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6"/>
          <p:cNvSpPr/>
          <p:nvPr/>
        </p:nvSpPr>
        <p:spPr>
          <a:xfrm>
            <a:off x="730800" y="1344240"/>
            <a:ext cx="7223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Para o modelo abaixo, calcule as entradas a seguir: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746280" y="1732680"/>
            <a:ext cx="33829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883440" y="1805760"/>
            <a:ext cx="31086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y = 2x + 10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6"/>
          <p:cNvSpPr/>
          <p:nvPr/>
        </p:nvSpPr>
        <p:spPr>
          <a:xfrm>
            <a:off x="707040" y="2513880"/>
            <a:ext cx="7223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B1F3A"/>
              </a:buClr>
              <a:buFont typeface="Arial"/>
              <a:buChar char="•"/>
            </a:pPr>
            <a:r>
              <a:rPr lang="en-US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Tabela de entradas: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Imagem 39"/>
          <p:cNvPicPr/>
          <p:nvPr/>
        </p:nvPicPr>
        <p:blipFill>
          <a:blip r:embed="rId3"/>
          <a:stretch/>
        </p:blipFill>
        <p:spPr>
          <a:xfrm>
            <a:off x="4900320" y="1786680"/>
            <a:ext cx="3572280" cy="446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Shape 7"/>
          <p:cNvSpPr/>
          <p:nvPr/>
        </p:nvSpPr>
        <p:spPr>
          <a:xfrm>
            <a:off x="850320" y="2965680"/>
            <a:ext cx="959760" cy="52560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869760" y="300240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9"/>
          <p:cNvSpPr/>
          <p:nvPr/>
        </p:nvSpPr>
        <p:spPr>
          <a:xfrm>
            <a:off x="1802520" y="2965680"/>
            <a:ext cx="959760" cy="52560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1829880" y="300240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y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1"/>
          <p:cNvSpPr/>
          <p:nvPr/>
        </p:nvSpPr>
        <p:spPr>
          <a:xfrm>
            <a:off x="842400" y="3491640"/>
            <a:ext cx="95976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2"/>
          <p:cNvSpPr/>
          <p:nvPr/>
        </p:nvSpPr>
        <p:spPr>
          <a:xfrm>
            <a:off x="869760" y="352800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1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3"/>
          <p:cNvSpPr/>
          <p:nvPr/>
        </p:nvSpPr>
        <p:spPr>
          <a:xfrm>
            <a:off x="1802520" y="3491640"/>
            <a:ext cx="95976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1829880" y="352800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12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5"/>
          <p:cNvSpPr/>
          <p:nvPr/>
        </p:nvSpPr>
        <p:spPr>
          <a:xfrm>
            <a:off x="842400" y="4017240"/>
            <a:ext cx="95976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6"/>
          <p:cNvSpPr/>
          <p:nvPr/>
        </p:nvSpPr>
        <p:spPr>
          <a:xfrm>
            <a:off x="869760" y="405396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2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7"/>
          <p:cNvSpPr/>
          <p:nvPr/>
        </p:nvSpPr>
        <p:spPr>
          <a:xfrm>
            <a:off x="1802520" y="4017240"/>
            <a:ext cx="95976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8"/>
          <p:cNvSpPr/>
          <p:nvPr/>
        </p:nvSpPr>
        <p:spPr>
          <a:xfrm>
            <a:off x="1829880" y="405396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14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9"/>
          <p:cNvSpPr/>
          <p:nvPr/>
        </p:nvSpPr>
        <p:spPr>
          <a:xfrm>
            <a:off x="842400" y="4543200"/>
            <a:ext cx="95976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0"/>
          <p:cNvSpPr/>
          <p:nvPr/>
        </p:nvSpPr>
        <p:spPr>
          <a:xfrm>
            <a:off x="869760" y="457956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3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1"/>
          <p:cNvSpPr/>
          <p:nvPr/>
        </p:nvSpPr>
        <p:spPr>
          <a:xfrm>
            <a:off x="1802520" y="4543200"/>
            <a:ext cx="95976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2"/>
          <p:cNvSpPr/>
          <p:nvPr/>
        </p:nvSpPr>
        <p:spPr>
          <a:xfrm>
            <a:off x="1829880" y="457956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16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3"/>
          <p:cNvSpPr/>
          <p:nvPr/>
        </p:nvSpPr>
        <p:spPr>
          <a:xfrm>
            <a:off x="842400" y="5068800"/>
            <a:ext cx="95976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4"/>
          <p:cNvSpPr/>
          <p:nvPr/>
        </p:nvSpPr>
        <p:spPr>
          <a:xfrm>
            <a:off x="869760" y="510552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4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5"/>
          <p:cNvSpPr/>
          <p:nvPr/>
        </p:nvSpPr>
        <p:spPr>
          <a:xfrm>
            <a:off x="1802520" y="5068800"/>
            <a:ext cx="95976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6"/>
          <p:cNvSpPr/>
          <p:nvPr/>
        </p:nvSpPr>
        <p:spPr>
          <a:xfrm>
            <a:off x="1829880" y="510552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18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7"/>
          <p:cNvSpPr/>
          <p:nvPr/>
        </p:nvSpPr>
        <p:spPr>
          <a:xfrm>
            <a:off x="842400" y="5594760"/>
            <a:ext cx="95976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8"/>
          <p:cNvSpPr/>
          <p:nvPr/>
        </p:nvSpPr>
        <p:spPr>
          <a:xfrm>
            <a:off x="869760" y="563112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5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9"/>
          <p:cNvSpPr/>
          <p:nvPr/>
        </p:nvSpPr>
        <p:spPr>
          <a:xfrm>
            <a:off x="1802520" y="5594760"/>
            <a:ext cx="95976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0"/>
          <p:cNvSpPr/>
          <p:nvPr/>
        </p:nvSpPr>
        <p:spPr>
          <a:xfrm>
            <a:off x="1829880" y="563112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20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E se fosse o contrário?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04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731520" y="11430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70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Agora temos exemplos de entrada e resposta, mas não temos a fórmula.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830880" y="1828800"/>
            <a:ext cx="959760" cy="52560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850320" y="186552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x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9"/>
          <p:cNvSpPr/>
          <p:nvPr/>
        </p:nvSpPr>
        <p:spPr>
          <a:xfrm>
            <a:off x="1783080" y="1828800"/>
            <a:ext cx="959760" cy="52560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1810440" y="186552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y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822960" y="2354760"/>
            <a:ext cx="95976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850320" y="239112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1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3"/>
          <p:cNvSpPr/>
          <p:nvPr/>
        </p:nvSpPr>
        <p:spPr>
          <a:xfrm>
            <a:off x="1783080" y="2354760"/>
            <a:ext cx="95976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1810440" y="239112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12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5"/>
          <p:cNvSpPr/>
          <p:nvPr/>
        </p:nvSpPr>
        <p:spPr>
          <a:xfrm>
            <a:off x="822960" y="2880360"/>
            <a:ext cx="95976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850320" y="291708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2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7"/>
          <p:cNvSpPr/>
          <p:nvPr/>
        </p:nvSpPr>
        <p:spPr>
          <a:xfrm>
            <a:off x="1783080" y="2880360"/>
            <a:ext cx="95976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8"/>
          <p:cNvSpPr/>
          <p:nvPr/>
        </p:nvSpPr>
        <p:spPr>
          <a:xfrm>
            <a:off x="1810440" y="291708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14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9"/>
          <p:cNvSpPr/>
          <p:nvPr/>
        </p:nvSpPr>
        <p:spPr>
          <a:xfrm>
            <a:off x="822960" y="3406320"/>
            <a:ext cx="95976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0"/>
          <p:cNvSpPr/>
          <p:nvPr/>
        </p:nvSpPr>
        <p:spPr>
          <a:xfrm>
            <a:off x="850320" y="344268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3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1"/>
          <p:cNvSpPr/>
          <p:nvPr/>
        </p:nvSpPr>
        <p:spPr>
          <a:xfrm>
            <a:off x="1783080" y="3406320"/>
            <a:ext cx="95976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2"/>
          <p:cNvSpPr/>
          <p:nvPr/>
        </p:nvSpPr>
        <p:spPr>
          <a:xfrm>
            <a:off x="1810440" y="344268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16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3"/>
          <p:cNvSpPr/>
          <p:nvPr/>
        </p:nvSpPr>
        <p:spPr>
          <a:xfrm>
            <a:off x="822960" y="3931920"/>
            <a:ext cx="95976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4"/>
          <p:cNvSpPr/>
          <p:nvPr/>
        </p:nvSpPr>
        <p:spPr>
          <a:xfrm>
            <a:off x="850320" y="396864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4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5"/>
          <p:cNvSpPr/>
          <p:nvPr/>
        </p:nvSpPr>
        <p:spPr>
          <a:xfrm>
            <a:off x="1783080" y="3931920"/>
            <a:ext cx="95976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6"/>
          <p:cNvSpPr/>
          <p:nvPr/>
        </p:nvSpPr>
        <p:spPr>
          <a:xfrm>
            <a:off x="1810440" y="396864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18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7"/>
          <p:cNvSpPr/>
          <p:nvPr/>
        </p:nvSpPr>
        <p:spPr>
          <a:xfrm>
            <a:off x="822960" y="4457880"/>
            <a:ext cx="95976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8"/>
          <p:cNvSpPr/>
          <p:nvPr/>
        </p:nvSpPr>
        <p:spPr>
          <a:xfrm>
            <a:off x="850320" y="449424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5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9"/>
          <p:cNvSpPr/>
          <p:nvPr/>
        </p:nvSpPr>
        <p:spPr>
          <a:xfrm>
            <a:off x="1783080" y="4457880"/>
            <a:ext cx="95976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0"/>
          <p:cNvSpPr/>
          <p:nvPr/>
        </p:nvSpPr>
        <p:spPr>
          <a:xfrm>
            <a:off x="1810440" y="4494240"/>
            <a:ext cx="90504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20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31"/>
          <p:cNvSpPr/>
          <p:nvPr/>
        </p:nvSpPr>
        <p:spPr>
          <a:xfrm>
            <a:off x="4663440" y="1987200"/>
            <a:ext cx="2194200" cy="100548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1524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2"/>
          <p:cNvSpPr/>
          <p:nvPr/>
        </p:nvSpPr>
        <p:spPr>
          <a:xfrm>
            <a:off x="4736520" y="2060640"/>
            <a:ext cx="2048040" cy="85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Modelo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?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3"/>
          <p:cNvSpPr/>
          <p:nvPr/>
        </p:nvSpPr>
        <p:spPr>
          <a:xfrm>
            <a:off x="3063240" y="2462760"/>
            <a:ext cx="146304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34"/>
          <p:cNvSpPr/>
          <p:nvPr/>
        </p:nvSpPr>
        <p:spPr>
          <a:xfrm>
            <a:off x="7040880" y="2462760"/>
            <a:ext cx="118872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5"/>
          <p:cNvSpPr/>
          <p:nvPr/>
        </p:nvSpPr>
        <p:spPr>
          <a:xfrm>
            <a:off x="8412480" y="1987200"/>
            <a:ext cx="2102760" cy="1005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6"/>
          <p:cNvSpPr/>
          <p:nvPr/>
        </p:nvSpPr>
        <p:spPr>
          <a:xfrm>
            <a:off x="8485560" y="2060640"/>
            <a:ext cx="1956600" cy="85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Novas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previsões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7"/>
          <p:cNvSpPr/>
          <p:nvPr/>
        </p:nvSpPr>
        <p:spPr>
          <a:xfrm>
            <a:off x="3584520" y="1639800"/>
            <a:ext cx="68576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Pergunta: qual regra poderia explicar os dados observados?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m 40"/>
          <p:cNvPicPr/>
          <p:nvPr/>
        </p:nvPicPr>
        <p:blipFill>
          <a:blip r:embed="rId3"/>
          <a:stretch/>
        </p:blipFill>
        <p:spPr>
          <a:xfrm>
            <a:off x="4306320" y="3143160"/>
            <a:ext cx="3868200" cy="3322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Programação tradicional × Aprendizado de Máquina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05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6"/>
          <p:cNvSpPr/>
          <p:nvPr/>
        </p:nvSpPr>
        <p:spPr>
          <a:xfrm>
            <a:off x="2240280" y="2240280"/>
            <a:ext cx="43236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7"/>
          <p:cNvSpPr/>
          <p:nvPr/>
        </p:nvSpPr>
        <p:spPr>
          <a:xfrm>
            <a:off x="4663440" y="2240280"/>
            <a:ext cx="33336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8"/>
          <p:cNvSpPr/>
          <p:nvPr/>
        </p:nvSpPr>
        <p:spPr>
          <a:xfrm>
            <a:off x="2240280" y="4617720"/>
            <a:ext cx="43236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9"/>
          <p:cNvSpPr/>
          <p:nvPr/>
        </p:nvSpPr>
        <p:spPr>
          <a:xfrm>
            <a:off x="4663440" y="4617720"/>
            <a:ext cx="26316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0"/>
          <p:cNvSpPr/>
          <p:nvPr/>
        </p:nvSpPr>
        <p:spPr>
          <a:xfrm>
            <a:off x="822960" y="1920240"/>
            <a:ext cx="137124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1"/>
          <p:cNvSpPr/>
          <p:nvPr/>
        </p:nvSpPr>
        <p:spPr>
          <a:xfrm>
            <a:off x="896040" y="1993320"/>
            <a:ext cx="122508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Dados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2"/>
          <p:cNvSpPr/>
          <p:nvPr/>
        </p:nvSpPr>
        <p:spPr>
          <a:xfrm>
            <a:off x="2746080" y="1824120"/>
            <a:ext cx="1782720" cy="822600"/>
          </a:xfrm>
          <a:prstGeom prst="roundRect">
            <a:avLst>
              <a:gd name="adj" fmla="val 8889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3"/>
          <p:cNvSpPr/>
          <p:nvPr/>
        </p:nvSpPr>
        <p:spPr>
          <a:xfrm>
            <a:off x="2819160" y="1897560"/>
            <a:ext cx="16365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Regras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(modelo)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4"/>
          <p:cNvSpPr/>
          <p:nvPr/>
        </p:nvSpPr>
        <p:spPr>
          <a:xfrm>
            <a:off x="5067360" y="1901880"/>
            <a:ext cx="164556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5"/>
          <p:cNvSpPr/>
          <p:nvPr/>
        </p:nvSpPr>
        <p:spPr>
          <a:xfrm>
            <a:off x="5140440" y="1974960"/>
            <a:ext cx="14994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Respostas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6"/>
          <p:cNvSpPr/>
          <p:nvPr/>
        </p:nvSpPr>
        <p:spPr>
          <a:xfrm>
            <a:off x="822960" y="132588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Programação tradicional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7"/>
          <p:cNvSpPr/>
          <p:nvPr/>
        </p:nvSpPr>
        <p:spPr>
          <a:xfrm>
            <a:off x="822960" y="4206240"/>
            <a:ext cx="150840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8"/>
          <p:cNvSpPr/>
          <p:nvPr/>
        </p:nvSpPr>
        <p:spPr>
          <a:xfrm>
            <a:off x="896040" y="4279320"/>
            <a:ext cx="136224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Dados +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respostas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9"/>
          <p:cNvSpPr/>
          <p:nvPr/>
        </p:nvSpPr>
        <p:spPr>
          <a:xfrm>
            <a:off x="2746080" y="4155840"/>
            <a:ext cx="1828440" cy="914040"/>
          </a:xfrm>
          <a:prstGeom prst="roundRect">
            <a:avLst>
              <a:gd name="adj" fmla="val 8000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0"/>
          <p:cNvSpPr/>
          <p:nvPr/>
        </p:nvSpPr>
        <p:spPr>
          <a:xfrm>
            <a:off x="2819160" y="4229280"/>
            <a:ext cx="1682280" cy="76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Algoritmo de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aprendizado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1"/>
          <p:cNvSpPr/>
          <p:nvPr/>
        </p:nvSpPr>
        <p:spPr>
          <a:xfrm>
            <a:off x="5067360" y="4279320"/>
            <a:ext cx="164556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2"/>
          <p:cNvSpPr/>
          <p:nvPr/>
        </p:nvSpPr>
        <p:spPr>
          <a:xfrm>
            <a:off x="5140440" y="4352400"/>
            <a:ext cx="14994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Modelo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3"/>
          <p:cNvSpPr/>
          <p:nvPr/>
        </p:nvSpPr>
        <p:spPr>
          <a:xfrm>
            <a:off x="822960" y="361188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Machine Learning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4"/>
          <p:cNvSpPr/>
          <p:nvPr/>
        </p:nvSpPr>
        <p:spPr>
          <a:xfrm>
            <a:off x="6853320" y="4297680"/>
            <a:ext cx="4627080" cy="731160"/>
          </a:xfrm>
          <a:prstGeom prst="roundRect">
            <a:avLst>
              <a:gd name="adj" fmla="val 10000"/>
            </a:avLst>
          </a:prstGeom>
          <a:solidFill>
            <a:schemeClr val="accent4">
              <a:lumMod val="60000"/>
              <a:lumOff val="40000"/>
            </a:schemeClr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5"/>
          <p:cNvSpPr/>
          <p:nvPr/>
        </p:nvSpPr>
        <p:spPr>
          <a:xfrm>
            <a:off x="6940080" y="4370760"/>
            <a:ext cx="442872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Entrada x + saída y→ modelo f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6"/>
          <p:cNvSpPr/>
          <p:nvPr/>
        </p:nvSpPr>
        <p:spPr>
          <a:xfrm>
            <a:off x="6783120" y="1899720"/>
            <a:ext cx="4697280" cy="731160"/>
          </a:xfrm>
          <a:prstGeom prst="roundRect">
            <a:avLst>
              <a:gd name="adj" fmla="val 10000"/>
            </a:avLst>
          </a:prstGeom>
          <a:solidFill>
            <a:schemeClr val="tx2">
              <a:lumMod val="20000"/>
              <a:lumOff val="80000"/>
            </a:schemeClr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7"/>
          <p:cNvSpPr/>
          <p:nvPr/>
        </p:nvSpPr>
        <p:spPr>
          <a:xfrm>
            <a:off x="6853320" y="1991160"/>
            <a:ext cx="45723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Entrada x + modelo f  → saída y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Na Regressão Linear, escolhemos uma família de modelos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06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6"/>
          <p:cNvSpPr/>
          <p:nvPr/>
        </p:nvSpPr>
        <p:spPr>
          <a:xfrm>
            <a:off x="777240" y="1143000"/>
            <a:ext cx="102409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marL="343080" indent="-343080" defTabSz="914400">
              <a:lnSpc>
                <a:spcPct val="170000"/>
              </a:lnSpc>
              <a:buClr>
                <a:srgbClr val="FF0000"/>
              </a:buClr>
              <a:buFont typeface="Arial"/>
              <a:buChar char="•"/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Não pedimos ao computador para inventar</a:t>
            </a: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 qualquer fórmula.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7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1400" b="1" u="none" strike="noStrike">
                <a:solidFill>
                  <a:srgbClr val="002060"/>
                </a:solidFill>
                <a:effectLst/>
                <a:uFillTx/>
                <a:latin typeface="Aptos"/>
              </a:rPr>
              <a:t>Nós escolhemos um </a:t>
            </a:r>
            <a:r>
              <a:rPr lang="en-US" sz="1400" b="1" u="sng" strike="noStrike">
                <a:solidFill>
                  <a:schemeClr val="accent6">
                    <a:lumMod val="50000"/>
                  </a:schemeClr>
                </a:solidFill>
                <a:effectLst/>
                <a:uFillTx/>
                <a:latin typeface="Aptos"/>
              </a:rPr>
              <a:t>formato</a:t>
            </a: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 e aprendemos seus parâmetros.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7"/>
          <p:cNvSpPr/>
          <p:nvPr/>
        </p:nvSpPr>
        <p:spPr>
          <a:xfrm>
            <a:off x="2926080" y="2057400"/>
            <a:ext cx="585180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8"/>
          <p:cNvSpPr/>
          <p:nvPr/>
        </p:nvSpPr>
        <p:spPr>
          <a:xfrm>
            <a:off x="3063240" y="2130480"/>
            <a:ext cx="5577480" cy="76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ŷ = </a:t>
            </a: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Cambria Math"/>
                <a:ea typeface="Cambria Math"/>
              </a:rPr>
              <a:t>w</a:t>
            </a:r>
            <a:r>
              <a:rPr lang="en-US" sz="36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x + </a:t>
            </a:r>
            <a:r>
              <a:rPr lang="en-US" sz="3600" b="0" u="none" strike="noStrike">
                <a:solidFill>
                  <a:srgbClr val="FF0000"/>
                </a:solidFill>
                <a:effectLst/>
                <a:uFillTx/>
                <a:latin typeface="Cambria Math"/>
                <a:ea typeface="Cambria Math"/>
              </a:rPr>
              <a:t>b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9"/>
          <p:cNvSpPr/>
          <p:nvPr/>
        </p:nvSpPr>
        <p:spPr>
          <a:xfrm>
            <a:off x="1234440" y="4724640"/>
            <a:ext cx="2331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6">
                    <a:lumMod val="50000"/>
                  </a:schemeClr>
                </a:solidFill>
                <a:effectLst/>
                <a:uFillTx/>
                <a:latin typeface="Aptos"/>
              </a:rPr>
              <a:t>Formato conhecido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0"/>
          <p:cNvSpPr/>
          <p:nvPr/>
        </p:nvSpPr>
        <p:spPr>
          <a:xfrm>
            <a:off x="1234440" y="5136120"/>
            <a:ext cx="2285640" cy="59400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1"/>
          <p:cNvSpPr/>
          <p:nvPr/>
        </p:nvSpPr>
        <p:spPr>
          <a:xfrm>
            <a:off x="1307520" y="5209560"/>
            <a:ext cx="213948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função linear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2"/>
          <p:cNvSpPr/>
          <p:nvPr/>
        </p:nvSpPr>
        <p:spPr>
          <a:xfrm>
            <a:off x="4663440" y="472464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Parâmetros desconhecidos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3"/>
          <p:cNvSpPr/>
          <p:nvPr/>
        </p:nvSpPr>
        <p:spPr>
          <a:xfrm>
            <a:off x="5074920" y="5136120"/>
            <a:ext cx="2102760" cy="594000"/>
          </a:xfrm>
          <a:prstGeom prst="roundRect">
            <a:avLst>
              <a:gd name="adj" fmla="val 12308"/>
            </a:avLst>
          </a:prstGeom>
          <a:solidFill>
            <a:srgbClr val="FFF7ED"/>
          </a:solidFill>
          <a:ln w="1524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4"/>
          <p:cNvSpPr/>
          <p:nvPr/>
        </p:nvSpPr>
        <p:spPr>
          <a:xfrm>
            <a:off x="5148000" y="5209560"/>
            <a:ext cx="195660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w  e  b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5"/>
          <p:cNvSpPr/>
          <p:nvPr/>
        </p:nvSpPr>
        <p:spPr>
          <a:xfrm>
            <a:off x="8595360" y="47246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sng" strike="noStrike">
                <a:solidFill>
                  <a:srgbClr val="2563EB"/>
                </a:solidFill>
                <a:effectLst/>
                <a:uFillTx/>
                <a:latin typeface="Aptos"/>
              </a:rPr>
              <a:t>Aprendizado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6"/>
          <p:cNvSpPr/>
          <p:nvPr/>
        </p:nvSpPr>
        <p:spPr>
          <a:xfrm>
            <a:off x="8183880" y="5136120"/>
            <a:ext cx="2834280" cy="59400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7"/>
          <p:cNvSpPr/>
          <p:nvPr/>
        </p:nvSpPr>
        <p:spPr>
          <a:xfrm>
            <a:off x="8256960" y="5209560"/>
            <a:ext cx="268812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encontrar </a:t>
            </a: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w</a:t>
            </a:r>
            <a:r>
              <a:rPr lang="en-US" sz="16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 e </a:t>
            </a:r>
            <a:r>
              <a:rPr lang="en-US" sz="16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b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9"/>
          <p:cNvSpPr/>
          <p:nvPr/>
        </p:nvSpPr>
        <p:spPr>
          <a:xfrm>
            <a:off x="777240" y="3147120"/>
            <a:ext cx="3395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6">
                    <a:lumMod val="50000"/>
                  </a:schemeClr>
                </a:solidFill>
                <a:effectLst/>
                <a:uFillTx/>
                <a:latin typeface="Aptos"/>
              </a:rPr>
              <a:t>A entrada será conhecida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0"/>
          <p:cNvSpPr/>
          <p:nvPr/>
        </p:nvSpPr>
        <p:spPr>
          <a:xfrm>
            <a:off x="1023840" y="3508920"/>
            <a:ext cx="2569320" cy="59400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1"/>
          <p:cNvSpPr/>
          <p:nvPr/>
        </p:nvSpPr>
        <p:spPr>
          <a:xfrm>
            <a:off x="1023840" y="3582360"/>
            <a:ext cx="249624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Entrada X será fornecida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9"/>
          <p:cNvSpPr/>
          <p:nvPr/>
        </p:nvSpPr>
        <p:spPr>
          <a:xfrm>
            <a:off x="8183880" y="3202560"/>
            <a:ext cx="3395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6">
                    <a:lumMod val="50000"/>
                  </a:schemeClr>
                </a:solidFill>
                <a:effectLst/>
                <a:uFillTx/>
                <a:latin typeface="Aptos"/>
              </a:rPr>
              <a:t>A saída será conhecida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0"/>
          <p:cNvSpPr/>
          <p:nvPr/>
        </p:nvSpPr>
        <p:spPr>
          <a:xfrm>
            <a:off x="8430480" y="3564000"/>
            <a:ext cx="2569320" cy="59400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1"/>
          <p:cNvSpPr/>
          <p:nvPr/>
        </p:nvSpPr>
        <p:spPr>
          <a:xfrm>
            <a:off x="8430480" y="3637440"/>
            <a:ext cx="249624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Saída Y será fornecida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Parte I — O problema de regressão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07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6"/>
          <p:cNvSpPr/>
          <p:nvPr/>
        </p:nvSpPr>
        <p:spPr>
          <a:xfrm>
            <a:off x="868680" y="102420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9999"/>
          </a:bodyPr>
          <a:lstStyle/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Considere o Exemplo: </a:t>
            </a: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João é corretor de imóveis e especializado em apartamentos. João tem uma estimativa de preço dos apartamentos baseados na lista a seguir: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7"/>
          <p:cNvSpPr/>
          <p:nvPr/>
        </p:nvSpPr>
        <p:spPr>
          <a:xfrm>
            <a:off x="920520" y="5320440"/>
            <a:ext cx="2742840" cy="868320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8"/>
          <p:cNvSpPr/>
          <p:nvPr/>
        </p:nvSpPr>
        <p:spPr>
          <a:xfrm>
            <a:off x="993600" y="5393880"/>
            <a:ext cx="2596680" cy="72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Variáveis independentes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X – Área (m</a:t>
            </a:r>
            <a:r>
              <a:rPr lang="en-US" sz="1800" b="1" u="none" strike="noStrike" baseline="30000">
                <a:solidFill>
                  <a:srgbClr val="0B1F3A"/>
                </a:solidFill>
                <a:effectLst/>
                <a:uFillTx/>
                <a:latin typeface="Aptos"/>
              </a:rPr>
              <a:t>2</a:t>
            </a: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9"/>
          <p:cNvSpPr/>
          <p:nvPr/>
        </p:nvSpPr>
        <p:spPr>
          <a:xfrm>
            <a:off x="3846240" y="5759280"/>
            <a:ext cx="128016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0"/>
          <p:cNvSpPr/>
          <p:nvPr/>
        </p:nvSpPr>
        <p:spPr>
          <a:xfrm>
            <a:off x="5309640" y="5320440"/>
            <a:ext cx="2194200" cy="868320"/>
          </a:xfrm>
          <a:prstGeom prst="roundRect">
            <a:avLst>
              <a:gd name="adj" fmla="val 8421"/>
            </a:avLst>
          </a:prstGeom>
          <a:solidFill>
            <a:srgbClr val="FF0000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1"/>
          <p:cNvSpPr/>
          <p:nvPr/>
        </p:nvSpPr>
        <p:spPr>
          <a:xfrm>
            <a:off x="5382720" y="5393880"/>
            <a:ext cx="2048040" cy="72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Modelo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f(X)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2"/>
          <p:cNvSpPr/>
          <p:nvPr/>
        </p:nvSpPr>
        <p:spPr>
          <a:xfrm>
            <a:off x="7686720" y="5759280"/>
            <a:ext cx="128016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3"/>
          <p:cNvSpPr/>
          <p:nvPr/>
        </p:nvSpPr>
        <p:spPr>
          <a:xfrm>
            <a:off x="9150120" y="5320440"/>
            <a:ext cx="2285640" cy="868320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4"/>
          <p:cNvSpPr/>
          <p:nvPr/>
        </p:nvSpPr>
        <p:spPr>
          <a:xfrm>
            <a:off x="9223200" y="5393880"/>
            <a:ext cx="2139480" cy="72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Variável dependente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Y – Preço (R$)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0" name="Tabela 41"/>
          <p:cNvGraphicFramePr/>
          <p:nvPr/>
        </p:nvGraphicFramePr>
        <p:xfrm>
          <a:off x="839160" y="1654920"/>
          <a:ext cx="3568320" cy="2219760"/>
        </p:xfrm>
        <a:graphic>
          <a:graphicData uri="http://schemas.openxmlformats.org/drawingml/2006/table">
            <a:tbl>
              <a:tblPr/>
              <a:tblGrid>
                <a:gridCol w="130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Área (m</a:t>
                      </a:r>
                      <a:r>
                        <a:rPr lang="pt-BR" sz="1800" b="1" u="none" strike="noStrike" baseline="30000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)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Preço (R$ mil)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220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260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60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70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350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1" name="Text 6"/>
          <p:cNvSpPr/>
          <p:nvPr/>
        </p:nvSpPr>
        <p:spPr>
          <a:xfrm>
            <a:off x="822960" y="4356000"/>
            <a:ext cx="10423800" cy="53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77500" lnSpcReduction="20000"/>
          </a:bodyPr>
          <a:lstStyle/>
          <a:p>
            <a:pPr defTabSz="914400">
              <a:lnSpc>
                <a:spcPct val="120000"/>
              </a:lnSpc>
            </a:pP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João consegiu um cliente que estava interessado em um apartamento de 65 m</a:t>
            </a:r>
            <a:r>
              <a:rPr lang="pt-BR" sz="2300" b="0" u="none" strike="noStrike" baseline="30000">
                <a:solidFill>
                  <a:schemeClr val="dk1"/>
                </a:solidFill>
                <a:effectLst/>
                <a:uFillTx/>
                <a:latin typeface="Aptos"/>
              </a:rPr>
              <a:t>2 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. Mas joão não sabia precificar com segurança um apartamento de 65 m</a:t>
            </a:r>
            <a:r>
              <a:rPr lang="pt-BR" sz="2300" b="0" u="none" strike="noStrike" baseline="30000">
                <a:solidFill>
                  <a:schemeClr val="dk1"/>
                </a:solidFill>
                <a:effectLst/>
                <a:uFillTx/>
                <a:latin typeface="Aptos"/>
              </a:rPr>
              <a:t>2 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já que este item não existia em sua lista. Como joão poderia resolver o problema ?</a:t>
            </a:r>
            <a:endParaRPr lang="pt-B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8"/>
          <p:cNvSpPr/>
          <p:nvPr/>
        </p:nvSpPr>
        <p:spPr>
          <a:xfrm>
            <a:off x="1530360" y="4964040"/>
            <a:ext cx="1522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entrada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8"/>
          <p:cNvSpPr/>
          <p:nvPr/>
        </p:nvSpPr>
        <p:spPr>
          <a:xfrm>
            <a:off x="9529200" y="4982400"/>
            <a:ext cx="1522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saída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8"/>
          <p:cNvSpPr/>
          <p:nvPr/>
        </p:nvSpPr>
        <p:spPr>
          <a:xfrm>
            <a:off x="5645160" y="4966560"/>
            <a:ext cx="1522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Formula ?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5" name="Tabela 53"/>
          <p:cNvGraphicFramePr/>
          <p:nvPr/>
        </p:nvGraphicFramePr>
        <p:xfrm>
          <a:off x="5663520" y="1646640"/>
          <a:ext cx="3568320" cy="2590560"/>
        </p:xfrm>
        <a:graphic>
          <a:graphicData uri="http://schemas.openxmlformats.org/drawingml/2006/table">
            <a:tbl>
              <a:tblPr/>
              <a:tblGrid>
                <a:gridCol w="130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Área (m</a:t>
                      </a:r>
                      <a:r>
                        <a:rPr lang="pt-BR" sz="1800" b="1" u="none" strike="noStrike" baseline="30000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)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Preço (R$ mil)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220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260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60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65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?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70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350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6" name="Seta: para a Direita 54"/>
          <p:cNvSpPr/>
          <p:nvPr/>
        </p:nvSpPr>
        <p:spPr>
          <a:xfrm>
            <a:off x="4593240" y="2642040"/>
            <a:ext cx="97812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Parte I — O problema de regressão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07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2" name="Tabela 53"/>
          <p:cNvGraphicFramePr/>
          <p:nvPr/>
        </p:nvGraphicFramePr>
        <p:xfrm>
          <a:off x="502920" y="2404440"/>
          <a:ext cx="3568320" cy="2590560"/>
        </p:xfrm>
        <a:graphic>
          <a:graphicData uri="http://schemas.openxmlformats.org/drawingml/2006/table">
            <a:tbl>
              <a:tblPr/>
              <a:tblGrid>
                <a:gridCol w="130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Área (m</a:t>
                      </a:r>
                      <a:r>
                        <a:rPr lang="pt-BR" sz="1800" b="1" u="none" strike="noStrike" baseline="30000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)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Preço (R$ mil)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220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260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60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65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?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70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350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3" name="Seta: para a Direita 54"/>
          <p:cNvSpPr/>
          <p:nvPr/>
        </p:nvSpPr>
        <p:spPr>
          <a:xfrm>
            <a:off x="4205520" y="3173400"/>
            <a:ext cx="513000" cy="37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244" name="Imagem 17"/>
          <p:cNvPicPr/>
          <p:nvPr/>
        </p:nvPicPr>
        <p:blipFill>
          <a:blip r:embed="rId3"/>
          <a:stretch/>
        </p:blipFill>
        <p:spPr>
          <a:xfrm>
            <a:off x="4852800" y="1551960"/>
            <a:ext cx="6724440" cy="459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Text 6"/>
          <p:cNvSpPr/>
          <p:nvPr/>
        </p:nvSpPr>
        <p:spPr>
          <a:xfrm>
            <a:off x="868680" y="102420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pt-BR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Como ficam os dados em um plano cartesiano R</a:t>
            </a:r>
            <a:r>
              <a:rPr lang="pt-BR" sz="2000" b="1" u="none" strike="noStrike" baseline="30000">
                <a:solidFill>
                  <a:srgbClr val="0B1F3A"/>
                </a:solidFill>
                <a:effectLst/>
                <a:uFillTx/>
                <a:latin typeface="Aptos"/>
              </a:rPr>
              <a:t>2</a:t>
            </a:r>
            <a:r>
              <a:rPr lang="pt-BR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, ou seja, gráfico x,y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Parte I — O problema de regressão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07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1" name="Tabela 53"/>
          <p:cNvGraphicFramePr/>
          <p:nvPr/>
        </p:nvGraphicFramePr>
        <p:xfrm>
          <a:off x="508680" y="1965240"/>
          <a:ext cx="3568320" cy="2590560"/>
        </p:xfrm>
        <a:graphic>
          <a:graphicData uri="http://schemas.openxmlformats.org/drawingml/2006/table">
            <a:tbl>
              <a:tblPr/>
              <a:tblGrid>
                <a:gridCol w="130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Área (m</a:t>
                      </a:r>
                      <a:r>
                        <a:rPr lang="pt-BR" sz="1800" b="1" u="none" strike="noStrike" baseline="30000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)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Preço (R$ mil)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220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260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60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65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?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70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350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2" name="Seta: para a Direita 54"/>
          <p:cNvSpPr/>
          <p:nvPr/>
        </p:nvSpPr>
        <p:spPr>
          <a:xfrm>
            <a:off x="4173840" y="2431440"/>
            <a:ext cx="513000" cy="37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3" name="Text 6"/>
          <p:cNvSpPr/>
          <p:nvPr/>
        </p:nvSpPr>
        <p:spPr>
          <a:xfrm>
            <a:off x="502920" y="1024200"/>
            <a:ext cx="11073960" cy="87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/>
          </a:bodyPr>
          <a:lstStyle/>
          <a:p>
            <a:pPr defTabSz="914400">
              <a:lnSpc>
                <a:spcPct val="160000"/>
              </a:lnSpc>
            </a:pPr>
            <a:r>
              <a:rPr lang="pt-BR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Fala a “formula”, ou seja, o modelo, a equação que fornece a solução...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formula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desenhará uma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linha reta (linear)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que se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ajustará o maximo possível a todos os pontos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4" name="Imagem 8"/>
          <p:cNvPicPr/>
          <p:nvPr/>
        </p:nvPicPr>
        <p:blipFill>
          <a:blip r:embed="rId3"/>
          <a:stretch/>
        </p:blipFill>
        <p:spPr>
          <a:xfrm>
            <a:off x="4847040" y="1874520"/>
            <a:ext cx="665748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Shape 7"/>
          <p:cNvSpPr/>
          <p:nvPr/>
        </p:nvSpPr>
        <p:spPr>
          <a:xfrm>
            <a:off x="318960" y="5588280"/>
            <a:ext cx="1408680" cy="281160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8"/>
          <p:cNvSpPr/>
          <p:nvPr/>
        </p:nvSpPr>
        <p:spPr>
          <a:xfrm>
            <a:off x="324360" y="5650920"/>
            <a:ext cx="1408680" cy="18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77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X – Área (m</a:t>
            </a:r>
            <a:r>
              <a:rPr lang="en-US" sz="1800" b="1" u="none" strike="noStrike" baseline="30000">
                <a:solidFill>
                  <a:srgbClr val="0B1F3A"/>
                </a:solidFill>
                <a:effectLst/>
                <a:uFillTx/>
                <a:latin typeface="Aptos"/>
              </a:rPr>
              <a:t>2</a:t>
            </a: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9"/>
          <p:cNvSpPr/>
          <p:nvPr/>
        </p:nvSpPr>
        <p:spPr>
          <a:xfrm>
            <a:off x="1803240" y="5744520"/>
            <a:ext cx="23652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8" name="Shape 10"/>
          <p:cNvSpPr/>
          <p:nvPr/>
        </p:nvSpPr>
        <p:spPr>
          <a:xfrm>
            <a:off x="2056320" y="5569560"/>
            <a:ext cx="886680" cy="323640"/>
          </a:xfrm>
          <a:prstGeom prst="roundRect">
            <a:avLst>
              <a:gd name="adj" fmla="val 8421"/>
            </a:avLst>
          </a:prstGeom>
          <a:solidFill>
            <a:srgbClr val="FF0000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1"/>
          <p:cNvSpPr/>
          <p:nvPr/>
        </p:nvSpPr>
        <p:spPr>
          <a:xfrm>
            <a:off x="2086200" y="5580360"/>
            <a:ext cx="868680" cy="29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Modelo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f(X)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2"/>
          <p:cNvSpPr/>
          <p:nvPr/>
        </p:nvSpPr>
        <p:spPr>
          <a:xfrm>
            <a:off x="3015720" y="5744520"/>
            <a:ext cx="26244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3"/>
          <p:cNvSpPr/>
          <p:nvPr/>
        </p:nvSpPr>
        <p:spPr>
          <a:xfrm>
            <a:off x="3296520" y="5522040"/>
            <a:ext cx="1390320" cy="371160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4"/>
          <p:cNvSpPr/>
          <p:nvPr/>
        </p:nvSpPr>
        <p:spPr>
          <a:xfrm>
            <a:off x="3369960" y="5532120"/>
            <a:ext cx="12564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Y – Preço (R$)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8"/>
          <p:cNvSpPr/>
          <p:nvPr/>
        </p:nvSpPr>
        <p:spPr>
          <a:xfrm>
            <a:off x="289800" y="5261400"/>
            <a:ext cx="1306800" cy="28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entrada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8"/>
          <p:cNvSpPr/>
          <p:nvPr/>
        </p:nvSpPr>
        <p:spPr>
          <a:xfrm>
            <a:off x="3302280" y="5225040"/>
            <a:ext cx="1306800" cy="28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saída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8"/>
          <p:cNvSpPr/>
          <p:nvPr/>
        </p:nvSpPr>
        <p:spPr>
          <a:xfrm>
            <a:off x="1852200" y="5278320"/>
            <a:ext cx="1306800" cy="28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Fórmula ?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Modelo linear simples – Equação da Reta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09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6"/>
          <p:cNvSpPr/>
          <p:nvPr/>
        </p:nvSpPr>
        <p:spPr>
          <a:xfrm>
            <a:off x="868680" y="1188720"/>
            <a:ext cx="3200040" cy="749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7"/>
          <p:cNvSpPr/>
          <p:nvPr/>
        </p:nvSpPr>
        <p:spPr>
          <a:xfrm>
            <a:off x="1005840" y="1261800"/>
            <a:ext cx="292572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ŷ = </a:t>
            </a: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Cambria Math"/>
                <a:ea typeface="Cambria Math"/>
              </a:rPr>
              <a:t>w</a:t>
            </a:r>
            <a:r>
              <a:rPr lang="en-US" sz="32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x + </a:t>
            </a: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Cambria Math"/>
                <a:ea typeface="Cambria Math"/>
              </a:rPr>
              <a:t>b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8"/>
          <p:cNvSpPr/>
          <p:nvPr/>
        </p:nvSpPr>
        <p:spPr>
          <a:xfrm>
            <a:off x="6492240" y="5623560"/>
            <a:ext cx="4480560" cy="36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9"/>
          <p:cNvSpPr/>
          <p:nvPr/>
        </p:nvSpPr>
        <p:spPr>
          <a:xfrm>
            <a:off x="6492240" y="1234440"/>
            <a:ext cx="360" cy="438912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0"/>
          <p:cNvSpPr/>
          <p:nvPr/>
        </p:nvSpPr>
        <p:spPr>
          <a:xfrm>
            <a:off x="6805800" y="4569840"/>
            <a:ext cx="3673800" cy="360"/>
          </a:xfrm>
          <a:prstGeom prst="line">
            <a:avLst/>
          </a:prstGeom>
          <a:ln w="279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1"/>
          <p:cNvSpPr/>
          <p:nvPr/>
        </p:nvSpPr>
        <p:spPr>
          <a:xfrm>
            <a:off x="6988680" y="4397400"/>
            <a:ext cx="82080" cy="82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2"/>
          <p:cNvSpPr/>
          <p:nvPr/>
        </p:nvSpPr>
        <p:spPr>
          <a:xfrm>
            <a:off x="7571160" y="3958560"/>
            <a:ext cx="82080" cy="82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3"/>
          <p:cNvSpPr/>
          <p:nvPr/>
        </p:nvSpPr>
        <p:spPr>
          <a:xfrm>
            <a:off x="8153640" y="3607200"/>
            <a:ext cx="82080" cy="82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4"/>
          <p:cNvSpPr/>
          <p:nvPr/>
        </p:nvSpPr>
        <p:spPr>
          <a:xfrm>
            <a:off x="8781120" y="3080520"/>
            <a:ext cx="82080" cy="82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5"/>
          <p:cNvSpPr/>
          <p:nvPr/>
        </p:nvSpPr>
        <p:spPr>
          <a:xfrm>
            <a:off x="9497880" y="2597760"/>
            <a:ext cx="82080" cy="82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6"/>
          <p:cNvSpPr/>
          <p:nvPr/>
        </p:nvSpPr>
        <p:spPr>
          <a:xfrm>
            <a:off x="10125000" y="2071080"/>
            <a:ext cx="82080" cy="82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7"/>
          <p:cNvSpPr/>
          <p:nvPr/>
        </p:nvSpPr>
        <p:spPr>
          <a:xfrm>
            <a:off x="7498080" y="4553640"/>
            <a:ext cx="1097280" cy="360"/>
          </a:xfrm>
          <a:prstGeom prst="line">
            <a:avLst/>
          </a:prstGeom>
          <a:ln w="25400">
            <a:solidFill>
              <a:srgbClr val="16A34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8"/>
          <p:cNvSpPr/>
          <p:nvPr/>
        </p:nvSpPr>
        <p:spPr>
          <a:xfrm>
            <a:off x="8641080" y="37033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6A34A"/>
                </a:solidFill>
                <a:effectLst/>
                <a:uFillTx/>
                <a:latin typeface="Aptos"/>
              </a:rPr>
              <a:t>inclinação = w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9"/>
          <p:cNvSpPr/>
          <p:nvPr/>
        </p:nvSpPr>
        <p:spPr>
          <a:xfrm>
            <a:off x="6492240" y="4590000"/>
            <a:ext cx="594360" cy="360"/>
          </a:xfrm>
          <a:prstGeom prst="line">
            <a:avLst/>
          </a:prstGeom>
          <a:ln w="254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0"/>
          <p:cNvSpPr/>
          <p:nvPr/>
        </p:nvSpPr>
        <p:spPr>
          <a:xfrm>
            <a:off x="7040880" y="46634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intercepto = b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1"/>
          <p:cNvSpPr/>
          <p:nvPr/>
        </p:nvSpPr>
        <p:spPr>
          <a:xfrm>
            <a:off x="868680" y="2198520"/>
            <a:ext cx="5120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w</a:t>
            </a:r>
            <a:r>
              <a:rPr lang="en-US" sz="1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 – INCLINAÇÃO - indica quanto a previsão tende a mudar quando x aumenta uma unidade.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2"/>
          <p:cNvSpPr/>
          <p:nvPr/>
        </p:nvSpPr>
        <p:spPr>
          <a:xfrm>
            <a:off x="868680" y="2862000"/>
            <a:ext cx="5120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b</a:t>
            </a:r>
            <a:r>
              <a:rPr lang="en-US" sz="1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 – DESLOCAMENTO - desloca a reta para cima ou para baixo; sem ele, a reta passa pela origem.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272520" y="3571200"/>
            <a:ext cx="61113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ptos Display"/>
                <a:ea typeface="Aptos Display"/>
              </a:rPr>
              <a:t>Mas como calcular a Equação da Reta ?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2"/>
          <p:cNvSpPr/>
          <p:nvPr/>
        </p:nvSpPr>
        <p:spPr>
          <a:xfrm>
            <a:off x="868680" y="4151520"/>
            <a:ext cx="5120280" cy="147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7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Em outras palavras: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7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Como calcular o valor de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 “w”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7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Como calcular o valor de </a:t>
            </a: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“b”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09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6"/>
          <p:cNvSpPr/>
          <p:nvPr/>
        </p:nvSpPr>
        <p:spPr>
          <a:xfrm>
            <a:off x="502920" y="1819800"/>
            <a:ext cx="2677680" cy="749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7"/>
          <p:cNvSpPr/>
          <p:nvPr/>
        </p:nvSpPr>
        <p:spPr>
          <a:xfrm>
            <a:off x="640080" y="1892880"/>
            <a:ext cx="244656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ŷ = </a:t>
            </a: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Cambria Math"/>
                <a:ea typeface="Cambria Math"/>
              </a:rPr>
              <a:t>w*</a:t>
            </a:r>
            <a:r>
              <a:rPr lang="en-US" sz="32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x + </a:t>
            </a: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Cambria Math"/>
                <a:ea typeface="Cambria Math"/>
              </a:rPr>
              <a:t>b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3"/>
          <p:cNvSpPr/>
          <p:nvPr/>
        </p:nvSpPr>
        <p:spPr>
          <a:xfrm>
            <a:off x="502920" y="640080"/>
            <a:ext cx="693684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 Display"/>
                <a:ea typeface="Aptos Display"/>
              </a:rPr>
              <a:t>Mas como calcular a Equação da Reta ?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 Display"/>
                <a:ea typeface="Aptos Display"/>
              </a:rPr>
              <a:t>Resposta: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ptos Display"/>
                <a:ea typeface="Aptos Display"/>
              </a:rPr>
              <a:t> Método dos Mínimos Quadrados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CaixaDeTexto 26"/>
          <p:cNvSpPr/>
          <p:nvPr/>
        </p:nvSpPr>
        <p:spPr>
          <a:xfrm>
            <a:off x="502920" y="3075480"/>
            <a:ext cx="2426040" cy="70668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6" name="Tabela 27"/>
          <p:cNvGraphicFramePr/>
          <p:nvPr/>
        </p:nvGraphicFramePr>
        <p:xfrm>
          <a:off x="3576240" y="1787400"/>
          <a:ext cx="8126640" cy="3326760"/>
        </p:xfrm>
        <a:graphic>
          <a:graphicData uri="http://schemas.openxmlformats.org/drawingml/2006/table">
            <a:tbl>
              <a:tblPr/>
              <a:tblGrid>
                <a:gridCol w="84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9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82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KaTeX_Main"/>
                        </a:rPr>
                        <a:t>(</a:t>
                      </a:r>
                      <a:r>
                        <a:rPr lang="pt-BR" sz="1800" b="1" i="1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KaTeX_Math"/>
                        </a:rPr>
                        <a:t>x</a:t>
                      </a:r>
                      <a:r>
                        <a:rPr lang="pt-BR" sz="1800" b="1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KaTeX_Main"/>
                        </a:rPr>
                        <a:t>)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114120" marB="1141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marL="152280" marR="152280" marT="114120" marB="1141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4"/>
                      <a:stretch/>
                    </a:blipFill>
                  </a:tcPr>
                </a:tc>
                <a:tc>
                  <a:txBody>
                    <a:bodyPr/>
                    <a:lstStyle/>
                    <a:p>
                      <a:endParaRPr lang="pt-BR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marL="152280" marR="152280" marT="114120" marB="1141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4"/>
                      <a:stretch/>
                    </a:blipFill>
                  </a:tcPr>
                </a:tc>
                <a:tc>
                  <a:txBody>
                    <a:bodyPr/>
                    <a:lstStyle/>
                    <a:p>
                      <a:endParaRPr lang="pt-BR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marL="152280" marR="152280" marT="114120" marB="1141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4"/>
                      <a:stretch/>
                    </a:blipFill>
                  </a:tcPr>
                </a:tc>
                <a:tc>
                  <a:txBody>
                    <a:bodyPr/>
                    <a:lstStyle/>
                    <a:p>
                      <a:endParaRPr lang="pt-BR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marL="152280" marR="152280" marT="114120" marB="1141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4"/>
                      <a:stretch/>
                    </a:blipFill>
                  </a:tcPr>
                </a:tc>
                <a:tc>
                  <a:txBody>
                    <a:bodyPr/>
                    <a:lstStyle/>
                    <a:p>
                      <a:endParaRPr lang="pt-BR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marL="152280" marR="152280" marT="114120" marB="11412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4"/>
                      <a:stretch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40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220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-20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-90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1800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400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50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260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-10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-50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500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100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60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310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70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350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40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400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100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80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410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20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100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2000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400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Soma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800" b="0" u="none" strike="noStrike">
                        <a:solidFill>
                          <a:srgbClr val="4B5563"/>
                        </a:solidFill>
                        <a:effectLst/>
                        <a:uFillTx/>
                        <a:latin typeface="Inter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800" b="0" u="none" strike="noStrike">
                        <a:solidFill>
                          <a:srgbClr val="4B5563"/>
                        </a:solidFill>
                        <a:effectLst/>
                        <a:uFillTx/>
                        <a:latin typeface="Inter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800" b="0" u="none" strike="noStrike">
                        <a:solidFill>
                          <a:srgbClr val="4B5563"/>
                        </a:solidFill>
                        <a:effectLst/>
                        <a:uFillTx/>
                        <a:latin typeface="Inter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4700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1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1000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95040" marB="9504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7" name="CaixaDeTexto 28"/>
          <p:cNvSpPr/>
          <p:nvPr/>
        </p:nvSpPr>
        <p:spPr>
          <a:xfrm>
            <a:off x="560160" y="3987720"/>
            <a:ext cx="1037160" cy="52020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CaixaDeTexto 29"/>
          <p:cNvSpPr/>
          <p:nvPr/>
        </p:nvSpPr>
        <p:spPr>
          <a:xfrm>
            <a:off x="331560" y="4729680"/>
            <a:ext cx="2921040" cy="34200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eta: para a Direita 30"/>
          <p:cNvSpPr/>
          <p:nvPr/>
        </p:nvSpPr>
        <p:spPr>
          <a:xfrm>
            <a:off x="3024720" y="3188520"/>
            <a:ext cx="46080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00" name="Shape 6"/>
          <p:cNvSpPr/>
          <p:nvPr/>
        </p:nvSpPr>
        <p:spPr>
          <a:xfrm>
            <a:off x="3782520" y="5298480"/>
            <a:ext cx="2677680" cy="749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7"/>
          <p:cNvSpPr/>
          <p:nvPr/>
        </p:nvSpPr>
        <p:spPr>
          <a:xfrm>
            <a:off x="3919680" y="5371560"/>
            <a:ext cx="244656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ŷ = (</a:t>
            </a: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Cambria Math"/>
                <a:ea typeface="Cambria Math"/>
              </a:rPr>
              <a:t>4,7)*</a:t>
            </a:r>
            <a:r>
              <a:rPr lang="en-US" sz="32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x + </a:t>
            </a: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Cambria Math"/>
                <a:ea typeface="Cambria Math"/>
              </a:rPr>
              <a:t>b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7"/>
          <p:cNvSpPr/>
          <p:nvPr/>
        </p:nvSpPr>
        <p:spPr>
          <a:xfrm>
            <a:off x="6944400" y="5445000"/>
            <a:ext cx="304452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77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Agora falta descobrir o </a:t>
            </a: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Cambria Math"/>
                <a:ea typeface="Cambria Math"/>
              </a:rPr>
              <a:t>“b”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7"/>
          <p:cNvSpPr/>
          <p:nvPr/>
        </p:nvSpPr>
        <p:spPr>
          <a:xfrm>
            <a:off x="500400" y="5524200"/>
            <a:ext cx="304452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77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Então até aqui já temos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09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6"/>
          <p:cNvSpPr/>
          <p:nvPr/>
        </p:nvSpPr>
        <p:spPr>
          <a:xfrm>
            <a:off x="502920" y="1819800"/>
            <a:ext cx="2677680" cy="749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7"/>
          <p:cNvSpPr/>
          <p:nvPr/>
        </p:nvSpPr>
        <p:spPr>
          <a:xfrm>
            <a:off x="640080" y="1892880"/>
            <a:ext cx="244656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ŷ = </a:t>
            </a: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Cambria Math"/>
                <a:ea typeface="Cambria Math"/>
              </a:rPr>
              <a:t>w*</a:t>
            </a:r>
            <a:r>
              <a:rPr lang="en-US" sz="32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x + </a:t>
            </a: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Cambria Math"/>
                <a:ea typeface="Cambria Math"/>
              </a:rPr>
              <a:t>b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"/>
          <p:cNvSpPr/>
          <p:nvPr/>
        </p:nvSpPr>
        <p:spPr>
          <a:xfrm>
            <a:off x="502920" y="640080"/>
            <a:ext cx="693684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 Display"/>
                <a:ea typeface="Aptos Display"/>
              </a:rPr>
              <a:t>Mas como calcular a Equação da Reta ?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 Display"/>
                <a:ea typeface="Aptos Display"/>
              </a:rPr>
              <a:t>Resposta: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Aptos Display"/>
                <a:ea typeface="Aptos Display"/>
              </a:rPr>
              <a:t> Método dos Mínimos Quadrados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eta: para a Direita 30"/>
          <p:cNvSpPr/>
          <p:nvPr/>
        </p:nvSpPr>
        <p:spPr>
          <a:xfrm>
            <a:off x="3384000" y="1970640"/>
            <a:ext cx="46080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1" name="Shape 6"/>
          <p:cNvSpPr/>
          <p:nvPr/>
        </p:nvSpPr>
        <p:spPr>
          <a:xfrm>
            <a:off x="3960000" y="1853640"/>
            <a:ext cx="2677680" cy="749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7"/>
          <p:cNvSpPr/>
          <p:nvPr/>
        </p:nvSpPr>
        <p:spPr>
          <a:xfrm>
            <a:off x="4097160" y="1926720"/>
            <a:ext cx="244656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ŷ = (</a:t>
            </a: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Cambria Math"/>
                <a:ea typeface="Cambria Math"/>
              </a:rPr>
              <a:t>4,7)*</a:t>
            </a:r>
            <a:r>
              <a:rPr lang="en-US" sz="32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x + </a:t>
            </a: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Cambria Math"/>
                <a:ea typeface="Cambria Math"/>
              </a:rPr>
              <a:t>b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7"/>
          <p:cNvSpPr/>
          <p:nvPr/>
        </p:nvSpPr>
        <p:spPr>
          <a:xfrm>
            <a:off x="6752880" y="1892880"/>
            <a:ext cx="304452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77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Agora falta descobrir o </a:t>
            </a: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Cambria Math"/>
                <a:ea typeface="Cambria Math"/>
              </a:rPr>
              <a:t>“b”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CaixaDeTexto 1"/>
          <p:cNvSpPr/>
          <p:nvPr/>
        </p:nvSpPr>
        <p:spPr>
          <a:xfrm>
            <a:off x="502920" y="3712680"/>
            <a:ext cx="1301760" cy="36648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eta: para a Direita 9"/>
          <p:cNvSpPr/>
          <p:nvPr/>
        </p:nvSpPr>
        <p:spPr>
          <a:xfrm>
            <a:off x="2050200" y="3653640"/>
            <a:ext cx="46080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6" name="CaixaDeTexto 10"/>
          <p:cNvSpPr/>
          <p:nvPr/>
        </p:nvSpPr>
        <p:spPr>
          <a:xfrm>
            <a:off x="2756160" y="3773880"/>
            <a:ext cx="2082240" cy="27648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CaixaDeTexto 12"/>
          <p:cNvSpPr/>
          <p:nvPr/>
        </p:nvSpPr>
        <p:spPr>
          <a:xfrm>
            <a:off x="502920" y="2793240"/>
            <a:ext cx="3207960" cy="27648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CaixaDeTexto 13"/>
          <p:cNvSpPr/>
          <p:nvPr/>
        </p:nvSpPr>
        <p:spPr>
          <a:xfrm>
            <a:off x="498960" y="3114360"/>
            <a:ext cx="3344400" cy="2764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CaixaDeTexto 14"/>
          <p:cNvSpPr/>
          <p:nvPr/>
        </p:nvSpPr>
        <p:spPr>
          <a:xfrm>
            <a:off x="-319680" y="3435480"/>
            <a:ext cx="2422440" cy="27648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eta: para a Direita 16"/>
          <p:cNvSpPr/>
          <p:nvPr/>
        </p:nvSpPr>
        <p:spPr>
          <a:xfrm>
            <a:off x="4908960" y="3670200"/>
            <a:ext cx="46080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21" name="CaixaDeTexto 17"/>
          <p:cNvSpPr/>
          <p:nvPr/>
        </p:nvSpPr>
        <p:spPr>
          <a:xfrm>
            <a:off x="5478480" y="3752640"/>
            <a:ext cx="841680" cy="31932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6"/>
          <p:cNvSpPr/>
          <p:nvPr/>
        </p:nvSpPr>
        <p:spPr>
          <a:xfrm>
            <a:off x="4369320" y="4949280"/>
            <a:ext cx="2677680" cy="749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7"/>
          <p:cNvSpPr/>
          <p:nvPr/>
        </p:nvSpPr>
        <p:spPr>
          <a:xfrm>
            <a:off x="4506480" y="5022720"/>
            <a:ext cx="244656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ŷ = (</a:t>
            </a: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Cambria Math"/>
                <a:ea typeface="Cambria Math"/>
              </a:rPr>
              <a:t>4,7)*</a:t>
            </a:r>
            <a:r>
              <a:rPr lang="en-US" sz="32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x + </a:t>
            </a:r>
            <a:r>
              <a:rPr lang="en-US" sz="3200" b="0" u="none" strike="noStrike">
                <a:solidFill>
                  <a:srgbClr val="FF0000"/>
                </a:solidFill>
                <a:effectLst/>
                <a:uFillTx/>
                <a:latin typeface="Cambria Math"/>
                <a:ea typeface="Cambria Math"/>
              </a:rPr>
              <a:t>28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CaixaDeTexto 23"/>
          <p:cNvSpPr/>
          <p:nvPr/>
        </p:nvSpPr>
        <p:spPr>
          <a:xfrm>
            <a:off x="3087000" y="4217760"/>
            <a:ext cx="62557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Assim, nosso modelo fica: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Agora que temos nosso modelo, podemos responder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07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0" name="Tabela 53"/>
          <p:cNvGraphicFramePr/>
          <p:nvPr/>
        </p:nvGraphicFramePr>
        <p:xfrm>
          <a:off x="508680" y="1965240"/>
          <a:ext cx="3568320" cy="2590560"/>
        </p:xfrm>
        <a:graphic>
          <a:graphicData uri="http://schemas.openxmlformats.org/drawingml/2006/table">
            <a:tbl>
              <a:tblPr/>
              <a:tblGrid>
                <a:gridCol w="130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Área (m</a:t>
                      </a:r>
                      <a:r>
                        <a:rPr lang="pt-BR" sz="1800" b="1" u="none" strike="noStrike" baseline="30000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)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Preço (R$ mil)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220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260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60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65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?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70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350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31" name="Seta: para a Direita 54"/>
          <p:cNvSpPr/>
          <p:nvPr/>
        </p:nvSpPr>
        <p:spPr>
          <a:xfrm>
            <a:off x="4173840" y="2431440"/>
            <a:ext cx="513000" cy="37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32" name="Text 6"/>
          <p:cNvSpPr/>
          <p:nvPr/>
        </p:nvSpPr>
        <p:spPr>
          <a:xfrm>
            <a:off x="502920" y="1024200"/>
            <a:ext cx="11073960" cy="58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6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Quanto vale um apartamento de 65m</a:t>
            </a:r>
            <a:r>
              <a:rPr lang="en-US" sz="2000" b="0" u="none" strike="noStrike" baseline="30000">
                <a:solidFill>
                  <a:schemeClr val="dk1"/>
                </a:solidFill>
                <a:effectLst/>
                <a:uFillTx/>
                <a:latin typeface="Aptos"/>
              </a:rPr>
              <a:t>2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7"/>
          <p:cNvSpPr/>
          <p:nvPr/>
        </p:nvSpPr>
        <p:spPr>
          <a:xfrm>
            <a:off x="318960" y="5588280"/>
            <a:ext cx="988920" cy="281160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8"/>
          <p:cNvSpPr/>
          <p:nvPr/>
        </p:nvSpPr>
        <p:spPr>
          <a:xfrm>
            <a:off x="324360" y="5650920"/>
            <a:ext cx="983520" cy="18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X = 65 (m</a:t>
            </a:r>
            <a:r>
              <a:rPr lang="en-US" sz="1800" b="1" u="none" strike="noStrike" baseline="30000">
                <a:solidFill>
                  <a:srgbClr val="0B1F3A"/>
                </a:solidFill>
                <a:effectLst/>
                <a:uFillTx/>
                <a:latin typeface="Aptos"/>
              </a:rPr>
              <a:t>2</a:t>
            </a: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9"/>
          <p:cNvSpPr/>
          <p:nvPr/>
        </p:nvSpPr>
        <p:spPr>
          <a:xfrm>
            <a:off x="1307880" y="5704920"/>
            <a:ext cx="23652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6" name="Shape 10"/>
          <p:cNvSpPr/>
          <p:nvPr/>
        </p:nvSpPr>
        <p:spPr>
          <a:xfrm>
            <a:off x="1617840" y="5431680"/>
            <a:ext cx="1325520" cy="535320"/>
          </a:xfrm>
          <a:prstGeom prst="roundRect">
            <a:avLst>
              <a:gd name="adj" fmla="val 8421"/>
            </a:avLst>
          </a:prstGeom>
          <a:solidFill>
            <a:srgbClr val="FFFF00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1"/>
          <p:cNvSpPr/>
          <p:nvPr/>
        </p:nvSpPr>
        <p:spPr>
          <a:xfrm>
            <a:off x="1672200" y="5588640"/>
            <a:ext cx="118368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Y = 4,7(x) + 28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12"/>
          <p:cNvSpPr/>
          <p:nvPr/>
        </p:nvSpPr>
        <p:spPr>
          <a:xfrm>
            <a:off x="3015720" y="5744520"/>
            <a:ext cx="26244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13"/>
          <p:cNvSpPr/>
          <p:nvPr/>
        </p:nvSpPr>
        <p:spPr>
          <a:xfrm>
            <a:off x="3296520" y="5522040"/>
            <a:ext cx="1390320" cy="371160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4"/>
          <p:cNvSpPr/>
          <p:nvPr/>
        </p:nvSpPr>
        <p:spPr>
          <a:xfrm>
            <a:off x="3369960" y="5532120"/>
            <a:ext cx="125640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Y = 333,5 (R$)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8"/>
          <p:cNvSpPr/>
          <p:nvPr/>
        </p:nvSpPr>
        <p:spPr>
          <a:xfrm>
            <a:off x="182880" y="5267880"/>
            <a:ext cx="1306800" cy="28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entrada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8"/>
          <p:cNvSpPr/>
          <p:nvPr/>
        </p:nvSpPr>
        <p:spPr>
          <a:xfrm>
            <a:off x="3302280" y="5225040"/>
            <a:ext cx="1306800" cy="28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saída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8"/>
          <p:cNvSpPr/>
          <p:nvPr/>
        </p:nvSpPr>
        <p:spPr>
          <a:xfrm>
            <a:off x="1627200" y="4984200"/>
            <a:ext cx="1306800" cy="28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Fórmula ?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4" name="Imagem 9"/>
          <p:cNvPicPr/>
          <p:nvPr/>
        </p:nvPicPr>
        <p:blipFill>
          <a:blip r:embed="rId3"/>
          <a:stretch/>
        </p:blipFill>
        <p:spPr>
          <a:xfrm>
            <a:off x="4865400" y="1458720"/>
            <a:ext cx="6609960" cy="441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Shape 12"/>
          <p:cNvSpPr/>
          <p:nvPr/>
        </p:nvSpPr>
        <p:spPr>
          <a:xfrm flipV="1">
            <a:off x="3102480" y="3016440"/>
            <a:ext cx="6221160" cy="614160"/>
          </a:xfrm>
          <a:prstGeom prst="line">
            <a:avLst/>
          </a:prstGeom>
          <a:ln>
            <a:solidFill>
              <a:srgbClr val="FF0000"/>
            </a:solidFill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Parte II — O que significa treinar?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12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6"/>
          <p:cNvSpPr/>
          <p:nvPr/>
        </p:nvSpPr>
        <p:spPr>
          <a:xfrm>
            <a:off x="841320" y="215784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850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Treinar é encontrar os valores de 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w</a:t>
            </a:r>
            <a:r>
              <a:rPr lang="en-US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 e </a:t>
            </a: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b</a:t>
            </a:r>
            <a:r>
              <a:rPr lang="en-US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 que tornam as previsões o mais próximas possível dos valores reais.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9"/>
          <p:cNvSpPr/>
          <p:nvPr/>
        </p:nvSpPr>
        <p:spPr>
          <a:xfrm>
            <a:off x="914400" y="4206240"/>
            <a:ext cx="1828440" cy="59400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0"/>
          <p:cNvSpPr/>
          <p:nvPr/>
        </p:nvSpPr>
        <p:spPr>
          <a:xfrm>
            <a:off x="987480" y="4279320"/>
            <a:ext cx="168228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parâmetros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1"/>
          <p:cNvSpPr/>
          <p:nvPr/>
        </p:nvSpPr>
        <p:spPr>
          <a:xfrm>
            <a:off x="2880360" y="4498560"/>
            <a:ext cx="118872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2"/>
          <p:cNvSpPr/>
          <p:nvPr/>
        </p:nvSpPr>
        <p:spPr>
          <a:xfrm>
            <a:off x="4251960" y="4206240"/>
            <a:ext cx="1828440" cy="594000"/>
          </a:xfrm>
          <a:prstGeom prst="roundRect">
            <a:avLst>
              <a:gd name="adj" fmla="val 12308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3"/>
          <p:cNvSpPr/>
          <p:nvPr/>
        </p:nvSpPr>
        <p:spPr>
          <a:xfrm>
            <a:off x="4325040" y="4279320"/>
            <a:ext cx="168228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previsões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4"/>
          <p:cNvSpPr/>
          <p:nvPr/>
        </p:nvSpPr>
        <p:spPr>
          <a:xfrm>
            <a:off x="6217920" y="4498560"/>
            <a:ext cx="118872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5"/>
          <p:cNvSpPr/>
          <p:nvPr/>
        </p:nvSpPr>
        <p:spPr>
          <a:xfrm>
            <a:off x="7589520" y="4206240"/>
            <a:ext cx="1599840" cy="594000"/>
          </a:xfrm>
          <a:prstGeom prst="roundRect">
            <a:avLst>
              <a:gd name="adj" fmla="val 12308"/>
            </a:avLst>
          </a:prstGeom>
          <a:solidFill>
            <a:srgbClr val="FFF7ED"/>
          </a:solidFill>
          <a:ln w="1524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6"/>
          <p:cNvSpPr/>
          <p:nvPr/>
        </p:nvSpPr>
        <p:spPr>
          <a:xfrm>
            <a:off x="7662600" y="4279320"/>
            <a:ext cx="145368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erros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7"/>
          <p:cNvSpPr/>
          <p:nvPr/>
        </p:nvSpPr>
        <p:spPr>
          <a:xfrm>
            <a:off x="9326880" y="4498560"/>
            <a:ext cx="82296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18"/>
          <p:cNvSpPr/>
          <p:nvPr/>
        </p:nvSpPr>
        <p:spPr>
          <a:xfrm>
            <a:off x="10332720" y="4206240"/>
            <a:ext cx="1096920" cy="59400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9"/>
          <p:cNvSpPr/>
          <p:nvPr/>
        </p:nvSpPr>
        <p:spPr>
          <a:xfrm>
            <a:off x="10405800" y="4279320"/>
            <a:ext cx="95076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loss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Erro, resíduo e perda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13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6"/>
          <p:cNvSpPr/>
          <p:nvPr/>
        </p:nvSpPr>
        <p:spPr>
          <a:xfrm>
            <a:off x="822960" y="1143000"/>
            <a:ext cx="36115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7"/>
          <p:cNvSpPr/>
          <p:nvPr/>
        </p:nvSpPr>
        <p:spPr>
          <a:xfrm>
            <a:off x="960120" y="1216080"/>
            <a:ext cx="33372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erroᵢ = yᵢ − ŷᵢ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8"/>
          <p:cNvSpPr/>
          <p:nvPr/>
        </p:nvSpPr>
        <p:spPr>
          <a:xfrm>
            <a:off x="6492240" y="5623560"/>
            <a:ext cx="4480560" cy="36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9"/>
          <p:cNvSpPr/>
          <p:nvPr/>
        </p:nvSpPr>
        <p:spPr>
          <a:xfrm>
            <a:off x="6492240" y="1417320"/>
            <a:ext cx="360" cy="420624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0"/>
          <p:cNvSpPr/>
          <p:nvPr/>
        </p:nvSpPr>
        <p:spPr>
          <a:xfrm>
            <a:off x="6805800" y="4613760"/>
            <a:ext cx="3673800" cy="360"/>
          </a:xfrm>
          <a:prstGeom prst="line">
            <a:avLst/>
          </a:prstGeom>
          <a:ln w="279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11"/>
          <p:cNvSpPr/>
          <p:nvPr/>
        </p:nvSpPr>
        <p:spPr>
          <a:xfrm>
            <a:off x="6988680" y="4446720"/>
            <a:ext cx="82080" cy="82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2"/>
          <p:cNvSpPr/>
          <p:nvPr/>
        </p:nvSpPr>
        <p:spPr>
          <a:xfrm>
            <a:off x="7029720" y="4403520"/>
            <a:ext cx="360" cy="84240"/>
          </a:xfrm>
          <a:prstGeom prst="line">
            <a:avLst/>
          </a:prstGeom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9240" rIns="90000" bIns="392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3"/>
          <p:cNvSpPr/>
          <p:nvPr/>
        </p:nvSpPr>
        <p:spPr>
          <a:xfrm>
            <a:off x="7571160" y="4026240"/>
            <a:ext cx="82080" cy="82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4"/>
          <p:cNvSpPr/>
          <p:nvPr/>
        </p:nvSpPr>
        <p:spPr>
          <a:xfrm>
            <a:off x="7612200" y="3993480"/>
            <a:ext cx="360" cy="73440"/>
          </a:xfrm>
          <a:prstGeom prst="line">
            <a:avLst/>
          </a:prstGeom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440" rIns="90000" bIns="284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5"/>
          <p:cNvSpPr/>
          <p:nvPr/>
        </p:nvSpPr>
        <p:spPr>
          <a:xfrm>
            <a:off x="8153640" y="3689640"/>
            <a:ext cx="82080" cy="82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6"/>
          <p:cNvSpPr/>
          <p:nvPr/>
        </p:nvSpPr>
        <p:spPr>
          <a:xfrm>
            <a:off x="8194680" y="3583440"/>
            <a:ext cx="360" cy="147240"/>
          </a:xfrm>
          <a:prstGeom prst="line">
            <a:avLst/>
          </a:prstGeom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7"/>
          <p:cNvSpPr/>
          <p:nvPr/>
        </p:nvSpPr>
        <p:spPr>
          <a:xfrm>
            <a:off x="8781120" y="3184920"/>
            <a:ext cx="82080" cy="82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8"/>
          <p:cNvSpPr/>
          <p:nvPr/>
        </p:nvSpPr>
        <p:spPr>
          <a:xfrm>
            <a:off x="8821800" y="3141720"/>
            <a:ext cx="360" cy="84240"/>
          </a:xfrm>
          <a:prstGeom prst="line">
            <a:avLst/>
          </a:prstGeom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9240" rIns="90000" bIns="392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9"/>
          <p:cNvSpPr/>
          <p:nvPr/>
        </p:nvSpPr>
        <p:spPr>
          <a:xfrm>
            <a:off x="9497880" y="2722320"/>
            <a:ext cx="82080" cy="82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20"/>
          <p:cNvSpPr/>
          <p:nvPr/>
        </p:nvSpPr>
        <p:spPr>
          <a:xfrm>
            <a:off x="9538920" y="2637000"/>
            <a:ext cx="360" cy="126000"/>
          </a:xfrm>
          <a:prstGeom prst="line">
            <a:avLst/>
          </a:prstGeom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21"/>
          <p:cNvSpPr/>
          <p:nvPr/>
        </p:nvSpPr>
        <p:spPr>
          <a:xfrm>
            <a:off x="10125000" y="2217600"/>
            <a:ext cx="82080" cy="82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22"/>
          <p:cNvSpPr/>
          <p:nvPr/>
        </p:nvSpPr>
        <p:spPr>
          <a:xfrm>
            <a:off x="10166040" y="2195280"/>
            <a:ext cx="360" cy="63000"/>
          </a:xfrm>
          <a:prstGeom prst="line">
            <a:avLst/>
          </a:prstGeom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0" rIns="90000" bIns="18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3"/>
          <p:cNvSpPr/>
          <p:nvPr/>
        </p:nvSpPr>
        <p:spPr>
          <a:xfrm>
            <a:off x="6492240" y="570312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Linhas tracejadas: distância vertical entre o valor real e a previsão.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4"/>
          <p:cNvSpPr/>
          <p:nvPr/>
        </p:nvSpPr>
        <p:spPr>
          <a:xfrm>
            <a:off x="868680" y="2331720"/>
            <a:ext cx="1462680" cy="50256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25"/>
          <p:cNvSpPr/>
          <p:nvPr/>
        </p:nvSpPr>
        <p:spPr>
          <a:xfrm>
            <a:off x="896040" y="2368440"/>
            <a:ext cx="140796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Valor real 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saida y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6"/>
          <p:cNvSpPr/>
          <p:nvPr/>
        </p:nvSpPr>
        <p:spPr>
          <a:xfrm>
            <a:off x="2331720" y="2331720"/>
            <a:ext cx="1462680" cy="50256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7"/>
          <p:cNvSpPr/>
          <p:nvPr/>
        </p:nvSpPr>
        <p:spPr>
          <a:xfrm>
            <a:off x="2359080" y="2368440"/>
            <a:ext cx="140796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Previsão do modelo para ŷ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28"/>
          <p:cNvSpPr/>
          <p:nvPr/>
        </p:nvSpPr>
        <p:spPr>
          <a:xfrm>
            <a:off x="3794760" y="2331720"/>
            <a:ext cx="1462680" cy="50256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9"/>
          <p:cNvSpPr/>
          <p:nvPr/>
        </p:nvSpPr>
        <p:spPr>
          <a:xfrm>
            <a:off x="3822120" y="2368440"/>
            <a:ext cx="140796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erro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30"/>
          <p:cNvSpPr/>
          <p:nvPr/>
        </p:nvSpPr>
        <p:spPr>
          <a:xfrm>
            <a:off x="868680" y="2834640"/>
            <a:ext cx="146268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31"/>
          <p:cNvSpPr/>
          <p:nvPr/>
        </p:nvSpPr>
        <p:spPr>
          <a:xfrm>
            <a:off x="896040" y="2871360"/>
            <a:ext cx="140796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100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32"/>
          <p:cNvSpPr/>
          <p:nvPr/>
        </p:nvSpPr>
        <p:spPr>
          <a:xfrm>
            <a:off x="2331720" y="2834640"/>
            <a:ext cx="146268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3"/>
          <p:cNvSpPr/>
          <p:nvPr/>
        </p:nvSpPr>
        <p:spPr>
          <a:xfrm>
            <a:off x="2359080" y="2871360"/>
            <a:ext cx="140796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90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34"/>
          <p:cNvSpPr/>
          <p:nvPr/>
        </p:nvSpPr>
        <p:spPr>
          <a:xfrm>
            <a:off x="3794760" y="2834640"/>
            <a:ext cx="146268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35"/>
          <p:cNvSpPr/>
          <p:nvPr/>
        </p:nvSpPr>
        <p:spPr>
          <a:xfrm>
            <a:off x="3822120" y="2871360"/>
            <a:ext cx="140796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+10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36"/>
          <p:cNvSpPr/>
          <p:nvPr/>
        </p:nvSpPr>
        <p:spPr>
          <a:xfrm>
            <a:off x="868680" y="3337560"/>
            <a:ext cx="146268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37"/>
          <p:cNvSpPr/>
          <p:nvPr/>
        </p:nvSpPr>
        <p:spPr>
          <a:xfrm>
            <a:off x="896040" y="3374280"/>
            <a:ext cx="140796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100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38"/>
          <p:cNvSpPr/>
          <p:nvPr/>
        </p:nvSpPr>
        <p:spPr>
          <a:xfrm>
            <a:off x="2331720" y="3337560"/>
            <a:ext cx="146268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39"/>
          <p:cNvSpPr/>
          <p:nvPr/>
        </p:nvSpPr>
        <p:spPr>
          <a:xfrm>
            <a:off x="2359080" y="3374280"/>
            <a:ext cx="140796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110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40"/>
          <p:cNvSpPr/>
          <p:nvPr/>
        </p:nvSpPr>
        <p:spPr>
          <a:xfrm>
            <a:off x="3794760" y="3337560"/>
            <a:ext cx="146268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41"/>
          <p:cNvSpPr/>
          <p:nvPr/>
        </p:nvSpPr>
        <p:spPr>
          <a:xfrm>
            <a:off x="3822120" y="3374280"/>
            <a:ext cx="140796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−10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42"/>
          <p:cNvSpPr/>
          <p:nvPr/>
        </p:nvSpPr>
        <p:spPr>
          <a:xfrm>
            <a:off x="868680" y="434340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Erros positivos e negativos podem se cancelar. Por isso usamos o erro ao quadrado.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2"/>
          <p:cNvSpPr/>
          <p:nvPr/>
        </p:nvSpPr>
        <p:spPr>
          <a:xfrm>
            <a:off x="502920" y="25596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FUNÇÃO DE PERDA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MSE e Mínimos Quadrados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14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6"/>
          <p:cNvSpPr/>
          <p:nvPr/>
        </p:nvSpPr>
        <p:spPr>
          <a:xfrm>
            <a:off x="633960" y="1800000"/>
            <a:ext cx="548604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7"/>
          <p:cNvSpPr/>
          <p:nvPr/>
        </p:nvSpPr>
        <p:spPr>
          <a:xfrm>
            <a:off x="771120" y="1873080"/>
            <a:ext cx="521172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MSE = (1/n) Σ (yᵢ − ŷᵢ)²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8"/>
          <p:cNvSpPr/>
          <p:nvPr/>
        </p:nvSpPr>
        <p:spPr>
          <a:xfrm>
            <a:off x="633960" y="3857400"/>
            <a:ext cx="548604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06B6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9"/>
          <p:cNvSpPr/>
          <p:nvPr/>
        </p:nvSpPr>
        <p:spPr>
          <a:xfrm>
            <a:off x="771120" y="3930480"/>
            <a:ext cx="521172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L = (1/n) Σ ½(ŷᵢ − yᵢ)²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0"/>
          <p:cNvSpPr/>
          <p:nvPr/>
        </p:nvSpPr>
        <p:spPr>
          <a:xfrm>
            <a:off x="540000" y="1208880"/>
            <a:ext cx="5668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Erro Quadrático Médio 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11"/>
          <p:cNvSpPr/>
          <p:nvPr/>
        </p:nvSpPr>
        <p:spPr>
          <a:xfrm>
            <a:off x="7498080" y="5623560"/>
            <a:ext cx="3474720" cy="36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2"/>
          <p:cNvSpPr/>
          <p:nvPr/>
        </p:nvSpPr>
        <p:spPr>
          <a:xfrm>
            <a:off x="7498080" y="1417320"/>
            <a:ext cx="360" cy="420624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13"/>
          <p:cNvSpPr/>
          <p:nvPr/>
        </p:nvSpPr>
        <p:spPr>
          <a:xfrm>
            <a:off x="7741080" y="4613760"/>
            <a:ext cx="2849400" cy="360"/>
          </a:xfrm>
          <a:prstGeom prst="line">
            <a:avLst/>
          </a:prstGeom>
          <a:ln w="279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4"/>
          <p:cNvSpPr/>
          <p:nvPr/>
        </p:nvSpPr>
        <p:spPr>
          <a:xfrm>
            <a:off x="7873920" y="4446720"/>
            <a:ext cx="82080" cy="82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15"/>
          <p:cNvSpPr/>
          <p:nvPr/>
        </p:nvSpPr>
        <p:spPr>
          <a:xfrm>
            <a:off x="7914960" y="4403520"/>
            <a:ext cx="360" cy="84240"/>
          </a:xfrm>
          <a:prstGeom prst="line">
            <a:avLst/>
          </a:prstGeom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9240" rIns="90000" bIns="392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16"/>
          <p:cNvSpPr/>
          <p:nvPr/>
        </p:nvSpPr>
        <p:spPr>
          <a:xfrm>
            <a:off x="8325720" y="4026240"/>
            <a:ext cx="82080" cy="82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7"/>
          <p:cNvSpPr/>
          <p:nvPr/>
        </p:nvSpPr>
        <p:spPr>
          <a:xfrm>
            <a:off x="8366760" y="3993480"/>
            <a:ext cx="360" cy="73440"/>
          </a:xfrm>
          <a:prstGeom prst="line">
            <a:avLst/>
          </a:prstGeom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440" rIns="90000" bIns="284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18"/>
          <p:cNvSpPr/>
          <p:nvPr/>
        </p:nvSpPr>
        <p:spPr>
          <a:xfrm>
            <a:off x="8777160" y="3689640"/>
            <a:ext cx="82080" cy="82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19"/>
          <p:cNvSpPr/>
          <p:nvPr/>
        </p:nvSpPr>
        <p:spPr>
          <a:xfrm>
            <a:off x="8818200" y="3583440"/>
            <a:ext cx="360" cy="147240"/>
          </a:xfrm>
          <a:prstGeom prst="line">
            <a:avLst/>
          </a:prstGeom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20"/>
          <p:cNvSpPr/>
          <p:nvPr/>
        </p:nvSpPr>
        <p:spPr>
          <a:xfrm>
            <a:off x="9263880" y="3184920"/>
            <a:ext cx="82080" cy="82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21"/>
          <p:cNvSpPr/>
          <p:nvPr/>
        </p:nvSpPr>
        <p:spPr>
          <a:xfrm>
            <a:off x="9304920" y="3141720"/>
            <a:ext cx="360" cy="84240"/>
          </a:xfrm>
          <a:prstGeom prst="line">
            <a:avLst/>
          </a:prstGeom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9240" rIns="90000" bIns="392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22"/>
          <p:cNvSpPr/>
          <p:nvPr/>
        </p:nvSpPr>
        <p:spPr>
          <a:xfrm>
            <a:off x="9819720" y="2722320"/>
            <a:ext cx="82080" cy="82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23"/>
          <p:cNvSpPr/>
          <p:nvPr/>
        </p:nvSpPr>
        <p:spPr>
          <a:xfrm>
            <a:off x="9860760" y="2637000"/>
            <a:ext cx="360" cy="126000"/>
          </a:xfrm>
          <a:prstGeom prst="line">
            <a:avLst/>
          </a:prstGeom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24"/>
          <p:cNvSpPr/>
          <p:nvPr/>
        </p:nvSpPr>
        <p:spPr>
          <a:xfrm>
            <a:off x="10306080" y="2217600"/>
            <a:ext cx="82080" cy="82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25"/>
          <p:cNvSpPr/>
          <p:nvPr/>
        </p:nvSpPr>
        <p:spPr>
          <a:xfrm>
            <a:off x="10347120" y="2195280"/>
            <a:ext cx="360" cy="63000"/>
          </a:xfrm>
          <a:prstGeom prst="line">
            <a:avLst/>
          </a:prstGeom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0" rIns="90000" bIns="18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26"/>
          <p:cNvSpPr/>
          <p:nvPr/>
        </p:nvSpPr>
        <p:spPr>
          <a:xfrm>
            <a:off x="7406640" y="553212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Melhor reta = menor perda total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"/>
          <p:cNvSpPr/>
          <p:nvPr/>
        </p:nvSpPr>
        <p:spPr>
          <a:xfrm>
            <a:off x="540000" y="3420000"/>
            <a:ext cx="5668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Função de Perda (Loss ou Erro)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2"/>
          <p:cNvSpPr/>
          <p:nvPr/>
        </p:nvSpPr>
        <p:spPr>
          <a:xfrm>
            <a:off x="502920" y="25596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PONTE PARA ML MODERNO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Por que falar de gradiente?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16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6"/>
          <p:cNvSpPr/>
          <p:nvPr/>
        </p:nvSpPr>
        <p:spPr>
          <a:xfrm>
            <a:off x="822960" y="114300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Muitos modelos não têm solução fechada simples. Então usamos otimização iterativa.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7"/>
          <p:cNvSpPr/>
          <p:nvPr/>
        </p:nvSpPr>
        <p:spPr>
          <a:xfrm>
            <a:off x="868680" y="2560320"/>
            <a:ext cx="182844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8"/>
          <p:cNvSpPr/>
          <p:nvPr/>
        </p:nvSpPr>
        <p:spPr>
          <a:xfrm>
            <a:off x="941760" y="2633400"/>
            <a:ext cx="168228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começa com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w e b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9"/>
          <p:cNvSpPr/>
          <p:nvPr/>
        </p:nvSpPr>
        <p:spPr>
          <a:xfrm>
            <a:off x="2834640" y="2971800"/>
            <a:ext cx="109728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10"/>
          <p:cNvSpPr/>
          <p:nvPr/>
        </p:nvSpPr>
        <p:spPr>
          <a:xfrm>
            <a:off x="4114800" y="2560320"/>
            <a:ext cx="1828440" cy="82260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524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1"/>
          <p:cNvSpPr/>
          <p:nvPr/>
        </p:nvSpPr>
        <p:spPr>
          <a:xfrm>
            <a:off x="4187880" y="2633400"/>
            <a:ext cx="168228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mede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a loss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2"/>
          <p:cNvSpPr/>
          <p:nvPr/>
        </p:nvSpPr>
        <p:spPr>
          <a:xfrm>
            <a:off x="6080760" y="2971800"/>
            <a:ext cx="109728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3"/>
          <p:cNvSpPr/>
          <p:nvPr/>
        </p:nvSpPr>
        <p:spPr>
          <a:xfrm>
            <a:off x="7360920" y="2560320"/>
            <a:ext cx="1828440" cy="822600"/>
          </a:xfrm>
          <a:prstGeom prst="roundRect">
            <a:avLst>
              <a:gd name="adj" fmla="val 8889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4"/>
          <p:cNvSpPr/>
          <p:nvPr/>
        </p:nvSpPr>
        <p:spPr>
          <a:xfrm>
            <a:off x="7434000" y="2633400"/>
            <a:ext cx="168228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calcula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gradiente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15"/>
          <p:cNvSpPr/>
          <p:nvPr/>
        </p:nvSpPr>
        <p:spPr>
          <a:xfrm>
            <a:off x="9326880" y="2971800"/>
            <a:ext cx="1005840" cy="36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6"/>
          <p:cNvSpPr/>
          <p:nvPr/>
        </p:nvSpPr>
        <p:spPr>
          <a:xfrm>
            <a:off x="10515600" y="2560320"/>
            <a:ext cx="137124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7"/>
          <p:cNvSpPr/>
          <p:nvPr/>
        </p:nvSpPr>
        <p:spPr>
          <a:xfrm>
            <a:off x="10588680" y="2633400"/>
            <a:ext cx="122508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atualiza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w e b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8"/>
          <p:cNvSpPr/>
          <p:nvPr/>
        </p:nvSpPr>
        <p:spPr>
          <a:xfrm>
            <a:off x="3985560" y="54000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Repete até a perda parar de diminuir.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2"/>
          <p:cNvSpPr/>
          <p:nvPr/>
        </p:nvSpPr>
        <p:spPr>
          <a:xfrm>
            <a:off x="502920" y="25596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ATUALIZAÇÃO DOS PARÂMETROS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Gradient Descent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17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6"/>
          <p:cNvSpPr/>
          <p:nvPr/>
        </p:nvSpPr>
        <p:spPr>
          <a:xfrm>
            <a:off x="777240" y="1188720"/>
            <a:ext cx="42973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7"/>
          <p:cNvSpPr/>
          <p:nvPr/>
        </p:nvSpPr>
        <p:spPr>
          <a:xfrm>
            <a:off x="914400" y="1261800"/>
            <a:ext cx="40230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w ← w − η · ∂L/∂w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8"/>
          <p:cNvSpPr/>
          <p:nvPr/>
        </p:nvSpPr>
        <p:spPr>
          <a:xfrm>
            <a:off x="777240" y="2057400"/>
            <a:ext cx="42973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06B6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9"/>
          <p:cNvSpPr/>
          <p:nvPr/>
        </p:nvSpPr>
        <p:spPr>
          <a:xfrm>
            <a:off x="914400" y="2130480"/>
            <a:ext cx="40230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b ← b − η · ∂L/∂b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0"/>
          <p:cNvSpPr/>
          <p:nvPr/>
        </p:nvSpPr>
        <p:spPr>
          <a:xfrm>
            <a:off x="822960" y="3246120"/>
            <a:ext cx="48459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O gradiente aponta a direção de aumento da loss. Caminhamos no sentido oposto.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11"/>
          <p:cNvSpPr/>
          <p:nvPr/>
        </p:nvSpPr>
        <p:spPr>
          <a:xfrm>
            <a:off x="6675120" y="5440680"/>
            <a:ext cx="4023360" cy="36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2"/>
          <p:cNvSpPr/>
          <p:nvPr/>
        </p:nvSpPr>
        <p:spPr>
          <a:xfrm>
            <a:off x="6675120" y="1143000"/>
            <a:ext cx="360" cy="429768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13"/>
          <p:cNvSpPr/>
          <p:nvPr/>
        </p:nvSpPr>
        <p:spPr>
          <a:xfrm>
            <a:off x="6675120" y="1143000"/>
            <a:ext cx="66960" cy="28152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14"/>
          <p:cNvSpPr/>
          <p:nvPr/>
        </p:nvSpPr>
        <p:spPr>
          <a:xfrm>
            <a:off x="6742080" y="1424520"/>
            <a:ext cx="66960" cy="2721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15"/>
          <p:cNvSpPr/>
          <p:nvPr/>
        </p:nvSpPr>
        <p:spPr>
          <a:xfrm>
            <a:off x="6809040" y="1696680"/>
            <a:ext cx="66960" cy="26280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6"/>
          <p:cNvSpPr/>
          <p:nvPr/>
        </p:nvSpPr>
        <p:spPr>
          <a:xfrm>
            <a:off x="6876000" y="1959480"/>
            <a:ext cx="67320" cy="25308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17"/>
          <p:cNvSpPr/>
          <p:nvPr/>
        </p:nvSpPr>
        <p:spPr>
          <a:xfrm>
            <a:off x="6943320" y="2212560"/>
            <a:ext cx="66960" cy="243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18"/>
          <p:cNvSpPr/>
          <p:nvPr/>
        </p:nvSpPr>
        <p:spPr>
          <a:xfrm>
            <a:off x="7010280" y="2455920"/>
            <a:ext cx="66960" cy="23400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19"/>
          <p:cNvSpPr/>
          <p:nvPr/>
        </p:nvSpPr>
        <p:spPr>
          <a:xfrm>
            <a:off x="7077240" y="2689920"/>
            <a:ext cx="66960" cy="22464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20"/>
          <p:cNvSpPr/>
          <p:nvPr/>
        </p:nvSpPr>
        <p:spPr>
          <a:xfrm>
            <a:off x="7144200" y="2914560"/>
            <a:ext cx="67320" cy="21492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21"/>
          <p:cNvSpPr/>
          <p:nvPr/>
        </p:nvSpPr>
        <p:spPr>
          <a:xfrm>
            <a:off x="7211520" y="3129480"/>
            <a:ext cx="66960" cy="20520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22"/>
          <p:cNvSpPr/>
          <p:nvPr/>
        </p:nvSpPr>
        <p:spPr>
          <a:xfrm>
            <a:off x="7278480" y="3334680"/>
            <a:ext cx="66960" cy="19584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23"/>
          <p:cNvSpPr/>
          <p:nvPr/>
        </p:nvSpPr>
        <p:spPr>
          <a:xfrm>
            <a:off x="7345440" y="3530520"/>
            <a:ext cx="66960" cy="18612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24"/>
          <p:cNvSpPr/>
          <p:nvPr/>
        </p:nvSpPr>
        <p:spPr>
          <a:xfrm>
            <a:off x="7412400" y="3716640"/>
            <a:ext cx="67320" cy="1767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25"/>
          <p:cNvSpPr/>
          <p:nvPr/>
        </p:nvSpPr>
        <p:spPr>
          <a:xfrm>
            <a:off x="7479720" y="3893400"/>
            <a:ext cx="66960" cy="16704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26"/>
          <p:cNvSpPr/>
          <p:nvPr/>
        </p:nvSpPr>
        <p:spPr>
          <a:xfrm>
            <a:off x="7546680" y="4060440"/>
            <a:ext cx="66960" cy="15768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27"/>
          <p:cNvSpPr/>
          <p:nvPr/>
        </p:nvSpPr>
        <p:spPr>
          <a:xfrm>
            <a:off x="7613640" y="4218120"/>
            <a:ext cx="67320" cy="1479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28"/>
          <p:cNvSpPr/>
          <p:nvPr/>
        </p:nvSpPr>
        <p:spPr>
          <a:xfrm>
            <a:off x="7680960" y="4366080"/>
            <a:ext cx="66960" cy="13860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29"/>
          <p:cNvSpPr/>
          <p:nvPr/>
        </p:nvSpPr>
        <p:spPr>
          <a:xfrm>
            <a:off x="7747920" y="4504680"/>
            <a:ext cx="66960" cy="12888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30"/>
          <p:cNvSpPr/>
          <p:nvPr/>
        </p:nvSpPr>
        <p:spPr>
          <a:xfrm>
            <a:off x="7814880" y="4633560"/>
            <a:ext cx="66960" cy="1191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31"/>
          <p:cNvSpPr/>
          <p:nvPr/>
        </p:nvSpPr>
        <p:spPr>
          <a:xfrm>
            <a:off x="7881840" y="4752720"/>
            <a:ext cx="67320" cy="1101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32"/>
          <p:cNvSpPr/>
          <p:nvPr/>
        </p:nvSpPr>
        <p:spPr>
          <a:xfrm>
            <a:off x="7949160" y="4862880"/>
            <a:ext cx="66960" cy="10008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33"/>
          <p:cNvSpPr/>
          <p:nvPr/>
        </p:nvSpPr>
        <p:spPr>
          <a:xfrm>
            <a:off x="8016120" y="4962960"/>
            <a:ext cx="66960" cy="9072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34"/>
          <p:cNvSpPr/>
          <p:nvPr/>
        </p:nvSpPr>
        <p:spPr>
          <a:xfrm>
            <a:off x="8083080" y="5053680"/>
            <a:ext cx="66960" cy="81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360" rIns="90000" bIns="3636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35"/>
          <p:cNvSpPr/>
          <p:nvPr/>
        </p:nvSpPr>
        <p:spPr>
          <a:xfrm>
            <a:off x="8150040" y="5135040"/>
            <a:ext cx="67320" cy="7164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640" rIns="90000" bIns="26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36"/>
          <p:cNvSpPr/>
          <p:nvPr/>
        </p:nvSpPr>
        <p:spPr>
          <a:xfrm>
            <a:off x="8217360" y="5206680"/>
            <a:ext cx="66960" cy="6192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6920" rIns="90000" bIns="1692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37"/>
          <p:cNvSpPr/>
          <p:nvPr/>
        </p:nvSpPr>
        <p:spPr>
          <a:xfrm>
            <a:off x="8284320" y="5268600"/>
            <a:ext cx="66960" cy="525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560" rIns="90000" bIns="756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38"/>
          <p:cNvSpPr/>
          <p:nvPr/>
        </p:nvSpPr>
        <p:spPr>
          <a:xfrm>
            <a:off x="8351280" y="5321160"/>
            <a:ext cx="66960" cy="4284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39"/>
          <p:cNvSpPr/>
          <p:nvPr/>
        </p:nvSpPr>
        <p:spPr>
          <a:xfrm>
            <a:off x="8418240" y="5364000"/>
            <a:ext cx="67320" cy="3348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1520" rIns="90000" bIns="-1152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40"/>
          <p:cNvSpPr/>
          <p:nvPr/>
        </p:nvSpPr>
        <p:spPr>
          <a:xfrm>
            <a:off x="8485560" y="5397480"/>
            <a:ext cx="66960" cy="237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240" rIns="90000" bIns="-212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41"/>
          <p:cNvSpPr/>
          <p:nvPr/>
        </p:nvSpPr>
        <p:spPr>
          <a:xfrm>
            <a:off x="8552520" y="5421240"/>
            <a:ext cx="66960" cy="1440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42"/>
          <p:cNvSpPr/>
          <p:nvPr/>
        </p:nvSpPr>
        <p:spPr>
          <a:xfrm>
            <a:off x="8619480" y="5435640"/>
            <a:ext cx="67320" cy="504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960" rIns="90000" bIns="-3996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43"/>
          <p:cNvSpPr/>
          <p:nvPr/>
        </p:nvSpPr>
        <p:spPr>
          <a:xfrm>
            <a:off x="8686800" y="544068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44"/>
          <p:cNvSpPr/>
          <p:nvPr/>
        </p:nvSpPr>
        <p:spPr>
          <a:xfrm>
            <a:off x="8753760" y="543564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45"/>
          <p:cNvSpPr/>
          <p:nvPr/>
        </p:nvSpPr>
        <p:spPr>
          <a:xfrm>
            <a:off x="8820720" y="542124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46"/>
          <p:cNvSpPr/>
          <p:nvPr/>
        </p:nvSpPr>
        <p:spPr>
          <a:xfrm>
            <a:off x="8887680" y="5397480"/>
            <a:ext cx="6732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47"/>
          <p:cNvSpPr/>
          <p:nvPr/>
        </p:nvSpPr>
        <p:spPr>
          <a:xfrm>
            <a:off x="8955000" y="536400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48"/>
          <p:cNvSpPr/>
          <p:nvPr/>
        </p:nvSpPr>
        <p:spPr>
          <a:xfrm>
            <a:off x="9021960" y="532116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49"/>
          <p:cNvSpPr/>
          <p:nvPr/>
        </p:nvSpPr>
        <p:spPr>
          <a:xfrm>
            <a:off x="9088920" y="526860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50"/>
          <p:cNvSpPr/>
          <p:nvPr/>
        </p:nvSpPr>
        <p:spPr>
          <a:xfrm>
            <a:off x="9155880" y="5206680"/>
            <a:ext cx="6732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51"/>
          <p:cNvSpPr/>
          <p:nvPr/>
        </p:nvSpPr>
        <p:spPr>
          <a:xfrm>
            <a:off x="9223200" y="513504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52"/>
          <p:cNvSpPr/>
          <p:nvPr/>
        </p:nvSpPr>
        <p:spPr>
          <a:xfrm>
            <a:off x="9290160" y="505368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53"/>
          <p:cNvSpPr/>
          <p:nvPr/>
        </p:nvSpPr>
        <p:spPr>
          <a:xfrm>
            <a:off x="9357120" y="496296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54"/>
          <p:cNvSpPr/>
          <p:nvPr/>
        </p:nvSpPr>
        <p:spPr>
          <a:xfrm>
            <a:off x="9424080" y="4862880"/>
            <a:ext cx="6732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55"/>
          <p:cNvSpPr/>
          <p:nvPr/>
        </p:nvSpPr>
        <p:spPr>
          <a:xfrm>
            <a:off x="9491400" y="475272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56"/>
          <p:cNvSpPr/>
          <p:nvPr/>
        </p:nvSpPr>
        <p:spPr>
          <a:xfrm>
            <a:off x="9558360" y="463356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57"/>
          <p:cNvSpPr/>
          <p:nvPr/>
        </p:nvSpPr>
        <p:spPr>
          <a:xfrm>
            <a:off x="9625320" y="4504680"/>
            <a:ext cx="6732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58"/>
          <p:cNvSpPr/>
          <p:nvPr/>
        </p:nvSpPr>
        <p:spPr>
          <a:xfrm>
            <a:off x="9692640" y="436608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59"/>
          <p:cNvSpPr/>
          <p:nvPr/>
        </p:nvSpPr>
        <p:spPr>
          <a:xfrm>
            <a:off x="9759600" y="421812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60"/>
          <p:cNvSpPr/>
          <p:nvPr/>
        </p:nvSpPr>
        <p:spPr>
          <a:xfrm>
            <a:off x="9826560" y="406044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61"/>
          <p:cNvSpPr/>
          <p:nvPr/>
        </p:nvSpPr>
        <p:spPr>
          <a:xfrm>
            <a:off x="9893520" y="3893400"/>
            <a:ext cx="6732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62"/>
          <p:cNvSpPr/>
          <p:nvPr/>
        </p:nvSpPr>
        <p:spPr>
          <a:xfrm>
            <a:off x="9960840" y="371664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63"/>
          <p:cNvSpPr/>
          <p:nvPr/>
        </p:nvSpPr>
        <p:spPr>
          <a:xfrm>
            <a:off x="10027800" y="353052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64"/>
          <p:cNvSpPr/>
          <p:nvPr/>
        </p:nvSpPr>
        <p:spPr>
          <a:xfrm>
            <a:off x="10094760" y="333468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65"/>
          <p:cNvSpPr/>
          <p:nvPr/>
        </p:nvSpPr>
        <p:spPr>
          <a:xfrm>
            <a:off x="10161720" y="3129480"/>
            <a:ext cx="6732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66"/>
          <p:cNvSpPr/>
          <p:nvPr/>
        </p:nvSpPr>
        <p:spPr>
          <a:xfrm>
            <a:off x="10229040" y="291456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67"/>
          <p:cNvSpPr/>
          <p:nvPr/>
        </p:nvSpPr>
        <p:spPr>
          <a:xfrm>
            <a:off x="10296000" y="268992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68"/>
          <p:cNvSpPr/>
          <p:nvPr/>
        </p:nvSpPr>
        <p:spPr>
          <a:xfrm>
            <a:off x="10362960" y="245592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69"/>
          <p:cNvSpPr/>
          <p:nvPr/>
        </p:nvSpPr>
        <p:spPr>
          <a:xfrm>
            <a:off x="10429920" y="2212560"/>
            <a:ext cx="6732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70"/>
          <p:cNvSpPr/>
          <p:nvPr/>
        </p:nvSpPr>
        <p:spPr>
          <a:xfrm>
            <a:off x="10497240" y="195948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71"/>
          <p:cNvSpPr/>
          <p:nvPr/>
        </p:nvSpPr>
        <p:spPr>
          <a:xfrm>
            <a:off x="10564200" y="1696680"/>
            <a:ext cx="6696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72"/>
          <p:cNvSpPr/>
          <p:nvPr/>
        </p:nvSpPr>
        <p:spPr>
          <a:xfrm>
            <a:off x="10631160" y="1424520"/>
            <a:ext cx="67320" cy="360"/>
          </a:xfrm>
          <a:prstGeom prst="line">
            <a:avLst/>
          </a:prstGeom>
          <a:ln w="228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73"/>
          <p:cNvSpPr/>
          <p:nvPr/>
        </p:nvSpPr>
        <p:spPr>
          <a:xfrm>
            <a:off x="10053720" y="3293640"/>
            <a:ext cx="82080" cy="82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74"/>
          <p:cNvSpPr/>
          <p:nvPr/>
        </p:nvSpPr>
        <p:spPr>
          <a:xfrm>
            <a:off x="10049040" y="3353040"/>
            <a:ext cx="360" cy="902880"/>
          </a:xfrm>
          <a:prstGeom prst="line">
            <a:avLst/>
          </a:prstGeom>
          <a:ln w="19050">
            <a:solidFill>
              <a:srgbClr val="DC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75"/>
          <p:cNvSpPr/>
          <p:nvPr/>
        </p:nvSpPr>
        <p:spPr>
          <a:xfrm>
            <a:off x="9550800" y="4529160"/>
            <a:ext cx="82080" cy="82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76"/>
          <p:cNvSpPr/>
          <p:nvPr/>
        </p:nvSpPr>
        <p:spPr>
          <a:xfrm>
            <a:off x="9546120" y="4588560"/>
            <a:ext cx="360" cy="527040"/>
          </a:xfrm>
          <a:prstGeom prst="line">
            <a:avLst/>
          </a:prstGeom>
          <a:ln w="19050">
            <a:solidFill>
              <a:srgbClr val="DC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77"/>
          <p:cNvSpPr/>
          <p:nvPr/>
        </p:nvSpPr>
        <p:spPr>
          <a:xfrm>
            <a:off x="9098280" y="5184720"/>
            <a:ext cx="82080" cy="82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78"/>
          <p:cNvSpPr/>
          <p:nvPr/>
        </p:nvSpPr>
        <p:spPr>
          <a:xfrm>
            <a:off x="9093600" y="5243760"/>
            <a:ext cx="360" cy="186120"/>
          </a:xfrm>
          <a:prstGeom prst="line">
            <a:avLst/>
          </a:prstGeom>
          <a:ln w="19050">
            <a:solidFill>
              <a:srgbClr val="DC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79"/>
          <p:cNvSpPr/>
          <p:nvPr/>
        </p:nvSpPr>
        <p:spPr>
          <a:xfrm>
            <a:off x="8796600" y="5378040"/>
            <a:ext cx="82080" cy="82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80"/>
          <p:cNvSpPr/>
          <p:nvPr/>
        </p:nvSpPr>
        <p:spPr>
          <a:xfrm>
            <a:off x="8412480" y="5559480"/>
            <a:ext cx="10054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6A34A"/>
                </a:solidFill>
                <a:effectLst/>
                <a:uFillTx/>
                <a:latin typeface="Aptos"/>
              </a:rPr>
              <a:t>mínimo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2"/>
          <p:cNvSpPr/>
          <p:nvPr/>
        </p:nvSpPr>
        <p:spPr>
          <a:xfrm>
            <a:off x="502920" y="25596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Η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Learning rate: o tamanho do passo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18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6"/>
          <p:cNvSpPr/>
          <p:nvPr/>
        </p:nvSpPr>
        <p:spPr>
          <a:xfrm>
            <a:off x="822960" y="1234440"/>
            <a:ext cx="914040" cy="731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7"/>
          <p:cNvSpPr/>
          <p:nvPr/>
        </p:nvSpPr>
        <p:spPr>
          <a:xfrm>
            <a:off x="960120" y="1307520"/>
            <a:ext cx="63972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η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8"/>
          <p:cNvSpPr/>
          <p:nvPr/>
        </p:nvSpPr>
        <p:spPr>
          <a:xfrm>
            <a:off x="1920240" y="14173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η controla o tamanho de cada atualização.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9"/>
          <p:cNvSpPr/>
          <p:nvPr/>
        </p:nvSpPr>
        <p:spPr>
          <a:xfrm>
            <a:off x="914400" y="2743200"/>
            <a:ext cx="2468520" cy="50256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6474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10"/>
          <p:cNvSpPr/>
          <p:nvPr/>
        </p:nvSpPr>
        <p:spPr>
          <a:xfrm>
            <a:off x="987480" y="2816280"/>
            <a:ext cx="23223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muito pequeno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11"/>
          <p:cNvSpPr/>
          <p:nvPr/>
        </p:nvSpPr>
        <p:spPr>
          <a:xfrm>
            <a:off x="914400" y="342900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aprende devagar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12"/>
          <p:cNvSpPr/>
          <p:nvPr/>
        </p:nvSpPr>
        <p:spPr>
          <a:xfrm>
            <a:off x="1188720" y="5394960"/>
            <a:ext cx="1920240" cy="36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13"/>
          <p:cNvSpPr/>
          <p:nvPr/>
        </p:nvSpPr>
        <p:spPr>
          <a:xfrm>
            <a:off x="1188720" y="3931920"/>
            <a:ext cx="360" cy="146304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14"/>
          <p:cNvSpPr/>
          <p:nvPr/>
        </p:nvSpPr>
        <p:spPr>
          <a:xfrm>
            <a:off x="1422000" y="4851000"/>
            <a:ext cx="82080" cy="82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15"/>
          <p:cNvSpPr/>
          <p:nvPr/>
        </p:nvSpPr>
        <p:spPr>
          <a:xfrm>
            <a:off x="1623240" y="4713840"/>
            <a:ext cx="82080" cy="82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16"/>
          <p:cNvSpPr/>
          <p:nvPr/>
        </p:nvSpPr>
        <p:spPr>
          <a:xfrm>
            <a:off x="1824120" y="4576680"/>
            <a:ext cx="82080" cy="82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17"/>
          <p:cNvSpPr/>
          <p:nvPr/>
        </p:nvSpPr>
        <p:spPr>
          <a:xfrm>
            <a:off x="2025360" y="4439520"/>
            <a:ext cx="82080" cy="82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18"/>
          <p:cNvSpPr/>
          <p:nvPr/>
        </p:nvSpPr>
        <p:spPr>
          <a:xfrm>
            <a:off x="2226600" y="4302360"/>
            <a:ext cx="82080" cy="82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19"/>
          <p:cNvSpPr/>
          <p:nvPr/>
        </p:nvSpPr>
        <p:spPr>
          <a:xfrm>
            <a:off x="4572000" y="2743200"/>
            <a:ext cx="2468520" cy="50256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20"/>
          <p:cNvSpPr/>
          <p:nvPr/>
        </p:nvSpPr>
        <p:spPr>
          <a:xfrm>
            <a:off x="4645080" y="2816280"/>
            <a:ext cx="23223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adequado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21"/>
          <p:cNvSpPr/>
          <p:nvPr/>
        </p:nvSpPr>
        <p:spPr>
          <a:xfrm>
            <a:off x="4572000" y="342900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6A34A"/>
                </a:solidFill>
                <a:effectLst/>
                <a:uFillTx/>
                <a:latin typeface="Aptos"/>
              </a:rPr>
              <a:t>converge bem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22"/>
          <p:cNvSpPr/>
          <p:nvPr/>
        </p:nvSpPr>
        <p:spPr>
          <a:xfrm>
            <a:off x="4846320" y="5394960"/>
            <a:ext cx="1920240" cy="36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23"/>
          <p:cNvSpPr/>
          <p:nvPr/>
        </p:nvSpPr>
        <p:spPr>
          <a:xfrm>
            <a:off x="4846320" y="3931920"/>
            <a:ext cx="360" cy="146304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24"/>
          <p:cNvSpPr/>
          <p:nvPr/>
        </p:nvSpPr>
        <p:spPr>
          <a:xfrm>
            <a:off x="5079600" y="4851000"/>
            <a:ext cx="82080" cy="82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25"/>
          <p:cNvSpPr/>
          <p:nvPr/>
        </p:nvSpPr>
        <p:spPr>
          <a:xfrm>
            <a:off x="5408640" y="4622400"/>
            <a:ext cx="82080" cy="82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26"/>
          <p:cNvSpPr/>
          <p:nvPr/>
        </p:nvSpPr>
        <p:spPr>
          <a:xfrm>
            <a:off x="5738040" y="4393800"/>
            <a:ext cx="82080" cy="82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27"/>
          <p:cNvSpPr/>
          <p:nvPr/>
        </p:nvSpPr>
        <p:spPr>
          <a:xfrm>
            <a:off x="6067080" y="4165200"/>
            <a:ext cx="82080" cy="82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28"/>
          <p:cNvSpPr/>
          <p:nvPr/>
        </p:nvSpPr>
        <p:spPr>
          <a:xfrm>
            <a:off x="8229600" y="2743200"/>
            <a:ext cx="2468520" cy="50256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29"/>
          <p:cNvSpPr/>
          <p:nvPr/>
        </p:nvSpPr>
        <p:spPr>
          <a:xfrm>
            <a:off x="8302680" y="2816280"/>
            <a:ext cx="23223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muito grande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30"/>
          <p:cNvSpPr/>
          <p:nvPr/>
        </p:nvSpPr>
        <p:spPr>
          <a:xfrm>
            <a:off x="8229600" y="342900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C2626"/>
                </a:solidFill>
                <a:effectLst/>
                <a:uFillTx/>
                <a:latin typeface="Aptos"/>
              </a:rPr>
              <a:t>pode divergir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31"/>
          <p:cNvSpPr/>
          <p:nvPr/>
        </p:nvSpPr>
        <p:spPr>
          <a:xfrm>
            <a:off x="8503920" y="5394960"/>
            <a:ext cx="1920240" cy="36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32"/>
          <p:cNvSpPr/>
          <p:nvPr/>
        </p:nvSpPr>
        <p:spPr>
          <a:xfrm>
            <a:off x="8503920" y="3931920"/>
            <a:ext cx="360" cy="146304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33"/>
          <p:cNvSpPr/>
          <p:nvPr/>
        </p:nvSpPr>
        <p:spPr>
          <a:xfrm>
            <a:off x="8737200" y="5033880"/>
            <a:ext cx="82080" cy="82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34"/>
          <p:cNvSpPr/>
          <p:nvPr/>
        </p:nvSpPr>
        <p:spPr>
          <a:xfrm>
            <a:off x="9121320" y="4028040"/>
            <a:ext cx="82080" cy="82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35"/>
          <p:cNvSpPr/>
          <p:nvPr/>
        </p:nvSpPr>
        <p:spPr>
          <a:xfrm>
            <a:off x="9505080" y="5033880"/>
            <a:ext cx="82080" cy="82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36"/>
          <p:cNvSpPr/>
          <p:nvPr/>
        </p:nvSpPr>
        <p:spPr>
          <a:xfrm>
            <a:off x="9889200" y="4028040"/>
            <a:ext cx="82080" cy="82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2"/>
          <p:cNvSpPr/>
          <p:nvPr/>
        </p:nvSpPr>
        <p:spPr>
          <a:xfrm>
            <a:off x="502920" y="25596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ESCALABILIDADE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Batch, SGD e Mini-batch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19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6"/>
          <p:cNvSpPr/>
          <p:nvPr/>
        </p:nvSpPr>
        <p:spPr>
          <a:xfrm>
            <a:off x="822960" y="1280160"/>
            <a:ext cx="1645560" cy="68544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7"/>
          <p:cNvSpPr/>
          <p:nvPr/>
        </p:nvSpPr>
        <p:spPr>
          <a:xfrm>
            <a:off x="850320" y="1316880"/>
            <a:ext cx="15908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Estratégia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8"/>
          <p:cNvSpPr/>
          <p:nvPr/>
        </p:nvSpPr>
        <p:spPr>
          <a:xfrm>
            <a:off x="2468880" y="1280160"/>
            <a:ext cx="3017160" cy="68544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9"/>
          <p:cNvSpPr/>
          <p:nvPr/>
        </p:nvSpPr>
        <p:spPr>
          <a:xfrm>
            <a:off x="2496240" y="1316880"/>
            <a:ext cx="29624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Dados usados por atualização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10"/>
          <p:cNvSpPr/>
          <p:nvPr/>
        </p:nvSpPr>
        <p:spPr>
          <a:xfrm>
            <a:off x="5486400" y="1280160"/>
            <a:ext cx="2102760" cy="68544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11"/>
          <p:cNvSpPr/>
          <p:nvPr/>
        </p:nvSpPr>
        <p:spPr>
          <a:xfrm>
            <a:off x="5513760" y="1316880"/>
            <a:ext cx="20480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Vantagem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12"/>
          <p:cNvSpPr/>
          <p:nvPr/>
        </p:nvSpPr>
        <p:spPr>
          <a:xfrm>
            <a:off x="822960" y="1965960"/>
            <a:ext cx="1645560" cy="685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13"/>
          <p:cNvSpPr/>
          <p:nvPr/>
        </p:nvSpPr>
        <p:spPr>
          <a:xfrm>
            <a:off x="850320" y="2002680"/>
            <a:ext cx="15908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Batch GD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14"/>
          <p:cNvSpPr/>
          <p:nvPr/>
        </p:nvSpPr>
        <p:spPr>
          <a:xfrm>
            <a:off x="2468880" y="1965960"/>
            <a:ext cx="3017160" cy="685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15"/>
          <p:cNvSpPr/>
          <p:nvPr/>
        </p:nvSpPr>
        <p:spPr>
          <a:xfrm>
            <a:off x="2496240" y="2002680"/>
            <a:ext cx="29624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dataset inteiro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16"/>
          <p:cNvSpPr/>
          <p:nvPr/>
        </p:nvSpPr>
        <p:spPr>
          <a:xfrm>
            <a:off x="5486400" y="1965960"/>
            <a:ext cx="2102760" cy="685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17"/>
          <p:cNvSpPr/>
          <p:nvPr/>
        </p:nvSpPr>
        <p:spPr>
          <a:xfrm>
            <a:off x="5513760" y="2002680"/>
            <a:ext cx="20480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estável, mas caro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18"/>
          <p:cNvSpPr/>
          <p:nvPr/>
        </p:nvSpPr>
        <p:spPr>
          <a:xfrm>
            <a:off x="822960" y="2651760"/>
            <a:ext cx="1645560" cy="685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19"/>
          <p:cNvSpPr/>
          <p:nvPr/>
        </p:nvSpPr>
        <p:spPr>
          <a:xfrm>
            <a:off x="850320" y="2688480"/>
            <a:ext cx="15908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SGD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20"/>
          <p:cNvSpPr/>
          <p:nvPr/>
        </p:nvSpPr>
        <p:spPr>
          <a:xfrm>
            <a:off x="2468880" y="2651760"/>
            <a:ext cx="3017160" cy="685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21"/>
          <p:cNvSpPr/>
          <p:nvPr/>
        </p:nvSpPr>
        <p:spPr>
          <a:xfrm>
            <a:off x="2496240" y="2688480"/>
            <a:ext cx="29624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1 exemplo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22"/>
          <p:cNvSpPr/>
          <p:nvPr/>
        </p:nvSpPr>
        <p:spPr>
          <a:xfrm>
            <a:off x="5486400" y="2651760"/>
            <a:ext cx="2102760" cy="685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23"/>
          <p:cNvSpPr/>
          <p:nvPr/>
        </p:nvSpPr>
        <p:spPr>
          <a:xfrm>
            <a:off x="5513760" y="2688480"/>
            <a:ext cx="20480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barato, mas ruidoso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24"/>
          <p:cNvSpPr/>
          <p:nvPr/>
        </p:nvSpPr>
        <p:spPr>
          <a:xfrm>
            <a:off x="822960" y="3337560"/>
            <a:ext cx="1645560" cy="685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25"/>
          <p:cNvSpPr/>
          <p:nvPr/>
        </p:nvSpPr>
        <p:spPr>
          <a:xfrm>
            <a:off x="850320" y="3374280"/>
            <a:ext cx="15908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Mini-batch SGD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26"/>
          <p:cNvSpPr/>
          <p:nvPr/>
        </p:nvSpPr>
        <p:spPr>
          <a:xfrm>
            <a:off x="2468880" y="3337560"/>
            <a:ext cx="3017160" cy="685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27"/>
          <p:cNvSpPr/>
          <p:nvPr/>
        </p:nvSpPr>
        <p:spPr>
          <a:xfrm>
            <a:off x="2496240" y="3374280"/>
            <a:ext cx="29624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pequeno lote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28"/>
          <p:cNvSpPr/>
          <p:nvPr/>
        </p:nvSpPr>
        <p:spPr>
          <a:xfrm>
            <a:off x="5486400" y="3337560"/>
            <a:ext cx="2102760" cy="685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29"/>
          <p:cNvSpPr/>
          <p:nvPr/>
        </p:nvSpPr>
        <p:spPr>
          <a:xfrm>
            <a:off x="5513760" y="3374280"/>
            <a:ext cx="20480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equilíbrio prático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30"/>
          <p:cNvSpPr/>
          <p:nvPr/>
        </p:nvSpPr>
        <p:spPr>
          <a:xfrm>
            <a:off x="1143000" y="4709160"/>
            <a:ext cx="61261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31"/>
          <p:cNvSpPr/>
          <p:nvPr/>
        </p:nvSpPr>
        <p:spPr>
          <a:xfrm>
            <a:off x="1280160" y="4782240"/>
            <a:ext cx="58518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W ← W − η · média(gradientes do lote)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32"/>
          <p:cNvSpPr/>
          <p:nvPr/>
        </p:nvSpPr>
        <p:spPr>
          <a:xfrm>
            <a:off x="8412480" y="1508760"/>
            <a:ext cx="2102760" cy="59400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33"/>
          <p:cNvSpPr/>
          <p:nvPr/>
        </p:nvSpPr>
        <p:spPr>
          <a:xfrm>
            <a:off x="8485560" y="1581840"/>
            <a:ext cx="195660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dados grandes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34"/>
          <p:cNvSpPr/>
          <p:nvPr/>
        </p:nvSpPr>
        <p:spPr>
          <a:xfrm>
            <a:off x="9464040" y="2240280"/>
            <a:ext cx="360" cy="73152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35"/>
          <p:cNvSpPr/>
          <p:nvPr/>
        </p:nvSpPr>
        <p:spPr>
          <a:xfrm>
            <a:off x="8412480" y="3108960"/>
            <a:ext cx="2102760" cy="594000"/>
          </a:xfrm>
          <a:prstGeom prst="roundRect">
            <a:avLst>
              <a:gd name="adj" fmla="val 12308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36"/>
          <p:cNvSpPr/>
          <p:nvPr/>
        </p:nvSpPr>
        <p:spPr>
          <a:xfrm>
            <a:off x="8485560" y="3182040"/>
            <a:ext cx="195660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lotes β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37"/>
          <p:cNvSpPr/>
          <p:nvPr/>
        </p:nvSpPr>
        <p:spPr>
          <a:xfrm>
            <a:off x="9464040" y="3840480"/>
            <a:ext cx="360" cy="731520"/>
          </a:xfrm>
          <a:prstGeom prst="line">
            <a:avLst/>
          </a:prstGeom>
          <a:ln w="19050">
            <a:solidFill>
              <a:srgbClr val="33415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38"/>
          <p:cNvSpPr/>
          <p:nvPr/>
        </p:nvSpPr>
        <p:spPr>
          <a:xfrm>
            <a:off x="8412480" y="4709160"/>
            <a:ext cx="210276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39"/>
          <p:cNvSpPr/>
          <p:nvPr/>
        </p:nvSpPr>
        <p:spPr>
          <a:xfrm>
            <a:off x="8485560" y="4782240"/>
            <a:ext cx="195660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atualizações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frequentes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Shape 3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40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Vamos Descobrir um Modelo (Fómula) usando Regressão Linear em PYTHON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43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44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19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90"/>
          <p:cNvSpPr/>
          <p:nvPr/>
        </p:nvSpPr>
        <p:spPr>
          <a:xfrm>
            <a:off x="533880" y="3780000"/>
            <a:ext cx="61261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57"/>
          <p:cNvSpPr/>
          <p:nvPr/>
        </p:nvSpPr>
        <p:spPr>
          <a:xfrm>
            <a:off x="671040" y="3853080"/>
            <a:ext cx="58518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1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Função da Biblioteca: </a:t>
            </a:r>
            <a:r>
              <a:rPr lang="en-US" sz="2100" b="0" u="none" strike="noStrike">
                <a:solidFill>
                  <a:srgbClr val="FF0000"/>
                </a:solidFill>
                <a:effectLst/>
                <a:uFillTx/>
                <a:latin typeface="Cambria Math"/>
                <a:ea typeface="Cambria Math"/>
              </a:rPr>
              <a:t>LinearRegression()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2"/>
          <p:cNvSpPr/>
          <p:nvPr/>
        </p:nvSpPr>
        <p:spPr>
          <a:xfrm>
            <a:off x="527760" y="2160000"/>
            <a:ext cx="61261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45"/>
          <p:cNvSpPr/>
          <p:nvPr/>
        </p:nvSpPr>
        <p:spPr>
          <a:xfrm>
            <a:off x="664920" y="2233080"/>
            <a:ext cx="58518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1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Biblioteca python: </a:t>
            </a:r>
            <a:r>
              <a:rPr lang="en-US" sz="2100" b="1" u="none" strike="noStrike">
                <a:solidFill>
                  <a:srgbClr val="3465A4"/>
                </a:solidFill>
                <a:effectLst/>
                <a:uFillTx/>
                <a:latin typeface="Cambria Math"/>
                <a:ea typeface="Cambria Math"/>
              </a:rPr>
              <a:t>sklearn</a:t>
            </a:r>
            <a:r>
              <a:rPr lang="en-US" sz="21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 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4"/>
          <p:cNvSpPr/>
          <p:nvPr/>
        </p:nvSpPr>
        <p:spPr>
          <a:xfrm>
            <a:off x="540000" y="2960280"/>
            <a:ext cx="6126120" cy="6397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46"/>
          <p:cNvSpPr/>
          <p:nvPr/>
        </p:nvSpPr>
        <p:spPr>
          <a:xfrm>
            <a:off x="677160" y="3033360"/>
            <a:ext cx="58518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Pacote da Biblioteca sklearn: </a:t>
            </a:r>
            <a:r>
              <a:rPr lang="en-US" sz="1800" b="1" u="none" strike="noStrike">
                <a:solidFill>
                  <a:srgbClr val="158466"/>
                </a:solidFill>
                <a:effectLst/>
                <a:uFillTx/>
                <a:latin typeface="Consolas"/>
                <a:ea typeface="Consolas"/>
              </a:rPr>
              <a:t>sklearn.linear_model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2"/>
          <p:cNvSpPr/>
          <p:nvPr/>
        </p:nvSpPr>
        <p:spPr>
          <a:xfrm>
            <a:off x="502920" y="25596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MÃO NA MASSA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Parte III — Mini-laboratório em Python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dirty="0">
                <a:solidFill>
                  <a:srgbClr val="64748B"/>
                </a:solidFill>
                <a:effectLst/>
                <a:uFillTx/>
                <a:latin typeface="Aptos"/>
              </a:rPr>
              <a:t>20</a:t>
            </a:r>
            <a:endParaRPr lang="pt-BR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6"/>
          <p:cNvSpPr/>
          <p:nvPr/>
        </p:nvSpPr>
        <p:spPr>
          <a:xfrm>
            <a:off x="822960" y="1143000"/>
            <a:ext cx="98751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Objetivo: ajustar uma reta para prever preço a partir da área.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7"/>
          <p:cNvSpPr/>
          <p:nvPr/>
        </p:nvSpPr>
        <p:spPr>
          <a:xfrm>
            <a:off x="868680" y="1591200"/>
            <a:ext cx="6949440" cy="475488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12700">
            <a:solidFill>
              <a:srgbClr val="0F172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8"/>
          <p:cNvSpPr/>
          <p:nvPr/>
        </p:nvSpPr>
        <p:spPr>
          <a:xfrm>
            <a:off x="1097280" y="1993320"/>
            <a:ext cx="6647760" cy="370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>
              <a:lnSpc>
                <a:spcPts val="2813"/>
              </a:lnSpc>
            </a:pP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numpy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</a:t>
            </a:r>
            <a:endParaRPr lang="pt-BR" sz="1200" dirty="0">
              <a:solidFill>
                <a:srgbClr val="000000"/>
              </a:solidFill>
              <a:latin typeface="Roboto Mono" pitchFamily="2" charset="0"/>
            </a:endParaRPr>
          </a:p>
          <a:p>
            <a:pPr>
              <a:lnSpc>
                <a:spcPts val="2813"/>
              </a:lnSpc>
            </a:pP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from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sklearn.linear_model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LinearRegression</a:t>
            </a:r>
            <a:endParaRPr lang="pt-BR" sz="1200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>
              <a:lnSpc>
                <a:spcPts val="2813"/>
              </a:lnSpc>
            </a:pPr>
            <a:endParaRPr lang="pt-BR" sz="1200" dirty="0">
              <a:solidFill>
                <a:srgbClr val="000000"/>
              </a:solidFill>
              <a:latin typeface="Roboto Mono" pitchFamily="2" charset="0"/>
            </a:endParaRPr>
          </a:p>
          <a:p>
            <a:pPr>
              <a:lnSpc>
                <a:spcPts val="2813"/>
              </a:lnSpc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X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np.array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([[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40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 [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50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 [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60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 [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70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 [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80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]])</a:t>
            </a:r>
            <a:endParaRPr lang="pt-BR" sz="1200" dirty="0">
              <a:solidFill>
                <a:srgbClr val="000000"/>
              </a:solidFill>
              <a:latin typeface="Roboto Mono" pitchFamily="2" charset="0"/>
            </a:endParaRPr>
          </a:p>
          <a:p>
            <a:pPr>
              <a:lnSpc>
                <a:spcPts val="2813"/>
              </a:lnSpc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y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np.array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([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220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260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310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350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410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])</a:t>
            </a:r>
          </a:p>
          <a:p>
            <a:pPr>
              <a:lnSpc>
                <a:spcPts val="2813"/>
              </a:lnSpc>
            </a:pPr>
            <a:endParaRPr lang="pt-BR" sz="1200" dirty="0">
              <a:solidFill>
                <a:srgbClr val="000000"/>
              </a:solidFill>
              <a:latin typeface="Roboto Mono" pitchFamily="2" charset="0"/>
            </a:endParaRPr>
          </a:p>
          <a:p>
            <a:pPr>
              <a:lnSpc>
                <a:spcPts val="2813"/>
              </a:lnSpc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modelo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LinearRegression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</a:t>
            </a:r>
            <a:endParaRPr lang="pt-BR" sz="1200" dirty="0">
              <a:solidFill>
                <a:srgbClr val="000000"/>
              </a:solidFill>
              <a:latin typeface="Roboto Mono" pitchFamily="2" charset="0"/>
            </a:endParaRPr>
          </a:p>
          <a:p>
            <a:pPr>
              <a:lnSpc>
                <a:spcPts val="2813"/>
              </a:lnSpc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modelo.fit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(X, y)</a:t>
            </a:r>
          </a:p>
          <a:p>
            <a:pPr>
              <a:lnSpc>
                <a:spcPts val="2813"/>
              </a:lnSpc>
            </a:pPr>
            <a:endParaRPr lang="pt-BR" sz="1200" dirty="0">
              <a:solidFill>
                <a:srgbClr val="000000"/>
              </a:solidFill>
              <a:latin typeface="Roboto Mono" pitchFamily="2" charset="0"/>
            </a:endParaRPr>
          </a:p>
          <a:p>
            <a:pPr>
              <a:lnSpc>
                <a:spcPts val="2813"/>
              </a:lnSpc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"O valor de w é: 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modelo.coef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_)</a:t>
            </a:r>
            <a:endParaRPr lang="pt-BR" sz="1200" dirty="0">
              <a:solidFill>
                <a:srgbClr val="000000"/>
              </a:solidFill>
              <a:latin typeface="Roboto Mono" pitchFamily="2" charset="0"/>
            </a:endParaRPr>
          </a:p>
          <a:p>
            <a:pPr>
              <a:lnSpc>
                <a:spcPts val="2813"/>
              </a:lnSpc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 A reta cruza toca o eixo X quando b vale: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modelo.intercept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_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</a:p>
          <a:p>
            <a:pPr>
              <a:lnSpc>
                <a:spcPts val="2813"/>
              </a:lnSpc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"Qunado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X vale 65, a 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saida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vale: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modelo.predict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([[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65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]])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dirty="0">
              <a:solidFill>
                <a:srgbClr val="000000"/>
              </a:solidFill>
              <a:latin typeface="Roboto Mono" pitchFamily="2" charset="0"/>
            </a:endParaRPr>
          </a:p>
        </p:txBody>
      </p:sp>
      <p:sp>
        <p:nvSpPr>
          <p:cNvPr id="628" name="Shape 9"/>
          <p:cNvSpPr/>
          <p:nvPr/>
        </p:nvSpPr>
        <p:spPr>
          <a:xfrm>
            <a:off x="8823960" y="1938420"/>
            <a:ext cx="2468520" cy="731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10"/>
          <p:cNvSpPr/>
          <p:nvPr/>
        </p:nvSpPr>
        <p:spPr>
          <a:xfrm>
            <a:off x="8897040" y="2011500"/>
            <a:ext cx="23223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0B1F3A"/>
                </a:solidFill>
                <a:effectLst/>
                <a:uFillTx/>
                <a:latin typeface="Aptos"/>
              </a:rPr>
              <a:t>1. </a:t>
            </a:r>
            <a:r>
              <a:rPr lang="en-US" sz="1500" b="1" u="none" strike="noStrike" dirty="0" err="1">
                <a:solidFill>
                  <a:srgbClr val="0B1F3A"/>
                </a:solidFill>
                <a:effectLst/>
                <a:uFillTx/>
                <a:latin typeface="Aptos"/>
              </a:rPr>
              <a:t>Treinar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0B1F3A"/>
                </a:solidFill>
                <a:effectLst/>
                <a:uFillTx/>
                <a:latin typeface="Aptos"/>
              </a:rPr>
              <a:t>fit(</a:t>
            </a:r>
            <a:r>
              <a:rPr lang="en-US" sz="1500" b="1" u="none" strike="noStrike" dirty="0" err="1">
                <a:solidFill>
                  <a:srgbClr val="0B1F3A"/>
                </a:solidFill>
                <a:effectLst/>
                <a:uFillTx/>
                <a:latin typeface="Aptos"/>
              </a:rPr>
              <a:t>X,y</a:t>
            </a:r>
            <a:r>
              <a:rPr lang="en-US" sz="1500" b="1" u="none" strike="noStrike" dirty="0">
                <a:solidFill>
                  <a:srgbClr val="0B1F3A"/>
                </a:solidFill>
                <a:effectLst/>
                <a:uFillTx/>
                <a:latin typeface="Aptos"/>
              </a:rPr>
              <a:t>)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11"/>
          <p:cNvSpPr/>
          <p:nvPr/>
        </p:nvSpPr>
        <p:spPr>
          <a:xfrm>
            <a:off x="8823960" y="3127140"/>
            <a:ext cx="2468520" cy="73116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12"/>
          <p:cNvSpPr/>
          <p:nvPr/>
        </p:nvSpPr>
        <p:spPr>
          <a:xfrm>
            <a:off x="8897040" y="3200220"/>
            <a:ext cx="23223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0B1F3A"/>
                </a:solidFill>
                <a:effectLst/>
                <a:uFillTx/>
                <a:latin typeface="Aptos"/>
              </a:rPr>
              <a:t>2. Ler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0B1F3A"/>
                </a:solidFill>
                <a:effectLst/>
                <a:uFillTx/>
                <a:latin typeface="Aptos"/>
              </a:rPr>
              <a:t>W → </a:t>
            </a:r>
            <a:r>
              <a:rPr lang="en-US" sz="1500" b="1" u="none" strike="noStrike" dirty="0" err="1">
                <a:solidFill>
                  <a:srgbClr val="FF0000"/>
                </a:solidFill>
                <a:effectLst/>
                <a:uFillTx/>
                <a:latin typeface="Aptos"/>
              </a:rPr>
              <a:t>coef</a:t>
            </a:r>
            <a:r>
              <a:rPr lang="en-US" sz="1500" b="1" u="none" strike="noStrike" dirty="0">
                <a:solidFill>
                  <a:srgbClr val="FF0000"/>
                </a:solidFill>
                <a:effectLst/>
                <a:uFillTx/>
                <a:latin typeface="Aptos"/>
              </a:rPr>
              <a:t>_ 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0B1F3A"/>
                </a:solidFill>
                <a:effectLst/>
                <a:uFillTx/>
                <a:latin typeface="Aptos"/>
              </a:rPr>
              <a:t>B → </a:t>
            </a:r>
            <a:r>
              <a:rPr lang="en-US" sz="1500" b="1" u="none" strike="noStrike" dirty="0">
                <a:solidFill>
                  <a:srgbClr val="FF0000"/>
                </a:solidFill>
                <a:effectLst/>
                <a:uFillTx/>
                <a:latin typeface="Aptos"/>
              </a:rPr>
              <a:t>intercept_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13"/>
          <p:cNvSpPr/>
          <p:nvPr/>
        </p:nvSpPr>
        <p:spPr>
          <a:xfrm>
            <a:off x="8823960" y="4315860"/>
            <a:ext cx="2468520" cy="731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14"/>
          <p:cNvSpPr/>
          <p:nvPr/>
        </p:nvSpPr>
        <p:spPr>
          <a:xfrm>
            <a:off x="8897040" y="4388940"/>
            <a:ext cx="23223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3. Predizer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465A4"/>
                </a:solidFill>
                <a:effectLst/>
                <a:uFillTx/>
                <a:latin typeface="Aptos"/>
              </a:rPr>
              <a:t>predict([[65]])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Shape 80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38"/>
          <p:cNvSpPr/>
          <p:nvPr/>
        </p:nvSpPr>
        <p:spPr>
          <a:xfrm>
            <a:off x="502920" y="25596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MÃO NA MASSA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47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Parte III — Mini-laboratório em Python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48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49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20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50"/>
          <p:cNvSpPr/>
          <p:nvPr/>
        </p:nvSpPr>
        <p:spPr>
          <a:xfrm>
            <a:off x="822960" y="1143000"/>
            <a:ext cx="9875160" cy="8160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0B1F3A"/>
                </a:solidFill>
                <a:effectLst/>
                <a:uFillTx/>
                <a:latin typeface="Aptos"/>
              </a:rPr>
              <a:t>Use o Google </a:t>
            </a:r>
            <a:r>
              <a:rPr lang="en-US" sz="1800" b="1" u="none" strike="noStrike" dirty="0" err="1">
                <a:solidFill>
                  <a:srgbClr val="0B1F3A"/>
                </a:solidFill>
                <a:effectLst/>
                <a:uFillTx/>
                <a:latin typeface="Aptos"/>
              </a:rPr>
              <a:t>Colab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0B1F3A"/>
                </a:solidFill>
                <a:effectLst/>
                <a:uFillTx/>
                <a:latin typeface="Aptos"/>
              </a:rPr>
              <a:t>https://colab.research.google.com/</a:t>
            </a: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82"/>
          <p:cNvSpPr/>
          <p:nvPr/>
        </p:nvSpPr>
        <p:spPr>
          <a:xfrm>
            <a:off x="9051480" y="2700000"/>
            <a:ext cx="2468520" cy="731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52"/>
          <p:cNvSpPr/>
          <p:nvPr/>
        </p:nvSpPr>
        <p:spPr>
          <a:xfrm>
            <a:off x="9124560" y="2773080"/>
            <a:ext cx="23223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0B1F3A"/>
                </a:solidFill>
                <a:effectLst/>
                <a:uFillTx/>
                <a:latin typeface="Aptos"/>
              </a:rPr>
              <a:t>1. </a:t>
            </a:r>
            <a:r>
              <a:rPr lang="en-US" sz="1500" b="1" u="none" strike="noStrike" dirty="0" err="1">
                <a:solidFill>
                  <a:srgbClr val="0B1F3A"/>
                </a:solidFill>
                <a:effectLst/>
                <a:uFillTx/>
                <a:latin typeface="Aptos"/>
              </a:rPr>
              <a:t>Treinar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0B1F3A"/>
                </a:solidFill>
                <a:effectLst/>
                <a:uFillTx/>
                <a:latin typeface="Aptos"/>
              </a:rPr>
              <a:t>fit(</a:t>
            </a:r>
            <a:r>
              <a:rPr lang="en-US" sz="1500" b="1" u="none" strike="noStrike" dirty="0" err="1">
                <a:solidFill>
                  <a:srgbClr val="0B1F3A"/>
                </a:solidFill>
                <a:effectLst/>
                <a:uFillTx/>
                <a:latin typeface="Aptos"/>
              </a:rPr>
              <a:t>X,y</a:t>
            </a:r>
            <a:r>
              <a:rPr lang="en-US" sz="1500" b="1" u="none" strike="noStrike" dirty="0">
                <a:solidFill>
                  <a:srgbClr val="0B1F3A"/>
                </a:solidFill>
                <a:effectLst/>
                <a:uFillTx/>
                <a:latin typeface="Aptos"/>
              </a:rPr>
              <a:t>)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83"/>
          <p:cNvSpPr/>
          <p:nvPr/>
        </p:nvSpPr>
        <p:spPr>
          <a:xfrm>
            <a:off x="9051480" y="3888720"/>
            <a:ext cx="2468520" cy="73116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53"/>
          <p:cNvSpPr/>
          <p:nvPr/>
        </p:nvSpPr>
        <p:spPr>
          <a:xfrm>
            <a:off x="9124560" y="3961800"/>
            <a:ext cx="23223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0B1F3A"/>
                </a:solidFill>
                <a:effectLst/>
                <a:uFillTx/>
                <a:latin typeface="Aptos"/>
              </a:rPr>
              <a:t>2. Ler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0B1F3A"/>
                </a:solidFill>
                <a:effectLst/>
                <a:uFillTx/>
                <a:latin typeface="Aptos"/>
              </a:rPr>
              <a:t>W → </a:t>
            </a:r>
            <a:r>
              <a:rPr lang="en-US" sz="1500" b="1" u="none" strike="noStrike" dirty="0" err="1">
                <a:solidFill>
                  <a:srgbClr val="FF0000"/>
                </a:solidFill>
                <a:effectLst/>
                <a:uFillTx/>
                <a:latin typeface="Aptos"/>
              </a:rPr>
              <a:t>coef</a:t>
            </a:r>
            <a:r>
              <a:rPr lang="en-US" sz="1500" b="1" u="none" strike="noStrike" dirty="0">
                <a:solidFill>
                  <a:srgbClr val="FF0000"/>
                </a:solidFill>
                <a:effectLst/>
                <a:uFillTx/>
                <a:latin typeface="Aptos"/>
              </a:rPr>
              <a:t>_ 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0B1F3A"/>
                </a:solidFill>
                <a:effectLst/>
                <a:uFillTx/>
                <a:latin typeface="Aptos"/>
              </a:rPr>
              <a:t>B → </a:t>
            </a:r>
            <a:r>
              <a:rPr lang="en-US" sz="1500" b="1" u="none" strike="noStrike" dirty="0">
                <a:solidFill>
                  <a:srgbClr val="FF0000"/>
                </a:solidFill>
                <a:effectLst/>
                <a:uFillTx/>
                <a:latin typeface="Aptos"/>
              </a:rPr>
              <a:t>intercept_</a:t>
            </a:r>
            <a:endParaRPr lang="pt-B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84"/>
          <p:cNvSpPr/>
          <p:nvPr/>
        </p:nvSpPr>
        <p:spPr>
          <a:xfrm>
            <a:off x="9051480" y="5077440"/>
            <a:ext cx="2468520" cy="731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54"/>
          <p:cNvSpPr/>
          <p:nvPr/>
        </p:nvSpPr>
        <p:spPr>
          <a:xfrm>
            <a:off x="9124560" y="5150520"/>
            <a:ext cx="23223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3. Predizer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465A4"/>
                </a:solidFill>
                <a:effectLst/>
                <a:uFillTx/>
                <a:latin typeface="Aptos"/>
              </a:rPr>
              <a:t>predict([[65]])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7DD10AB-74FC-50D8-CCC3-3BCB146434B1}"/>
              </a:ext>
            </a:extLst>
          </p:cNvPr>
          <p:cNvSpPr txBox="1"/>
          <p:nvPr/>
        </p:nvSpPr>
        <p:spPr>
          <a:xfrm>
            <a:off x="745080" y="2032156"/>
            <a:ext cx="8079324" cy="4356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2813"/>
              </a:lnSpc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numpy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as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ts val="2813"/>
              </a:lnSpc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from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sklearn.linear_model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LinearRegression</a:t>
            </a:r>
            <a:endParaRPr lang="pt-BR" sz="1400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ts val="2813"/>
              </a:lnSpc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ts val="2813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X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np.array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([[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40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 [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50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 [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60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 [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70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 [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80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]])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ts val="2813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y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np.array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([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220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260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310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350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410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])</a:t>
            </a:r>
          </a:p>
          <a:p>
            <a:pPr marL="0" marR="0" indent="0" algn="l">
              <a:lnSpc>
                <a:spcPts val="2813"/>
              </a:lnSpc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ts val="2813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modelo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LinearRegression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ts val="2813"/>
              </a:lnSpc>
              <a:buNone/>
            </a:pP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modelo.fit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(X, y)</a:t>
            </a:r>
          </a:p>
          <a:p>
            <a:pPr marL="0" marR="0" indent="0" algn="l">
              <a:lnSpc>
                <a:spcPts val="2813"/>
              </a:lnSpc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ts val="2813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"O valor de w é: 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modelo.coef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_)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marR="0" indent="0" algn="l">
              <a:lnSpc>
                <a:spcPts val="2813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 A reta cruza toca o eixo X quando b vale: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modelo.intercept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_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</a:p>
          <a:p>
            <a:pPr>
              <a:lnSpc>
                <a:spcPts val="2813"/>
              </a:lnSpc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sz="14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"Qunado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X vale 65, a </a:t>
            </a:r>
            <a:r>
              <a:rPr lang="pt-BR" sz="14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saida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vale: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modelo.predict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([[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65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]])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2"/>
          <p:cNvSpPr/>
          <p:nvPr/>
        </p:nvSpPr>
        <p:spPr>
          <a:xfrm>
            <a:off x="502920" y="25596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APLICAÇÃO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Exercício em sala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21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6"/>
          <p:cNvSpPr/>
          <p:nvPr/>
        </p:nvSpPr>
        <p:spPr>
          <a:xfrm>
            <a:off x="822960" y="1143000"/>
            <a:ext cx="10240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Use os dados abaixo para treinar uma regressão linear e prever a nota de quem estudou 6 horas.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7"/>
          <p:cNvSpPr/>
          <p:nvPr/>
        </p:nvSpPr>
        <p:spPr>
          <a:xfrm>
            <a:off x="1005840" y="2011680"/>
            <a:ext cx="1554120" cy="52560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8"/>
          <p:cNvSpPr/>
          <p:nvPr/>
        </p:nvSpPr>
        <p:spPr>
          <a:xfrm>
            <a:off x="1033200" y="2048400"/>
            <a:ext cx="149940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Horas estudadas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9"/>
          <p:cNvSpPr/>
          <p:nvPr/>
        </p:nvSpPr>
        <p:spPr>
          <a:xfrm>
            <a:off x="2560320" y="2011680"/>
            <a:ext cx="822600" cy="52560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10"/>
          <p:cNvSpPr/>
          <p:nvPr/>
        </p:nvSpPr>
        <p:spPr>
          <a:xfrm>
            <a:off x="2587680" y="2048400"/>
            <a:ext cx="76788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1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11"/>
          <p:cNvSpPr/>
          <p:nvPr/>
        </p:nvSpPr>
        <p:spPr>
          <a:xfrm>
            <a:off x="3383280" y="2011680"/>
            <a:ext cx="822600" cy="52560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12"/>
          <p:cNvSpPr/>
          <p:nvPr/>
        </p:nvSpPr>
        <p:spPr>
          <a:xfrm>
            <a:off x="3410640" y="2048400"/>
            <a:ext cx="76788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2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13"/>
          <p:cNvSpPr/>
          <p:nvPr/>
        </p:nvSpPr>
        <p:spPr>
          <a:xfrm>
            <a:off x="4206240" y="2011680"/>
            <a:ext cx="822600" cy="52560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14"/>
          <p:cNvSpPr/>
          <p:nvPr/>
        </p:nvSpPr>
        <p:spPr>
          <a:xfrm>
            <a:off x="4233600" y="2048400"/>
            <a:ext cx="76788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3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15"/>
          <p:cNvSpPr/>
          <p:nvPr/>
        </p:nvSpPr>
        <p:spPr>
          <a:xfrm>
            <a:off x="5029200" y="2011680"/>
            <a:ext cx="822600" cy="52560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16"/>
          <p:cNvSpPr/>
          <p:nvPr/>
        </p:nvSpPr>
        <p:spPr>
          <a:xfrm>
            <a:off x="5056560" y="2048400"/>
            <a:ext cx="76788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4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Shape 17"/>
          <p:cNvSpPr/>
          <p:nvPr/>
        </p:nvSpPr>
        <p:spPr>
          <a:xfrm>
            <a:off x="5852160" y="2011680"/>
            <a:ext cx="822600" cy="52560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18"/>
          <p:cNvSpPr/>
          <p:nvPr/>
        </p:nvSpPr>
        <p:spPr>
          <a:xfrm>
            <a:off x="5879520" y="2048400"/>
            <a:ext cx="76788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5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19"/>
          <p:cNvSpPr/>
          <p:nvPr/>
        </p:nvSpPr>
        <p:spPr>
          <a:xfrm>
            <a:off x="1005840" y="2537640"/>
            <a:ext cx="155412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20"/>
          <p:cNvSpPr/>
          <p:nvPr/>
        </p:nvSpPr>
        <p:spPr>
          <a:xfrm>
            <a:off x="1033200" y="2574000"/>
            <a:ext cx="149940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Nota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21"/>
          <p:cNvSpPr/>
          <p:nvPr/>
        </p:nvSpPr>
        <p:spPr>
          <a:xfrm>
            <a:off x="2560320" y="2537640"/>
            <a:ext cx="82260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22"/>
          <p:cNvSpPr/>
          <p:nvPr/>
        </p:nvSpPr>
        <p:spPr>
          <a:xfrm>
            <a:off x="2587680" y="2574000"/>
            <a:ext cx="76788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2.0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23"/>
          <p:cNvSpPr/>
          <p:nvPr/>
        </p:nvSpPr>
        <p:spPr>
          <a:xfrm>
            <a:off x="3383280" y="2537640"/>
            <a:ext cx="82260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24"/>
          <p:cNvSpPr/>
          <p:nvPr/>
        </p:nvSpPr>
        <p:spPr>
          <a:xfrm>
            <a:off x="3410640" y="2574000"/>
            <a:ext cx="76788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3.5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25"/>
          <p:cNvSpPr/>
          <p:nvPr/>
        </p:nvSpPr>
        <p:spPr>
          <a:xfrm>
            <a:off x="4206240" y="2537640"/>
            <a:ext cx="82260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26"/>
          <p:cNvSpPr/>
          <p:nvPr/>
        </p:nvSpPr>
        <p:spPr>
          <a:xfrm>
            <a:off x="4233600" y="2574000"/>
            <a:ext cx="76788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5.1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Shape 27"/>
          <p:cNvSpPr/>
          <p:nvPr/>
        </p:nvSpPr>
        <p:spPr>
          <a:xfrm>
            <a:off x="5029200" y="2537640"/>
            <a:ext cx="82260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28"/>
          <p:cNvSpPr/>
          <p:nvPr/>
        </p:nvSpPr>
        <p:spPr>
          <a:xfrm>
            <a:off x="5056560" y="2574000"/>
            <a:ext cx="76788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6.8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29"/>
          <p:cNvSpPr/>
          <p:nvPr/>
        </p:nvSpPr>
        <p:spPr>
          <a:xfrm>
            <a:off x="5852160" y="2537640"/>
            <a:ext cx="822600" cy="52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30"/>
          <p:cNvSpPr/>
          <p:nvPr/>
        </p:nvSpPr>
        <p:spPr>
          <a:xfrm>
            <a:off x="5879520" y="2574000"/>
            <a:ext cx="767880" cy="4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8.0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Shape 31"/>
          <p:cNvSpPr/>
          <p:nvPr/>
        </p:nvSpPr>
        <p:spPr>
          <a:xfrm>
            <a:off x="1005840" y="3886200"/>
            <a:ext cx="274284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32"/>
          <p:cNvSpPr/>
          <p:nvPr/>
        </p:nvSpPr>
        <p:spPr>
          <a:xfrm>
            <a:off x="1078920" y="3959280"/>
            <a:ext cx="2596680" cy="72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Tarefa 1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Faça o gráfico de dispersão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33"/>
          <p:cNvSpPr/>
          <p:nvPr/>
        </p:nvSpPr>
        <p:spPr>
          <a:xfrm>
            <a:off x="4617720" y="3886200"/>
            <a:ext cx="2742840" cy="868320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34"/>
          <p:cNvSpPr/>
          <p:nvPr/>
        </p:nvSpPr>
        <p:spPr>
          <a:xfrm>
            <a:off x="4690800" y="3959280"/>
            <a:ext cx="2596680" cy="72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Tarefa 2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Ajuste o modelo linear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35"/>
          <p:cNvSpPr/>
          <p:nvPr/>
        </p:nvSpPr>
        <p:spPr>
          <a:xfrm>
            <a:off x="8229600" y="3886200"/>
            <a:ext cx="274284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36"/>
          <p:cNvSpPr/>
          <p:nvPr/>
        </p:nvSpPr>
        <p:spPr>
          <a:xfrm>
            <a:off x="8302680" y="3959280"/>
            <a:ext cx="2596680" cy="72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Tarefa 3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Interprete w, b e a previsão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 37"/>
          <p:cNvSpPr/>
          <p:nvPr/>
        </p:nvSpPr>
        <p:spPr>
          <a:xfrm>
            <a:off x="1371600" y="5760720"/>
            <a:ext cx="9509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Discussão: a previsão é confiável fora do intervalo observado?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2"/>
          <p:cNvSpPr/>
          <p:nvPr/>
        </p:nvSpPr>
        <p:spPr>
          <a:xfrm>
            <a:off x="502920" y="25596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FECHAMENTO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 3"/>
          <p:cNvSpPr/>
          <p:nvPr/>
        </p:nvSpPr>
        <p:spPr>
          <a:xfrm>
            <a:off x="502920" y="51192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Resumo final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4"/>
          <p:cNvSpPr/>
          <p:nvPr/>
        </p:nvSpPr>
        <p:spPr>
          <a:xfrm>
            <a:off x="502920" y="6446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5"/>
          <p:cNvSpPr/>
          <p:nvPr/>
        </p:nvSpPr>
        <p:spPr>
          <a:xfrm>
            <a:off x="11247120" y="64191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22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6"/>
          <p:cNvSpPr/>
          <p:nvPr/>
        </p:nvSpPr>
        <p:spPr>
          <a:xfrm>
            <a:off x="914400" y="1234440"/>
            <a:ext cx="3017160" cy="52992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7"/>
          <p:cNvSpPr/>
          <p:nvPr/>
        </p:nvSpPr>
        <p:spPr>
          <a:xfrm>
            <a:off x="987480" y="1307520"/>
            <a:ext cx="287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Função conhecida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8"/>
          <p:cNvSpPr/>
          <p:nvPr/>
        </p:nvSpPr>
        <p:spPr>
          <a:xfrm>
            <a:off x="4572000" y="1234440"/>
            <a:ext cx="4297320" cy="52992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9"/>
          <p:cNvSpPr/>
          <p:nvPr/>
        </p:nvSpPr>
        <p:spPr>
          <a:xfrm>
            <a:off x="4709160" y="1307520"/>
            <a:ext cx="4023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x + f → y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10"/>
          <p:cNvSpPr/>
          <p:nvPr/>
        </p:nvSpPr>
        <p:spPr>
          <a:xfrm>
            <a:off x="914400" y="2057400"/>
            <a:ext cx="3017160" cy="52992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11"/>
          <p:cNvSpPr/>
          <p:nvPr/>
        </p:nvSpPr>
        <p:spPr>
          <a:xfrm>
            <a:off x="987480" y="2130480"/>
            <a:ext cx="287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Machine Learning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12"/>
          <p:cNvSpPr/>
          <p:nvPr/>
        </p:nvSpPr>
        <p:spPr>
          <a:xfrm>
            <a:off x="4572000" y="2057400"/>
            <a:ext cx="4297320" cy="52992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13"/>
          <p:cNvSpPr/>
          <p:nvPr/>
        </p:nvSpPr>
        <p:spPr>
          <a:xfrm>
            <a:off x="4709160" y="2130480"/>
            <a:ext cx="4023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X + Y → modelo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Shape 14"/>
          <p:cNvSpPr/>
          <p:nvPr/>
        </p:nvSpPr>
        <p:spPr>
          <a:xfrm>
            <a:off x="914400" y="2880360"/>
            <a:ext cx="3017160" cy="529920"/>
          </a:xfrm>
          <a:prstGeom prst="roundRect">
            <a:avLst>
              <a:gd name="adj" fmla="val 13793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15"/>
          <p:cNvSpPr/>
          <p:nvPr/>
        </p:nvSpPr>
        <p:spPr>
          <a:xfrm>
            <a:off x="987480" y="2953440"/>
            <a:ext cx="287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Regressão Linear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16"/>
          <p:cNvSpPr/>
          <p:nvPr/>
        </p:nvSpPr>
        <p:spPr>
          <a:xfrm>
            <a:off x="4572000" y="2880360"/>
            <a:ext cx="4297320" cy="52992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17"/>
          <p:cNvSpPr/>
          <p:nvPr/>
        </p:nvSpPr>
        <p:spPr>
          <a:xfrm>
            <a:off x="4709160" y="2953440"/>
            <a:ext cx="4023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ŷ = wx + b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18"/>
          <p:cNvSpPr/>
          <p:nvPr/>
        </p:nvSpPr>
        <p:spPr>
          <a:xfrm>
            <a:off x="914400" y="3703320"/>
            <a:ext cx="3017160" cy="52992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19"/>
          <p:cNvSpPr/>
          <p:nvPr/>
        </p:nvSpPr>
        <p:spPr>
          <a:xfrm>
            <a:off x="987480" y="3776400"/>
            <a:ext cx="287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Treinamento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Shape 20"/>
          <p:cNvSpPr/>
          <p:nvPr/>
        </p:nvSpPr>
        <p:spPr>
          <a:xfrm>
            <a:off x="4572000" y="3703320"/>
            <a:ext cx="4297320" cy="52992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21"/>
          <p:cNvSpPr/>
          <p:nvPr/>
        </p:nvSpPr>
        <p:spPr>
          <a:xfrm>
            <a:off x="4709160" y="3776400"/>
            <a:ext cx="4023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minimizar erro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22"/>
          <p:cNvSpPr/>
          <p:nvPr/>
        </p:nvSpPr>
        <p:spPr>
          <a:xfrm>
            <a:off x="914400" y="4526280"/>
            <a:ext cx="3017160" cy="52992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23"/>
          <p:cNvSpPr/>
          <p:nvPr/>
        </p:nvSpPr>
        <p:spPr>
          <a:xfrm>
            <a:off x="987480" y="4599360"/>
            <a:ext cx="287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Otimização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24"/>
          <p:cNvSpPr/>
          <p:nvPr/>
        </p:nvSpPr>
        <p:spPr>
          <a:xfrm>
            <a:off x="4572000" y="4526280"/>
            <a:ext cx="4297320" cy="52992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 25"/>
          <p:cNvSpPr/>
          <p:nvPr/>
        </p:nvSpPr>
        <p:spPr>
          <a:xfrm>
            <a:off x="4709160" y="4599360"/>
            <a:ext cx="4023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B1F3A"/>
                </a:solidFill>
                <a:effectLst/>
                <a:uFillTx/>
                <a:latin typeface="Cambria Math"/>
                <a:ea typeface="Cambria Math"/>
              </a:rPr>
              <a:t>OLS, GD ou SGD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26"/>
          <p:cNvSpPr/>
          <p:nvPr/>
        </p:nvSpPr>
        <p:spPr>
          <a:xfrm>
            <a:off x="1005840" y="5806440"/>
            <a:ext cx="9875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85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Ideia central: aprender um modelo é estimar parâmetros que reduzem o erro entre previsão e realidade.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732</TotalTime>
  <Words>1884</Words>
  <Application>Microsoft Office PowerPoint</Application>
  <PresentationFormat>Widescreen</PresentationFormat>
  <Paragraphs>514</Paragraphs>
  <Slides>27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40" baseType="lpstr">
      <vt:lpstr>Aptos</vt:lpstr>
      <vt:lpstr>Aptos Display</vt:lpstr>
      <vt:lpstr>Arial</vt:lpstr>
      <vt:lpstr>Cambria Math</vt:lpstr>
      <vt:lpstr>Consolas</vt:lpstr>
      <vt:lpstr>Inter</vt:lpstr>
      <vt:lpstr>KaTeX_Main</vt:lpstr>
      <vt:lpstr>KaTeX_Math</vt:lpstr>
      <vt:lpstr>Roboto Mono</vt:lpstr>
      <vt:lpstr>Symbol</vt:lpstr>
      <vt:lpstr>Times New Roman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UNIP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Regressão Linear</dc:title>
  <dc:subject>Aula de Regressão Linear</dc:subject>
  <dc:creator>OpenAI</dc:creator>
  <dc:description/>
  <cp:lastModifiedBy>Miguel Suarez Xavier Penteado</cp:lastModifiedBy>
  <cp:revision>20</cp:revision>
  <dcterms:created xsi:type="dcterms:W3CDTF">2026-08-17T22:52:05Z</dcterms:created>
  <dcterms:modified xsi:type="dcterms:W3CDTF">2026-08-21T03:43:08Z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26</vt:i4>
  </property>
  <property fmtid="{D5CDD505-2E9C-101B-9397-08002B2CF9AE}" pid="3" name="PresentationFormat">
    <vt:lpwstr>Widescreen</vt:lpwstr>
  </property>
  <property fmtid="{D5CDD505-2E9C-101B-9397-08002B2CF9AE}" pid="4" name="Slides">
    <vt:i4>26</vt:i4>
  </property>
</Properties>
</file>