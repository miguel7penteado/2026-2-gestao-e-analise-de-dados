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50"/>
  </p:notesMasterIdLst>
  <p:sldIdLst>
    <p:sldId id="273" r:id="rId6"/>
    <p:sldId id="274" r:id="rId7"/>
    <p:sldId id="266" r:id="rId8"/>
    <p:sldId id="256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02" r:id="rId18"/>
    <p:sldId id="317" r:id="rId19"/>
    <p:sldId id="318" r:id="rId20"/>
    <p:sldId id="319" r:id="rId21"/>
    <p:sldId id="320" r:id="rId22"/>
    <p:sldId id="303" r:id="rId23"/>
    <p:sldId id="304" r:id="rId24"/>
    <p:sldId id="305" r:id="rId25"/>
    <p:sldId id="306" r:id="rId26"/>
    <p:sldId id="307" r:id="rId27"/>
    <p:sldId id="267" r:id="rId28"/>
    <p:sldId id="282" r:id="rId29"/>
    <p:sldId id="283" r:id="rId30"/>
    <p:sldId id="268" r:id="rId31"/>
    <p:sldId id="284" r:id="rId32"/>
    <p:sldId id="285" r:id="rId33"/>
    <p:sldId id="289" r:id="rId34"/>
    <p:sldId id="286" r:id="rId35"/>
    <p:sldId id="287" r:id="rId36"/>
    <p:sldId id="288" r:id="rId37"/>
    <p:sldId id="290" r:id="rId38"/>
    <p:sldId id="291" r:id="rId39"/>
    <p:sldId id="292" r:id="rId40"/>
    <p:sldId id="294" r:id="rId41"/>
    <p:sldId id="295" r:id="rId42"/>
    <p:sldId id="296" r:id="rId43"/>
    <p:sldId id="297" r:id="rId44"/>
    <p:sldId id="293" r:id="rId45"/>
    <p:sldId id="298" r:id="rId46"/>
    <p:sldId id="299" r:id="rId47"/>
    <p:sldId id="300" r:id="rId48"/>
    <p:sldId id="301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B6ECFF"/>
    <a:srgbClr val="FF7C7C"/>
    <a:srgbClr val="5C883F"/>
    <a:srgbClr val="2563EB"/>
    <a:srgbClr val="D6DCE5"/>
    <a:srgbClr val="3E5B2A"/>
    <a:srgbClr val="F8F8F8"/>
    <a:srgbClr val="E03D3D"/>
    <a:srgbClr val="E24F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66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F0D617-58B0-48D7-90B7-0ABD06AE6839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  <a:cs typeface="DejaVu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DejaVu Sans"/>
              <a:cs typeface="DejaVu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F82339-5E22-4774-A41C-D5077A7CFDFF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  <a:cs typeface="DejaVu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DejaVu Sans"/>
              <a:cs typeface="DejaVu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6E791-57D0-8F03-A749-9FCE338F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45349-5DA0-4106-92F8-99D3C2DA0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BBFCEF-8F58-E2CD-46A7-9152D34EB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B1BCD-E57E-6353-04DF-607CC97BD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7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8151-9443-A9AA-599B-8372D657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06848-991F-7A37-75E5-4E04CE423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4D68A-87AB-575E-6C74-9E44DCB22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49AF3-537B-4AC6-8075-CA8082977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76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7375-8C13-4039-FE06-423510FE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2BEB9-1575-E4AC-9056-0B8F9942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373A1-6496-13B8-A472-FBFEA3B53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7712F-4EB1-0557-FEB1-F42DCA10E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62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1936-C3C2-8A4C-37BF-215FF7A9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39911-78BB-4096-3FAD-D2B3EEBA2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2CEE8-B552-D6EC-51B2-95F4662BE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E4353-E896-0D7D-42F2-5D5F24FCC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33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F10AD-D251-FCEC-D28C-C291D5765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AC211-B295-56A0-F16E-53F59CCAC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50895-7C00-CB8B-45A5-9038B7902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83668-EC5C-755B-ED55-E9B30642B3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15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FF99D-CCF2-97E7-0C68-C57D8AA70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3FA03-0BE2-92FC-C3C4-3B9D8F3A2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98249-6569-B0A4-739F-257D67C42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10ED3-1C24-FE0B-DBC9-129715A2C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59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BBECC-C91F-79D9-6E2B-DDCF850CA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3A30C-55CD-93CB-8B81-34A5994F5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3E241-3ACB-0D6D-150E-7C2121845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BB0E7-C9D9-BF31-DF2A-62C0600AA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59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D361E-0D93-BDB3-34B7-A4F93274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>
            <a:extLst>
              <a:ext uri="{FF2B5EF4-FFF2-40B4-BE49-F238E27FC236}">
                <a16:creationId xmlns:a16="http://schemas.microsoft.com/office/drawing/2014/main" id="{16A44AF6-4AE9-8562-A25A-A73BCDA5A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>
            <a:extLst>
              <a:ext uri="{FF2B5EF4-FFF2-40B4-BE49-F238E27FC236}">
                <a16:creationId xmlns:a16="http://schemas.microsoft.com/office/drawing/2014/main" id="{C0D6399F-443C-1FED-D097-A424A807EF5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>
            <a:extLst>
              <a:ext uri="{FF2B5EF4-FFF2-40B4-BE49-F238E27FC236}">
                <a16:creationId xmlns:a16="http://schemas.microsoft.com/office/drawing/2014/main" id="{2BAFC451-BBD0-774E-6D5C-8C87FF7CF9D9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F82339-5E22-4774-A41C-D5077A7CFDFF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  <a:cs typeface="DejaVu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218319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FF30B-7B24-A295-30F7-FA47472E7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DDD4B-2B3F-11C4-6BD2-3CBF4D7B3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C6656-0D18-1E7F-5649-09DFAF48A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05A53-4CE7-145B-06B3-E52359FDD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25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7B779-4865-EB2F-8742-8566E8CE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9BB24-AB71-1487-178E-5BE8928F4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FB0F9-9DA2-E748-1348-42F664108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F135-6FE0-65B0-42CE-0ABF74DC6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8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AEE6-FCB2-769F-7F01-4311590C7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840A5-9896-D492-E7AF-18937D9C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F85C4-2177-FC47-3CD4-2A25FD5B4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E9520-4160-D539-1D49-23A7A259C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85563-CFDE-C15F-EC15-D04C727B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96A33-3F9D-D2C5-2460-3CBAAF57C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A9CBB-DBD2-A477-7DB1-0ED295C7B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A1498-01E0-9841-4B7B-256728277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113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F4AE-316D-1AB7-F183-F2E26746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395BA-9FAA-9088-3156-DEA9BFD74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45B86-95E5-5203-9239-1619587E2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CC7E1-E86B-47E1-194C-F8296CB55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80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949D-4825-51F4-DCA2-68AD37D0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EFBD4-5A14-DFB4-E64B-704214D6D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D4761-78AE-DD29-B0A4-460CDB18C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6B1CE-52B9-0556-1E73-80099A2D0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26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AA9C-FC29-D473-8BAD-6A402179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B089C-12E0-C01E-3756-F0C2DE90B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99FB9-3909-1285-2D71-928D45972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5AEF4-8E00-854E-B18D-C10CB4BAC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87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D9552-6007-F1A7-CBDD-F0840830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D1002-AF0D-32F6-0537-80E5F1253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66ADD-B67C-BD26-4EFB-4466636DC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0132E-6368-C440-DF35-BA2C17760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459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EE5ED-569A-370F-BC49-F724399C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71476-A54E-D850-9C8A-3808391A8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3B6AB-576D-D65A-1258-1BC277C03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5CF12-6316-67EF-8568-9A4315ABCF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949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630DE-DC73-022E-7420-75AF822FE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116E5-C796-3EEB-7561-93A8B63FC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90AD0-7261-A3FD-4612-4D795E053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B6741-2117-79C2-B6B6-09B565BF9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936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C0AB-AAB9-4BBB-ED10-522BF23B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30E12-A785-53DD-1F80-D2AA12996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96C80-89A9-7DCC-1FA2-98204E987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71EE4-F05A-0B5A-9CD4-30E3BCF75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44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2E0BB-5B6E-ED96-1E40-5ACE7120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393AB-9CAA-C988-0671-5DFE8EF2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FE9A8-2E75-1780-07FD-CBB88B502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0946A-786F-4F65-95C6-65B9A5759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249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E1238-ADCB-F60F-F8CF-26CC44A9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8D953-E850-40F2-5A20-D39C8115B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F7036-D372-F52B-EFA0-2E10342CE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0E3EA-147C-D088-FFA0-48AD9E8D4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418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2CF8F-7E26-35E4-F31B-991319C6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7A8F9-8BEF-61FA-D067-2F5CD51DE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C1C6F-E915-A900-F2EA-8F0152749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B4232-E054-BC45-FAEE-0FF5C8986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78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4BFBE-3307-0D3F-8703-1A649542F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DFB51-C4CA-4CA7-37B4-0D6AABCAC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A759A-32AF-D08D-5C56-9C3B26D5E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62D1E-315F-8D46-5A5C-42FD59D44C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42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8CB3-96A9-230A-B4DF-A385A84CD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8627B-2377-A7C7-5529-7538DACB8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5C71C-BA58-724A-1FE9-9CE15B3AA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4B811-9A7B-AABA-34FD-5AA01094E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130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A4061-A8E1-C7A4-AAC4-93F79E84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F5910-C313-BA3A-372F-BE477BB21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4A91B-E97A-6EB5-6C24-10EF5BD85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F2686-0982-A488-2615-2D9624BA8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085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000BA-AF31-5D64-1984-DA05D380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2A07F-300D-E97C-BA61-F98E0D066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9461D-9C09-213F-9776-F84996072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B53B0-915F-A5DF-6B05-6514117750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784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D239A-3BC5-6E41-F6F7-F9E37478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326B8-8D51-56E9-C8B3-30EB2E13B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B09B4-2DF3-8D98-3D5B-6FEB2D627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D717A-0441-044D-12E9-1E016FE7E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274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3EA92-3D00-4C9D-0180-F9FCE99E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ECD82-DB2D-FCB1-D7D0-1AC8804B9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9C094-F9D6-D6E4-7DE8-17C0A01F4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236AE-CB18-191B-83C5-278480194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43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4081-166C-2FF5-9E0F-689C813ED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CDE28-B0D8-F919-21A2-C7265C512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02DD4-623C-2AA8-1650-77035F440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399B3-B689-3601-5178-522BF666F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688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64CD-AF16-06B8-2F95-B59131CEE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28A35-D099-D863-9070-41CFD3239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13061-8E62-3303-D664-1D81AA4FE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0C3B2-1837-D395-74F3-6CE2D5A52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000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2E72-4309-286F-8066-65042830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264BD-84C9-ACE9-F2FB-3A9BF42ED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AB691-739F-01B4-D659-FDBF6A7FC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2869F-DBF4-1416-D3F7-752F4ADEC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746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9FED-E427-AF49-7E3D-D410CB01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66A3E-6CE6-9EA8-7BBD-7886F8119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FF543-7869-744D-8685-70A8C84FA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9FB6-1CAE-3B34-48F7-2E8935EBF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994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5714B-29EA-9A18-E220-C37B7DD3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1FFF0-AE21-EF68-6528-53429D96F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F520E-F18D-ECBB-D1B0-47DA87303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3C00C-B500-7281-3909-8497C08DD2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974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6C01-9D98-5AD9-4082-884152B04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BAA2F-09CA-9795-015E-3BA16BAEC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1156C-086E-4A53-A5F0-0BC7AE3C6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C6812-2692-9E74-3790-CCEE8AD9CB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420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34B4A-213D-520B-9741-24AC8FF3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A3FCB-BF5F-A1CF-3DAD-51C438209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6A4C8-C99F-FF2D-D69F-1EBF6632D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8858F-4398-4FE1-601A-57DED6D58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680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FB3A2-D117-3B46-DA85-14D2A6385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43812-24CE-710C-513F-5742B9CF1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919A7-8617-ECB7-3FF3-FB9F5A0BC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026C8-B3D5-3FFB-2F50-B6F189734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791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6B0B-7F71-26FD-F767-E685D225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24ABA-076B-8822-5248-A08E55BCF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C64AD-B5B9-E39D-1EE2-F7EB3A77A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5CBDD-D567-37F1-C289-36EC8F8F9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256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3411-2DA2-5E29-8AD1-7909434F2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CCA75-72B5-211F-3446-3A8283DBA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27B70-37F2-88BA-5FD9-25E262EA3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AF7D1-8AEA-BA10-527C-3BACCCEAA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41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  <p:extLst>
      <p:ext uri="{BB962C8B-B14F-4D97-AF65-F5344CB8AC3E}">
        <p14:creationId xmlns:p14="http://schemas.microsoft.com/office/powerpoint/2010/main" val="1623070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web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eb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ebp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eb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web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webp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4"/>
          <p:cNvSpPr/>
          <p:nvPr/>
        </p:nvSpPr>
        <p:spPr>
          <a:xfrm>
            <a:off x="702360" y="712800"/>
            <a:ext cx="9301332" cy="20287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Aptos Display"/>
                <a:cs typeface="+mn-cs"/>
              </a:rPr>
              <a:t>Aula 05 – </a:t>
            </a:r>
            <a:r>
              <a:rPr lang="en-US" sz="4400" b="1" dirty="0" err="1">
                <a:solidFill>
                  <a:srgbClr val="FFFFFF"/>
                </a:solidFill>
                <a:latin typeface="Aptos Display"/>
                <a:ea typeface="Aptos Display"/>
              </a:rPr>
              <a:t>Dilema</a:t>
            </a:r>
            <a:r>
              <a:rPr lang="en-US" sz="4400" b="1" dirty="0">
                <a:solidFill>
                  <a:srgbClr val="FFFFFF"/>
                </a:solidFill>
                <a:latin typeface="Aptos Display"/>
                <a:ea typeface="Aptos Display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Aptos Display"/>
                <a:ea typeface="Aptos Display"/>
              </a:rPr>
              <a:t>Viés-Variança</a:t>
            </a:r>
            <a:r>
              <a:rPr lang="en-US" sz="4400" b="1" dirty="0">
                <a:solidFill>
                  <a:srgbClr val="FFFFFF"/>
                </a:solidFill>
                <a:latin typeface="Aptos Display"/>
                <a:ea typeface="Aptos Display"/>
              </a:rPr>
              <a:t> e </a:t>
            </a:r>
            <a:r>
              <a:rPr lang="en-US" sz="4400" b="1" dirty="0" err="1">
                <a:solidFill>
                  <a:srgbClr val="FFFFFF"/>
                </a:solidFill>
                <a:latin typeface="Aptos Display"/>
                <a:ea typeface="Aptos Display"/>
              </a:rPr>
              <a:t>Métricas</a:t>
            </a:r>
            <a:r>
              <a:rPr lang="en-US" sz="4400" b="1" dirty="0">
                <a:solidFill>
                  <a:srgbClr val="FFFFFF"/>
                </a:solidFill>
                <a:latin typeface="Aptos Display"/>
                <a:ea typeface="Aptos Display"/>
              </a:rPr>
              <a:t> de </a:t>
            </a:r>
            <a:r>
              <a:rPr lang="en-US" sz="4400" b="1" dirty="0" err="1">
                <a:solidFill>
                  <a:srgbClr val="FFFFFF"/>
                </a:solidFill>
                <a:latin typeface="Aptos Display"/>
                <a:ea typeface="Aptos Display"/>
              </a:rPr>
              <a:t>Avaliação</a:t>
            </a:r>
            <a:endParaRPr kumimoji="0" lang="pt-BR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5"/>
          <p:cNvSpPr/>
          <p:nvPr/>
        </p:nvSpPr>
        <p:spPr>
          <a:xfrm>
            <a:off x="701280" y="2814972"/>
            <a:ext cx="2432689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7EAF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Professor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7EAF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Miguél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7EAF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Suares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hape 6"/>
              <p:cNvSpPr/>
              <p:nvPr/>
            </p:nvSpPr>
            <p:spPr>
              <a:xfrm>
                <a:off x="570451" y="3217505"/>
                <a:ext cx="10592023" cy="498136"/>
              </a:xfrm>
              <a:prstGeom prst="roundRect">
                <a:avLst>
                  <a:gd name="adj" fmla="val 9412"/>
                </a:avLst>
              </a:prstGeom>
              <a:solidFill>
                <a:srgbClr val="132F55"/>
              </a:solidFill>
              <a:ln w="15240">
                <a:solidFill>
                  <a:srgbClr val="4DA3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𝐸𝑁𝑇𝑅𝐴𝐷𝐴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𝐶𝑂𝑁𝐻𝐸𝐶𝐼𝐷𝐴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⇒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𝑇𝑅𝐸𝐼𝑁𝑂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⇒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𝑆𝐴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Í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𝐷𝐴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𝐶𝑂𝑁𝐻𝐸𝐶𝐼𝐷𝐴</m:t>
                      </m:r>
                    </m:oMath>
                  </m:oMathPara>
                </a14:m>
                <a:endParaRPr kumimoji="0" lang="pt-B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Shap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51" y="3217505"/>
                <a:ext cx="10592023" cy="498136"/>
              </a:xfrm>
              <a:prstGeom prst="roundRect">
                <a:avLst>
                  <a:gd name="adj" fmla="val 9412"/>
                </a:avLst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4DA3FF"/>
                </a:solidFill>
                <a:round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7"/>
          <p:cNvSpPr/>
          <p:nvPr/>
        </p:nvSpPr>
        <p:spPr>
          <a:xfrm>
            <a:off x="7551732" y="2632926"/>
            <a:ext cx="301716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lvl="0" algn="ctr">
              <a:tabLst>
                <a:tab pos="0" algn="l"/>
              </a:tabLst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749880" y="50392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BBD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UNIP • GTI – Oferta 2026 - Gestão e Análise de Dados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Retângulo 18"/>
          <p:cNvSpPr/>
          <p:nvPr/>
        </p:nvSpPr>
        <p:spPr>
          <a:xfrm>
            <a:off x="0" y="0"/>
            <a:ext cx="12191760" cy="71280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Retângulo 20"/>
          <p:cNvSpPr/>
          <p:nvPr/>
        </p:nvSpPr>
        <p:spPr>
          <a:xfrm>
            <a:off x="-360" y="5852160"/>
            <a:ext cx="12191760" cy="71280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6" name="Imagem 25"/>
          <p:cNvPicPr/>
          <p:nvPr/>
        </p:nvPicPr>
        <p:blipFill>
          <a:blip r:embed="rId4"/>
          <a:stretch/>
        </p:blipFill>
        <p:spPr>
          <a:xfrm>
            <a:off x="4116960" y="0"/>
            <a:ext cx="3533400" cy="712800"/>
          </a:xfrm>
          <a:prstGeom prst="rect">
            <a:avLst/>
          </a:prstGeom>
          <a:noFill/>
          <a:ln w="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6">
                <a:extLst>
                  <a:ext uri="{FF2B5EF4-FFF2-40B4-BE49-F238E27FC236}">
                    <a16:creationId xmlns:a16="http://schemas.microsoft.com/office/drawing/2014/main" id="{19988A39-07FD-ECDD-B085-7D4C968F0B04}"/>
                  </a:ext>
                </a:extLst>
              </p:cNvPr>
              <p:cNvSpPr/>
              <p:nvPr/>
            </p:nvSpPr>
            <p:spPr>
              <a:xfrm>
                <a:off x="570451" y="3957686"/>
                <a:ext cx="10592023" cy="498136"/>
              </a:xfrm>
              <a:prstGeom prst="roundRect">
                <a:avLst>
                  <a:gd name="adj" fmla="val 9412"/>
                </a:avLst>
              </a:prstGeom>
              <a:solidFill>
                <a:srgbClr val="132F55"/>
              </a:solidFill>
              <a:ln w="15240">
                <a:solidFill>
                  <a:srgbClr val="4DA3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03D3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𝐸𝑁𝑇𝑅𝐴𝐷𝐴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03D3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03D3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𝐷𝐸𝑆𝐶𝑂𝑁𝐻𝐸𝐶𝐼𝐷𝐴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⇒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𝑇𝐸𝑆𝑇𝐸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⇒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03D3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𝑆𝐴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03D3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Í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03D3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𝐷𝐴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03D3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pt-B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03D3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𝐷𝐸𝑆𝐶𝑂𝑁𝐻𝐸𝐶𝐼𝐷𝐴</m:t>
                      </m:r>
                    </m:oMath>
                  </m:oMathPara>
                </a14:m>
                <a:endParaRPr kumimoji="0" lang="pt-B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03D3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Shape 6">
                <a:extLst>
                  <a:ext uri="{FF2B5EF4-FFF2-40B4-BE49-F238E27FC236}">
                    <a16:creationId xmlns:a16="http://schemas.microsoft.com/office/drawing/2014/main" id="{19988A39-07FD-ECDD-B085-7D4C968F0B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51" y="3957686"/>
                <a:ext cx="10592023" cy="498136"/>
              </a:xfrm>
              <a:prstGeom prst="roundRect">
                <a:avLst>
                  <a:gd name="adj" fmla="val 9412"/>
                </a:avLst>
              </a:prstGeom>
              <a:blipFill>
                <a:blip r:embed="rId5"/>
                <a:stretch>
                  <a:fillRect/>
                </a:stretch>
              </a:blipFill>
              <a:ln w="15240">
                <a:solidFill>
                  <a:srgbClr val="4DA3FF"/>
                </a:solidFill>
                <a:round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/>
                <a:ea typeface="Aptos Display"/>
                <a:cs typeface="+mn-cs"/>
              </a:rPr>
              <a:t>AGENDA</a:t>
            </a:r>
            <a:endParaRPr kumimoji="0" lang="pt-BR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Regressão Linear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731520" y="1234440"/>
            <a:ext cx="456840" cy="45684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7"/>
          <p:cNvSpPr/>
          <p:nvPr/>
        </p:nvSpPr>
        <p:spPr>
          <a:xfrm>
            <a:off x="731520" y="1344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 8"/>
          <p:cNvSpPr/>
          <p:nvPr/>
        </p:nvSpPr>
        <p:spPr>
          <a:xfrm>
            <a:off x="1371600" y="1024200"/>
            <a:ext cx="671256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>
              <a:tabLst>
                <a:tab pos="0" algn="l"/>
              </a:tabLst>
              <a:defRPr/>
            </a:pPr>
            <a:r>
              <a:rPr lang="pt-BR" dirty="0"/>
              <a:t>Qual é a diferença entre </a:t>
            </a:r>
            <a:r>
              <a:rPr lang="pt-BR" b="1" dirty="0"/>
              <a:t>TERINAR </a:t>
            </a:r>
            <a:r>
              <a:rPr lang="pt-BR" dirty="0"/>
              <a:t>um modelo e </a:t>
            </a:r>
            <a:r>
              <a:rPr lang="pt-BR" b="1" dirty="0"/>
              <a:t>TESTAR </a:t>
            </a:r>
            <a:r>
              <a:rPr lang="pt-BR" dirty="0"/>
              <a:t>um modelo?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731520" y="2057400"/>
            <a:ext cx="456840" cy="456840"/>
          </a:xfrm>
          <a:prstGeom prst="ellipse">
            <a:avLst/>
          </a:prstGeom>
          <a:noFill/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731520" y="21672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2563E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1371600" y="214884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é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Generalizar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e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SuperAjustar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(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OverFit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 um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modelo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?</a:t>
            </a:r>
            <a:endParaRPr kumimoji="0" lang="pt-BR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731520" y="288036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731520" y="29901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1371600" y="297180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O que significa um modelo possuir </a:t>
            </a:r>
            <a:r>
              <a:rPr lang="pt-BR" b="1" dirty="0"/>
              <a:t>alto viés ?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731520" y="370332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731520" y="38131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371600" y="379476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O que significa possuir </a:t>
            </a:r>
            <a:r>
              <a:rPr lang="pt-BR" b="1" dirty="0"/>
              <a:t>alta variância</a:t>
            </a:r>
            <a:r>
              <a:rPr lang="pt-BR" dirty="0"/>
              <a:t>?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Shape 18"/>
          <p:cNvSpPr/>
          <p:nvPr/>
        </p:nvSpPr>
        <p:spPr>
          <a:xfrm>
            <a:off x="731520" y="452628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731520" y="463608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1371600" y="461772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Aumentar a complexidade do modelo sempre melhora as previsões ?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8412480" y="128016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8485560" y="135324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Parte 0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Funções → Modelos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8412480" y="237744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8485560" y="245052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Parte I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Problema de regressão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8412480" y="347472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8485560" y="354780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Parte II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Modelo, erro e otimização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Shape 27"/>
          <p:cNvSpPr/>
          <p:nvPr/>
        </p:nvSpPr>
        <p:spPr>
          <a:xfrm>
            <a:off x="8412480" y="457200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28"/>
          <p:cNvSpPr/>
          <p:nvPr/>
        </p:nvSpPr>
        <p:spPr>
          <a:xfrm>
            <a:off x="8485560" y="464508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Parte III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Python e exercício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98B33EF8-F3B1-2E29-A218-09F237F6DB1F}"/>
              </a:ext>
            </a:extLst>
          </p:cNvPr>
          <p:cNvSpPr/>
          <p:nvPr/>
        </p:nvSpPr>
        <p:spPr>
          <a:xfrm>
            <a:off x="731520" y="513552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496BC358-7F4D-D3E7-4375-D6728F3A8126}"/>
              </a:ext>
            </a:extLst>
          </p:cNvPr>
          <p:cNvSpPr/>
          <p:nvPr/>
        </p:nvSpPr>
        <p:spPr>
          <a:xfrm>
            <a:off x="731520" y="5245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pt-BR" sz="1200" i="0" u="none" strike="noStrike" kern="1200" normalizeH="0" baseline="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rPr>
              <a:t>6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8C06AE38-3C2B-B537-C964-F897F861DBBA}"/>
              </a:ext>
            </a:extLst>
          </p:cNvPr>
          <p:cNvSpPr/>
          <p:nvPr/>
        </p:nvSpPr>
        <p:spPr>
          <a:xfrm>
            <a:off x="1371600" y="522696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Como </a:t>
            </a:r>
            <a:r>
              <a:rPr lang="pt-BR" b="1" dirty="0"/>
              <a:t>detectar esses problemas</a:t>
            </a:r>
            <a:r>
              <a:rPr lang="pt-BR" dirty="0"/>
              <a:t> empiricamente </a:t>
            </a:r>
            <a:r>
              <a:rPr lang="pt-BR" b="1" dirty="0"/>
              <a:t>usando Python</a:t>
            </a:r>
            <a:r>
              <a:rPr lang="pt-BR" dirty="0"/>
              <a:t>?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710" y="1317072"/>
            <a:ext cx="10921878" cy="324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tabLst>
                <a:tab pos="0" algn="l"/>
              </a:tabLst>
              <a:defRPr/>
            </a:pPr>
            <a:r>
              <a:rPr lang="pt-BR" sz="7200" dirty="0"/>
              <a:t>Qual é a diferença entre </a:t>
            </a:r>
            <a:r>
              <a:rPr lang="pt-BR" sz="7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TERINAR</a:t>
            </a:r>
            <a:r>
              <a:rPr lang="pt-BR" sz="7200" b="1" dirty="0"/>
              <a:t> </a:t>
            </a:r>
            <a:r>
              <a:rPr lang="pt-BR" sz="7200" dirty="0"/>
              <a:t>um modelo e </a:t>
            </a:r>
            <a:r>
              <a:rPr lang="pt-BR" sz="7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TESTAR</a:t>
            </a:r>
            <a:r>
              <a:rPr lang="pt-BR" sz="7200" b="1" dirty="0"/>
              <a:t> </a:t>
            </a:r>
            <a:r>
              <a:rPr lang="pt-BR" sz="7200" dirty="0"/>
              <a:t>um modelo?</a:t>
            </a:r>
            <a:endParaRPr lang="pt-BR" sz="7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242315" y="1148705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>
                <a:solidFill>
                  <a:srgbClr val="0B1F3A"/>
                </a:solidFill>
              </a:rPr>
              <a:t>TREINO E TESTE DE MODELOS: 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7541" y="1677928"/>
            <a:ext cx="27391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O </a:t>
            </a:r>
            <a:r>
              <a:rPr lang="en-US" sz="1700" dirty="0" err="1">
                <a:solidFill>
                  <a:srgbClr val="111827"/>
                </a:solidFill>
              </a:rPr>
              <a:t>que</a:t>
            </a:r>
            <a:r>
              <a:rPr lang="en-US" sz="1700" dirty="0">
                <a:solidFill>
                  <a:srgbClr val="111827"/>
                </a:solidFill>
              </a:rPr>
              <a:t> é </a:t>
            </a:r>
            <a:r>
              <a:rPr lang="en-US" sz="1700" dirty="0" err="1">
                <a:solidFill>
                  <a:srgbClr val="111827"/>
                </a:solidFill>
              </a:rPr>
              <a:t>treinar</a:t>
            </a:r>
            <a:r>
              <a:rPr lang="en-US" sz="1700" dirty="0">
                <a:solidFill>
                  <a:srgbClr val="111827"/>
                </a:solidFill>
              </a:rPr>
              <a:t> um </a:t>
            </a:r>
            <a:r>
              <a:rPr lang="en-US" sz="1700" dirty="0" err="1">
                <a:solidFill>
                  <a:srgbClr val="111827"/>
                </a:solidFill>
              </a:rPr>
              <a:t>modelo</a:t>
            </a:r>
            <a:r>
              <a:rPr lang="en-US" sz="1700" dirty="0">
                <a:solidFill>
                  <a:srgbClr val="111827"/>
                </a:solidFill>
              </a:rPr>
              <a:t> ? 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72079F-56E4-425D-A3B2-DF5AD16383C2}"/>
              </a:ext>
            </a:extLst>
          </p:cNvPr>
          <p:cNvSpPr txBox="1"/>
          <p:nvPr/>
        </p:nvSpPr>
        <p:spPr>
          <a:xfrm>
            <a:off x="242315" y="6211669"/>
            <a:ext cx="11949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Grus</a:t>
            </a:r>
            <a:r>
              <a:rPr lang="pt-BR" dirty="0"/>
              <a:t>, J. (2016). </a:t>
            </a:r>
            <a:r>
              <a:rPr lang="pt-BR" b="1" i="1" dirty="0"/>
              <a:t>Data Science do Zero: Primeiras Regras com o Python</a:t>
            </a:r>
            <a:r>
              <a:rPr lang="pt-BR" dirty="0"/>
              <a:t> (W. Nascimento, Trad.). </a:t>
            </a:r>
          </a:p>
          <a:p>
            <a:r>
              <a:rPr lang="pt-BR" dirty="0"/>
              <a:t>Rio de Janeiro: Alta Books. (Trabalho original publicado em 2015)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463E0C-27F8-136B-C068-93A25BC02402}"/>
              </a:ext>
            </a:extLst>
          </p:cNvPr>
          <p:cNvSpPr txBox="1"/>
          <p:nvPr/>
        </p:nvSpPr>
        <p:spPr>
          <a:xfrm>
            <a:off x="236610" y="2068825"/>
            <a:ext cx="106006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Segundo GRUS(2016) </a:t>
            </a:r>
            <a:r>
              <a:rPr lang="pt-BR" b="1" dirty="0"/>
              <a:t>TREINAR UM MODELO</a:t>
            </a:r>
            <a:r>
              <a:rPr lang="pt-BR" dirty="0"/>
              <a:t> </a:t>
            </a:r>
            <a:r>
              <a:rPr lang="pt-BR" i="1" dirty="0"/>
              <a:t>consiste em utilizar uma fração do seu conjunto de dados </a:t>
            </a:r>
          </a:p>
          <a:p>
            <a:pPr algn="ctr"/>
            <a:r>
              <a:rPr lang="pt-BR" i="1" dirty="0"/>
              <a:t>(o autor sugere, por exemplo, </a:t>
            </a:r>
            <a:r>
              <a:rPr lang="pt-BR" b="1" i="1" dirty="0"/>
              <a:t>dois terços</a:t>
            </a:r>
            <a:r>
              <a:rPr lang="pt-BR" i="1" dirty="0"/>
              <a:t> dele) para </a:t>
            </a:r>
            <a:r>
              <a:rPr lang="pt-BR" b="1" i="1" dirty="0"/>
              <a:t>construir o modelo e ajustar os seus parâmetros</a:t>
            </a:r>
            <a:r>
              <a:rPr lang="pt-BR" i="1" dirty="0"/>
              <a:t>. </a:t>
            </a:r>
          </a:p>
          <a:p>
            <a:pPr algn="ctr"/>
            <a:r>
              <a:rPr lang="pt-BR" i="1" dirty="0"/>
              <a:t>Nessa fase, o modelo analisa os dados de entrada para aprender padrões ou encontrar </a:t>
            </a:r>
          </a:p>
          <a:p>
            <a:pPr algn="ctr"/>
            <a:r>
              <a:rPr lang="pt-BR" i="1" dirty="0"/>
              <a:t>relações lineares ou matemáticas que permitam prever as saídas. </a:t>
            </a:r>
            <a:r>
              <a:rPr lang="pt-BR" dirty="0"/>
              <a:t>(Capítulo 11 – Aprendizado de Máquina)</a:t>
            </a:r>
          </a:p>
          <a:p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434D56F-EA06-D0D4-56D5-A3BBD259B5FB}"/>
              </a:ext>
            </a:extLst>
          </p:cNvPr>
          <p:cNvSpPr txBox="1"/>
          <p:nvPr/>
        </p:nvSpPr>
        <p:spPr>
          <a:xfrm>
            <a:off x="402673" y="3676804"/>
            <a:ext cx="10494626" cy="6155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827"/>
                </a:solidFill>
              </a:rPr>
              <a:t>No </a:t>
            </a:r>
            <a:r>
              <a:rPr lang="en-US" sz="1700" dirty="0" err="1">
                <a:solidFill>
                  <a:srgbClr val="111827"/>
                </a:solidFill>
              </a:rPr>
              <a:t>treinamento</a:t>
            </a:r>
            <a:r>
              <a:rPr lang="en-US" sz="1700" dirty="0">
                <a:solidFill>
                  <a:srgbClr val="111827"/>
                </a:solidFill>
              </a:rPr>
              <a:t> do </a:t>
            </a:r>
            <a:r>
              <a:rPr lang="en-US" sz="1700" dirty="0" err="1">
                <a:solidFill>
                  <a:srgbClr val="111827"/>
                </a:solidFill>
              </a:rPr>
              <a:t>modelo</a:t>
            </a:r>
            <a:r>
              <a:rPr lang="en-US" sz="1700" dirty="0">
                <a:solidFill>
                  <a:srgbClr val="111827"/>
                </a:solidFill>
              </a:rPr>
              <a:t> </a:t>
            </a:r>
            <a:r>
              <a:rPr lang="en-US" sz="1700" dirty="0" err="1">
                <a:solidFill>
                  <a:srgbClr val="111827"/>
                </a:solidFill>
              </a:rPr>
              <a:t>deve</a:t>
            </a:r>
            <a:r>
              <a:rPr lang="en-US" sz="1700" dirty="0">
                <a:solidFill>
                  <a:srgbClr val="111827"/>
                </a:solidFill>
              </a:rPr>
              <a:t> </a:t>
            </a:r>
            <a:r>
              <a:rPr lang="en-US" sz="1700" dirty="0" err="1">
                <a:solidFill>
                  <a:srgbClr val="111827"/>
                </a:solidFill>
              </a:rPr>
              <a:t>existir</a:t>
            </a:r>
            <a:r>
              <a:rPr lang="en-US" sz="1700" dirty="0">
                <a:solidFill>
                  <a:srgbClr val="111827"/>
                </a:solidFill>
              </a:rPr>
              <a:t> um conjunto de </a:t>
            </a:r>
            <a:r>
              <a:rPr lang="en-US" sz="1700" b="1" dirty="0">
                <a:solidFill>
                  <a:srgbClr val="111827"/>
                </a:solidFill>
              </a:rPr>
              <a:t>DADOS CONHECIDOS</a:t>
            </a:r>
            <a:r>
              <a:rPr lang="en-US" sz="1700" dirty="0">
                <a:solidFill>
                  <a:srgbClr val="111827"/>
                </a:solidFill>
              </a:rPr>
              <a:t> de ENTRADA “X” e SAÍDA “Y”.</a:t>
            </a:r>
          </a:p>
          <a:p>
            <a:pPr marL="0" indent="0" algn="ctr">
              <a:buNone/>
            </a:pPr>
            <a:r>
              <a:rPr lang="en-US" sz="1700" dirty="0">
                <a:solidFill>
                  <a:srgbClr val="111827"/>
                </a:solidFill>
              </a:rPr>
              <a:t>O </a:t>
            </a:r>
            <a:r>
              <a:rPr lang="en-US" sz="1700" dirty="0" err="1">
                <a:solidFill>
                  <a:srgbClr val="111827"/>
                </a:solidFill>
              </a:rPr>
              <a:t>modelo</a:t>
            </a:r>
            <a:r>
              <a:rPr lang="en-US" sz="1700" dirty="0">
                <a:solidFill>
                  <a:srgbClr val="111827"/>
                </a:solidFill>
              </a:rPr>
              <a:t> é </a:t>
            </a:r>
            <a:r>
              <a:rPr lang="en-US" sz="1700" dirty="0" err="1">
                <a:solidFill>
                  <a:srgbClr val="111827"/>
                </a:solidFill>
              </a:rPr>
              <a:t>submetido</a:t>
            </a:r>
            <a:r>
              <a:rPr lang="en-US" sz="1700" dirty="0">
                <a:solidFill>
                  <a:srgbClr val="111827"/>
                </a:solidFill>
              </a:rPr>
              <a:t> a </a:t>
            </a:r>
            <a:r>
              <a:rPr lang="en-US" sz="1700" dirty="0" err="1">
                <a:solidFill>
                  <a:srgbClr val="111827"/>
                </a:solidFill>
              </a:rPr>
              <a:t>estes</a:t>
            </a:r>
            <a:r>
              <a:rPr lang="en-US" sz="1700" dirty="0">
                <a:solidFill>
                  <a:srgbClr val="111827"/>
                </a:solidFill>
              </a:rPr>
              <a:t> dados para </a:t>
            </a:r>
            <a:r>
              <a:rPr lang="en-US" sz="1700" dirty="0" err="1">
                <a:solidFill>
                  <a:srgbClr val="111827"/>
                </a:solidFill>
              </a:rPr>
              <a:t>que</a:t>
            </a:r>
            <a:r>
              <a:rPr lang="en-US" sz="1700" dirty="0">
                <a:solidFill>
                  <a:srgbClr val="111827"/>
                </a:solidFill>
              </a:rPr>
              <a:t> </a:t>
            </a:r>
            <a:r>
              <a:rPr lang="en-US" sz="1700" dirty="0" err="1">
                <a:solidFill>
                  <a:srgbClr val="111827"/>
                </a:solidFill>
              </a:rPr>
              <a:t>descubramos</a:t>
            </a:r>
            <a:r>
              <a:rPr lang="en-US" sz="1700" dirty="0">
                <a:solidFill>
                  <a:srgbClr val="111827"/>
                </a:solidFill>
              </a:rPr>
              <a:t> </a:t>
            </a:r>
            <a:r>
              <a:rPr lang="en-US" sz="1700" dirty="0" err="1">
                <a:solidFill>
                  <a:srgbClr val="111827"/>
                </a:solidFill>
              </a:rPr>
              <a:t>os</a:t>
            </a:r>
            <a:r>
              <a:rPr lang="en-US" sz="1700" dirty="0">
                <a:solidFill>
                  <a:srgbClr val="111827"/>
                </a:solidFill>
              </a:rPr>
              <a:t> </a:t>
            </a:r>
            <a:r>
              <a:rPr lang="en-US" sz="1700" b="1" dirty="0" err="1">
                <a:solidFill>
                  <a:srgbClr val="111827"/>
                </a:solidFill>
              </a:rPr>
              <a:t>parâmetros</a:t>
            </a:r>
            <a:r>
              <a:rPr lang="en-US" sz="1700" dirty="0">
                <a:solidFill>
                  <a:srgbClr val="111827"/>
                </a:solidFill>
              </a:rPr>
              <a:t> do </a:t>
            </a:r>
            <a:r>
              <a:rPr lang="en-US" sz="1700" dirty="0" err="1">
                <a:solidFill>
                  <a:srgbClr val="111827"/>
                </a:solidFill>
              </a:rPr>
              <a:t>modelo</a:t>
            </a:r>
            <a:r>
              <a:rPr lang="en-US" sz="1700" dirty="0">
                <a:solidFill>
                  <a:srgbClr val="111827"/>
                </a:solidFill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C3BFE-1507-3798-1B5C-CAAA9EA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1B73E141-B9AF-1A7D-E622-AEF9C6E5A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48C6DAC-A7A4-7410-EBBD-52F2FE81C5E7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D2B07D-4402-58A6-1CE1-51C186E0181F}"/>
              </a:ext>
            </a:extLst>
          </p:cNvPr>
          <p:cNvSpPr/>
          <p:nvPr/>
        </p:nvSpPr>
        <p:spPr>
          <a:xfrm>
            <a:off x="242315" y="1148705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>
                <a:solidFill>
                  <a:srgbClr val="0B1F3A"/>
                </a:solidFill>
              </a:rPr>
              <a:t>TREINO E TESTE DE MODELOS: 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6FFDBC3-8177-6763-78A4-C7A19F2E6A3D}"/>
              </a:ext>
            </a:extLst>
          </p:cNvPr>
          <p:cNvSpPr/>
          <p:nvPr/>
        </p:nvSpPr>
        <p:spPr>
          <a:xfrm>
            <a:off x="527541" y="1677928"/>
            <a:ext cx="4103894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111827"/>
                </a:solidFill>
              </a:rPr>
              <a:t>Considere</a:t>
            </a:r>
            <a:r>
              <a:rPr lang="en-US" sz="1700" dirty="0">
                <a:solidFill>
                  <a:srgbClr val="111827"/>
                </a:solidFill>
              </a:rPr>
              <a:t> </a:t>
            </a:r>
            <a:r>
              <a:rPr lang="en-US" sz="1700" dirty="0" err="1">
                <a:solidFill>
                  <a:srgbClr val="111827"/>
                </a:solidFill>
              </a:rPr>
              <a:t>os</a:t>
            </a:r>
            <a:r>
              <a:rPr lang="en-US" sz="1700" dirty="0">
                <a:solidFill>
                  <a:srgbClr val="111827"/>
                </a:solidFill>
              </a:rPr>
              <a:t> </a:t>
            </a:r>
            <a:r>
              <a:rPr lang="en-US" sz="1700" b="1" dirty="0">
                <a:solidFill>
                  <a:srgbClr val="111827"/>
                </a:solidFill>
              </a:rPr>
              <a:t>DADOS DE TREINO</a:t>
            </a:r>
            <a:r>
              <a:rPr lang="en-US" sz="1700" dirty="0">
                <a:solidFill>
                  <a:srgbClr val="111827"/>
                </a:solidFill>
              </a:rPr>
              <a:t> a </a:t>
            </a:r>
            <a:r>
              <a:rPr lang="en-US" sz="1700" dirty="0" err="1">
                <a:solidFill>
                  <a:srgbClr val="111827"/>
                </a:solidFill>
              </a:rPr>
              <a:t>seguir</a:t>
            </a:r>
            <a:r>
              <a:rPr lang="en-US" sz="1700" dirty="0">
                <a:solidFill>
                  <a:srgbClr val="111827"/>
                </a:solidFill>
              </a:rPr>
              <a:t>: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E97BC0D-EAE9-DF33-8D65-12BDC23BEEA7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EB074A9-17EA-2446-BEED-A6012214BF1C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EFE1B0-217C-20DB-BDEF-EB70D37097E4}"/>
              </a:ext>
            </a:extLst>
          </p:cNvPr>
          <p:cNvSpPr txBox="1"/>
          <p:nvPr/>
        </p:nvSpPr>
        <p:spPr>
          <a:xfrm>
            <a:off x="189821" y="6200649"/>
            <a:ext cx="11949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Grus</a:t>
            </a:r>
            <a:r>
              <a:rPr lang="pt-BR" dirty="0"/>
              <a:t>, J. (2016). </a:t>
            </a:r>
            <a:r>
              <a:rPr lang="pt-BR" b="1" i="1" dirty="0"/>
              <a:t>Data Science do Zero: Primeiras Regras com o Python</a:t>
            </a:r>
            <a:r>
              <a:rPr lang="pt-BR" dirty="0"/>
              <a:t> </a:t>
            </a:r>
          </a:p>
          <a:p>
            <a:r>
              <a:rPr lang="pt-BR" dirty="0"/>
              <a:t>(W. Nascimento, Trad.). Rio de Janeiro: Alta Books. (Trabalho original publicado em 2015)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6E038CE-F33D-D6FB-3709-40C7C6AC4639}"/>
              </a:ext>
            </a:extLst>
          </p:cNvPr>
          <p:cNvSpPr txBox="1"/>
          <p:nvPr/>
        </p:nvSpPr>
        <p:spPr>
          <a:xfrm>
            <a:off x="189821" y="2068825"/>
            <a:ext cx="102001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Exemplo: Considere o seguinte levantamento de dados do PREÇO MÉDIO do </a:t>
            </a:r>
            <a:r>
              <a:rPr lang="pt-BR" b="1" dirty="0"/>
              <a:t>Temaki </a:t>
            </a:r>
          </a:p>
          <a:p>
            <a:r>
              <a:rPr lang="pt-BR" dirty="0"/>
              <a:t>em alguns bairros da cidade de São Paulo. A </a:t>
            </a:r>
            <a:r>
              <a:rPr lang="pt-BR" b="1" dirty="0"/>
              <a:t>variável de entrada</a:t>
            </a:r>
            <a:r>
              <a:rPr lang="pt-BR" dirty="0"/>
              <a:t> “X” é o </a:t>
            </a:r>
            <a:r>
              <a:rPr lang="pt-BR" b="1" dirty="0"/>
              <a:t>ranking de custo de aluguel</a:t>
            </a:r>
          </a:p>
          <a:p>
            <a:r>
              <a:rPr lang="pt-BR" b="1" dirty="0"/>
              <a:t>de imóvel comercial </a:t>
            </a:r>
            <a:r>
              <a:rPr lang="pt-BR" b="1" dirty="0" err="1"/>
              <a:t>Comercial</a:t>
            </a:r>
            <a:r>
              <a:rPr lang="pt-BR" dirty="0"/>
              <a:t> em 2026. A </a:t>
            </a:r>
            <a:r>
              <a:rPr lang="pt-BR" b="1" dirty="0"/>
              <a:t>variável de saída</a:t>
            </a:r>
            <a:r>
              <a:rPr lang="pt-BR" dirty="0"/>
              <a:t> “Y” é o valor do Temaki em R$.</a:t>
            </a:r>
          </a:p>
          <a:p>
            <a:r>
              <a:rPr lang="pt-BR" dirty="0"/>
              <a:t>Elabore um modelo de previsão do valor do preço médio nos bairros de São Paulo. </a:t>
            </a:r>
          </a:p>
          <a:p>
            <a:r>
              <a:rPr lang="pt-BR" dirty="0"/>
              <a:t>Use um modelo Linear (RETA)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8BB3A103-5839-D707-6565-FCAE22656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640838"/>
                  </p:ext>
                </p:extLst>
              </p:nvPr>
            </p:nvGraphicFramePr>
            <p:xfrm>
              <a:off x="4108792" y="3459800"/>
              <a:ext cx="4708036" cy="2175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3388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220222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1414426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Ranking_Aluguel_Comercial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0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  <m:r>
                                <a:rPr lang="pt-BR" sz="1200" b="1" i="1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Preço do temaki (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Santana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Tatuapé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Mooca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Perdizes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8380294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Pinheiros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075225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Vila Mariana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1107367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Itaim Bibi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R$ 44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55990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8BB3A103-5839-D707-6565-FCAE22656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640838"/>
                  </p:ext>
                </p:extLst>
              </p:nvPr>
            </p:nvGraphicFramePr>
            <p:xfrm>
              <a:off x="4108792" y="3459800"/>
              <a:ext cx="4708036" cy="2175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3388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220222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1414426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767" t="-2222" r="-64110" b="-7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4052" t="-2222" r="-862" b="-71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Santana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Tatuapé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Mooca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Perdizes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8380294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Pinheiros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075225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Vila Mariana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1107367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Itaim Bibi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R$ 44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559906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Imagem 10" descr="Temaki tradicional - Seara">
            <a:extLst>
              <a:ext uri="{FF2B5EF4-FFF2-40B4-BE49-F238E27FC236}">
                <a16:creationId xmlns:a16="http://schemas.microsoft.com/office/drawing/2014/main" id="{B0FF45FF-2B08-E568-64C7-0E8DC10B0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5" y="3487106"/>
            <a:ext cx="3769792" cy="212050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192EF93-4CE9-06AD-0EC2-3F4F18CEB52D}"/>
              </a:ext>
            </a:extLst>
          </p:cNvPr>
          <p:cNvSpPr txBox="1"/>
          <p:nvPr/>
        </p:nvSpPr>
        <p:spPr>
          <a:xfrm>
            <a:off x="8994479" y="3031308"/>
            <a:ext cx="2984383" cy="353686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 de treino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X_train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y_train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▼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modelo =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LinearRegression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▼     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modelo.fit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▼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#descobre w e b     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w =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modelo.coef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_[0]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b =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modelo.intercept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▼     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ŷ = 2.89x + 15.42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43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41F28-C31F-DEB6-A494-8130E645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6C051955-3AB7-A518-D6EB-85F5270E1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F88FCCD-6EA3-1942-53FD-4A04EDEBB150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A9526EE-2B66-78D0-B1C0-7B5CC3553A4A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805ECB5-B720-EAD0-5D7E-F47AE3102E43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F76547-86F8-1139-1F8B-CAA1F1BEE654}"/>
              </a:ext>
            </a:extLst>
          </p:cNvPr>
          <p:cNvSpPr txBox="1"/>
          <p:nvPr/>
        </p:nvSpPr>
        <p:spPr>
          <a:xfrm>
            <a:off x="242315" y="6211669"/>
            <a:ext cx="11949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Grus</a:t>
            </a:r>
            <a:r>
              <a:rPr lang="pt-BR" dirty="0"/>
              <a:t>, J. (2016). </a:t>
            </a:r>
            <a:r>
              <a:rPr lang="pt-BR" b="1" i="1" dirty="0"/>
              <a:t>Data Science do Zero: Primeiras Regras com o Python</a:t>
            </a:r>
            <a:r>
              <a:rPr lang="pt-BR" dirty="0"/>
              <a:t> (W. Nascimento, Trad.). </a:t>
            </a:r>
          </a:p>
          <a:p>
            <a:r>
              <a:rPr lang="pt-BR" dirty="0"/>
              <a:t>Rio de Janeiro: Alta Books. (Trabalho original publicado em 2015)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B0FD61-5AB4-FC7C-8367-6EFCF3DD3B9C}"/>
                  </a:ext>
                </a:extLst>
              </p:cNvPr>
              <p:cNvSpPr txBox="1"/>
              <p:nvPr/>
            </p:nvSpPr>
            <p:spPr>
              <a:xfrm>
                <a:off x="870407" y="650671"/>
                <a:ext cx="22743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Usar formato Linear </a:t>
                </a:r>
                <a:endParaRPr lang="pt-BR" b="0" i="1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B0FD61-5AB4-FC7C-8367-6EFCF3DD3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07" y="650671"/>
                <a:ext cx="2274382" cy="646331"/>
              </a:xfrm>
              <a:prstGeom prst="rect">
                <a:avLst/>
              </a:prstGeom>
              <a:blipFill>
                <a:blip r:embed="rId4"/>
                <a:stretch>
                  <a:fillRect l="-2413" t="-4717" b="-66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9B7143A6-659E-167F-1A52-E5BE529F77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2738489"/>
                  </p:ext>
                </p:extLst>
              </p:nvPr>
            </p:nvGraphicFramePr>
            <p:xfrm>
              <a:off x="5134063" y="227734"/>
              <a:ext cx="6333688" cy="2175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59511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095417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3078760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 err="1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Ranking_Aluguel_Comercial</a:t>
                          </a: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Preço do temaki (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Santana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Tatuapé</a:t>
                          </a:r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Mooca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Perdizes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8380294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Pinheiros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075225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Vila Mariana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1107367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Itaim Bibi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R$ 44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55990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9B7143A6-659E-167F-1A52-E5BE529F77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2738489"/>
                  </p:ext>
                </p:extLst>
              </p:nvPr>
            </p:nvGraphicFramePr>
            <p:xfrm>
              <a:off x="5134063" y="227734"/>
              <a:ext cx="6333688" cy="2175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59511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095417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3078760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523" t="-2222" r="-147674" b="-7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5731" t="-2222" r="-395" b="-71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Santana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Tatuapé</a:t>
                          </a:r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Mooca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Perdizes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8380294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Pinheiros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075225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Vila Mariana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1107367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Itaim Bibi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R$ 44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559906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Imagem 10" descr="Temaki tradicional - Seara">
            <a:extLst>
              <a:ext uri="{FF2B5EF4-FFF2-40B4-BE49-F238E27FC236}">
                <a16:creationId xmlns:a16="http://schemas.microsoft.com/office/drawing/2014/main" id="{BA9A68D6-DC8B-C637-8489-B4BF00FB7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4789" y="219036"/>
            <a:ext cx="1610837" cy="90609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1EF2A0A-8EBC-3CF3-A725-345F9E8B3822}"/>
              </a:ext>
            </a:extLst>
          </p:cNvPr>
          <p:cNvSpPr txBox="1"/>
          <p:nvPr/>
        </p:nvSpPr>
        <p:spPr>
          <a:xfrm>
            <a:off x="225831" y="1223462"/>
            <a:ext cx="4486013" cy="50517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numpy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from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sklearn.linear_model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LinearRegression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X_treino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np.array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3.0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Santana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4.0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Tatuapé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5.0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Mooca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6.0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Perdizes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7.0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Pinheiros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8.0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Vila Mariana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10.0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Itaim Bibi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y_treino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np.array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24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27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29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33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35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39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44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</a:t>
            </a:r>
            <a:endParaRPr lang="pt-BR" sz="1125" dirty="0">
              <a:solidFill>
                <a:srgbClr val="37474F"/>
              </a:solidFill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dirty="0">
                <a:solidFill>
                  <a:srgbClr val="37474F"/>
                </a:solidFill>
                <a:latin typeface="Roboto Mono" pitchFamily="2" charset="0"/>
              </a:rPr>
              <a:t># continua parte 2...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99A30F9-C55C-3589-74F5-707AB3D370F5}"/>
              </a:ext>
            </a:extLst>
          </p:cNvPr>
          <p:cNvSpPr txBox="1"/>
          <p:nvPr/>
        </p:nvSpPr>
        <p:spPr>
          <a:xfrm>
            <a:off x="4831127" y="2588967"/>
            <a:ext cx="2975994" cy="33204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Continuação parte 2</a:t>
            </a: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-----------------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Criando o modelo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-----------------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modelo 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LinearRegression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----------------------------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TREINAMENTO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Aqui o modelo descobre w e b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----------------------------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modelo.fit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X_treino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y_treino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lnSpc>
                <a:spcPct val="125037"/>
              </a:lnSpc>
            </a:pPr>
            <a:r>
              <a:rPr lang="pt-BR" sz="1125" dirty="0">
                <a:solidFill>
                  <a:srgbClr val="37474F"/>
                </a:solidFill>
                <a:latin typeface="Roboto Mono" pitchFamily="2" charset="0"/>
              </a:rPr>
              <a:t># continua parte 3...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82AFA2E-2A0A-B51B-3EC6-EC8FC36198EB}"/>
              </a:ext>
            </a:extLst>
          </p:cNvPr>
          <p:cNvSpPr txBox="1"/>
          <p:nvPr/>
        </p:nvSpPr>
        <p:spPr>
          <a:xfrm>
            <a:off x="7909920" y="2616059"/>
            <a:ext cx="3222271" cy="31040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D81B60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# 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D81B60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Contuação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D81B60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 parte 3</a:t>
            </a: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D81B60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# -----------------------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D81B60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# Parâmetros encontrados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D81B60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# -----------------------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w 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=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 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modelo.coef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_[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C53929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0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]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b 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=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 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modelo.intercept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_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print(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f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"w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 = 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C53929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{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w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:.4f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C53929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}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"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)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print(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f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"b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 = 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C53929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{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b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:.4f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C53929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}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"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)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print()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print(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f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"Modelo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 treinado:"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)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print(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f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"y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 = 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C53929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{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w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:.4f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C53929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}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x + 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C53929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{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b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F51B5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:.4f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C53929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}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"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)</a:t>
            </a: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1656ABB-5454-407C-8FD5-C49F5AC49C68}"/>
                  </a:ext>
                </a:extLst>
              </p:cNvPr>
              <p:cNvSpPr txBox="1"/>
              <p:nvPr/>
            </p:nvSpPr>
            <p:spPr>
              <a:xfrm>
                <a:off x="7909920" y="5813798"/>
                <a:ext cx="2506211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>
                              <a:lumMod val="75000"/>
                            </a:srgb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pt-BR" b="1" i="0" smtClean="0">
                          <a:solidFill>
                            <a:srgbClr val="E03D3D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2,89</m:t>
                      </m:r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d>
                        <m:dPr>
                          <m:ctrlPr>
                            <a:rPr kumimoji="0" lang="pt-B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50000"/>
                                </a:srgb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pt-B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50000"/>
                                </a:srgb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nor/>
                        </m:rPr>
                        <a:rPr lang="pt-BR" b="1" i="0" smtClean="0">
                          <a:solidFill>
                            <a:srgbClr val="E03D3D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15,42</m:t>
                      </m:r>
                    </m:oMath>
                  </m:oMathPara>
                </a14:m>
                <a:endPara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1656ABB-5454-407C-8FD5-C49F5AC49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920" y="5813798"/>
                <a:ext cx="2506211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01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FB212-D7F5-EFAF-E419-83F81030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01C14636-CACA-ACE2-AEB8-29FE074AB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4B680D6-E1A8-CF48-CF3C-37A82C18EC47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3772E12-4443-EE5F-D5FF-8FB56ABEB759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2DE8793-1AD0-0F4C-4A72-E81EE03CDFAF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08DFF8-4C51-9CD8-D144-A7352D2DBE55}"/>
              </a:ext>
            </a:extLst>
          </p:cNvPr>
          <p:cNvSpPr txBox="1"/>
          <p:nvPr/>
        </p:nvSpPr>
        <p:spPr>
          <a:xfrm>
            <a:off x="242315" y="6211669"/>
            <a:ext cx="11949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Grus</a:t>
            </a:r>
            <a:r>
              <a:rPr lang="pt-BR" dirty="0"/>
              <a:t>, J. (2016). </a:t>
            </a:r>
            <a:r>
              <a:rPr lang="pt-BR" b="1" i="1" dirty="0"/>
              <a:t>Data Science do Zero: Primeiras Regras com o Python</a:t>
            </a:r>
            <a:r>
              <a:rPr lang="pt-BR" dirty="0"/>
              <a:t> (W. Nascimento, Trad.). </a:t>
            </a:r>
          </a:p>
          <a:p>
            <a:r>
              <a:rPr lang="pt-BR" dirty="0"/>
              <a:t>Rio de Janeiro: Alta Books. (Trabalho original publicado em 2015)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9A0C8D3-C44F-EE95-8A83-D441BA777B57}"/>
                  </a:ext>
                </a:extLst>
              </p:cNvPr>
              <p:cNvSpPr txBox="1"/>
              <p:nvPr/>
            </p:nvSpPr>
            <p:spPr>
              <a:xfrm>
                <a:off x="870407" y="650671"/>
                <a:ext cx="22743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Usar formato Linear </a:t>
                </a:r>
                <a:endParaRPr lang="pt-BR" b="0" i="1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9A0C8D3-C44F-EE95-8A83-D441BA777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07" y="650671"/>
                <a:ext cx="2274382" cy="646331"/>
              </a:xfrm>
              <a:prstGeom prst="rect">
                <a:avLst/>
              </a:prstGeom>
              <a:blipFill>
                <a:blip r:embed="rId4"/>
                <a:stretch>
                  <a:fillRect l="-2413" t="-4717" b="-66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F2029D5B-6EEC-8252-BEBE-F98F8AD89A2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134063" y="227734"/>
              <a:ext cx="6333688" cy="2175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59511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095417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3078760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 err="1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Ranking_Aluguel_Comercial</a:t>
                          </a: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Preço do temaki (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Santana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Tatuapé</a:t>
                          </a:r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Mooca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Perdizes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8380294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Pinheiros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075225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Vila Mariana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1107367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Itaim Bibi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R$ 44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55990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F2029D5B-6EEC-8252-BEBE-F98F8AD89A2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134063" y="227734"/>
              <a:ext cx="6333688" cy="2175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59511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095417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3078760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523" t="-2222" r="-147674" b="-7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5731" t="-2222" r="-395" b="-71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Santana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Tatuapé</a:t>
                          </a:r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Mooca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R$ 29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Perdizes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8380294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Pinheiros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0752251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Vila Mariana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R$ 39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1107367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b="1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Itaim Bibi</a:t>
                          </a: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R$ 44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559906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Imagem 10" descr="Temaki tradicional - Seara">
            <a:extLst>
              <a:ext uri="{FF2B5EF4-FFF2-40B4-BE49-F238E27FC236}">
                <a16:creationId xmlns:a16="http://schemas.microsoft.com/office/drawing/2014/main" id="{6849CC17-7F4D-3B1A-AB2F-F03E2E122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4789" y="219036"/>
            <a:ext cx="1610837" cy="906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4EBC3F4-C121-2611-0DD6-B8C6ABDF6F26}"/>
                  </a:ext>
                </a:extLst>
              </p:cNvPr>
              <p:cNvSpPr txBox="1"/>
              <p:nvPr/>
            </p:nvSpPr>
            <p:spPr>
              <a:xfrm>
                <a:off x="1051182" y="1270677"/>
                <a:ext cx="2506211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>
                              <a:lumMod val="75000"/>
                            </a:srgb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pt-BR" b="1" i="0" smtClean="0">
                          <a:solidFill>
                            <a:srgbClr val="E03D3D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2,89</m:t>
                      </m:r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d>
                        <m:dPr>
                          <m:ctrlPr>
                            <a:rPr kumimoji="0" lang="pt-B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50000"/>
                                </a:srgb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pt-B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50000"/>
                                </a:srgb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nor/>
                        </m:rPr>
                        <a:rPr lang="pt-BR" b="1" i="0" smtClean="0">
                          <a:solidFill>
                            <a:srgbClr val="E03D3D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15,42</m:t>
                      </m:r>
                    </m:oMath>
                  </m:oMathPara>
                </a14:m>
                <a:endPara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4EBC3F4-C121-2611-0DD6-B8C6ABDF6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82" y="1270677"/>
                <a:ext cx="2506211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DF45871E-7C0D-4176-3E65-C3AA96F19D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476" y="2450367"/>
            <a:ext cx="9823173" cy="435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79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A9A2E-A4D1-2375-C16E-1C442473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8909F8C9-7695-86EE-6C3F-C061659C8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435AB04-CDA9-3F59-9B9D-FA8ED59E4655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21AC4B5-479F-8424-FE5C-FE7F5987B0A7}"/>
              </a:ext>
            </a:extLst>
          </p:cNvPr>
          <p:cNvSpPr/>
          <p:nvPr/>
        </p:nvSpPr>
        <p:spPr>
          <a:xfrm>
            <a:off x="242315" y="1148705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>
                <a:solidFill>
                  <a:srgbClr val="0B1F3A"/>
                </a:solidFill>
              </a:rPr>
              <a:t>TREINO E TESTE DE MODELOS: 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B415DEA-3943-A54D-1B8F-366C25F02F59}"/>
              </a:ext>
            </a:extLst>
          </p:cNvPr>
          <p:cNvSpPr/>
          <p:nvPr/>
        </p:nvSpPr>
        <p:spPr>
          <a:xfrm>
            <a:off x="527541" y="1677928"/>
            <a:ext cx="4103894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111827"/>
                </a:solidFill>
              </a:rPr>
              <a:t>Considere</a:t>
            </a:r>
            <a:r>
              <a:rPr lang="en-US" sz="1700" dirty="0">
                <a:solidFill>
                  <a:srgbClr val="111827"/>
                </a:solidFill>
              </a:rPr>
              <a:t> </a:t>
            </a:r>
            <a:r>
              <a:rPr lang="en-US" sz="1700" dirty="0" err="1">
                <a:solidFill>
                  <a:srgbClr val="111827"/>
                </a:solidFill>
              </a:rPr>
              <a:t>os</a:t>
            </a:r>
            <a:r>
              <a:rPr lang="en-US" sz="1700" dirty="0">
                <a:solidFill>
                  <a:srgbClr val="111827"/>
                </a:solidFill>
              </a:rPr>
              <a:t> </a:t>
            </a:r>
            <a:r>
              <a:rPr lang="en-US" sz="1700" b="1" dirty="0">
                <a:solidFill>
                  <a:srgbClr val="111827"/>
                </a:solidFill>
              </a:rPr>
              <a:t>DADOS DE TESTE</a:t>
            </a:r>
            <a:r>
              <a:rPr lang="en-US" sz="1700" dirty="0">
                <a:solidFill>
                  <a:srgbClr val="111827"/>
                </a:solidFill>
              </a:rPr>
              <a:t> a </a:t>
            </a:r>
            <a:r>
              <a:rPr lang="en-US" sz="1700" dirty="0" err="1">
                <a:solidFill>
                  <a:srgbClr val="111827"/>
                </a:solidFill>
              </a:rPr>
              <a:t>seguir</a:t>
            </a:r>
            <a:r>
              <a:rPr lang="en-US" sz="1700" dirty="0">
                <a:solidFill>
                  <a:srgbClr val="111827"/>
                </a:solidFill>
              </a:rPr>
              <a:t>: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4DE96F1-9677-2C23-2B74-80A87D180756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BB7CF06-9170-4AD0-855C-9163781CEB39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EAE8913-5D5D-AE8D-A720-26D9E526E432}"/>
              </a:ext>
            </a:extLst>
          </p:cNvPr>
          <p:cNvSpPr txBox="1"/>
          <p:nvPr/>
        </p:nvSpPr>
        <p:spPr>
          <a:xfrm>
            <a:off x="189821" y="6200649"/>
            <a:ext cx="11949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Grus</a:t>
            </a:r>
            <a:r>
              <a:rPr lang="pt-BR" dirty="0"/>
              <a:t>, J. (2016). </a:t>
            </a:r>
            <a:r>
              <a:rPr lang="pt-BR" b="1" i="1" dirty="0"/>
              <a:t>Data Science do Zero: Primeiras Regras com o Python</a:t>
            </a:r>
            <a:r>
              <a:rPr lang="pt-BR" dirty="0"/>
              <a:t> </a:t>
            </a:r>
          </a:p>
          <a:p>
            <a:r>
              <a:rPr lang="pt-BR" dirty="0"/>
              <a:t>(W. Nascimento, Trad.). Rio de Janeiro: Alta Books. (Trabalho original publicado em 2015)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226DB44B-D760-11E0-1EB7-2446E63F9A71}"/>
                  </a:ext>
                </a:extLst>
              </p:cNvPr>
              <p:cNvSpPr txBox="1"/>
              <p:nvPr/>
            </p:nvSpPr>
            <p:spPr>
              <a:xfrm>
                <a:off x="189821" y="2068825"/>
                <a:ext cx="6613651" cy="123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Agora que você já obteve seu modelo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rgbClr val="4472C4">
                            <a:lumMod val="75000"/>
                          </a:srgb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pt-BR" b="1" i="0">
                        <a:solidFill>
                          <a:srgbClr val="E03D3D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2,89</m:t>
                    </m:r>
                    <m:r>
                      <a:rPr lang="pt-B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pt-BR" i="1">
                            <a:solidFill>
                              <a:srgbClr val="70AD47">
                                <a:lumMod val="50000"/>
                              </a:srgb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rgbClr val="70AD47">
                                <a:lumMod val="50000"/>
                              </a:srgb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pt-BR" b="1" i="0">
                        <a:solidFill>
                          <a:srgbClr val="E03D3D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15,42</m:t>
                    </m:r>
                  </m:oMath>
                </a14:m>
                <a:endParaRPr lang="pt-BR" b="1" dirty="0">
                  <a:solidFill>
                    <a:prstClr val="black"/>
                  </a:solidFill>
                </a:endParaRPr>
              </a:p>
              <a:p>
                <a:r>
                  <a:rPr lang="pt-BR" dirty="0"/>
                  <a:t>use </a:t>
                </a:r>
                <a:r>
                  <a:rPr lang="pt-BR" b="1" dirty="0"/>
                  <a:t>dados de teste</a:t>
                </a:r>
                <a:r>
                  <a:rPr lang="pt-BR" dirty="0"/>
                  <a:t> que nunca foram aplicados ao seu modelo.</a:t>
                </a:r>
              </a:p>
              <a:p>
                <a:r>
                  <a:rPr lang="pt-BR" dirty="0"/>
                  <a:t>Veja se a saída “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dirty="0"/>
                  <a:t>” que ele calculou é a mesma saída “y” dos dados de teste.</a:t>
                </a: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226DB44B-D760-11E0-1EB7-2446E63F9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21" y="2068825"/>
                <a:ext cx="6613651" cy="1233736"/>
              </a:xfrm>
              <a:prstGeom prst="rect">
                <a:avLst/>
              </a:prstGeom>
              <a:blipFill>
                <a:blip r:embed="rId4"/>
                <a:stretch>
                  <a:fillRect l="-737" t="-1970" b="-4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CA85365B-D0B2-60A8-75C2-A17144F4D5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588707"/>
                  </p:ext>
                </p:extLst>
              </p:nvPr>
            </p:nvGraphicFramePr>
            <p:xfrm>
              <a:off x="4108792" y="3459800"/>
              <a:ext cx="4708036" cy="12307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8492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739710">
                      <a:extLst>
                        <a:ext uri="{9D8B030D-6E8A-4147-A177-3AD203B41FA5}">
                          <a16:colId xmlns:a16="http://schemas.microsoft.com/office/drawing/2014/main" val="3923328071"/>
                        </a:ext>
                      </a:extLst>
                    </a:gridCol>
                    <a:gridCol w="1808012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1151822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Ranking_Aluguel_Comercial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0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  <m:r>
                                <a:rPr lang="pt-BR" sz="1200" b="1" i="1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Preço do temaki (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Saúde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Bela Vista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Vila Olímpia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9,0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R$ 42,00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R$ 41,43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CA85365B-D0B2-60A8-75C2-A17144F4D5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588707"/>
                  </p:ext>
                </p:extLst>
              </p:nvPr>
            </p:nvGraphicFramePr>
            <p:xfrm>
              <a:off x="4108792" y="3459800"/>
              <a:ext cx="4708036" cy="12307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8492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739710">
                      <a:extLst>
                        <a:ext uri="{9D8B030D-6E8A-4147-A177-3AD203B41FA5}">
                          <a16:colId xmlns:a16="http://schemas.microsoft.com/office/drawing/2014/main" val="3923328071"/>
                        </a:ext>
                      </a:extLst>
                    </a:gridCol>
                    <a:gridCol w="1808012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1151822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40779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pt-BR" sz="1200" kern="10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306" t="-5970" r="-64310" b="-2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0053" t="-5970" r="-1058" b="-2134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Saúde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Bela Vista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Vila Olímpia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9,0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R$ 42,00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R$ 41,43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Imagem 10" descr="Temaki tradicional - Seara">
            <a:extLst>
              <a:ext uri="{FF2B5EF4-FFF2-40B4-BE49-F238E27FC236}">
                <a16:creationId xmlns:a16="http://schemas.microsoft.com/office/drawing/2014/main" id="{7F5160FC-59AD-399E-F366-938334141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5" y="3487106"/>
            <a:ext cx="3769792" cy="212050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5BB3419-24E8-B79B-5B3A-A1AE0626F9A5}"/>
              </a:ext>
            </a:extLst>
          </p:cNvPr>
          <p:cNvSpPr txBox="1"/>
          <p:nvPr/>
        </p:nvSpPr>
        <p:spPr>
          <a:xfrm>
            <a:off x="8994479" y="3031308"/>
            <a:ext cx="2984383" cy="353686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 de treino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X_train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y_train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▼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modelo =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LinearRegression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▼     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modelo.fit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▼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#descobre w e b     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w =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modelo.coef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_[0]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b =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modelo.intercept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▼     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ŷ = 2.89x + 15.42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6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01EBE-5E6B-0D03-B1D7-6B5FE015C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BBEE03E9-CF02-6307-F2B2-6E0D1D8AD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20A9E4D-B8E2-F31A-AAC7-44D6FDB3EA5B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4B5ED0C-2948-B6F4-F909-90B659B8C4EB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CECBC02-3AE3-9A75-230C-F1CABD266CF2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674EE9-67EB-E080-B170-4799ECD00194}"/>
              </a:ext>
            </a:extLst>
          </p:cNvPr>
          <p:cNvSpPr txBox="1"/>
          <p:nvPr/>
        </p:nvSpPr>
        <p:spPr>
          <a:xfrm>
            <a:off x="242315" y="6211669"/>
            <a:ext cx="11949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Grus</a:t>
            </a:r>
            <a:r>
              <a:rPr lang="pt-BR" dirty="0"/>
              <a:t>, J. (2016). </a:t>
            </a:r>
            <a:r>
              <a:rPr lang="pt-BR" b="1" i="1" dirty="0"/>
              <a:t>Data Science do Zero: Primeiras Regras com o Python</a:t>
            </a:r>
            <a:r>
              <a:rPr lang="pt-BR" dirty="0"/>
              <a:t> (W. Nascimento, Trad.). </a:t>
            </a:r>
          </a:p>
          <a:p>
            <a:r>
              <a:rPr lang="pt-BR" dirty="0"/>
              <a:t>Rio de Janeiro: Alta Books. (Trabalho original publicado em 2015)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18AF947-D2EA-D0CC-56CD-F2BFAD17F211}"/>
                  </a:ext>
                </a:extLst>
              </p:cNvPr>
              <p:cNvSpPr txBox="1"/>
              <p:nvPr/>
            </p:nvSpPr>
            <p:spPr>
              <a:xfrm>
                <a:off x="870407" y="650671"/>
                <a:ext cx="22743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Usar formato Linear </a:t>
                </a:r>
                <a:endParaRPr lang="pt-BR" b="0" i="1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18AF947-D2EA-D0CC-56CD-F2BFAD17F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07" y="650671"/>
                <a:ext cx="2274382" cy="646331"/>
              </a:xfrm>
              <a:prstGeom prst="rect">
                <a:avLst/>
              </a:prstGeom>
              <a:blipFill>
                <a:blip r:embed="rId4"/>
                <a:stretch>
                  <a:fillRect l="-2413" t="-4717" b="-66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 descr="Temaki tradicional - Seara">
            <a:extLst>
              <a:ext uri="{FF2B5EF4-FFF2-40B4-BE49-F238E27FC236}">
                <a16:creationId xmlns:a16="http://schemas.microsoft.com/office/drawing/2014/main" id="{2F67CA9F-E647-7B0B-731F-C92BFBC6D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789" y="219036"/>
            <a:ext cx="1610837" cy="90609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5541297-7BE6-DB44-683D-EF6E14026A8F}"/>
              </a:ext>
            </a:extLst>
          </p:cNvPr>
          <p:cNvSpPr txBox="1"/>
          <p:nvPr/>
        </p:nvSpPr>
        <p:spPr>
          <a:xfrm>
            <a:off x="193282" y="1996383"/>
            <a:ext cx="4486013" cy="33204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# Parte 4 ...</a:t>
            </a: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X_test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np.array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4.5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Saúde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6.5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Bela Vista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9.0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    </a:t>
            </a:r>
            <a:r>
              <a:rPr lang="pt-BR" sz="1125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Vila Olímpia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y_test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np.array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28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34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42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dirty="0">
              <a:solidFill>
                <a:srgbClr val="37474F"/>
              </a:solidFill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dirty="0">
                <a:solidFill>
                  <a:srgbClr val="37474F"/>
                </a:solidFill>
                <a:latin typeface="Roboto Mono" pitchFamily="2" charset="0"/>
              </a:rPr>
              <a:t># continua parte 5...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029198D-48AB-D812-7EBB-1658CB594E35}"/>
              </a:ext>
            </a:extLst>
          </p:cNvPr>
          <p:cNvSpPr txBox="1"/>
          <p:nvPr/>
        </p:nvSpPr>
        <p:spPr>
          <a:xfrm>
            <a:off x="5198246" y="2012965"/>
            <a:ext cx="5000737" cy="24548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D81B60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# </a:t>
            </a:r>
            <a:r>
              <a:rPr kumimoji="0" lang="pt-BR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D81B60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Contuação</a:t>
            </a:r>
            <a:r>
              <a:rPr kumimoji="0" lang="pt-BR" sz="1125" b="0" i="0" u="none" strike="noStrike" kern="1200" cap="none" spc="0" normalizeH="0" baseline="0" noProof="0" dirty="0">
                <a:ln>
                  <a:noFill/>
                </a:ln>
                <a:solidFill>
                  <a:srgbClr val="D81B60"/>
                </a:solidFill>
                <a:effectLst/>
                <a:uLnTx/>
                <a:uFillTx/>
                <a:latin typeface="Roboto Mono" pitchFamily="2" charset="0"/>
                <a:ea typeface="+mn-ea"/>
                <a:cs typeface="+mn-cs"/>
              </a:rPr>
              <a:t> parte 5</a:t>
            </a: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125" dirty="0">
              <a:solidFill>
                <a:srgbClr val="D81B60"/>
              </a:solidFill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y_pred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modelo.predict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X_test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for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x, real, previsto 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in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zip(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X_test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y_test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125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y_pred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):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125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125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"x</a:t>
            </a:r>
            <a:r>
              <a:rPr lang="pt-BR" sz="1125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=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x[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:.1f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125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| "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125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125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"real</a:t>
            </a:r>
            <a:r>
              <a:rPr lang="pt-BR" sz="1125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=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real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:.2f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125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| "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125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125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"previsto</a:t>
            </a:r>
            <a:r>
              <a:rPr lang="pt-BR" sz="1125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=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previsto</a:t>
            </a:r>
            <a:r>
              <a:rPr lang="pt-BR" sz="1125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:.2f</a:t>
            </a:r>
            <a:r>
              <a:rPr lang="pt-BR" sz="1125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125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)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25" b="0" i="0" u="none" strike="noStrike" kern="1200" cap="none" spc="0" normalizeH="0" baseline="0" noProof="0" dirty="0">
              <a:ln>
                <a:noFill/>
              </a:ln>
              <a:solidFill>
                <a:srgbClr val="D81B60"/>
              </a:solidFill>
              <a:effectLst/>
              <a:uLnTx/>
              <a:uFillTx/>
              <a:latin typeface="Roboto Mono" pitchFamily="2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CFB6A19-65BE-6748-337F-24B007E5DF37}"/>
                  </a:ext>
                </a:extLst>
              </p:cNvPr>
              <p:cNvSpPr txBox="1"/>
              <p:nvPr/>
            </p:nvSpPr>
            <p:spPr>
              <a:xfrm>
                <a:off x="1051182" y="1277360"/>
                <a:ext cx="2506211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>
                              <a:lumMod val="75000"/>
                            </a:srgb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pt-BR" b="1" i="0" smtClean="0">
                          <a:solidFill>
                            <a:srgbClr val="E03D3D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2,89</m:t>
                      </m:r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d>
                        <m:dPr>
                          <m:ctrlPr>
                            <a:rPr kumimoji="0" lang="pt-B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50000"/>
                                </a:srgb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pt-B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50000"/>
                                </a:srgb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nor/>
                        </m:rPr>
                        <a:rPr lang="pt-BR" b="1" i="0" smtClean="0">
                          <a:solidFill>
                            <a:srgbClr val="E03D3D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15,42</m:t>
                      </m:r>
                    </m:oMath>
                  </m:oMathPara>
                </a14:m>
                <a:endPara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CFB6A19-65BE-6748-337F-24B007E5D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82" y="1277360"/>
                <a:ext cx="250621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561D14E3-87B9-8095-2DCB-61C58A8C0A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1904327"/>
                  </p:ext>
                </p:extLst>
              </p:nvPr>
            </p:nvGraphicFramePr>
            <p:xfrm>
              <a:off x="5240190" y="219036"/>
              <a:ext cx="6194003" cy="12307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26386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172749">
                      <a:extLst>
                        <a:ext uri="{9D8B030D-6E8A-4147-A177-3AD203B41FA5}">
                          <a16:colId xmlns:a16="http://schemas.microsoft.com/office/drawing/2014/main" val="3923328071"/>
                        </a:ext>
                      </a:extLst>
                    </a:gridCol>
                    <a:gridCol w="1635853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1359015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Ranking_Aluguel_Comercial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0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  <m:r>
                                <a:rPr lang="pt-BR" sz="1200" b="1" i="1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Preço do temaki (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  <m:r>
                                <m:rPr>
                                  <m:sty m:val="p"/>
                                </m:rPr>
                                <a:rPr lang="pt-BR" sz="1200" b="1" i="1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REAL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Preço do temaki (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PREVISTO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Saúde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Bela Vista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Vila Olímpia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9,0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R$ 42,00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R$ 41,43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561D14E3-87B9-8095-2DCB-61C58A8C0A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1904327"/>
                  </p:ext>
                </p:extLst>
              </p:nvPr>
            </p:nvGraphicFramePr>
            <p:xfrm>
              <a:off x="5240190" y="219036"/>
              <a:ext cx="6194003" cy="12307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26386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172749">
                      <a:extLst>
                        <a:ext uri="{9D8B030D-6E8A-4147-A177-3AD203B41FA5}">
                          <a16:colId xmlns:a16="http://schemas.microsoft.com/office/drawing/2014/main" val="3923328071"/>
                        </a:ext>
                      </a:extLst>
                    </a:gridCol>
                    <a:gridCol w="1635853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1359015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40779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7753" t="-5970" r="-138764" b="-2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95539" t="-5970" r="-83643" b="-2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56502" t="-5970" r="-897" b="-219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Saúde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Bela Vista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Vila Olímpia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9,0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R$ 42,00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R$ 41,43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CaixaDeTexto 12">
            <a:extLst>
              <a:ext uri="{FF2B5EF4-FFF2-40B4-BE49-F238E27FC236}">
                <a16:creationId xmlns:a16="http://schemas.microsoft.com/office/drawing/2014/main" id="{BD822963-61C5-631A-7945-3093EBDB546B}"/>
              </a:ext>
            </a:extLst>
          </p:cNvPr>
          <p:cNvSpPr txBox="1"/>
          <p:nvPr/>
        </p:nvSpPr>
        <p:spPr>
          <a:xfrm>
            <a:off x="5198246" y="4684100"/>
            <a:ext cx="5000737" cy="72359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x=4.5 | real=28.00 | previsto=28.41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x=6.5 | real=34.00 | previsto=34.18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x=9.0 | real=42.00 | previsto=41.41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76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3106A-A983-B09F-1799-1E9EB97A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E5671560-4A6D-09EF-22D0-FE76FD5D3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8A9496E-0966-C092-C1A7-972833E67077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C50CCB-3DB3-4F52-4A54-04D1934A430C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08DFE9D-665E-8C71-A986-3B899E3F0827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898EFE0-568D-CCA5-C37A-DAFD99D74607}"/>
              </a:ext>
            </a:extLst>
          </p:cNvPr>
          <p:cNvSpPr txBox="1"/>
          <p:nvPr/>
        </p:nvSpPr>
        <p:spPr>
          <a:xfrm>
            <a:off x="242315" y="6211669"/>
            <a:ext cx="11949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Grus</a:t>
            </a:r>
            <a:r>
              <a:rPr lang="pt-BR" dirty="0"/>
              <a:t>, J. (2016). </a:t>
            </a:r>
            <a:r>
              <a:rPr lang="pt-BR" b="1" i="1" dirty="0"/>
              <a:t>Data Science do Zero: Primeiras Regras com o Python</a:t>
            </a:r>
            <a:r>
              <a:rPr lang="pt-BR" dirty="0"/>
              <a:t> (W. Nascimento, Trad.). </a:t>
            </a:r>
          </a:p>
          <a:p>
            <a:r>
              <a:rPr lang="pt-BR" dirty="0"/>
              <a:t>Rio de Janeiro: Alta Books. (Trabalho original publicado em 2015)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BB7CBB2-232A-A89A-A9C7-8837F3FBD58F}"/>
                  </a:ext>
                </a:extLst>
              </p:cNvPr>
              <p:cNvSpPr txBox="1"/>
              <p:nvPr/>
            </p:nvSpPr>
            <p:spPr>
              <a:xfrm>
                <a:off x="870407" y="650671"/>
                <a:ext cx="22743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Usar formato Linear </a:t>
                </a:r>
                <a:endParaRPr lang="pt-BR" b="0" i="1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BB7CBB2-232A-A89A-A9C7-8837F3FBD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07" y="650671"/>
                <a:ext cx="2274382" cy="646331"/>
              </a:xfrm>
              <a:prstGeom prst="rect">
                <a:avLst/>
              </a:prstGeom>
              <a:blipFill>
                <a:blip r:embed="rId4"/>
                <a:stretch>
                  <a:fillRect l="-2413" t="-4717" b="-66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 descr="Temaki tradicional - Seara">
            <a:extLst>
              <a:ext uri="{FF2B5EF4-FFF2-40B4-BE49-F238E27FC236}">
                <a16:creationId xmlns:a16="http://schemas.microsoft.com/office/drawing/2014/main" id="{2A9857B3-15C3-2BFB-A98C-28EA7049BF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789" y="219036"/>
            <a:ext cx="1610837" cy="906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90873DA-AB39-A549-34A5-96A13EED91B9}"/>
                  </a:ext>
                </a:extLst>
              </p:cNvPr>
              <p:cNvSpPr txBox="1"/>
              <p:nvPr/>
            </p:nvSpPr>
            <p:spPr>
              <a:xfrm>
                <a:off x="1051182" y="1277360"/>
                <a:ext cx="2506211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>
                              <a:lumMod val="75000"/>
                            </a:srgb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pt-BR" b="1" i="0" smtClean="0">
                          <a:solidFill>
                            <a:srgbClr val="E03D3D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2,89</m:t>
                      </m:r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d>
                        <m:dPr>
                          <m:ctrlPr>
                            <a:rPr kumimoji="0" lang="pt-B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50000"/>
                                </a:srgb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pt-B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50000"/>
                                </a:srgb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pt-B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nor/>
                        </m:rPr>
                        <a:rPr lang="pt-BR" b="1" i="0" smtClean="0">
                          <a:solidFill>
                            <a:srgbClr val="E03D3D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15,42</m:t>
                      </m:r>
                    </m:oMath>
                  </m:oMathPara>
                </a14:m>
                <a:endPara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90873DA-AB39-A549-34A5-96A13EED9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82" y="1277360"/>
                <a:ext cx="250621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6BD1041-6FA0-EBF9-B4F2-6DD39ACE102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40190" y="219036"/>
              <a:ext cx="6194003" cy="12307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26386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172749">
                      <a:extLst>
                        <a:ext uri="{9D8B030D-6E8A-4147-A177-3AD203B41FA5}">
                          <a16:colId xmlns:a16="http://schemas.microsoft.com/office/drawing/2014/main" val="3923328071"/>
                        </a:ext>
                      </a:extLst>
                    </a:gridCol>
                    <a:gridCol w="1635853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1359015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2718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Ranking_Aluguel_Comercial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0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  <m:r>
                                <a:rPr lang="pt-BR" sz="1200" b="1" i="1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Preço do temaki (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  <m:r>
                                <m:rPr>
                                  <m:sty m:val="p"/>
                                </m:rPr>
                                <a:rPr lang="pt-BR" sz="1200" b="1" i="1" kern="100" smtClean="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REAL</m:t>
                              </m:r>
                            </m:oMath>
                          </a14:m>
                          <a:endParaRPr lang="pt-BR" sz="1200" kern="100" dirty="0">
                            <a:solidFill>
                              <a:srgbClr val="2F5496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Preço do temaki (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  <m:r>
                                <a:rPr lang="pt-BR" sz="1200" b="1" i="1" kern="100">
                                  <a:solidFill>
                                    <a:srgbClr val="2F549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PREVISTO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Saúde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Bela Vista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18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Vila Olímpia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9,0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R$ 42,00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R$ 41,43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6BD1041-6FA0-EBF9-B4F2-6DD39ACE102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40190" y="219036"/>
              <a:ext cx="6194003" cy="12307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26386">
                      <a:extLst>
                        <a:ext uri="{9D8B030D-6E8A-4147-A177-3AD203B41FA5}">
                          <a16:colId xmlns:a16="http://schemas.microsoft.com/office/drawing/2014/main" val="3911155327"/>
                        </a:ext>
                      </a:extLst>
                    </a:gridCol>
                    <a:gridCol w="2172749">
                      <a:extLst>
                        <a:ext uri="{9D8B030D-6E8A-4147-A177-3AD203B41FA5}">
                          <a16:colId xmlns:a16="http://schemas.microsoft.com/office/drawing/2014/main" val="3923328071"/>
                        </a:ext>
                      </a:extLst>
                    </a:gridCol>
                    <a:gridCol w="1635853">
                      <a:extLst>
                        <a:ext uri="{9D8B030D-6E8A-4147-A177-3AD203B41FA5}">
                          <a16:colId xmlns:a16="http://schemas.microsoft.com/office/drawing/2014/main" val="1824926550"/>
                        </a:ext>
                      </a:extLst>
                    </a:gridCol>
                    <a:gridCol w="1359015">
                      <a:extLst>
                        <a:ext uri="{9D8B030D-6E8A-4147-A177-3AD203B41FA5}">
                          <a16:colId xmlns:a16="http://schemas.microsoft.com/office/drawing/2014/main" val="3903502659"/>
                        </a:ext>
                      </a:extLst>
                    </a:gridCol>
                  </a:tblGrid>
                  <a:tr h="40779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200" kern="100" dirty="0">
                              <a:solidFill>
                                <a:srgbClr val="2F5496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Bairro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7753" t="-5970" r="-138764" b="-2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95539" t="-5970" r="-83643" b="-2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56502" t="-5970" r="-897" b="-219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053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Saúde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R$ 28,43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81929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Bela Vista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R$ 34,21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79336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Vila Olímpia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9,0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2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R$ 42,00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b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R$ 41,43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DCE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59159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Imagem 9">
            <a:extLst>
              <a:ext uri="{FF2B5EF4-FFF2-40B4-BE49-F238E27FC236}">
                <a16:creationId xmlns:a16="http://schemas.microsoft.com/office/drawing/2014/main" id="{4B909B9C-74A0-FC51-1DD9-B2B5C96722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282" y="2076482"/>
            <a:ext cx="10049676" cy="466725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F7C668-7D3C-B29D-0AD4-3549E252D98E}"/>
              </a:ext>
            </a:extLst>
          </p:cNvPr>
          <p:cNvSpPr txBox="1"/>
          <p:nvPr/>
        </p:nvSpPr>
        <p:spPr>
          <a:xfrm>
            <a:off x="6884434" y="1860965"/>
            <a:ext cx="3358524" cy="72359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x=4.5 | real=28.00 | previsto=28.41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x=6.5 | real=34.00 | previsto=34.18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37"/>
              </a:lnSpc>
              <a:buNone/>
            </a:pPr>
            <a:r>
              <a:rPr lang="pt-BR" sz="1125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x=9.0 | real=42.00 | previsto=41.41</a:t>
            </a:r>
            <a:endParaRPr lang="pt-BR" sz="1125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722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8C879-F7DA-D5AC-4311-DB8A5110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796FBF6F-D152-B96C-0CFE-BFF93FB8D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BD851EC-0575-1EF4-08DC-000F4538AC5A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33DD191-1E91-2E95-77A0-9817B8C86B5B}"/>
              </a:ext>
            </a:extLst>
          </p:cNvPr>
          <p:cNvSpPr/>
          <p:nvPr/>
        </p:nvSpPr>
        <p:spPr>
          <a:xfrm>
            <a:off x="242315" y="1148705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>
                <a:solidFill>
                  <a:srgbClr val="0B1F3A"/>
                </a:solidFill>
              </a:rPr>
              <a:t>TREINO E TESTE DE MODELOS: 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F3CDA6-03BC-2AA1-9509-37C1AEC0DDB4}"/>
              </a:ext>
            </a:extLst>
          </p:cNvPr>
          <p:cNvSpPr/>
          <p:nvPr/>
        </p:nvSpPr>
        <p:spPr>
          <a:xfrm>
            <a:off x="527541" y="1677928"/>
            <a:ext cx="27391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O </a:t>
            </a:r>
            <a:r>
              <a:rPr lang="en-US" sz="1700" dirty="0" err="1">
                <a:solidFill>
                  <a:srgbClr val="111827"/>
                </a:solidFill>
              </a:rPr>
              <a:t>que</a:t>
            </a:r>
            <a:r>
              <a:rPr lang="en-US" sz="1700" dirty="0">
                <a:solidFill>
                  <a:srgbClr val="111827"/>
                </a:solidFill>
              </a:rPr>
              <a:t> é </a:t>
            </a:r>
            <a:r>
              <a:rPr lang="en-US" sz="1700" dirty="0" err="1">
                <a:solidFill>
                  <a:srgbClr val="111827"/>
                </a:solidFill>
              </a:rPr>
              <a:t>treinar</a:t>
            </a:r>
            <a:r>
              <a:rPr lang="en-US" sz="1700" dirty="0">
                <a:solidFill>
                  <a:srgbClr val="111827"/>
                </a:solidFill>
              </a:rPr>
              <a:t> um </a:t>
            </a:r>
            <a:r>
              <a:rPr lang="en-US" sz="1700" dirty="0" err="1">
                <a:solidFill>
                  <a:srgbClr val="111827"/>
                </a:solidFill>
              </a:rPr>
              <a:t>modelo</a:t>
            </a:r>
            <a:r>
              <a:rPr lang="en-US" sz="1700" dirty="0">
                <a:solidFill>
                  <a:srgbClr val="111827"/>
                </a:solidFill>
              </a:rPr>
              <a:t> ? 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E2B559-998F-73EF-42BE-F4A805DA6BF9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0A884EF-5154-78A9-27BD-83F6E0B32EF6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709348-ADC9-B461-D6F2-CF3C4F167DC9}"/>
              </a:ext>
            </a:extLst>
          </p:cNvPr>
          <p:cNvSpPr txBox="1"/>
          <p:nvPr/>
        </p:nvSpPr>
        <p:spPr>
          <a:xfrm>
            <a:off x="242315" y="6211669"/>
            <a:ext cx="11949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Grus</a:t>
            </a:r>
            <a:r>
              <a:rPr lang="pt-BR" dirty="0"/>
              <a:t>, J. (2016). </a:t>
            </a:r>
            <a:r>
              <a:rPr lang="pt-BR" b="1" i="1" dirty="0"/>
              <a:t>Data Science do Zero: Primeiras Regras com o Python</a:t>
            </a:r>
            <a:r>
              <a:rPr lang="pt-BR" dirty="0"/>
              <a:t> (W. Nascimento, Trad.). </a:t>
            </a:r>
          </a:p>
          <a:p>
            <a:r>
              <a:rPr lang="pt-BR" dirty="0"/>
              <a:t>Rio de Janeiro: Alta Books. (Trabalho original publicado em 2015)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06EC6502-67AE-9127-C9B0-7FEA0BF05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948751"/>
                  </p:ext>
                </p:extLst>
              </p:nvPr>
            </p:nvGraphicFramePr>
            <p:xfrm>
              <a:off x="527540" y="2354460"/>
              <a:ext cx="9262412" cy="2962224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4631206">
                      <a:extLst>
                        <a:ext uri="{9D8B030D-6E8A-4147-A177-3AD203B41FA5}">
                          <a16:colId xmlns:a16="http://schemas.microsoft.com/office/drawing/2014/main" val="3896780955"/>
                        </a:ext>
                      </a:extLst>
                    </a:gridCol>
                    <a:gridCol w="4631206">
                      <a:extLst>
                        <a:ext uri="{9D8B030D-6E8A-4147-A177-3AD203B41FA5}">
                          <a16:colId xmlns:a16="http://schemas.microsoft.com/office/drawing/2014/main" val="2464226192"/>
                        </a:ext>
                      </a:extLst>
                    </a:gridCol>
                  </a:tblGrid>
                  <a:tr h="4937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dirty="0"/>
                            <a:t>Etapa de treinamento do Modelo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dirty="0"/>
                            <a:t>Etapa de teste do Modelo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2481254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Novos pontos alteram os parâmetros </a:t>
                          </a: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pt-BR" dirty="0"/>
                            <a:t>e </a:t>
                          </a: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pt-BR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Novos pontos </a:t>
                          </a:r>
                          <a:r>
                            <a:rPr lang="pt-BR" b="1" dirty="0"/>
                            <a:t>não</a:t>
                          </a:r>
                          <a:r>
                            <a:rPr lang="pt-BR" dirty="0"/>
                            <a:t> alteram </a:t>
                          </a:r>
                          <a14:m>
                            <m:oMath xmlns:m="http://schemas.openxmlformats.org/officeDocument/2006/math"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pt-BR" dirty="0"/>
                            <a:t>e </a:t>
                          </a:r>
                          <a14:m>
                            <m:oMath xmlns:m="http://schemas.openxmlformats.org/officeDocument/2006/math"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pt-BR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4481290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A reta pode mudar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A reta permanece fixa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1758729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Calcula o modelo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Avalia o modelo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58197798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b="1" dirty="0" err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ourier New" panose="02070309020205020404" pitchFamily="49" charset="0"/>
                            </a:rPr>
                            <a:t>fit</a:t>
                          </a:r>
                          <a:r>
                            <a:rPr lang="pt-BR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ourier New" panose="02070309020205020404" pitchFamily="49" charset="0"/>
                            </a:rPr>
                            <a:t>()</a:t>
                          </a:r>
                          <a:endParaRPr lang="pt-BR" b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b="1" dirty="0" err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ourier New" panose="02070309020205020404" pitchFamily="49" charset="0"/>
                            </a:rPr>
                            <a:t>predict</a:t>
                          </a:r>
                          <a:r>
                            <a:rPr lang="pt-BR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ourier New" panose="02070309020205020404" pitchFamily="49" charset="0"/>
                            </a:rPr>
                            <a:t>()</a:t>
                          </a:r>
                          <a:endParaRPr lang="pt-BR" b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388213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Mede erro de treino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Mede erro de teste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1730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06EC6502-67AE-9127-C9B0-7FEA0BF05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948751"/>
                  </p:ext>
                </p:extLst>
              </p:nvPr>
            </p:nvGraphicFramePr>
            <p:xfrm>
              <a:off x="527540" y="2354460"/>
              <a:ext cx="9262412" cy="2962224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4631206">
                      <a:extLst>
                        <a:ext uri="{9D8B030D-6E8A-4147-A177-3AD203B41FA5}">
                          <a16:colId xmlns:a16="http://schemas.microsoft.com/office/drawing/2014/main" val="3896780955"/>
                        </a:ext>
                      </a:extLst>
                    </a:gridCol>
                    <a:gridCol w="4631206">
                      <a:extLst>
                        <a:ext uri="{9D8B030D-6E8A-4147-A177-3AD203B41FA5}">
                          <a16:colId xmlns:a16="http://schemas.microsoft.com/office/drawing/2014/main" val="2464226192"/>
                        </a:ext>
                      </a:extLst>
                    </a:gridCol>
                  </a:tblGrid>
                  <a:tr h="4937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dirty="0"/>
                            <a:t>Etapa de treinamento do Modelo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dirty="0"/>
                            <a:t>Etapa de teste do Modelo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2481254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2" t="-101235" r="-100395" b="-408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32" t="-101235" r="-395" b="-4086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4481290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A reta pode mudar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A reta permanece fixa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1758729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Calcula o modelo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Avalia o modelo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58197798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b="1" dirty="0" err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ourier New" panose="02070309020205020404" pitchFamily="49" charset="0"/>
                            </a:rPr>
                            <a:t>fit</a:t>
                          </a:r>
                          <a:r>
                            <a:rPr lang="pt-BR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ourier New" panose="02070309020205020404" pitchFamily="49" charset="0"/>
                            </a:rPr>
                            <a:t>()</a:t>
                          </a:r>
                          <a:endParaRPr lang="pt-BR" b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b="1" dirty="0" err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ourier New" panose="02070309020205020404" pitchFamily="49" charset="0"/>
                            </a:rPr>
                            <a:t>predict</a:t>
                          </a:r>
                          <a:r>
                            <a:rPr lang="pt-BR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ourier New" panose="02070309020205020404" pitchFamily="49" charset="0"/>
                            </a:rPr>
                            <a:t>()</a:t>
                          </a:r>
                          <a:endParaRPr lang="pt-BR" b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388213"/>
                      </a:ext>
                    </a:extLst>
                  </a:tr>
                  <a:tr h="4937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Mede erro de treino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dirty="0"/>
                            <a:t>Mede erro de teste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17301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52378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8A8A-9EFD-2420-B107-C44DD7FD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">
            <a:extLst>
              <a:ext uri="{FF2B5EF4-FFF2-40B4-BE49-F238E27FC236}">
                <a16:creationId xmlns:a16="http://schemas.microsoft.com/office/drawing/2014/main" id="{89D14E7E-AD0B-44FA-9458-C2B5B8570CF8}"/>
              </a:ext>
            </a:extLst>
          </p:cNvPr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87F7E395-0A4D-0414-015F-05ABC7489784}"/>
              </a:ext>
            </a:extLst>
          </p:cNvPr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/>
                <a:ea typeface="Aptos Display"/>
                <a:cs typeface="+mn-cs"/>
              </a:rPr>
              <a:t>AGENDA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8EF5D2D4-92A4-63A8-D1E4-A2DEBA6E7CF8}"/>
              </a:ext>
            </a:extLst>
          </p:cNvPr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Regressão Linear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E7C09ED8-934F-5467-F7E8-377ECDDFA9AC}"/>
              </a:ext>
            </a:extLst>
          </p:cNvPr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06499D1F-8C3A-86C6-5C7A-412803A8A542}"/>
              </a:ext>
            </a:extLst>
          </p:cNvPr>
          <p:cNvSpPr/>
          <p:nvPr/>
        </p:nvSpPr>
        <p:spPr>
          <a:xfrm>
            <a:off x="731520" y="1234440"/>
            <a:ext cx="456840" cy="456840"/>
          </a:xfrm>
          <a:prstGeom prst="ellipse">
            <a:avLst/>
          </a:prstGeom>
          <a:solidFill>
            <a:srgbClr val="5C883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A5C4594-1D9D-D140-377E-811042A91F9C}"/>
              </a:ext>
            </a:extLst>
          </p:cNvPr>
          <p:cNvSpPr/>
          <p:nvPr/>
        </p:nvSpPr>
        <p:spPr>
          <a:xfrm>
            <a:off x="731520" y="1344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4A730403-D2B4-692F-CB6B-33AA25F5E211}"/>
              </a:ext>
            </a:extLst>
          </p:cNvPr>
          <p:cNvSpPr/>
          <p:nvPr/>
        </p:nvSpPr>
        <p:spPr>
          <a:xfrm>
            <a:off x="1371600" y="1024200"/>
            <a:ext cx="671256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>
              <a:tabLst>
                <a:tab pos="0" algn="l"/>
              </a:tabLst>
              <a:defRPr/>
            </a:pP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Qual é a diferença entre 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TERINAR 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um modelo e 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TESTAR 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um modelo?  OK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6D1AD493-33F6-5C5A-E829-0B806433450A}"/>
              </a:ext>
            </a:extLst>
          </p:cNvPr>
          <p:cNvSpPr/>
          <p:nvPr/>
        </p:nvSpPr>
        <p:spPr>
          <a:xfrm>
            <a:off x="731520" y="2057400"/>
            <a:ext cx="456840" cy="45684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3E1DD27C-B396-E770-D6DA-9A9CFA784788}"/>
              </a:ext>
            </a:extLst>
          </p:cNvPr>
          <p:cNvSpPr/>
          <p:nvPr/>
        </p:nvSpPr>
        <p:spPr>
          <a:xfrm>
            <a:off x="731520" y="21672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262A8A19-1A3E-9A9E-E783-AF44E220F68C}"/>
              </a:ext>
            </a:extLst>
          </p:cNvPr>
          <p:cNvSpPr/>
          <p:nvPr/>
        </p:nvSpPr>
        <p:spPr>
          <a:xfrm>
            <a:off x="1371600" y="214884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é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Generalizar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e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SuperAjustar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(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OverFit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 um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modelo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?</a:t>
            </a:r>
            <a:endParaRPr kumimoji="0" lang="pt-BR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B9BEE25F-22F0-D5AB-0B64-F17075BA2383}"/>
              </a:ext>
            </a:extLst>
          </p:cNvPr>
          <p:cNvSpPr/>
          <p:nvPr/>
        </p:nvSpPr>
        <p:spPr>
          <a:xfrm>
            <a:off x="731520" y="288036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F838DF7B-F013-5BCA-B2F3-A1B0F3AD19D3}"/>
              </a:ext>
            </a:extLst>
          </p:cNvPr>
          <p:cNvSpPr/>
          <p:nvPr/>
        </p:nvSpPr>
        <p:spPr>
          <a:xfrm>
            <a:off x="731520" y="29901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7960FF77-487E-748D-2C16-0E071BEF086E}"/>
              </a:ext>
            </a:extLst>
          </p:cNvPr>
          <p:cNvSpPr/>
          <p:nvPr/>
        </p:nvSpPr>
        <p:spPr>
          <a:xfrm>
            <a:off x="1371600" y="297180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O que significa um modelo possuir </a:t>
            </a:r>
            <a:r>
              <a:rPr lang="pt-BR" b="1" dirty="0"/>
              <a:t>alto viés ?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06E28588-0299-D44C-D9AC-52C5B5B29A26}"/>
              </a:ext>
            </a:extLst>
          </p:cNvPr>
          <p:cNvSpPr/>
          <p:nvPr/>
        </p:nvSpPr>
        <p:spPr>
          <a:xfrm>
            <a:off x="731520" y="370332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A632E6A7-3E6E-0673-2592-76C3BCB36232}"/>
              </a:ext>
            </a:extLst>
          </p:cNvPr>
          <p:cNvSpPr/>
          <p:nvPr/>
        </p:nvSpPr>
        <p:spPr>
          <a:xfrm>
            <a:off x="731520" y="38131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0086A78B-C8B4-7CA6-CB81-43E5E1269808}"/>
              </a:ext>
            </a:extLst>
          </p:cNvPr>
          <p:cNvSpPr/>
          <p:nvPr/>
        </p:nvSpPr>
        <p:spPr>
          <a:xfrm>
            <a:off x="1371600" y="379476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O que significa possuir </a:t>
            </a:r>
            <a:r>
              <a:rPr lang="pt-BR" b="1" dirty="0"/>
              <a:t>alta variância</a:t>
            </a:r>
            <a:r>
              <a:rPr lang="pt-BR" dirty="0"/>
              <a:t>?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15355CFE-9508-2708-5E93-6CA61CA30603}"/>
              </a:ext>
            </a:extLst>
          </p:cNvPr>
          <p:cNvSpPr/>
          <p:nvPr/>
        </p:nvSpPr>
        <p:spPr>
          <a:xfrm>
            <a:off x="731520" y="452628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3CF0EB9D-69C3-6C90-CDFE-22525BEE98A5}"/>
              </a:ext>
            </a:extLst>
          </p:cNvPr>
          <p:cNvSpPr/>
          <p:nvPr/>
        </p:nvSpPr>
        <p:spPr>
          <a:xfrm>
            <a:off x="731520" y="463608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5DBA840E-2F24-F24C-91DD-C58AF1797E7A}"/>
              </a:ext>
            </a:extLst>
          </p:cNvPr>
          <p:cNvSpPr/>
          <p:nvPr/>
        </p:nvSpPr>
        <p:spPr>
          <a:xfrm>
            <a:off x="1371600" y="461772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Aumentar a complexidade do modelo sempre melhora as previsões ?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2A256CF1-3243-B786-D7E8-5822AE89B1BF}"/>
              </a:ext>
            </a:extLst>
          </p:cNvPr>
          <p:cNvSpPr/>
          <p:nvPr/>
        </p:nvSpPr>
        <p:spPr>
          <a:xfrm>
            <a:off x="8412480" y="128016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DD5F9F0F-1115-CDDA-D143-E56204BA6258}"/>
              </a:ext>
            </a:extLst>
          </p:cNvPr>
          <p:cNvSpPr/>
          <p:nvPr/>
        </p:nvSpPr>
        <p:spPr>
          <a:xfrm>
            <a:off x="8485560" y="135324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Parte 0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Funções → Modelos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0943A1BB-A208-DF0C-AF24-86CF16E74C38}"/>
              </a:ext>
            </a:extLst>
          </p:cNvPr>
          <p:cNvSpPr/>
          <p:nvPr/>
        </p:nvSpPr>
        <p:spPr>
          <a:xfrm>
            <a:off x="8412480" y="237744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46B76972-CE5A-3C83-39F6-6E0C3485CBC4}"/>
              </a:ext>
            </a:extLst>
          </p:cNvPr>
          <p:cNvSpPr/>
          <p:nvPr/>
        </p:nvSpPr>
        <p:spPr>
          <a:xfrm>
            <a:off x="8485560" y="245052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Parte I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Problema de regressão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Shape 25">
            <a:extLst>
              <a:ext uri="{FF2B5EF4-FFF2-40B4-BE49-F238E27FC236}">
                <a16:creationId xmlns:a16="http://schemas.microsoft.com/office/drawing/2014/main" id="{456196E6-D185-EE25-0008-6A0774E0B06E}"/>
              </a:ext>
            </a:extLst>
          </p:cNvPr>
          <p:cNvSpPr/>
          <p:nvPr/>
        </p:nvSpPr>
        <p:spPr>
          <a:xfrm>
            <a:off x="8412480" y="347472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4087F3D2-C97E-C6DF-3186-54399F5D5CD0}"/>
              </a:ext>
            </a:extLst>
          </p:cNvPr>
          <p:cNvSpPr/>
          <p:nvPr/>
        </p:nvSpPr>
        <p:spPr>
          <a:xfrm>
            <a:off x="8485560" y="354780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Parte II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Modelo, erro e otimização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2615FC41-9BE8-AEEB-D684-67F48D8FD50D}"/>
              </a:ext>
            </a:extLst>
          </p:cNvPr>
          <p:cNvSpPr/>
          <p:nvPr/>
        </p:nvSpPr>
        <p:spPr>
          <a:xfrm>
            <a:off x="8412480" y="457200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F33A0500-69F6-D508-E043-F1E83906C10B}"/>
              </a:ext>
            </a:extLst>
          </p:cNvPr>
          <p:cNvSpPr/>
          <p:nvPr/>
        </p:nvSpPr>
        <p:spPr>
          <a:xfrm>
            <a:off x="8485560" y="464508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Parte III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Python e exercício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7EE2D5F0-AEEE-15E3-A757-0E34F18203BD}"/>
              </a:ext>
            </a:extLst>
          </p:cNvPr>
          <p:cNvSpPr/>
          <p:nvPr/>
        </p:nvSpPr>
        <p:spPr>
          <a:xfrm>
            <a:off x="731520" y="513552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CE8588E3-4649-33D7-8352-FF4A3E962194}"/>
              </a:ext>
            </a:extLst>
          </p:cNvPr>
          <p:cNvSpPr/>
          <p:nvPr/>
        </p:nvSpPr>
        <p:spPr>
          <a:xfrm>
            <a:off x="731520" y="5245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pt-BR" sz="1200" i="0" u="none" strike="noStrike" kern="1200" normalizeH="0" baseline="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rPr>
              <a:t>6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E70DB49B-3DD0-3FD8-9F56-E67DE20E6548}"/>
              </a:ext>
            </a:extLst>
          </p:cNvPr>
          <p:cNvSpPr/>
          <p:nvPr/>
        </p:nvSpPr>
        <p:spPr>
          <a:xfrm>
            <a:off x="1371600" y="522696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Como </a:t>
            </a:r>
            <a:r>
              <a:rPr lang="pt-BR" b="1" dirty="0"/>
              <a:t>detectar esses problemas</a:t>
            </a:r>
            <a:r>
              <a:rPr lang="pt-BR" dirty="0"/>
              <a:t> empiricamente </a:t>
            </a:r>
            <a:r>
              <a:rPr lang="pt-BR" b="1" dirty="0"/>
              <a:t>usando Python</a:t>
            </a:r>
            <a:r>
              <a:rPr lang="pt-BR" dirty="0"/>
              <a:t>?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979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C4CF8-CDCD-1047-C552-2183892C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6286425-6468-E096-C69A-A0D2B401979D}"/>
              </a:ext>
            </a:extLst>
          </p:cNvPr>
          <p:cNvSpPr/>
          <p:nvPr/>
        </p:nvSpPr>
        <p:spPr>
          <a:xfrm>
            <a:off x="640710" y="1317072"/>
            <a:ext cx="10921878" cy="4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tabLst>
                <a:tab pos="0" algn="l"/>
              </a:tabLst>
              <a:defRPr/>
            </a:pPr>
            <a:r>
              <a:rPr lang="en-US" sz="7200" dirty="0">
                <a:solidFill>
                  <a:srgbClr val="111827"/>
                </a:solidFill>
              </a:rPr>
              <a:t>O </a:t>
            </a:r>
            <a:r>
              <a:rPr lang="en-US" sz="7200" dirty="0" err="1">
                <a:solidFill>
                  <a:srgbClr val="111827"/>
                </a:solidFill>
              </a:rPr>
              <a:t>que</a:t>
            </a:r>
            <a:r>
              <a:rPr lang="en-US" sz="7200" dirty="0">
                <a:solidFill>
                  <a:srgbClr val="111827"/>
                </a:solidFill>
              </a:rPr>
              <a:t> </a:t>
            </a:r>
            <a:r>
              <a:rPr lang="en-US" sz="7200" dirty="0" err="1">
                <a:solidFill>
                  <a:srgbClr val="111827"/>
                </a:solidFill>
              </a:rPr>
              <a:t>significa</a:t>
            </a:r>
            <a:r>
              <a:rPr lang="en-US" sz="7200" dirty="0">
                <a:solidFill>
                  <a:srgbClr val="111827"/>
                </a:solidFill>
              </a:rPr>
              <a:t> </a:t>
            </a:r>
            <a:r>
              <a:rPr lang="en-US" sz="7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GENERALIZAR</a:t>
            </a:r>
            <a:r>
              <a:rPr lang="en-US" sz="7200" b="1" dirty="0">
                <a:solidFill>
                  <a:srgbClr val="111827"/>
                </a:solidFill>
              </a:rPr>
              <a:t> </a:t>
            </a:r>
            <a:r>
              <a:rPr lang="en-US" sz="7200" dirty="0">
                <a:solidFill>
                  <a:srgbClr val="111827"/>
                </a:solidFill>
              </a:rPr>
              <a:t>e </a:t>
            </a:r>
            <a:r>
              <a:rPr lang="en-US" sz="7200" b="1" dirty="0">
                <a:solidFill>
                  <a:srgbClr val="E24F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SUPERAJUSTAR</a:t>
            </a:r>
            <a:r>
              <a:rPr lang="en-US" sz="7200" dirty="0">
                <a:solidFill>
                  <a:srgbClr val="111827"/>
                </a:solidFill>
              </a:rPr>
              <a:t> (</a:t>
            </a:r>
            <a:r>
              <a:rPr lang="en-US" sz="7200" dirty="0" err="1">
                <a:solidFill>
                  <a:srgbClr val="111827"/>
                </a:solidFill>
              </a:rPr>
              <a:t>OverFit</a:t>
            </a:r>
            <a:r>
              <a:rPr lang="en-US" sz="7200" dirty="0">
                <a:solidFill>
                  <a:srgbClr val="111827"/>
                </a:solidFill>
              </a:rPr>
              <a:t>) um </a:t>
            </a:r>
            <a:r>
              <a:rPr lang="en-US" sz="7200" dirty="0" err="1">
                <a:solidFill>
                  <a:srgbClr val="111827"/>
                </a:solidFill>
              </a:rPr>
              <a:t>modelo</a:t>
            </a:r>
            <a:r>
              <a:rPr lang="en-US" sz="7200" dirty="0">
                <a:solidFill>
                  <a:srgbClr val="111827"/>
                </a:solidFill>
              </a:rPr>
              <a:t> ?</a:t>
            </a:r>
            <a:endParaRPr lang="pt-BR" sz="7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5BA46C-456F-FBD2-3483-85FA2C492903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112861-D401-8E56-8164-10F769643A47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72422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08ABA-64E6-F8C1-69B7-2EE3CB2E6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89D071B9-9234-DC84-9D78-7AE36C1B1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5720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9B5823A-27DA-BED1-97D8-A4718E7EE829}"/>
              </a:ext>
            </a:extLst>
          </p:cNvPr>
          <p:cNvSpPr/>
          <p:nvPr/>
        </p:nvSpPr>
        <p:spPr>
          <a:xfrm>
            <a:off x="658368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46E7118-C240-3F6A-106F-D5CF1CE6DF1A}"/>
              </a:ext>
            </a:extLst>
          </p:cNvPr>
          <p:cNvSpPr/>
          <p:nvPr/>
        </p:nvSpPr>
        <p:spPr>
          <a:xfrm>
            <a:off x="658368" y="1783080"/>
            <a:ext cx="425758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SuperAjustamento</a:t>
            </a:r>
            <a:r>
              <a:rPr lang="en-US" sz="2400" b="1" dirty="0">
                <a:solidFill>
                  <a:srgbClr val="0B1F3A"/>
                </a:solidFill>
              </a:rPr>
              <a:t> - </a:t>
            </a:r>
            <a:r>
              <a:rPr lang="en-US" sz="2400" b="1" dirty="0" err="1">
                <a:solidFill>
                  <a:srgbClr val="0B1F3A"/>
                </a:solidFill>
              </a:rPr>
              <a:t>OverFiting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FC77F85-7687-F22F-1952-8029620F0994}"/>
              </a:ext>
            </a:extLst>
          </p:cNvPr>
          <p:cNvSpPr/>
          <p:nvPr/>
        </p:nvSpPr>
        <p:spPr>
          <a:xfrm>
            <a:off x="658368" y="3076579"/>
            <a:ext cx="10566102" cy="71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pt-BR" dirty="0"/>
              <a:t>A pergunta que não quer calar:</a:t>
            </a:r>
          </a:p>
          <a:p>
            <a:pPr algn="just">
              <a:lnSpc>
                <a:spcPct val="150000"/>
              </a:lnSpc>
            </a:pPr>
            <a:r>
              <a:rPr lang="pt-BR" b="1" i="1" dirty="0"/>
              <a:t>Um modelo que </a:t>
            </a:r>
            <a:r>
              <a:rPr lang="pt-BR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acerta 100%</a:t>
            </a:r>
            <a:r>
              <a:rPr lang="pt-BR" b="1" i="1" dirty="0"/>
              <a:t> dos dados usados para treiná-lo </a:t>
            </a:r>
            <a:r>
              <a:rPr lang="pt-BR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 necessariamente um bom modelo</a:t>
            </a:r>
            <a:r>
              <a:rPr lang="pt-BR" b="1" i="1" dirty="0"/>
              <a:t>?</a:t>
            </a:r>
            <a:endParaRPr lang="pt-BR" i="1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C202E53-036A-AB68-3B06-578C553AE807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634C675-5D05-ED27-6C55-78A1F4544517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632443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37120-D800-1F4E-E012-F6293194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A031A86F-B0D9-F9B2-3096-14033B99A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5720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BBE1B1C-32A7-A44B-A76B-C76911CFF15C}"/>
              </a:ext>
            </a:extLst>
          </p:cNvPr>
          <p:cNvSpPr/>
          <p:nvPr/>
        </p:nvSpPr>
        <p:spPr>
          <a:xfrm>
            <a:off x="658368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CB2215D-237B-EEE7-C6EA-3084B7AE57B3}"/>
              </a:ext>
            </a:extLst>
          </p:cNvPr>
          <p:cNvSpPr/>
          <p:nvPr/>
        </p:nvSpPr>
        <p:spPr>
          <a:xfrm>
            <a:off x="512064" y="1595670"/>
            <a:ext cx="425758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SuperAjustamento</a:t>
            </a:r>
            <a:r>
              <a:rPr lang="en-US" sz="2400" b="1" dirty="0">
                <a:solidFill>
                  <a:srgbClr val="0B1F3A"/>
                </a:solidFill>
              </a:rPr>
              <a:t> - </a:t>
            </a:r>
            <a:r>
              <a:rPr lang="en-US" sz="2400" b="1" dirty="0" err="1">
                <a:solidFill>
                  <a:srgbClr val="0B1F3A"/>
                </a:solidFill>
              </a:rPr>
              <a:t>OverFiting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2C3F347-6C00-5D9D-C9AC-81787346C62D}"/>
              </a:ext>
            </a:extLst>
          </p:cNvPr>
          <p:cNvSpPr/>
          <p:nvPr/>
        </p:nvSpPr>
        <p:spPr>
          <a:xfrm>
            <a:off x="510300" y="2039729"/>
            <a:ext cx="2276857" cy="352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pt-BR" dirty="0"/>
              <a:t>Suponha um exemplo: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8F39E60-EC62-4CDD-C98D-A65E504A47BF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5CF6E64-F9E3-04EB-4137-40546B40C47C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3CBC2A9-A16A-5FAB-0C86-B6C68A802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537247"/>
              </p:ext>
            </p:extLst>
          </p:nvPr>
        </p:nvGraphicFramePr>
        <p:xfrm>
          <a:off x="512064" y="2456829"/>
          <a:ext cx="1117011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156">
                  <a:extLst>
                    <a:ext uri="{9D8B030D-6E8A-4147-A177-3AD203B41FA5}">
                      <a16:colId xmlns:a16="http://schemas.microsoft.com/office/drawing/2014/main" val="3844924376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2549961946"/>
                    </a:ext>
                  </a:extLst>
                </a:gridCol>
                <a:gridCol w="2830378">
                  <a:extLst>
                    <a:ext uri="{9D8B030D-6E8A-4147-A177-3AD203B41FA5}">
                      <a16:colId xmlns:a16="http://schemas.microsoft.com/office/drawing/2014/main" val="2440748149"/>
                    </a:ext>
                  </a:extLst>
                </a:gridCol>
                <a:gridCol w="2563743">
                  <a:extLst>
                    <a:ext uri="{9D8B030D-6E8A-4147-A177-3AD203B41FA5}">
                      <a16:colId xmlns:a16="http://schemas.microsoft.com/office/drawing/2014/main" val="2109268867"/>
                    </a:ext>
                  </a:extLst>
                </a:gridCol>
                <a:gridCol w="1904301">
                  <a:extLst>
                    <a:ext uri="{9D8B030D-6E8A-4147-A177-3AD203B41FA5}">
                      <a16:colId xmlns:a16="http://schemas.microsoft.com/office/drawing/2014/main" val="6137418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Aluno</a:t>
                      </a:r>
                    </a:p>
                  </a:txBody>
                  <a:tcPr marL="152400" marR="152400" marT="114300" marB="1143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Estratégia de Estudo (TREINO)</a:t>
                      </a:r>
                    </a:p>
                  </a:txBody>
                  <a:tcPr marL="152400" marR="152400" marT="114300" marB="1143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Desempenho </a:t>
                      </a:r>
                    </a:p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(Questões Iguais)</a:t>
                      </a:r>
                    </a:p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(TESTE)</a:t>
                      </a:r>
                    </a:p>
                  </a:txBody>
                  <a:tcPr marL="152400" marR="152400" marT="114300" marB="114300" anchor="ctr">
                    <a:solidFill>
                      <a:srgbClr val="B6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Desempenho </a:t>
                      </a:r>
                    </a:p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(Questões Diferentes)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(TESTE)</a:t>
                      </a:r>
                    </a:p>
                  </a:txBody>
                  <a:tcPr marL="152400" marR="152400" marT="114300" marB="114300" anchor="ctr">
                    <a:solidFill>
                      <a:srgbClr val="B6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Conclusão sobre a Aprendizagem</a:t>
                      </a:r>
                    </a:p>
                  </a:txBody>
                  <a:tcPr marL="152400" marR="152400" marT="114300" marB="11430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78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Aluno A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Memorização mecânica ("decoreba")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10,0</a:t>
                      </a:r>
                    </a:p>
                  </a:txBody>
                  <a:tcPr marL="152400" marR="152400" marT="95250" marB="952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4,0</a:t>
                      </a:r>
                    </a:p>
                  </a:txBody>
                  <a:tcPr marL="152400" marR="152400" marT="95250" marB="95250" anchor="ctr">
                    <a:solidFill>
                      <a:srgbClr val="FF7C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Aprendeu ?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277556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Aluno B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Compreensão conceitual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8,5</a:t>
                      </a:r>
                    </a:p>
                  </a:txBody>
                  <a:tcPr marL="152400" marR="152400" marT="95250" marB="952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8,0</a:t>
                      </a:r>
                    </a:p>
                  </a:txBody>
                  <a:tcPr marL="152400" marR="152400" marT="95250" marB="952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Aprendeu ?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95915375"/>
                  </a:ext>
                </a:extLst>
              </a:tr>
            </a:tbl>
          </a:graphicData>
        </a:graphic>
      </p:graphicFrame>
      <p:sp>
        <p:nvSpPr>
          <p:cNvPr id="10" name="Text 2">
            <a:extLst>
              <a:ext uri="{FF2B5EF4-FFF2-40B4-BE49-F238E27FC236}">
                <a16:creationId xmlns:a16="http://schemas.microsoft.com/office/drawing/2014/main" id="{E9189680-8507-F39F-C803-C799B283563B}"/>
              </a:ext>
            </a:extLst>
          </p:cNvPr>
          <p:cNvSpPr/>
          <p:nvPr/>
        </p:nvSpPr>
        <p:spPr>
          <a:xfrm>
            <a:off x="509826" y="4346434"/>
            <a:ext cx="2423161" cy="156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pt-BR" dirty="0"/>
              <a:t>Quem aprendeu mais : 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Aluno A </a:t>
            </a:r>
          </a:p>
          <a:p>
            <a:pPr algn="just"/>
            <a:r>
              <a:rPr lang="pt-BR" dirty="0"/>
              <a:t>ou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Aluno B</a:t>
            </a:r>
          </a:p>
        </p:txBody>
      </p:sp>
    </p:spTree>
    <p:extLst>
      <p:ext uri="{BB962C8B-B14F-4D97-AF65-F5344CB8AC3E}">
        <p14:creationId xmlns:p14="http://schemas.microsoft.com/office/powerpoint/2010/main" val="2204116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BC915-2E87-A005-421D-C6C4C57C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82CBB7A8-84D9-8DC6-CC85-9E39A63D9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5720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6355AE9-827A-E06E-317D-9464514C3DFC}"/>
              </a:ext>
            </a:extLst>
          </p:cNvPr>
          <p:cNvSpPr/>
          <p:nvPr/>
        </p:nvSpPr>
        <p:spPr>
          <a:xfrm>
            <a:off x="658368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6B94CDD-78BB-9963-E678-A5683A52ABF4}"/>
              </a:ext>
            </a:extLst>
          </p:cNvPr>
          <p:cNvSpPr/>
          <p:nvPr/>
        </p:nvSpPr>
        <p:spPr>
          <a:xfrm>
            <a:off x="658368" y="1595670"/>
            <a:ext cx="425758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SuperAjustamento</a:t>
            </a:r>
            <a:r>
              <a:rPr lang="en-US" sz="2400" b="1" dirty="0">
                <a:solidFill>
                  <a:srgbClr val="0B1F3A"/>
                </a:solidFill>
              </a:rPr>
              <a:t> - </a:t>
            </a:r>
            <a:r>
              <a:rPr lang="en-US" sz="2400" b="1" dirty="0" err="1">
                <a:solidFill>
                  <a:srgbClr val="0B1F3A"/>
                </a:solidFill>
              </a:rPr>
              <a:t>OverFiting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173841B-7A12-F5BD-B41E-4657FB93CCE1}"/>
              </a:ext>
            </a:extLst>
          </p:cNvPr>
          <p:cNvSpPr/>
          <p:nvPr/>
        </p:nvSpPr>
        <p:spPr>
          <a:xfrm>
            <a:off x="658367" y="2030738"/>
            <a:ext cx="10566102" cy="352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pt-BR" dirty="0"/>
              <a:t>Suponha um exemplo: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81BA591-5B21-35CA-9E9C-6C5015600BBC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9994759-FB6D-F922-F525-8AFC35D17FCF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E9E74BC-B3B3-7110-A4F7-FAE35E6D5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958884"/>
              </p:ext>
            </p:extLst>
          </p:nvPr>
        </p:nvGraphicFramePr>
        <p:xfrm>
          <a:off x="591255" y="2456829"/>
          <a:ext cx="1117011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156">
                  <a:extLst>
                    <a:ext uri="{9D8B030D-6E8A-4147-A177-3AD203B41FA5}">
                      <a16:colId xmlns:a16="http://schemas.microsoft.com/office/drawing/2014/main" val="3844924376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2549961946"/>
                    </a:ext>
                  </a:extLst>
                </a:gridCol>
                <a:gridCol w="2830378">
                  <a:extLst>
                    <a:ext uri="{9D8B030D-6E8A-4147-A177-3AD203B41FA5}">
                      <a16:colId xmlns:a16="http://schemas.microsoft.com/office/drawing/2014/main" val="2440748149"/>
                    </a:ext>
                  </a:extLst>
                </a:gridCol>
                <a:gridCol w="2295296">
                  <a:extLst>
                    <a:ext uri="{9D8B030D-6E8A-4147-A177-3AD203B41FA5}">
                      <a16:colId xmlns:a16="http://schemas.microsoft.com/office/drawing/2014/main" val="2109268867"/>
                    </a:ext>
                  </a:extLst>
                </a:gridCol>
                <a:gridCol w="2172748">
                  <a:extLst>
                    <a:ext uri="{9D8B030D-6E8A-4147-A177-3AD203B41FA5}">
                      <a16:colId xmlns:a16="http://schemas.microsoft.com/office/drawing/2014/main" val="6137418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Aluno</a:t>
                      </a:r>
                    </a:p>
                  </a:txBody>
                  <a:tcPr marL="152400" marR="152400" marT="114300" marB="1143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Estratégia de Estudo (TREINO)</a:t>
                      </a:r>
                    </a:p>
                  </a:txBody>
                  <a:tcPr marL="152400" marR="152400" marT="114300" marB="1143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Desempenho </a:t>
                      </a:r>
                    </a:p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(Questões Iguais)</a:t>
                      </a:r>
                    </a:p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(TESTE)</a:t>
                      </a:r>
                    </a:p>
                  </a:txBody>
                  <a:tcPr marL="152400" marR="152400" marT="114300" marB="114300" anchor="ctr">
                    <a:solidFill>
                      <a:srgbClr val="B6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Desempenho </a:t>
                      </a:r>
                    </a:p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(Questões Diferentes)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(TESTE)</a:t>
                      </a:r>
                    </a:p>
                  </a:txBody>
                  <a:tcPr marL="152400" marR="152400" marT="114300" marB="114300" anchor="ctr">
                    <a:solidFill>
                      <a:srgbClr val="B6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1" i="0" dirty="0">
                          <a:solidFill>
                            <a:srgbClr val="374151"/>
                          </a:solidFill>
                          <a:effectLst/>
                          <a:latin typeface="Inter" panose="02000503000000020004" pitchFamily="2" charset="0"/>
                        </a:rPr>
                        <a:t>Conclusão sobre a Aprendizagem</a:t>
                      </a:r>
                    </a:p>
                  </a:txBody>
                  <a:tcPr marL="152400" marR="152400" marT="114300" marB="11430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78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Aluno A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Memorização mecânica ("decoreba")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10,0</a:t>
                      </a:r>
                    </a:p>
                  </a:txBody>
                  <a:tcPr marL="152400" marR="152400" marT="95250" marB="952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4,0</a:t>
                      </a:r>
                    </a:p>
                  </a:txBody>
                  <a:tcPr marL="152400" marR="152400" marT="95250" marB="95250" anchor="ctr">
                    <a:solidFill>
                      <a:srgbClr val="FF7C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pt-BR" sz="1400" b="1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Não aprendeu</a:t>
                      </a: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 o conceito (falta de transferência de aprendizado).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277556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Aluno B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Compreensão conceitual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8,5</a:t>
                      </a:r>
                    </a:p>
                  </a:txBody>
                  <a:tcPr marL="152400" marR="152400" marT="95250" marB="952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8,0</a:t>
                      </a:r>
                    </a:p>
                  </a:txBody>
                  <a:tcPr marL="152400" marR="152400" marT="95250" marB="952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pt-BR" sz="1400" b="1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Realmente aprendeu</a:t>
                      </a:r>
                      <a:r>
                        <a:rPr lang="pt-BR" sz="1400" b="0" i="0" dirty="0">
                          <a:solidFill>
                            <a:srgbClr val="4B5563"/>
                          </a:solidFill>
                          <a:effectLst/>
                          <a:latin typeface="Inter" panose="02000503000000020004" pitchFamily="2" charset="0"/>
                        </a:rPr>
                        <a:t> (consistência na aplicação do conhecimento).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95915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534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E3302-EE68-C6F2-B77B-373587DCC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5E61C4DE-5453-F043-EE1F-5FF7F0B44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5720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F2F573D-12DA-E188-AAE5-71B26AC6B766}"/>
              </a:ext>
            </a:extLst>
          </p:cNvPr>
          <p:cNvSpPr/>
          <p:nvPr/>
        </p:nvSpPr>
        <p:spPr>
          <a:xfrm>
            <a:off x="658368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97ECBDF-8590-CE1C-FAEA-EA00C259B10B}"/>
              </a:ext>
            </a:extLst>
          </p:cNvPr>
          <p:cNvSpPr/>
          <p:nvPr/>
        </p:nvSpPr>
        <p:spPr>
          <a:xfrm>
            <a:off x="658368" y="1595670"/>
            <a:ext cx="425758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SuperAjustamento</a:t>
            </a:r>
            <a:r>
              <a:rPr lang="en-US" sz="2400" b="1" dirty="0">
                <a:solidFill>
                  <a:srgbClr val="0B1F3A"/>
                </a:solidFill>
              </a:rPr>
              <a:t> - </a:t>
            </a:r>
            <a:r>
              <a:rPr lang="en-US" sz="2400" b="1" dirty="0" err="1">
                <a:solidFill>
                  <a:srgbClr val="0B1F3A"/>
                </a:solidFill>
              </a:rPr>
              <a:t>OverFiting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A4851C2-2130-44E3-6CE4-8B0AE06CA487}"/>
              </a:ext>
            </a:extLst>
          </p:cNvPr>
          <p:cNvSpPr/>
          <p:nvPr/>
        </p:nvSpPr>
        <p:spPr>
          <a:xfrm>
            <a:off x="658367" y="2162598"/>
            <a:ext cx="10566102" cy="1014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pt-BR" b="1" dirty="0" err="1"/>
              <a:t>Overfitting</a:t>
            </a:r>
            <a:r>
              <a:rPr lang="pt-BR" b="1" dirty="0"/>
              <a:t> (</a:t>
            </a:r>
            <a:r>
              <a:rPr lang="pt-BR" b="1" dirty="0" err="1"/>
              <a:t>sobreajuste</a:t>
            </a:r>
            <a:r>
              <a:rPr lang="pt-BR" b="1" dirty="0"/>
              <a:t>)</a:t>
            </a:r>
            <a:r>
              <a:rPr lang="pt-BR" dirty="0"/>
              <a:t> ocorre quando o modelo aprende tão bem os dados de treinamento que acaba aprendendo também seus ruídos e particularidades, apresentando </a:t>
            </a:r>
            <a:r>
              <a:rPr lang="pt-BR" b="1" dirty="0"/>
              <a:t>ótimo desempenho no treinamento</a:t>
            </a:r>
            <a:r>
              <a:rPr lang="pt-BR" dirty="0"/>
              <a:t>, mas </a:t>
            </a:r>
            <a:r>
              <a:rPr lang="pt-BR" b="1" dirty="0"/>
              <a:t>baixo desempenho no teste</a:t>
            </a:r>
            <a:r>
              <a:rPr lang="pt-BR" dirty="0"/>
              <a:t> na presença de dados novos. </a:t>
            </a:r>
          </a:p>
          <a:p>
            <a:pPr algn="just">
              <a:lnSpc>
                <a:spcPct val="100000"/>
              </a:lnSpc>
            </a:pPr>
            <a:r>
              <a:rPr lang="pt-BR" sz="1400" dirty="0"/>
              <a:t>(Fonte: James et al. (2021), Cap. 2 — </a:t>
            </a:r>
            <a:r>
              <a:rPr lang="pt-BR" sz="1400" i="1" dirty="0" err="1"/>
              <a:t>Statistical</a:t>
            </a:r>
            <a:r>
              <a:rPr lang="pt-BR" sz="1400" i="1" dirty="0"/>
              <a:t> Learning</a:t>
            </a:r>
            <a:r>
              <a:rPr lang="pt-BR" sz="1400" dirty="0"/>
              <a:t>.)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A6A1A69-4CCC-4A59-A3E0-12F1E08291AA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C487F63-625E-08CA-83FC-B66223E78340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78D69B4-EB2B-BB58-5683-FC3764D89A98}"/>
              </a:ext>
            </a:extLst>
          </p:cNvPr>
          <p:cNvSpPr txBox="1"/>
          <p:nvPr/>
        </p:nvSpPr>
        <p:spPr>
          <a:xfrm>
            <a:off x="746620" y="3691156"/>
            <a:ext cx="863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Lembre-se: o </a:t>
            </a:r>
            <a:r>
              <a:rPr lang="pt-BR" dirty="0" err="1"/>
              <a:t>overfitting</a:t>
            </a:r>
            <a:r>
              <a:rPr lang="pt-BR" dirty="0"/>
              <a:t> (</a:t>
            </a:r>
            <a:r>
              <a:rPr lang="pt-BR" dirty="0" err="1"/>
              <a:t>SuperAjustamento</a:t>
            </a:r>
            <a:r>
              <a:rPr lang="pt-BR" dirty="0"/>
              <a:t>) está sempre associado a </a:t>
            </a:r>
            <a:r>
              <a:rPr lang="pt-BR" b="1" dirty="0"/>
              <a:t>alta variância.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A127715-7342-2D94-53ED-057E8AEFB946}"/>
              </a:ext>
            </a:extLst>
          </p:cNvPr>
          <p:cNvSpPr txBox="1"/>
          <p:nvPr/>
        </p:nvSpPr>
        <p:spPr>
          <a:xfrm>
            <a:off x="512064" y="6258258"/>
            <a:ext cx="11718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JAMES, Gareth; WITTEN, Daniela; HASTIE, Trevor; TIBSHIRANI, Robert.</a:t>
            </a:r>
            <a:r>
              <a:rPr lang="pt-BR" sz="1400" dirty="0"/>
              <a:t> </a:t>
            </a:r>
            <a:r>
              <a:rPr lang="pt-BR" sz="1400" i="1" dirty="0" err="1"/>
              <a:t>An</a:t>
            </a:r>
            <a:r>
              <a:rPr lang="pt-BR" sz="1400" i="1" dirty="0"/>
              <a:t> </a:t>
            </a:r>
            <a:r>
              <a:rPr lang="pt-BR" sz="1400" i="1" dirty="0" err="1"/>
              <a:t>Introduction</a:t>
            </a:r>
            <a:r>
              <a:rPr lang="pt-BR" sz="1400" i="1" dirty="0"/>
              <a:t> </a:t>
            </a:r>
            <a:r>
              <a:rPr lang="pt-BR" sz="1400" i="1" dirty="0" err="1"/>
              <a:t>to</a:t>
            </a:r>
            <a:r>
              <a:rPr lang="pt-BR" sz="1400" i="1" dirty="0"/>
              <a:t> </a:t>
            </a:r>
            <a:r>
              <a:rPr lang="pt-BR" sz="1400" i="1" dirty="0" err="1"/>
              <a:t>Statistical</a:t>
            </a:r>
            <a:r>
              <a:rPr lang="pt-BR" sz="1400" i="1" dirty="0"/>
              <a:t> Learning: </a:t>
            </a:r>
            <a:r>
              <a:rPr lang="pt-BR" sz="1400" i="1" dirty="0" err="1"/>
              <a:t>with</a:t>
            </a:r>
            <a:r>
              <a:rPr lang="pt-BR" sz="1400" i="1" dirty="0"/>
              <a:t> </a:t>
            </a:r>
            <a:r>
              <a:rPr lang="pt-BR" sz="1400" i="1" dirty="0" err="1"/>
              <a:t>Applications</a:t>
            </a:r>
            <a:r>
              <a:rPr lang="pt-BR" sz="1400" i="1" dirty="0"/>
              <a:t> in R</a:t>
            </a:r>
            <a:r>
              <a:rPr lang="pt-BR" sz="1400" dirty="0"/>
              <a:t>. </a:t>
            </a:r>
          </a:p>
          <a:p>
            <a:r>
              <a:rPr lang="pt-BR" sz="1400" dirty="0"/>
              <a:t>2. ed. New York: Springer, 2021. DOI: 10.1007/978-1-0716-1418-1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64FB370-9D2D-726F-3AE6-B7AD4CC77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7700" y="5159047"/>
            <a:ext cx="1166769" cy="116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87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EDB54-1867-3707-B796-AA9DCC46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F424F9B4-7329-AC9B-8E60-DD8DD8249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5720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C2FDB7E-053E-1699-DAA1-0E1D8CCDE4D5}"/>
              </a:ext>
            </a:extLst>
          </p:cNvPr>
          <p:cNvSpPr/>
          <p:nvPr/>
        </p:nvSpPr>
        <p:spPr>
          <a:xfrm>
            <a:off x="658368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466BAF7-2169-0597-463F-23060B1F9D97}"/>
              </a:ext>
            </a:extLst>
          </p:cNvPr>
          <p:cNvSpPr/>
          <p:nvPr/>
        </p:nvSpPr>
        <p:spPr>
          <a:xfrm>
            <a:off x="658368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SuperAjustamento</a:t>
            </a:r>
            <a:r>
              <a:rPr lang="en-US" sz="2400" b="1" dirty="0">
                <a:solidFill>
                  <a:srgbClr val="0B1F3A"/>
                </a:solidFill>
              </a:rPr>
              <a:t> - </a:t>
            </a:r>
            <a:r>
              <a:rPr lang="en-US" sz="2400" b="1" dirty="0" err="1">
                <a:solidFill>
                  <a:srgbClr val="0B1F3A"/>
                </a:solidFill>
              </a:rPr>
              <a:t>OverFiting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25CAF89-D85E-E8EA-E106-F844C5A45316}"/>
              </a:ext>
            </a:extLst>
          </p:cNvPr>
          <p:cNvSpPr/>
          <p:nvPr/>
        </p:nvSpPr>
        <p:spPr>
          <a:xfrm>
            <a:off x="658368" y="2148840"/>
            <a:ext cx="13298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111827"/>
                </a:solidFill>
              </a:rPr>
              <a:t>População</a:t>
            </a:r>
            <a:r>
              <a:rPr lang="en-US" sz="1700" dirty="0">
                <a:solidFill>
                  <a:srgbClr val="111827"/>
                </a:solidFill>
              </a:rPr>
              <a:t>: 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A54ACCC-5B07-09B8-17BB-596502CE731D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15454E8-2FE6-2957-3B09-B3F3DDC51466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655065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160A2-5A81-15CF-98DB-14AA99D5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FE25EE8-1F1D-2C56-A996-C77F602487E5}"/>
              </a:ext>
            </a:extLst>
          </p:cNvPr>
          <p:cNvSpPr/>
          <p:nvPr/>
        </p:nvSpPr>
        <p:spPr>
          <a:xfrm>
            <a:off x="640710" y="1317072"/>
            <a:ext cx="10921878" cy="4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tabLst>
                <a:tab pos="0" algn="l"/>
              </a:tabLst>
              <a:defRPr/>
            </a:pPr>
            <a:r>
              <a:rPr lang="pt-BR" sz="7200" dirty="0"/>
              <a:t>O que significa um modelo possuir </a:t>
            </a:r>
            <a:r>
              <a:rPr lang="pt-BR" sz="7200" b="1" dirty="0">
                <a:solidFill>
                  <a:srgbClr val="E24F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ALTO VIÉS</a:t>
            </a:r>
            <a:r>
              <a:rPr lang="pt-BR" sz="7200" b="1" dirty="0"/>
              <a:t> (vício ou “bias”) ?</a:t>
            </a:r>
            <a:endParaRPr lang="pt-BR" sz="7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1537C5-7C14-ED73-D937-854BFBC28E13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462504-132B-BECC-7370-2147666E7728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40633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8AC4D-1A9D-9304-14F9-1B7BEECF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812833F-1E74-6221-A7DB-027F4D8208CD}"/>
              </a:ext>
            </a:extLst>
          </p:cNvPr>
          <p:cNvSpPr/>
          <p:nvPr/>
        </p:nvSpPr>
        <p:spPr>
          <a:xfrm>
            <a:off x="640710" y="1317072"/>
            <a:ext cx="10921878" cy="4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tabLst>
                <a:tab pos="0" algn="l"/>
              </a:tabLst>
              <a:defRPr/>
            </a:pPr>
            <a:r>
              <a:rPr lang="pt-BR" sz="7200" dirty="0"/>
              <a:t>O que significa possuir </a:t>
            </a:r>
          </a:p>
          <a:p>
            <a:pPr lvl="0" algn="ctr">
              <a:tabLst>
                <a:tab pos="0" algn="l"/>
              </a:tabLst>
              <a:defRPr/>
            </a:pPr>
            <a:r>
              <a:rPr lang="pt-BR" sz="7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ALTA VARIÂNCIA</a:t>
            </a:r>
            <a:r>
              <a:rPr lang="pt-BR" sz="7200" dirty="0"/>
              <a:t>?</a:t>
            </a:r>
            <a:endParaRPr lang="pt-BR" sz="7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703CE5-2772-9BFF-D53F-B16B6DE8F80E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456FB2-D804-2F39-5781-71B4D1283B93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49785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0FDB1-4137-6CF1-7ABA-F1B509992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4C1A005-777D-3CCE-77BE-6188A52B38A7}"/>
              </a:ext>
            </a:extLst>
          </p:cNvPr>
          <p:cNvSpPr/>
          <p:nvPr/>
        </p:nvSpPr>
        <p:spPr>
          <a:xfrm>
            <a:off x="640710" y="1317072"/>
            <a:ext cx="10921878" cy="4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tabLst>
                <a:tab pos="0" algn="l"/>
              </a:tabLst>
              <a:defRPr/>
            </a:pPr>
            <a:r>
              <a:rPr lang="pt-BR" sz="7200" dirty="0"/>
              <a:t>Aumentar a </a:t>
            </a:r>
            <a:r>
              <a:rPr lang="pt-BR" sz="7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complexidade</a:t>
            </a:r>
            <a:r>
              <a:rPr lang="pt-B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7200" dirty="0"/>
              <a:t>do modelo sempre </a:t>
            </a:r>
            <a:r>
              <a:rPr lang="pt-BR" sz="72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melhora as previsões</a:t>
            </a:r>
            <a:r>
              <a:rPr lang="pt-BR" sz="7200" dirty="0"/>
              <a:t> ?</a:t>
            </a:r>
            <a:endParaRPr lang="pt-BR" sz="7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09751E-BBBF-88E6-791F-D0B4196301B3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AE307DB-2ADC-E1B6-4840-D9334632B775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97302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EDBD8-A173-57F3-B023-90AEF93A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06DD961-61BF-EAF9-12B2-4FCEC3BE21CC}"/>
              </a:ext>
            </a:extLst>
          </p:cNvPr>
          <p:cNvSpPr/>
          <p:nvPr/>
        </p:nvSpPr>
        <p:spPr>
          <a:xfrm>
            <a:off x="640710" y="1317072"/>
            <a:ext cx="10921878" cy="4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tabLst>
                <a:tab pos="0" algn="l"/>
              </a:tabLst>
              <a:defRPr/>
            </a:pPr>
            <a:r>
              <a:rPr lang="pt-BR" sz="7200" dirty="0"/>
              <a:t>Como </a:t>
            </a:r>
            <a:r>
              <a:rPr lang="pt-BR" sz="7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detectar</a:t>
            </a:r>
            <a:r>
              <a:rPr lang="pt-BR" sz="7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esses problemas</a:t>
            </a:r>
            <a:r>
              <a:rPr lang="pt-BR" sz="7200" dirty="0"/>
              <a:t> empiricamente </a:t>
            </a:r>
            <a:r>
              <a:rPr lang="pt-BR" sz="7200" b="1" dirty="0"/>
              <a:t>usando </a:t>
            </a:r>
            <a:r>
              <a:rPr lang="pt-BR" sz="7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  <a:r>
              <a:rPr lang="pt-BR" sz="7200" dirty="0"/>
              <a:t>?</a:t>
            </a:r>
            <a:endParaRPr lang="pt-BR" sz="7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393D607-1735-5728-B086-067E40B301A6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AD8464-2771-5ADC-587D-DC52C77B10D2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85085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probabilidade e limiar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11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37"/>
              <p:cNvSpPr/>
              <p:nvPr/>
            </p:nvSpPr>
            <p:spPr>
              <a:xfrm>
                <a:off x="722376" y="1078990"/>
                <a:ext cx="10954512" cy="235000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9DEE7"/>
                </a:solidFill>
              </a:ln>
            </p:spPr>
            <p:txBody>
              <a:bodyPr wrap="square" lIns="1143" tIns="1143" rIns="1143" bIns="1143" rtlCol="0" anchor="ctr"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/>
                  <a:t>A regressão logística é uma regressão linear onde aplicamos uma função do tipo </a:t>
                </a:r>
                <a:r>
                  <a:rPr lang="pt-BR" b="1" dirty="0"/>
                  <a:t>sigmoide</a:t>
                </a:r>
                <a:r>
                  <a:rPr lang="pt-BR" dirty="0"/>
                  <a:t> chamada </a:t>
                </a:r>
                <a:r>
                  <a:rPr lang="pt-BR" b="1" dirty="0"/>
                  <a:t>função logística</a:t>
                </a:r>
                <a:r>
                  <a:rPr lang="pt-BR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/>
                  <a:t>Quando estudamos Regressão Linear, calculamos a equação da reta para aproximar a reta que o modelo desenhava a todos os pontos formados entre entrada “x” e saída “y”. O modelo tinha o formato da equação de reta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𝒘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pt-BR" dirty="0"/>
                  <a:t> 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/>
                  <a:t>A missão era descobrir o valor de “w” e “b”. </a:t>
                </a:r>
              </a:p>
            </p:txBody>
          </p:sp>
        </mc:Choice>
        <mc:Fallback xmlns="">
          <p:sp>
            <p:nvSpPr>
              <p:cNvPr id="39" name="Text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76" y="1078990"/>
                <a:ext cx="10954512" cy="2350009"/>
              </a:xfrm>
              <a:prstGeom prst="rect">
                <a:avLst/>
              </a:prstGeom>
              <a:blipFill>
                <a:blip r:embed="rId3"/>
                <a:stretch>
                  <a:fillRect l="-1278" b="-4393"/>
                </a:stretch>
              </a:blipFill>
              <a:ln w="12700">
                <a:solidFill>
                  <a:srgbClr val="D9DEE7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38"/>
          <p:cNvSpPr/>
          <p:nvPr/>
        </p:nvSpPr>
        <p:spPr>
          <a:xfrm>
            <a:off x="722376" y="3807975"/>
            <a:ext cx="3840480" cy="1024128"/>
          </a:xfrm>
          <a:prstGeom prst="rect">
            <a:avLst/>
          </a:prstGeom>
          <a:solidFill>
            <a:srgbClr val="FFF1E6"/>
          </a:solidFill>
          <a:ln w="12700">
            <a:solidFill>
              <a:srgbClr val="F08A2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/>
            <a:r>
              <a:rPr lang="pt-BR" sz="4000" b="1" i="1" dirty="0"/>
              <a:t>Y  </a:t>
            </a:r>
            <a:r>
              <a:rPr lang="pt-BR" sz="4000" b="1" dirty="0"/>
              <a:t>=  </a:t>
            </a:r>
            <a:r>
              <a:rPr lang="pt-BR" sz="4000" b="1" i="1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pt-BR" sz="4000" b="1" dirty="0"/>
              <a:t>(</a:t>
            </a:r>
            <a:r>
              <a:rPr lang="pt-BR" sz="4000" b="1" i="1" dirty="0"/>
              <a:t>X</a:t>
            </a:r>
            <a:r>
              <a:rPr lang="pt-BR" sz="4000" b="1" dirty="0"/>
              <a:t>)  +  </a:t>
            </a:r>
            <a:r>
              <a:rPr lang="pt-BR" sz="4000" b="1" i="1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pt-BR" sz="4000" b="1" dirty="0"/>
              <a:t>;</a:t>
            </a:r>
            <a:endParaRPr lang="en-US" sz="4000" b="1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40643323-9D9D-B52F-0456-38F0A77E2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288" y="3593087"/>
            <a:ext cx="5474404" cy="2414019"/>
          </a:xfrm>
          <a:prstGeom prst="rect">
            <a:avLst/>
          </a:prstGeom>
        </p:spPr>
      </p:pic>
      <p:sp>
        <p:nvSpPr>
          <p:cNvPr id="43" name="Seta: para a Direita 42">
            <a:extLst>
              <a:ext uri="{FF2B5EF4-FFF2-40B4-BE49-F238E27FC236}">
                <a16:creationId xmlns:a16="http://schemas.microsoft.com/office/drawing/2014/main" id="{D52EF24F-ADB2-3E90-8778-48ADD4E08BF5}"/>
              </a:ext>
            </a:extLst>
          </p:cNvPr>
          <p:cNvSpPr/>
          <p:nvPr/>
        </p:nvSpPr>
        <p:spPr>
          <a:xfrm>
            <a:off x="4756558" y="4102218"/>
            <a:ext cx="553673" cy="4278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3A368-3013-17B8-369D-C693456F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3CB03B-9303-6793-E2B4-4AB1C03ED359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4CE411-03DF-0575-E222-D190FAA84242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F408B0-77A8-0952-532D-A0D73CBAEB8A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probabilidade e limiar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5EB4B8-52A7-4316-9873-3D6453954317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A706BF9-676F-3074-E4D8-F98EE78308CA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7EFB06-76D1-3556-0A70-7813CEE8847C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11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A1BEAEE-76F0-F7D4-DBB5-B4693ED170C8}"/>
              </a:ext>
            </a:extLst>
          </p:cNvPr>
          <p:cNvSpPr/>
          <p:nvPr/>
        </p:nvSpPr>
        <p:spPr>
          <a:xfrm>
            <a:off x="722376" y="1078991"/>
            <a:ext cx="1017131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143" tIns="1143" rIns="1143" bIns="1143" rtlCol="0" anchor="ctr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Vamos agora buscar uma função </a:t>
            </a:r>
            <a:r>
              <a:rPr lang="pt-BR" b="1" dirty="0"/>
              <a:t>que desenhe</a:t>
            </a:r>
            <a:r>
              <a:rPr lang="pt-BR" dirty="0"/>
              <a:t> um </a:t>
            </a:r>
            <a:r>
              <a:rPr lang="pt-BR" sz="4400" dirty="0"/>
              <a:t>“S”. </a:t>
            </a:r>
            <a:r>
              <a:rPr lang="pt-BR" dirty="0"/>
              <a:t>O desafio continua sendo descobrir os valores de “w” e “b”. 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C041F4A-032B-9141-9BF9-C2FBA2F4E159}"/>
              </a:ext>
            </a:extLst>
          </p:cNvPr>
          <p:cNvSpPr/>
          <p:nvPr/>
        </p:nvSpPr>
        <p:spPr>
          <a:xfrm>
            <a:off x="5338250" y="2615183"/>
            <a:ext cx="3840480" cy="1024128"/>
          </a:xfrm>
          <a:prstGeom prst="rect">
            <a:avLst/>
          </a:prstGeom>
          <a:solidFill>
            <a:srgbClr val="FFF1E6"/>
          </a:solidFill>
          <a:ln w="12700">
            <a:solidFill>
              <a:srgbClr val="F08A2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/>
            <a:r>
              <a:rPr lang="pt-BR" sz="4000" b="1" i="1" dirty="0"/>
              <a:t>Z  </a:t>
            </a:r>
            <a:r>
              <a:rPr lang="pt-BR" sz="4000" b="1" dirty="0"/>
              <a:t>=  </a:t>
            </a:r>
            <a:r>
              <a:rPr lang="pt-B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pt-BR" sz="4000" b="1" dirty="0"/>
              <a:t>(</a:t>
            </a:r>
            <a:r>
              <a:rPr lang="pt-BR" sz="4000" b="1" i="1" dirty="0"/>
              <a:t>X</a:t>
            </a:r>
            <a:r>
              <a:rPr lang="pt-BR" sz="4000" b="1" dirty="0"/>
              <a:t>)  +  </a:t>
            </a:r>
            <a:r>
              <a:rPr lang="pt-B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pt-BR" sz="4000" b="1" dirty="0"/>
              <a:t>;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372155E-DD0B-A98E-6F94-FE7924E42273}"/>
                  </a:ext>
                </a:extLst>
              </p:cNvPr>
              <p:cNvSpPr txBox="1"/>
              <p:nvPr/>
            </p:nvSpPr>
            <p:spPr>
              <a:xfrm>
                <a:off x="722376" y="2381081"/>
                <a:ext cx="4026715" cy="1492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4800" i="1" smtClean="0">
                                  <a:ln w="0"/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372155E-DD0B-A98E-6F94-FE7924E42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76" y="2381081"/>
                <a:ext cx="4026715" cy="1492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63487EA3-9052-5DA0-E171-F5770E803020}"/>
              </a:ext>
            </a:extLst>
          </p:cNvPr>
          <p:cNvSpPr/>
          <p:nvPr/>
        </p:nvSpPr>
        <p:spPr>
          <a:xfrm rot="20708814">
            <a:off x="4410347" y="2985543"/>
            <a:ext cx="1220338" cy="50580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9702197-EBC3-F84E-74A6-CF3993746A2B}"/>
                  </a:ext>
                </a:extLst>
              </p:cNvPr>
              <p:cNvSpPr txBox="1"/>
              <p:nvPr/>
            </p:nvSpPr>
            <p:spPr>
              <a:xfrm>
                <a:off x="722376" y="4641032"/>
                <a:ext cx="5594534" cy="150611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4800" b="0" i="1" smtClean="0">
                                  <a:ln w="0"/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( </m:t>
                              </m:r>
                              <m:r>
                                <a:rPr lang="pt-BR" sz="4800" b="1" i="1" smtClean="0">
                                  <a:ln w="0"/>
                                  <a:solidFill>
                                    <a:srgbClr val="F43110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pt-BR" sz="4800" b="0" i="1" smtClean="0">
                                  <a:ln w="0"/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pt-BR" sz="48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pt-BR" sz="4800" b="0" i="1" smtClean="0">
                                  <a:ln w="0"/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) + </m:t>
                              </m:r>
                              <m:r>
                                <m:rPr>
                                  <m:sty m:val="p"/>
                                </m:rPr>
                                <a:rPr lang="pt-BR" sz="4800" b="0" i="1" smtClean="0">
                                  <a:ln w="0"/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pt-BR" sz="4800" b="0" i="1" smtClean="0">
                                  <a:ln w="0"/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9702197-EBC3-F84E-74A6-CF3993746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76" y="4641032"/>
                <a:ext cx="5594534" cy="1506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881DBFFE-5052-9424-94AA-9E99C183B402}"/>
              </a:ext>
            </a:extLst>
          </p:cNvPr>
          <p:cNvSpPr/>
          <p:nvPr/>
        </p:nvSpPr>
        <p:spPr>
          <a:xfrm>
            <a:off x="2659311" y="4025442"/>
            <a:ext cx="645952" cy="4635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695AE91C-06E2-F0CF-CCC3-88C39345C431}"/>
              </a:ext>
            </a:extLst>
          </p:cNvPr>
          <p:cNvSpPr/>
          <p:nvPr/>
        </p:nvSpPr>
        <p:spPr>
          <a:xfrm>
            <a:off x="6686026" y="5157216"/>
            <a:ext cx="696286" cy="5264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DFAA3B7-C988-F175-7A95-D9024E684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858" y="3988797"/>
            <a:ext cx="3730213" cy="233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12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03A29-3187-A341-D953-2913B720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6ADB34-8DFE-28A9-2CCF-5AC174FDC208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60AAF5-3F68-2270-FBDE-76B7294BB073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C31835-0C84-863C-3300-36DC9760C6AB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probabilidade e limiar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E8057D-6A50-C8C6-15D6-AA81B6B3D657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5FDA90-85D8-12DE-5C77-9601FE581BC9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87874F-9A2F-3ED8-6BDA-29D12B4BEB96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11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983530E-B93F-EAB4-9705-5A45EDA5BA63}"/>
              </a:ext>
            </a:extLst>
          </p:cNvPr>
          <p:cNvSpPr/>
          <p:nvPr/>
        </p:nvSpPr>
        <p:spPr>
          <a:xfrm>
            <a:off x="722376" y="1078990"/>
            <a:ext cx="10171316" cy="119809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143" tIns="1143" rIns="1143" bIns="1143" rtlCol="0" anchor="ctr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pt-BR" dirty="0"/>
              <a:t>Vamos </a:t>
            </a:r>
            <a:r>
              <a:rPr lang="pt-BR" b="1" dirty="0"/>
              <a:t>inserir</a:t>
            </a:r>
            <a:r>
              <a:rPr lang="pt-BR" dirty="0"/>
              <a:t> a </a:t>
            </a:r>
            <a:r>
              <a:rPr lang="pt-BR" b="1" dirty="0"/>
              <a:t>formula da reta</a:t>
            </a:r>
            <a:r>
              <a:rPr lang="pt-BR" dirty="0"/>
              <a:t> dentro de uma função </a:t>
            </a:r>
            <a:r>
              <a:rPr lang="pt-BR" b="1" dirty="0"/>
              <a:t>que transforme a reta </a:t>
            </a:r>
            <a:r>
              <a:rPr lang="pt-BR" dirty="0"/>
              <a:t>em um </a:t>
            </a:r>
            <a:r>
              <a:rPr lang="pt-BR" sz="4400" dirty="0"/>
              <a:t>“S”.</a:t>
            </a:r>
          </a:p>
          <a:p>
            <a:pPr>
              <a:lnSpc>
                <a:spcPct val="120000"/>
              </a:lnSpc>
            </a:pPr>
            <a:r>
              <a:rPr lang="pt-BR" dirty="0"/>
              <a:t>Devemos ainda garantir que: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Os valores no eixo “x” variam de </a:t>
            </a:r>
            <a:r>
              <a:rPr lang="pt-BR" sz="1200" b="1" dirty="0" err="1"/>
              <a:t>ifinito</a:t>
            </a:r>
            <a:r>
              <a:rPr lang="pt-BR" sz="1200" b="1" dirty="0"/>
              <a:t> negativo </a:t>
            </a:r>
            <a:r>
              <a:rPr lang="pt-BR" sz="1200" dirty="0"/>
              <a:t>a </a:t>
            </a:r>
            <a:r>
              <a:rPr lang="pt-BR" sz="1200" b="1" dirty="0" err="1"/>
              <a:t>ifinito</a:t>
            </a:r>
            <a:r>
              <a:rPr lang="pt-BR" sz="1200" b="1" dirty="0"/>
              <a:t> positivo</a:t>
            </a:r>
            <a:r>
              <a:rPr lang="pt-BR" sz="1200" dirty="0"/>
              <a:t>;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Os valores no eixo “y” variam de “</a:t>
            </a:r>
            <a:r>
              <a:rPr lang="pt-BR" sz="1200" b="1" dirty="0"/>
              <a:t>0</a:t>
            </a:r>
            <a:r>
              <a:rPr lang="pt-BR" sz="1200" dirty="0"/>
              <a:t>” a “</a:t>
            </a:r>
            <a:r>
              <a:rPr lang="pt-BR" sz="1200" b="1" dirty="0"/>
              <a:t>1</a:t>
            </a:r>
            <a:r>
              <a:rPr lang="pt-BR" sz="1200" dirty="0"/>
              <a:t>”;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EE2FB3D-6CDB-6DF8-F911-39C2715FF291}"/>
              </a:ext>
            </a:extLst>
          </p:cNvPr>
          <p:cNvSpPr/>
          <p:nvPr/>
        </p:nvSpPr>
        <p:spPr>
          <a:xfrm>
            <a:off x="722376" y="2788919"/>
            <a:ext cx="3840480" cy="1024128"/>
          </a:xfrm>
          <a:prstGeom prst="rect">
            <a:avLst/>
          </a:prstGeom>
          <a:solidFill>
            <a:srgbClr val="FFF1E6"/>
          </a:solidFill>
          <a:ln w="12700">
            <a:solidFill>
              <a:srgbClr val="F08A2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/>
            <a:r>
              <a:rPr lang="pt-BR" sz="4000" b="1" i="1" dirty="0">
                <a:solidFill>
                  <a:srgbClr val="4472C4"/>
                </a:solidFill>
              </a:rPr>
              <a:t>Z</a:t>
            </a:r>
            <a:r>
              <a:rPr lang="pt-BR" sz="4000" b="1" i="1" dirty="0"/>
              <a:t>  </a:t>
            </a:r>
            <a:r>
              <a:rPr lang="pt-BR" sz="4000" b="1" dirty="0"/>
              <a:t>=  </a:t>
            </a:r>
            <a:r>
              <a:rPr lang="pt-B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pt-BR" sz="4000" b="1" dirty="0"/>
              <a:t>(</a:t>
            </a:r>
            <a:r>
              <a:rPr lang="pt-BR" sz="4000" b="1" i="1" dirty="0"/>
              <a:t>X</a:t>
            </a:r>
            <a:r>
              <a:rPr lang="pt-BR" sz="4000" b="1" dirty="0"/>
              <a:t>)  +  </a:t>
            </a:r>
            <a:r>
              <a:rPr lang="pt-B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pt-BR" sz="4000" b="1" dirty="0"/>
              <a:t>;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C630989-BB52-B210-D700-5A1A774E4D78}"/>
                  </a:ext>
                </a:extLst>
              </p:cNvPr>
              <p:cNvSpPr txBox="1"/>
              <p:nvPr/>
            </p:nvSpPr>
            <p:spPr>
              <a:xfrm>
                <a:off x="722376" y="4580911"/>
                <a:ext cx="4026715" cy="1492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4800" i="1" smtClean="0">
                                  <a:ln w="0"/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C630989-BB52-B210-D700-5A1A774E4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76" y="4580911"/>
                <a:ext cx="4026715" cy="1492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m 16">
            <a:extLst>
              <a:ext uri="{FF2B5EF4-FFF2-40B4-BE49-F238E27FC236}">
                <a16:creationId xmlns:a16="http://schemas.microsoft.com/office/drawing/2014/main" id="{CD958404-6E3F-8BF4-E0AC-0914FABA8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580911"/>
            <a:ext cx="2453874" cy="153479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56DFB35-FAF8-62A9-F484-ED5024A91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94155"/>
            <a:ext cx="2376881" cy="1834382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1F944FA7-9D12-7711-DA32-E38463101EBA}"/>
              </a:ext>
            </a:extLst>
          </p:cNvPr>
          <p:cNvSpPr/>
          <p:nvPr/>
        </p:nvSpPr>
        <p:spPr>
          <a:xfrm>
            <a:off x="4865615" y="3103927"/>
            <a:ext cx="1065402" cy="3250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55CDE57E-68EF-F43A-39CB-1EFD2A850A91}"/>
              </a:ext>
            </a:extLst>
          </p:cNvPr>
          <p:cNvSpPr/>
          <p:nvPr/>
        </p:nvSpPr>
        <p:spPr>
          <a:xfrm>
            <a:off x="4941116" y="5201174"/>
            <a:ext cx="989901" cy="3250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D5ADB98-5A0E-2A9A-6DA0-46BD4425FE30}"/>
              </a:ext>
            </a:extLst>
          </p:cNvPr>
          <p:cNvSpPr txBox="1"/>
          <p:nvPr/>
        </p:nvSpPr>
        <p:spPr>
          <a:xfrm>
            <a:off x="8967831" y="3157403"/>
            <a:ext cx="2838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Forma RETA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F7FBDD4-7785-A45B-35E7-228D9BBB1B4B}"/>
              </a:ext>
            </a:extLst>
          </p:cNvPr>
          <p:cNvSpPr txBox="1"/>
          <p:nvPr/>
        </p:nvSpPr>
        <p:spPr>
          <a:xfrm>
            <a:off x="8967831" y="4973134"/>
            <a:ext cx="3058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Forma Sigmoide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418A0D4-9BAD-C785-7600-8310548712CC}"/>
              </a:ext>
            </a:extLst>
          </p:cNvPr>
          <p:cNvSpPr txBox="1"/>
          <p:nvPr/>
        </p:nvSpPr>
        <p:spPr>
          <a:xfrm>
            <a:off x="1597696" y="2319572"/>
            <a:ext cx="1870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Equação da Reta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94433CB-6B7A-81BD-E0CD-16AFF1A9E978}"/>
              </a:ext>
            </a:extLst>
          </p:cNvPr>
          <p:cNvSpPr txBox="1"/>
          <p:nvPr/>
        </p:nvSpPr>
        <p:spPr>
          <a:xfrm>
            <a:off x="1707424" y="4102242"/>
            <a:ext cx="2312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Equação “S” logística</a:t>
            </a:r>
          </a:p>
        </p:txBody>
      </p:sp>
    </p:spTree>
    <p:extLst>
      <p:ext uri="{BB962C8B-B14F-4D97-AF65-F5344CB8AC3E}">
        <p14:creationId xmlns:p14="http://schemas.microsoft.com/office/powerpoint/2010/main" val="1387470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fronteira de decisão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8612" y="845385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A fronteira separa regiões do espaço de variáveis.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 um lado, o modelo tende a prever classe 0; do outro, classe 1.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33724" y="1090651"/>
            <a:ext cx="3931920" cy="749808"/>
          </a:xfrm>
          <a:prstGeom prst="rect">
            <a:avLst/>
          </a:prstGeom>
          <a:solidFill>
            <a:srgbClr val="EAF7EF"/>
          </a:solidFill>
          <a:ln w="12700">
            <a:solidFill>
              <a:srgbClr val="2E9D6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Boa preparação dos dados ajuda a fronteira a representar melhor a população.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2BF35A62-01BC-EBB2-22A9-28B239000074}"/>
                  </a:ext>
                </a:extLst>
              </p:cNvPr>
              <p:cNvSpPr txBox="1"/>
              <p:nvPr/>
            </p:nvSpPr>
            <p:spPr>
              <a:xfrm>
                <a:off x="475488" y="2416646"/>
                <a:ext cx="10565072" cy="38773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Só que aqui, nossa saída não é mais um valor numérico contínuo, e sim uma </a:t>
                </a:r>
                <a:r>
                  <a:rPr lang="pt-B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percentagem de 0 a 100%</a:t>
                </a:r>
                <a:r>
                  <a:rPr lang="pt-BR" dirty="0"/>
                  <a:t> .</a:t>
                </a:r>
              </a:p>
              <a:p>
                <a:r>
                  <a:rPr lang="pt-BR" dirty="0"/>
                  <a:t>Então:</a:t>
                </a:r>
              </a:p>
              <a:p>
                <a:endParaRPr lang="pt-BR" b="0" i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Probabilidade</m:t>
                      </m:r>
                      <m:r>
                        <m:rPr>
                          <m:nor/>
                        </m:rPr>
                        <a:rPr lang="pt-BR" b="0" i="0"/>
                        <m:t> </m:t>
                      </m:r>
                      <m:d>
                        <m:dPr>
                          <m:ctrlPr>
                            <a:rPr lang="pt-BR" b="0" i="0" smtClean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rgbClr val="FF0000"/>
                              </a:solidFill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pt-BR" b="0" i="0"/>
                            <m:t> valha ’</m:t>
                          </m:r>
                          <m:r>
                            <m:rPr>
                              <m:nor/>
                            </m:rPr>
                            <a:rPr lang="pt-BR" b="1" i="0" smtClean="0">
                              <a:solidFill>
                                <a:srgbClr val="00206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m:t>verdadeiro</m:t>
                          </m:r>
                          <m:r>
                            <m:rPr>
                              <m:nor/>
                            </m:rPr>
                            <a:rPr lang="pt-BR" b="0" i="0"/>
                            <m:t>’ , ’</m:t>
                          </m:r>
                          <m:r>
                            <m:rPr>
                              <m:nor/>
                            </m:rPr>
                            <a:rPr lang="pt-BR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m:t>Tal Que</m:t>
                          </m:r>
                          <m:r>
                            <m:rPr>
                              <m:nor/>
                            </m:rPr>
                            <a:rPr lang="pt-BR" b="0" i="0"/>
                            <m:t>’ </m:t>
                          </m:r>
                          <m:sSub>
                            <m:sSub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pt-BR" i="0"/>
                        <m:t> 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=...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ou </a:t>
                </a:r>
                <a:r>
                  <a:rPr lang="pt-BR" dirty="0" err="1"/>
                  <a:t>matemáticamente</a:t>
                </a:r>
                <a:r>
                  <a:rPr lang="pt-BR" dirty="0"/>
                  <a:t> escrito: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1" i="1" smtClean="0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sz="2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pt-BR" sz="2800" b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2800">
                          <a:latin typeface="Cambria Math" panose="02040503050406030204" pitchFamily="18" charset="0"/>
                        </a:rPr>
                        <m:t>=...</m:t>
                      </m:r>
                    </m:oMath>
                  </m:oMathPara>
                </a14:m>
                <a:endParaRPr lang="pt-BR" sz="2800" dirty="0"/>
              </a:p>
              <a:p>
                <a:endParaRPr lang="pt-BR" dirty="0"/>
              </a:p>
              <a:p>
                <a:r>
                  <a:rPr lang="pt-BR" dirty="0"/>
                  <a:t>e assim: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=1∣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pt-BR" b="1" i="1" smtClean="0">
                                      <a:solidFill>
                                        <a:srgbClr val="C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solidFill>
                                        <a:srgbClr val="C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) + </m:t>
                                  </m:r>
                                  <m:r>
                                    <a:rPr lang="pt-BR" b="1" i="1" smtClean="0">
                                      <a:solidFill>
                                        <a:srgbClr val="C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  <a:p>
                <a:br>
                  <a:rPr lang="pt-BR" dirty="0"/>
                </a:br>
                <a:endParaRPr lang="pt-BR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2BF35A62-01BC-EBB2-22A9-28B239000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2416646"/>
                <a:ext cx="10565072" cy="3877343"/>
              </a:xfrm>
              <a:prstGeom prst="rect">
                <a:avLst/>
              </a:prstGeom>
              <a:blipFill>
                <a:blip r:embed="rId3"/>
                <a:stretch>
                  <a:fillRect l="-462" t="-7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296F0-106F-37FD-355D-080804BB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E025E8-C74E-8F30-FA3F-C7F6DC3BDEDA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F82A26-D7F8-2E3F-0CF0-C738169C6E5F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81FB64-CD59-BDC2-F376-C7F68D2C2E08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EXEMPLO 01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D8A57E6-A690-BE9D-C34C-4B2E955AAA54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6537BE0-E1C8-E017-C655-444056F40338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CE52E6-2E99-A7FC-DEF5-744F6950F86B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38B83D6-EA80-1F08-5F27-283C057001BE}"/>
              </a:ext>
            </a:extLst>
          </p:cNvPr>
          <p:cNvSpPr/>
          <p:nvPr/>
        </p:nvSpPr>
        <p:spPr>
          <a:xfrm>
            <a:off x="5103695" y="629791"/>
            <a:ext cx="6758337" cy="74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r>
              <a:rPr lang="pt-BR" sz="1200" dirty="0"/>
              <a:t>A todos os alunos que tiverem mais de </a:t>
            </a: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50% de chances de passar</a:t>
            </a:r>
            <a:r>
              <a:rPr lang="pt-BR" sz="1200" dirty="0"/>
              <a:t>, marque o aluno como "Aprovado". </a:t>
            </a:r>
          </a:p>
          <a:p>
            <a:r>
              <a:rPr lang="pt-BR" sz="1200" dirty="0"/>
              <a:t>Caso </a:t>
            </a:r>
            <a:r>
              <a:rPr lang="pt-BR" sz="1200" dirty="0" err="1"/>
              <a:t>constrário</a:t>
            </a:r>
            <a:r>
              <a:rPr lang="pt-BR" sz="1200" dirty="0"/>
              <a:t>, marque-o como Reprovado.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7326090-C138-E7B9-9D73-A880FC8CBF9C}"/>
              </a:ext>
            </a:extLst>
          </p:cNvPr>
          <p:cNvSpPr/>
          <p:nvPr/>
        </p:nvSpPr>
        <p:spPr>
          <a:xfrm>
            <a:off x="475488" y="1493054"/>
            <a:ext cx="11386544" cy="749808"/>
          </a:xfrm>
          <a:prstGeom prst="rect">
            <a:avLst/>
          </a:prstGeom>
          <a:solidFill>
            <a:srgbClr val="EAF7EF"/>
          </a:solidFill>
          <a:ln w="12700">
            <a:solidFill>
              <a:srgbClr val="2E9D6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r>
              <a:rPr lang="pt-BR" b="1" dirty="0"/>
              <a:t>Exemplo 01 - Considere os dados dos alunos</a:t>
            </a:r>
            <a:r>
              <a:rPr lang="pt-BR" dirty="0"/>
              <a:t> do ultimo semestre. Construa um modelo para avaliar quais as chances dele passar na disciplina.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21BD14F-4984-8704-64CA-50B36C0C9A51}"/>
              </a:ext>
            </a:extLst>
          </p:cNvPr>
          <p:cNvSpPr txBox="1"/>
          <p:nvPr/>
        </p:nvSpPr>
        <p:spPr>
          <a:xfrm>
            <a:off x="475488" y="1091204"/>
            <a:ext cx="4498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Bom, vamos entender usando um exemplo: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CE243F8-6B62-C87E-BA3E-1E189D01E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63635"/>
              </p:ext>
            </p:extLst>
          </p:nvPr>
        </p:nvGraphicFramePr>
        <p:xfrm>
          <a:off x="475488" y="2275380"/>
          <a:ext cx="1138654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090">
                  <a:extLst>
                    <a:ext uri="{9D8B030D-6E8A-4147-A177-3AD203B41FA5}">
                      <a16:colId xmlns:a16="http://schemas.microsoft.com/office/drawing/2014/main" val="1513799441"/>
                    </a:ext>
                  </a:extLst>
                </a:gridCol>
                <a:gridCol w="2348917">
                  <a:extLst>
                    <a:ext uri="{9D8B030D-6E8A-4147-A177-3AD203B41FA5}">
                      <a16:colId xmlns:a16="http://schemas.microsoft.com/office/drawing/2014/main" val="1474262703"/>
                    </a:ext>
                  </a:extLst>
                </a:gridCol>
                <a:gridCol w="3380764">
                  <a:extLst>
                    <a:ext uri="{9D8B030D-6E8A-4147-A177-3AD203B41FA5}">
                      <a16:colId xmlns:a16="http://schemas.microsoft.com/office/drawing/2014/main" val="10873138"/>
                    </a:ext>
                  </a:extLst>
                </a:gridCol>
                <a:gridCol w="4286773">
                  <a:extLst>
                    <a:ext uri="{9D8B030D-6E8A-4147-A177-3AD203B41FA5}">
                      <a16:colId xmlns:a16="http://schemas.microsoft.com/office/drawing/2014/main" val="2718546748"/>
                    </a:ext>
                  </a:extLst>
                </a:gridCol>
              </a:tblGrid>
              <a:tr h="380363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1" i="0" dirty="0">
                          <a:solidFill>
                            <a:srgbClr val="374151"/>
                          </a:solidFill>
                          <a:effectLst/>
                          <a:latin typeface="Inter"/>
                        </a:rPr>
                        <a:t>RA do aluno</a:t>
                      </a: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1" i="0" dirty="0">
                          <a:solidFill>
                            <a:srgbClr val="374151"/>
                          </a:solidFill>
                          <a:effectLst/>
                          <a:latin typeface="Inter"/>
                        </a:rPr>
                        <a:t>Entrada (X1) -&gt; Horas de Estudo</a:t>
                      </a: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1" i="0" dirty="0">
                          <a:solidFill>
                            <a:srgbClr val="374151"/>
                          </a:solidFill>
                          <a:effectLst/>
                          <a:latin typeface="Inter"/>
                        </a:rPr>
                        <a:t>Saída (y) -&gt; verdadeiro 1, falso 0</a:t>
                      </a: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1" i="0" dirty="0">
                          <a:solidFill>
                            <a:srgbClr val="374151"/>
                          </a:solidFill>
                          <a:effectLst/>
                          <a:latin typeface="Inter"/>
                        </a:rPr>
                        <a:t>Descrição</a:t>
                      </a: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10289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2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Reprovado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440609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2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3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Reprovado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050099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3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5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Reprovado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04008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4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6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Aprovado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332874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5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8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Aprovado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56074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6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9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Aprovado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064769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7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Reprovado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976118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8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4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Reprovado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358831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9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7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Aprovado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01676"/>
                  </a:ext>
                </a:extLst>
              </a:tr>
              <a:tr h="34514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10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10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pt-BR" sz="1200" b="0" i="0" dirty="0">
                          <a:solidFill>
                            <a:srgbClr val="4B5563"/>
                          </a:solidFill>
                          <a:effectLst/>
                          <a:latin typeface="Inter"/>
                        </a:rPr>
                        <a:t>Aprovado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496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809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A0F93-6DAC-73B9-D7B2-B0B4FACB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9AD2F2-925B-B28A-7CF6-6C942DBE48ED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8286D9-3DBB-BAB6-920C-90C49153EE79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512A7A-EE3D-4D6F-7EAE-DFCB249BEE9B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EXEMPLO 01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B0D9C16-8960-60D6-1FEB-E1DB2FA3A5F7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C0E27C-ACA7-FC38-06E8-5B80BD590BB3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940D4E-433E-C9C1-83BD-24DA3963E3AF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061A12E-D022-4850-A15B-3CCF0818B601}"/>
              </a:ext>
            </a:extLst>
          </p:cNvPr>
          <p:cNvSpPr/>
          <p:nvPr/>
        </p:nvSpPr>
        <p:spPr>
          <a:xfrm>
            <a:off x="5036583" y="999228"/>
            <a:ext cx="6758337" cy="74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r>
              <a:rPr lang="pt-BR" sz="1200" dirty="0"/>
              <a:t>A todos os alunos que tiverem mais de </a:t>
            </a: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50% de chances de passar</a:t>
            </a:r>
            <a:r>
              <a:rPr lang="pt-BR" sz="1200" dirty="0"/>
              <a:t>, marque o aluno como "Aprovado". </a:t>
            </a:r>
          </a:p>
          <a:p>
            <a:r>
              <a:rPr lang="pt-BR" sz="1200" dirty="0"/>
              <a:t>Caso </a:t>
            </a:r>
            <a:r>
              <a:rPr lang="pt-BR" sz="1200" dirty="0" err="1"/>
              <a:t>constrário</a:t>
            </a:r>
            <a:r>
              <a:rPr lang="pt-BR" sz="1200" dirty="0"/>
              <a:t>, marque-o como Reprovado.</a:t>
            </a:r>
            <a:endParaRPr lang="en-US" sz="12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C0197B5-2E74-5799-A5B0-64D329A3D2F3}"/>
              </a:ext>
            </a:extLst>
          </p:cNvPr>
          <p:cNvSpPr txBox="1"/>
          <p:nvPr/>
        </p:nvSpPr>
        <p:spPr>
          <a:xfrm>
            <a:off x="475488" y="1091204"/>
            <a:ext cx="4498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Bom, vamos entender usando um exemplo: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5AE1BBE-38A9-6138-122A-152B45096E49}"/>
              </a:ext>
            </a:extLst>
          </p:cNvPr>
          <p:cNvSpPr txBox="1"/>
          <p:nvPr/>
        </p:nvSpPr>
        <p:spPr>
          <a:xfrm>
            <a:off x="475488" y="175776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effectLst/>
                <a:latin typeface="+mn-lt"/>
              </a:rPr>
              <a:t>a) Calcule os “</a:t>
            </a:r>
            <a:r>
              <a:rPr lang="pt-BR" b="1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pt-BR" dirty="0"/>
              <a:t>” e “</a:t>
            </a:r>
            <a:r>
              <a:rPr lang="pt-BR" b="1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pt-BR" dirty="0"/>
              <a:t>”</a:t>
            </a:r>
            <a:r>
              <a:rPr lang="pt-BR" b="0" i="0" dirty="0">
                <a:effectLst/>
                <a:latin typeface="+mn-lt"/>
              </a:rPr>
              <a:t> da equação </a:t>
            </a:r>
            <a:r>
              <a:rPr lang="pt-BR" b="1" i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Z</a:t>
            </a:r>
            <a:r>
              <a:rPr lang="pt-BR" b="0" i="0" dirty="0">
                <a:effectLst/>
                <a:latin typeface="+mn-lt"/>
              </a:rPr>
              <a:t> = </a:t>
            </a:r>
            <a:r>
              <a:rPr lang="pt-BR" b="1" i="0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w</a:t>
            </a:r>
            <a:r>
              <a:rPr lang="pt-BR" b="0" i="0" dirty="0">
                <a:effectLst/>
                <a:latin typeface="+mn-lt"/>
              </a:rPr>
              <a:t>(X) + </a:t>
            </a:r>
            <a:r>
              <a:rPr lang="pt-BR" b="1" i="0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</a:t>
            </a:r>
            <a:r>
              <a:rPr lang="pt-BR" b="0" i="0" dirty="0">
                <a:effectLst/>
                <a:latin typeface="+mn-lt"/>
              </a:rPr>
              <a:t> ;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03D1A25-1FF8-7AEB-AFE2-E222B751C91A}"/>
              </a:ext>
            </a:extLst>
          </p:cNvPr>
          <p:cNvSpPr txBox="1"/>
          <p:nvPr/>
        </p:nvSpPr>
        <p:spPr>
          <a:xfrm>
            <a:off x="472666" y="2354973"/>
            <a:ext cx="3586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b) Faça a Regressão Logística</a:t>
            </a:r>
            <a:r>
              <a:rPr lang="pt-BR" dirty="0"/>
              <a:t>. Use</a:t>
            </a:r>
            <a:endParaRPr lang="pt-BR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25">
                <a:extLst>
                  <a:ext uri="{FF2B5EF4-FFF2-40B4-BE49-F238E27FC236}">
                    <a16:creationId xmlns:a16="http://schemas.microsoft.com/office/drawing/2014/main" id="{A18B4C2A-1FBE-C4C5-5CFA-4A08F07EBABE}"/>
                  </a:ext>
                </a:extLst>
              </p:cNvPr>
              <p:cNvSpPr/>
              <p:nvPr/>
            </p:nvSpPr>
            <p:spPr>
              <a:xfrm>
                <a:off x="4213543" y="2164735"/>
                <a:ext cx="3764914" cy="749807"/>
              </a:xfrm>
              <a:prstGeom prst="rect">
                <a:avLst/>
              </a:prstGeom>
              <a:solidFill>
                <a:srgbClr val="EAF7EF"/>
              </a:solidFill>
              <a:ln w="12700">
                <a:solidFill>
                  <a:srgbClr val="2E9D62"/>
                </a:solidFill>
              </a:ln>
            </p:spPr>
            <p:txBody>
              <a:bodyPr wrap="square" lIns="1143" tIns="1143" rIns="1143" bIns="1143" rtlCol="0" anchor="ctr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pt-BR" sz="28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pt-BR" sz="28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Text 25">
                <a:extLst>
                  <a:ext uri="{FF2B5EF4-FFF2-40B4-BE49-F238E27FC236}">
                    <a16:creationId xmlns:a16="http://schemas.microsoft.com/office/drawing/2014/main" id="{A18B4C2A-1FBE-C4C5-5CFA-4A08F07EBA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543" y="2164735"/>
                <a:ext cx="3764914" cy="7498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2E9D6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6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C82AD-2522-14E8-AF43-53825220B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77E186-966F-769A-88DD-C9EBD9F0AE71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5D0F5B-2BCE-2A97-392A-005212326CE3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11D0FF-7D17-0F86-2B9D-C2C153BCA3B4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EXEMPLO 01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9A28918-9029-2E98-AF7E-A5B50CF53DAB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599BB0-46DD-D319-1967-33E45DA4A8A8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45E24D0-800F-A5D2-61D7-605B0BE238FB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B2FC869-F320-55B1-66B6-4B0630ED3EEC}"/>
              </a:ext>
            </a:extLst>
          </p:cNvPr>
          <p:cNvSpPr/>
          <p:nvPr/>
        </p:nvSpPr>
        <p:spPr>
          <a:xfrm>
            <a:off x="5036583" y="999228"/>
            <a:ext cx="6758337" cy="74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r>
              <a:rPr lang="pt-BR" sz="1200" dirty="0"/>
              <a:t>A todos os alunos que tiverem mais de </a:t>
            </a: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50% de chances de passar</a:t>
            </a:r>
            <a:r>
              <a:rPr lang="pt-BR" sz="1200" dirty="0"/>
              <a:t>, marque o aluno como "Aprovado". </a:t>
            </a:r>
          </a:p>
          <a:p>
            <a:r>
              <a:rPr lang="pt-BR" sz="1200" dirty="0"/>
              <a:t>Caso </a:t>
            </a:r>
            <a:r>
              <a:rPr lang="pt-BR" sz="1200" dirty="0" err="1"/>
              <a:t>constrário</a:t>
            </a:r>
            <a:r>
              <a:rPr lang="pt-BR" sz="1200" dirty="0"/>
              <a:t>, marque-o como Reprovado.</a:t>
            </a:r>
            <a:endParaRPr lang="en-US" sz="12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2520C17-7780-CBA8-6AB4-005363ECBD97}"/>
              </a:ext>
            </a:extLst>
          </p:cNvPr>
          <p:cNvSpPr txBox="1"/>
          <p:nvPr/>
        </p:nvSpPr>
        <p:spPr>
          <a:xfrm>
            <a:off x="475488" y="1091204"/>
            <a:ext cx="4498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Bom, vamos entender usando um exemplo: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8F2BB3-CBA5-AE7B-C53A-5C4890659EF4}"/>
              </a:ext>
            </a:extLst>
          </p:cNvPr>
          <p:cNvSpPr txBox="1"/>
          <p:nvPr/>
        </p:nvSpPr>
        <p:spPr>
          <a:xfrm>
            <a:off x="475488" y="175776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effectLst/>
                <a:latin typeface="+mn-lt"/>
              </a:rPr>
              <a:t>a) Calcule os “</a:t>
            </a:r>
            <a:r>
              <a:rPr lang="pt-BR" b="1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pt-BR" dirty="0"/>
              <a:t>” e “</a:t>
            </a:r>
            <a:r>
              <a:rPr lang="pt-BR" b="1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pt-BR" dirty="0"/>
              <a:t>”</a:t>
            </a:r>
            <a:r>
              <a:rPr lang="pt-BR" b="0" i="0" dirty="0">
                <a:effectLst/>
                <a:latin typeface="+mn-lt"/>
              </a:rPr>
              <a:t> da equação Z = </a:t>
            </a:r>
            <a:r>
              <a:rPr lang="pt-BR" b="1" i="0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w</a:t>
            </a:r>
            <a:r>
              <a:rPr lang="pt-BR" b="0" i="0" dirty="0">
                <a:effectLst/>
                <a:latin typeface="+mn-lt"/>
              </a:rPr>
              <a:t>(X) + </a:t>
            </a:r>
            <a:r>
              <a:rPr lang="pt-BR" b="1" i="0" dirty="0">
                <a:solidFill>
                  <a:srgbClr val="8B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</a:t>
            </a:r>
            <a:r>
              <a:rPr lang="pt-BR" b="0" i="0" dirty="0">
                <a:effectLst/>
                <a:latin typeface="+mn-lt"/>
              </a:rPr>
              <a:t> ;</a:t>
            </a:r>
            <a:endParaRPr lang="pt-BR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FAEFF46C-85B9-5887-FDFF-1ECC6A70425D}"/>
              </a:ext>
            </a:extLst>
          </p:cNvPr>
          <p:cNvSpPr/>
          <p:nvPr/>
        </p:nvSpPr>
        <p:spPr>
          <a:xfrm>
            <a:off x="566927" y="4062256"/>
            <a:ext cx="8518349" cy="1036198"/>
          </a:xfrm>
          <a:prstGeom prst="rect">
            <a:avLst/>
          </a:prstGeom>
          <a:solidFill>
            <a:srgbClr val="EAF7EF"/>
          </a:solidFill>
          <a:ln w="12700">
            <a:solidFill>
              <a:srgbClr val="2E9D6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Z = </a:t>
            </a: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pt-BR" dirty="0"/>
              <a:t>(X) + </a:t>
            </a: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</a:p>
          <a:p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pt-BR" dirty="0"/>
              <a:t> = 1,19</a:t>
            </a:r>
          </a:p>
          <a:p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pt-BR" dirty="0"/>
              <a:t> = -6,52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25">
                <a:extLst>
                  <a:ext uri="{FF2B5EF4-FFF2-40B4-BE49-F238E27FC236}">
                    <a16:creationId xmlns:a16="http://schemas.microsoft.com/office/drawing/2014/main" id="{A82A5DF3-0334-0A34-4B17-4D611C8D4013}"/>
                  </a:ext>
                </a:extLst>
              </p:cNvPr>
              <p:cNvSpPr/>
              <p:nvPr/>
            </p:nvSpPr>
            <p:spPr>
              <a:xfrm>
                <a:off x="591507" y="2333318"/>
                <a:ext cx="8518349" cy="1242424"/>
              </a:xfrm>
              <a:prstGeom prst="rect">
                <a:avLst/>
              </a:prstGeom>
              <a:solidFill>
                <a:srgbClr val="EAF7EF"/>
              </a:solidFill>
              <a:ln w="12700">
                <a:solidFill>
                  <a:srgbClr val="2E9D62"/>
                </a:solidFill>
              </a:ln>
            </p:spPr>
            <p:txBody>
              <a:bodyPr wrap="square" lIns="1143" tIns="1143" rIns="1143" bIns="1143" rtlCol="0" anchor="ctr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Z = </a:t>
                </a:r>
                <a:r>
                  <a:rPr lang="pt-BR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</a:t>
                </a:r>
                <a:r>
                  <a:rPr lang="pt-BR" dirty="0"/>
                  <a:t>(X) + </a:t>
                </a:r>
                <a:r>
                  <a:rPr lang="pt-BR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 </a:t>
                </a:r>
                <a:r>
                  <a:rPr lang="pt-B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, </a:t>
                </a:r>
                <a:r>
                  <a:rPr lang="pt-B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são calculados através de função de </a:t>
                </a:r>
                <a:r>
                  <a:rPr lang="pt-B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Perda de Entropia Cruzada Binária  =&gt;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t-BR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pt-BR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pt-BR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pt-BR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i="1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i="1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pt-BR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pt-BR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pt-BR" i="1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solidFill>
                                              <a:srgbClr val="FF00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pt-BR" i="1">
                                                <a:solidFill>
                                                  <a:srgbClr val="FF0000"/>
                                                </a:solidFill>
                                                <a:effectLst>
                                                  <a:outerShdw blurRad="38100" dist="38100" dir="2700000" algn="tl">
                                                    <a:srgbClr val="000000">
                                                      <a:alpha val="43137"/>
                                                    </a:srgbClr>
                                                  </a:outerShdw>
                                                </a:effectLst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i="1">
                                                <a:solidFill>
                                                  <a:srgbClr val="FF0000"/>
                                                </a:solidFill>
                                                <a:effectLst>
                                                  <a:outerShdw blurRad="38100" dist="38100" dir="2700000" algn="tl">
                                                    <a:srgbClr val="000000">
                                                      <a:alpha val="43137"/>
                                                    </a:srgbClr>
                                                  </a:outerShdw>
                                                </a:effectLst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pt-BR" i="1">
                                            <a:solidFill>
                                              <a:srgbClr val="FF00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pt-BR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pt-BR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func>
                              <m:funcPr>
                                <m:ctrlPr>
                                  <a:rPr lang="pt-BR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pt-BR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pt-BR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BR" i="1">
                                            <a:solidFill>
                                              <a:srgbClr val="FF00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pt-BR" i="1">
                                                <a:solidFill>
                                                  <a:srgbClr val="FF0000"/>
                                                </a:solidFill>
                                                <a:effectLst>
                                                  <a:outerShdw blurRad="38100" dist="38100" dir="2700000" algn="tl">
                                                    <a:srgbClr val="000000">
                                                      <a:alpha val="43137"/>
                                                    </a:srgbClr>
                                                  </a:outerShdw>
                                                </a:effectLst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i="1">
                                                <a:solidFill>
                                                  <a:srgbClr val="FF0000"/>
                                                </a:solidFill>
                                                <a:effectLst>
                                                  <a:outerShdw blurRad="38100" dist="38100" dir="2700000" algn="tl">
                                                    <a:srgbClr val="000000">
                                                      <a:alpha val="43137"/>
                                                    </a:srgbClr>
                                                  </a:outerShdw>
                                                </a:effectLst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pt-BR" i="1">
                                            <a:solidFill>
                                              <a:srgbClr val="FF00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pt-BR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b="1" dirty="0">
                    <a:solidFill>
                      <a:srgbClr val="00A33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(USE PYTHON para calcular</a:t>
                </a:r>
                <a:r>
                  <a:rPr lang="pt-B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</a:t>
                </a:r>
              </a:p>
            </p:txBody>
          </p:sp>
        </mc:Choice>
        <mc:Fallback xmlns="">
          <p:sp>
            <p:nvSpPr>
              <p:cNvPr id="9" name="Text 25">
                <a:extLst>
                  <a:ext uri="{FF2B5EF4-FFF2-40B4-BE49-F238E27FC236}">
                    <a16:creationId xmlns:a16="http://schemas.microsoft.com/office/drawing/2014/main" id="{A82A5DF3-0334-0A34-4B17-4D611C8D4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07" y="2333318"/>
                <a:ext cx="8518349" cy="1242424"/>
              </a:xfrm>
              <a:prstGeom prst="rect">
                <a:avLst/>
              </a:prstGeom>
              <a:blipFill>
                <a:blip r:embed="rId3"/>
                <a:stretch>
                  <a:fillRect l="-1501" b="-21845"/>
                </a:stretch>
              </a:blipFill>
              <a:ln w="12700">
                <a:solidFill>
                  <a:srgbClr val="2E9D6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959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F8128-B721-2C68-D932-F37DD7EC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A382D9-FCF8-DD50-383F-3E5A1EAF1666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5BD9B5-F47B-EE43-B7AB-2811B0A9B6DF}"/>
              </a:ext>
            </a:extLst>
          </p:cNvPr>
          <p:cNvSpPr/>
          <p:nvPr/>
        </p:nvSpPr>
        <p:spPr>
          <a:xfrm>
            <a:off x="475488" y="54593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7674F2-8B85-09C7-B438-F93FE3D64F85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EXEMPLO 01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5D0541-2348-5526-B5C2-8EE38AA0FE4F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5C256E-FB1A-0B3F-4EFD-6753D5267A65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562734-897F-060D-250D-C97F6EC30497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38BCE1B-BB68-73A3-AE22-7231EC2B1CFD}"/>
              </a:ext>
            </a:extLst>
          </p:cNvPr>
          <p:cNvSpPr/>
          <p:nvPr/>
        </p:nvSpPr>
        <p:spPr>
          <a:xfrm>
            <a:off x="5036583" y="113686"/>
            <a:ext cx="6758337" cy="74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r>
              <a:rPr lang="pt-BR" sz="1200" dirty="0"/>
              <a:t>A todos os alunos que tiverem mais de </a:t>
            </a: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50% de chances de passar</a:t>
            </a:r>
            <a:r>
              <a:rPr lang="pt-BR" sz="1200" dirty="0"/>
              <a:t>, marque o aluno como "Aprovado". </a:t>
            </a:r>
          </a:p>
          <a:p>
            <a:r>
              <a:rPr lang="pt-BR" sz="1200" dirty="0"/>
              <a:t>Caso </a:t>
            </a:r>
            <a:r>
              <a:rPr lang="pt-BR" sz="1200" dirty="0" err="1"/>
              <a:t>constrário</a:t>
            </a:r>
            <a:r>
              <a:rPr lang="pt-BR" sz="1200" dirty="0"/>
              <a:t>, marque-o como Reprovado.</a:t>
            </a:r>
            <a:endParaRPr lang="en-US" sz="12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401A93C-A8DB-5593-893E-85A65CCA0308}"/>
              </a:ext>
            </a:extLst>
          </p:cNvPr>
          <p:cNvSpPr txBox="1"/>
          <p:nvPr/>
        </p:nvSpPr>
        <p:spPr>
          <a:xfrm>
            <a:off x="475488" y="1091204"/>
            <a:ext cx="4498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Bom, vamos entender usando um exemplo: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54E2E6C-4A69-14F9-9C1A-E377AD238918}"/>
              </a:ext>
            </a:extLst>
          </p:cNvPr>
          <p:cNvSpPr txBox="1"/>
          <p:nvPr/>
        </p:nvSpPr>
        <p:spPr>
          <a:xfrm>
            <a:off x="475488" y="1567975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b) Faça a Regressão Logística;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25">
                <a:extLst>
                  <a:ext uri="{FF2B5EF4-FFF2-40B4-BE49-F238E27FC236}">
                    <a16:creationId xmlns:a16="http://schemas.microsoft.com/office/drawing/2014/main" id="{B6EBE6C1-E17B-00C8-96B8-619E7F83212D}"/>
                  </a:ext>
                </a:extLst>
              </p:cNvPr>
              <p:cNvSpPr/>
              <p:nvPr/>
            </p:nvSpPr>
            <p:spPr>
              <a:xfrm>
                <a:off x="5036583" y="970931"/>
                <a:ext cx="3764914" cy="749807"/>
              </a:xfrm>
              <a:prstGeom prst="rect">
                <a:avLst/>
              </a:prstGeom>
              <a:solidFill>
                <a:srgbClr val="EAF7EF"/>
              </a:solidFill>
              <a:ln w="12700">
                <a:solidFill>
                  <a:srgbClr val="2E9D62"/>
                </a:solidFill>
              </a:ln>
            </p:spPr>
            <p:txBody>
              <a:bodyPr wrap="square" lIns="1143" tIns="1143" rIns="1143" bIns="1143" rtlCol="0" anchor="ctr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1,19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∗(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 − 6,52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Text 25">
                <a:extLst>
                  <a:ext uri="{FF2B5EF4-FFF2-40B4-BE49-F238E27FC236}">
                    <a16:creationId xmlns:a16="http://schemas.microsoft.com/office/drawing/2014/main" id="{B6EBE6C1-E17B-00C8-96B8-619E7F832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583" y="970931"/>
                <a:ext cx="3764914" cy="7498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2E9D6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6A33D78D-4AE8-6083-8033-3F6F953F85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7846796"/>
                  </p:ext>
                </p:extLst>
              </p:nvPr>
            </p:nvGraphicFramePr>
            <p:xfrm>
              <a:off x="397080" y="0"/>
              <a:ext cx="11247117" cy="6761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9938">
                      <a:extLst>
                        <a:ext uri="{9D8B030D-6E8A-4147-A177-3AD203B41FA5}">
                          <a16:colId xmlns:a16="http://schemas.microsoft.com/office/drawing/2014/main" val="1116698044"/>
                        </a:ext>
                      </a:extLst>
                    </a:gridCol>
                    <a:gridCol w="1328142">
                      <a:extLst>
                        <a:ext uri="{9D8B030D-6E8A-4147-A177-3AD203B41FA5}">
                          <a16:colId xmlns:a16="http://schemas.microsoft.com/office/drawing/2014/main" val="41347572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2775188"/>
                        </a:ext>
                      </a:extLst>
                    </a:gridCol>
                    <a:gridCol w="2390863">
                      <a:extLst>
                        <a:ext uri="{9D8B030D-6E8A-4147-A177-3AD203B41FA5}">
                          <a16:colId xmlns:a16="http://schemas.microsoft.com/office/drawing/2014/main" val="2018158403"/>
                        </a:ext>
                      </a:extLst>
                    </a:gridCol>
                    <a:gridCol w="1065402">
                      <a:extLst>
                        <a:ext uri="{9D8B030D-6E8A-4147-A177-3AD203B41FA5}">
                          <a16:colId xmlns:a16="http://schemas.microsoft.com/office/drawing/2014/main" val="1555457240"/>
                        </a:ext>
                      </a:extLst>
                    </a:gridCol>
                    <a:gridCol w="3129093">
                      <a:extLst>
                        <a:ext uri="{9D8B030D-6E8A-4147-A177-3AD203B41FA5}">
                          <a16:colId xmlns:a16="http://schemas.microsoft.com/office/drawing/2014/main" val="1606808806"/>
                        </a:ext>
                      </a:extLst>
                    </a:gridCol>
                    <a:gridCol w="1549279">
                      <a:extLst>
                        <a:ext uri="{9D8B030D-6E8A-4147-A177-3AD203B41FA5}">
                          <a16:colId xmlns:a16="http://schemas.microsoft.com/office/drawing/2014/main" val="19363697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ID do Aluno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Entrada (X1)</a:t>
                          </a:r>
                        </a:p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Horas de Estudo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Saída (y)</a:t>
                          </a:r>
                        </a:p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Cálculo de </a:t>
                          </a:r>
                          <a:r>
                            <a:rPr lang="pt-BR" sz="1600" b="1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z </a:t>
                          </a: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 </a:t>
                          </a:r>
                          <a:r>
                            <a:rPr lang="pt-BR" sz="16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w </a:t>
                          </a: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* (</a:t>
                          </a:r>
                          <a:r>
                            <a:rPr lang="pt-BR" sz="1200" b="1" i="0" dirty="0" err="1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X_i</a:t>
                          </a: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 + </a:t>
                          </a:r>
                          <a:r>
                            <a:rPr lang="pt-BR" sz="16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Valor de “Z”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Regressão Logística</a:t>
                          </a:r>
                          <a:r>
                            <a:rPr lang="pt-BR" sz="1800" b="1" i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t-BR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pt-BR" sz="1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pt-BR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pt-BR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pt-BR" sz="18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pt-BR" sz="1800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1800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pt-BR" sz="1800" b="1" i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Probabilidade Calculada - Saída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88750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19×2</m:t>
                                    </m:r>
                                  </m:e>
                                </m:d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−6,52)</m:t>
                                </m:r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𝟏𝟒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006C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B9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𝟒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𝟏𝟒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400" b="1" i="0" dirty="0">
                              <a:solidFill>
                                <a:srgbClr val="4B5563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,015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FFB6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377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19×3</m:t>
                                    </m:r>
                                  </m:e>
                                </m:d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−6,52)</m:t>
                                </m:r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𝟗𝟓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FF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i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b="1" i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pt-BR" sz="1400" b="1" i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𝟗𝟓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,049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FFB6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170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19×5</m:t>
                                    </m:r>
                                  </m:e>
                                </m:d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−6,52)</m:t>
                                </m:r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𝟓𝟕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B9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𝟓𝟕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pt-BR" sz="1400" b="1" i="0" dirty="0">
                                            <a:solidFill>
                                              <a:srgbClr val="4B5563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𝟑𝟔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,361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FFB6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7405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6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19×6</m:t>
                                    </m:r>
                                  </m:e>
                                </m:d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−6,52)</m:t>
                                </m:r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𝟔𝟐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006C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B9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𝟔𝟐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𝟔𝟓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,650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754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19×8</m:t>
                                    </m:r>
                                  </m:e>
                                </m:d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−6,52)</m:t>
                                </m:r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𝟎𝟎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006C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B9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𝟎𝟎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pt-BR" sz="1400" b="1" i="0" dirty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𝟗𝟓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,952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9248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6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19×9</m:t>
                                    </m:r>
                                  </m:e>
                                </m:d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−6,52)</m:t>
                                </m:r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𝟏𝟗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006C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B9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𝟗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𝟒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𝟏𝟗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pt-BR" sz="1400" b="1" i="0" dirty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𝟗𝟖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,985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0336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19×1</m:t>
                                    </m:r>
                                  </m:e>
                                </m:d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−6,52)</m:t>
                                </m:r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𝟑𝟑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006C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B9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𝟑𝟑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pt-BR" sz="1400" b="1" i="0" dirty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,005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FFB6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9624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19×4</m:t>
                                    </m:r>
                                  </m:e>
                                </m:d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−6,52)</m:t>
                                </m:r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𝟕𝟔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006C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B9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𝟕𝟔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pt-BR" sz="1400" b="1" i="0" dirty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𝟏𝟒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,147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FFB6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848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19×7</m:t>
                                    </m:r>
                                  </m:e>
                                </m:d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−6,52)</m:t>
                                </m:r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𝟖𝟏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006C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B9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𝟕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𝟖𝟏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pt-BR" sz="1400" b="1" i="0" dirty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𝟖𝟔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,860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26266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endChr m:val=","/>
                                    <m:ctrlP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119×10</m:t>
                                    </m:r>
                                    <m:r>
                                      <a:rPr lang="pt-BR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pt-BR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−6,52)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2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 b="1" smtClean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1" i="0">
                                    <a:solidFill>
                                      <a:srgbClr val="006C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𝟑𝟖</m:t>
                                </m:r>
                              </m:oMath>
                            </m:oMathPara>
                          </a14:m>
                          <a:endParaRPr lang="pt-BR" sz="1200" b="1" i="0" dirty="0">
                            <a:solidFill>
                              <a:srgbClr val="006C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TRUE</m:t>
                                    </m:r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pt-BR" sz="1400" b="1" i="0" smtClean="0">
                                        <a:solidFill>
                                          <a:srgbClr val="B900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</m:d>
                                <m:r>
                                  <a:rPr lang="pt-BR" sz="1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 i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1400" b="1" smtClean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1400" b="1" i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𝟑𝟖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pt-BR" sz="1400" b="1" i="0" dirty="0">
                                            <a:solidFill>
                                              <a:srgbClr val="006C00"/>
                                            </a:solidFill>
                                            <a:effectLst>
                                              <a:outerShdw blurRad="38100" dist="38100" dir="2700000" algn="tl">
                                                <a:srgbClr val="000000">
                                                  <a:alpha val="43137"/>
                                                </a:srgbClr>
                                              </a:outerShdw>
                                            </a:effectLst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 b="0" i="0" dirty="0">
                            <a:solidFill>
                              <a:srgbClr val="4B556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t-BR" sz="14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𝟗𝟗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pt-BR" sz="1400" b="1" i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pt-BR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,995</m:t>
                              </m:r>
                            </m:oMath>
                          </a14:m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 marL="152400" marR="152400" marT="95250" marB="95250" anchor="ctr"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0620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6A33D78D-4AE8-6083-8033-3F6F953F85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7846796"/>
                  </p:ext>
                </p:extLst>
              </p:nvPr>
            </p:nvGraphicFramePr>
            <p:xfrm>
              <a:off x="397080" y="0"/>
              <a:ext cx="11247117" cy="6761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9938">
                      <a:extLst>
                        <a:ext uri="{9D8B030D-6E8A-4147-A177-3AD203B41FA5}">
                          <a16:colId xmlns:a16="http://schemas.microsoft.com/office/drawing/2014/main" val="1116698044"/>
                        </a:ext>
                      </a:extLst>
                    </a:gridCol>
                    <a:gridCol w="1328142">
                      <a:extLst>
                        <a:ext uri="{9D8B030D-6E8A-4147-A177-3AD203B41FA5}">
                          <a16:colId xmlns:a16="http://schemas.microsoft.com/office/drawing/2014/main" val="41347572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2775188"/>
                        </a:ext>
                      </a:extLst>
                    </a:gridCol>
                    <a:gridCol w="2390863">
                      <a:extLst>
                        <a:ext uri="{9D8B030D-6E8A-4147-A177-3AD203B41FA5}">
                          <a16:colId xmlns:a16="http://schemas.microsoft.com/office/drawing/2014/main" val="2018158403"/>
                        </a:ext>
                      </a:extLst>
                    </a:gridCol>
                    <a:gridCol w="1065402">
                      <a:extLst>
                        <a:ext uri="{9D8B030D-6E8A-4147-A177-3AD203B41FA5}">
                          <a16:colId xmlns:a16="http://schemas.microsoft.com/office/drawing/2014/main" val="1555457240"/>
                        </a:ext>
                      </a:extLst>
                    </a:gridCol>
                    <a:gridCol w="3129093">
                      <a:extLst>
                        <a:ext uri="{9D8B030D-6E8A-4147-A177-3AD203B41FA5}">
                          <a16:colId xmlns:a16="http://schemas.microsoft.com/office/drawing/2014/main" val="1606808806"/>
                        </a:ext>
                      </a:extLst>
                    </a:gridCol>
                    <a:gridCol w="1549279">
                      <a:extLst>
                        <a:ext uri="{9D8B030D-6E8A-4147-A177-3AD203B41FA5}">
                          <a16:colId xmlns:a16="http://schemas.microsoft.com/office/drawing/2014/main" val="1936369754"/>
                        </a:ext>
                      </a:extLst>
                    </a:gridCol>
                  </a:tblGrid>
                  <a:tr h="7772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ID do Aluno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Entrada (X1)</a:t>
                          </a:r>
                        </a:p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Horas de Estudo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Saída (y)</a:t>
                          </a:r>
                        </a:p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Cálculo de </a:t>
                          </a:r>
                          <a:r>
                            <a:rPr lang="pt-BR" sz="1600" b="1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z </a:t>
                          </a: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 </a:t>
                          </a:r>
                          <a:r>
                            <a:rPr lang="pt-BR" sz="16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w </a:t>
                          </a: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* (</a:t>
                          </a:r>
                          <a:r>
                            <a:rPr lang="pt-BR" sz="1200" b="1" i="0" dirty="0" err="1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X_i</a:t>
                          </a: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 + </a:t>
                          </a:r>
                          <a:r>
                            <a:rPr lang="pt-BR" sz="16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Valor de “Z”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114300" marB="114300" anchor="ctr">
                        <a:blipFill>
                          <a:blip r:embed="rId4"/>
                          <a:stretch>
                            <a:fillRect l="-209922" t="-1563" r="-50195" b="-76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Probabilidade Calculada - Saída</a:t>
                          </a:r>
                        </a:p>
                      </a:txBody>
                      <a:tcPr marL="152400" marR="152400" marT="114300" marB="114300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8875054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132653" r="-241582" b="-9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132653" r="-441143" b="-9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132653" r="-50195" b="-9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132653" r="-1575" b="-9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377936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232653" r="-241582" b="-8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232653" r="-441143" b="-8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232653" r="-50195" b="-8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232653" r="-1575" b="-8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1709673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332653" r="-241582" b="-7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332653" r="-441143" b="-7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332653" r="-50195" b="-7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332653" r="-1575" b="-7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7405644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6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428283" r="-241582" b="-5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428283" r="-441143" b="-5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428283" r="-50195" b="-5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428283" r="-1575" b="-596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754755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533673" r="-241582" b="-5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533673" r="-441143" b="-5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533673" r="-50195" b="-5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533673" r="-1575" b="-5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9248732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6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633673" r="-241582" b="-4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633673" r="-441143" b="-4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633673" r="-50195" b="-4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633673" r="-1575" b="-4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033624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733673" r="-241582" b="-3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733673" r="-441143" b="-3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733673" r="-50195" b="-3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733673" r="-1575" b="-3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9624790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825253" r="-24158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825253" r="-4411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825253" r="-5019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825253" r="-157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848800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934694" r="-241582" b="-1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934694" r="-441143" b="-1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934694" r="-50195" b="-1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934694" r="-1575" b="-1020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2626647"/>
                      </a:ext>
                    </a:extLst>
                  </a:tr>
                  <a:tr h="5984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sz="1200" b="1" i="0" dirty="0">
                              <a:solidFill>
                                <a:srgbClr val="B9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pt-BR" sz="1200" b="0" i="0" dirty="0">
                              <a:solidFill>
                                <a:srgbClr val="4B5563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130612" t="-1034694" r="-241582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516571" t="-1034694" r="-441143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209922" t="-1034694" r="-50195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95250" marB="95250" anchor="ctr">
                        <a:blipFill>
                          <a:blip r:embed="rId4"/>
                          <a:stretch>
                            <a:fillRect l="-627165" t="-1034694" r="-1575" b="-20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0620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6418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48CDF-31C7-056F-E70C-A28F2510C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51C3CD-B809-1D7C-573B-AE2E2EEC6403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B07D85-63C2-9907-119B-7B252BC402B2}"/>
              </a:ext>
            </a:extLst>
          </p:cNvPr>
          <p:cNvSpPr/>
          <p:nvPr/>
        </p:nvSpPr>
        <p:spPr>
          <a:xfrm>
            <a:off x="475488" y="54593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4CF587-6991-7559-C0A9-8F1B43AA073E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EXEMPLO 01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AB1832-9DB3-8BF9-DFAC-9E96DC539A95}"/>
              </a:ext>
            </a:extLst>
          </p:cNvPr>
          <p:cNvSpPr/>
          <p:nvPr/>
        </p:nvSpPr>
        <p:spPr>
          <a:xfrm>
            <a:off x="-4046178" y="93419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3ED447-1D03-DF10-4E1F-4D4CA868FBDE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1456FF-B8E0-EB59-0055-523315A24E8B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170CDFE-234B-4A5A-1DD4-48147CAA0E37}"/>
              </a:ext>
            </a:extLst>
          </p:cNvPr>
          <p:cNvSpPr/>
          <p:nvPr/>
        </p:nvSpPr>
        <p:spPr>
          <a:xfrm>
            <a:off x="386647" y="1049999"/>
            <a:ext cx="2706931" cy="100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r>
              <a:rPr lang="pt-BR" sz="1200" dirty="0"/>
              <a:t>A todos os alunos que tiverem mais de </a:t>
            </a: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50% de chances de passar</a:t>
            </a:r>
            <a:r>
              <a:rPr lang="pt-BR" sz="1200" dirty="0"/>
              <a:t>, marque o aluno como "Aprovado". </a:t>
            </a:r>
          </a:p>
          <a:p>
            <a:r>
              <a:rPr lang="pt-BR" sz="1200" dirty="0"/>
              <a:t>Caso </a:t>
            </a:r>
            <a:r>
              <a:rPr lang="pt-BR" sz="1200" dirty="0" err="1"/>
              <a:t>constrário</a:t>
            </a:r>
            <a:r>
              <a:rPr lang="pt-BR" sz="1200" dirty="0"/>
              <a:t>, marque-o como Reprovado.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25">
                <a:extLst>
                  <a:ext uri="{FF2B5EF4-FFF2-40B4-BE49-F238E27FC236}">
                    <a16:creationId xmlns:a16="http://schemas.microsoft.com/office/drawing/2014/main" id="{67C43D2D-E574-F227-4DE6-485192BEB1DA}"/>
                  </a:ext>
                </a:extLst>
              </p:cNvPr>
              <p:cNvSpPr/>
              <p:nvPr/>
            </p:nvSpPr>
            <p:spPr>
              <a:xfrm>
                <a:off x="4814392" y="184391"/>
                <a:ext cx="3764914" cy="749807"/>
              </a:xfrm>
              <a:prstGeom prst="rect">
                <a:avLst/>
              </a:prstGeom>
              <a:solidFill>
                <a:srgbClr val="EAF7EF"/>
              </a:solidFill>
              <a:ln w="12700">
                <a:solidFill>
                  <a:srgbClr val="2E9D62"/>
                </a:solidFill>
              </a:ln>
            </p:spPr>
            <p:txBody>
              <a:bodyPr wrap="square" lIns="1143" tIns="1143" rIns="1143" bIns="1143" rtlCol="0" anchor="ctr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1,19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∗(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 − 6,52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Text 25">
                <a:extLst>
                  <a:ext uri="{FF2B5EF4-FFF2-40B4-BE49-F238E27FC236}">
                    <a16:creationId xmlns:a16="http://schemas.microsoft.com/office/drawing/2014/main" id="{67C43D2D-E574-F227-4DE6-485192BEB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392" y="184391"/>
                <a:ext cx="3764914" cy="7498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2E9D6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id="{64700A76-BF86-5989-8EA6-C61F35519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726" y="1257079"/>
            <a:ext cx="7480155" cy="5290025"/>
          </a:xfrm>
          <a:prstGeom prst="rect">
            <a:avLst/>
          </a:prstGeom>
        </p:spPr>
      </p:pic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A5A93322-588A-C193-C1C8-83221D53D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297356"/>
              </p:ext>
            </p:extLst>
          </p:nvPr>
        </p:nvGraphicFramePr>
        <p:xfrm>
          <a:off x="386648" y="2146525"/>
          <a:ext cx="4134079" cy="4515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802">
                  <a:extLst>
                    <a:ext uri="{9D8B030D-6E8A-4147-A177-3AD203B41FA5}">
                      <a16:colId xmlns:a16="http://schemas.microsoft.com/office/drawing/2014/main" val="3943174570"/>
                    </a:ext>
                  </a:extLst>
                </a:gridCol>
                <a:gridCol w="609240">
                  <a:extLst>
                    <a:ext uri="{9D8B030D-6E8A-4147-A177-3AD203B41FA5}">
                      <a16:colId xmlns:a16="http://schemas.microsoft.com/office/drawing/2014/main" val="1710357480"/>
                    </a:ext>
                  </a:extLst>
                </a:gridCol>
                <a:gridCol w="504202">
                  <a:extLst>
                    <a:ext uri="{9D8B030D-6E8A-4147-A177-3AD203B41FA5}">
                      <a16:colId xmlns:a16="http://schemas.microsoft.com/office/drawing/2014/main" val="3340239317"/>
                    </a:ext>
                  </a:extLst>
                </a:gridCol>
                <a:gridCol w="854579">
                  <a:extLst>
                    <a:ext uri="{9D8B030D-6E8A-4147-A177-3AD203B41FA5}">
                      <a16:colId xmlns:a16="http://schemas.microsoft.com/office/drawing/2014/main" val="1929324043"/>
                    </a:ext>
                  </a:extLst>
                </a:gridCol>
                <a:gridCol w="871671">
                  <a:extLst>
                    <a:ext uri="{9D8B030D-6E8A-4147-A177-3AD203B41FA5}">
                      <a16:colId xmlns:a16="http://schemas.microsoft.com/office/drawing/2014/main" val="149403153"/>
                    </a:ext>
                  </a:extLst>
                </a:gridCol>
                <a:gridCol w="948585">
                  <a:extLst>
                    <a:ext uri="{9D8B030D-6E8A-4147-A177-3AD203B41FA5}">
                      <a16:colId xmlns:a16="http://schemas.microsoft.com/office/drawing/2014/main" val="309681475"/>
                    </a:ext>
                  </a:extLst>
                </a:gridCol>
              </a:tblGrid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ID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Entrada (X1)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Status Real (y)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/>
                        </a:rPr>
                        <a:t>Par Ordenado </a:t>
                      </a:r>
                    </a:p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/>
                        </a:rPr>
                        <a:t>Real (X,Y)</a:t>
                      </a:r>
                      <a:endParaRPr lang="pt-BR" sz="1100" b="1" dirty="0">
                        <a:solidFill>
                          <a:srgbClr val="8B0000"/>
                        </a:solidFill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 err="1">
                          <a:effectLst/>
                        </a:rPr>
                        <a:t>Probab</a:t>
                      </a:r>
                      <a:endParaRPr lang="pt-BR" sz="1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P( Y = 1 ∣ X )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0" dirty="0">
                          <a:solidFill>
                            <a:srgbClr val="008000"/>
                          </a:solidFill>
                          <a:effectLst/>
                        </a:rPr>
                        <a:t>Par Ordenado Previsto (X,P)</a:t>
                      </a:r>
                      <a:endParaRPr lang="pt-BR" sz="1100" b="0" dirty="0">
                        <a:solidFill>
                          <a:srgbClr val="008000"/>
                        </a:solidFill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76414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7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1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0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(1,0)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0,005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(1; 0,005)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2302378877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1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2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(2,0)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0,015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(2; 0,015)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62138233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2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3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(3,0)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0,049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(3; 0,049)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100670884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8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4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(4,0)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0,147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(4; 0,147)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3995669415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3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5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(5,0)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0,361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(5; 0,361)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306208340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4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6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1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(6,1)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0,65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(6; 0,650)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3118101856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9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7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1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(7,1)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0,86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(7; 0,860)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61007233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5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8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1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(8,1)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0,952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(8; 0,952)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173754299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6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9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1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(9,1)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effectLst/>
                        </a:rPr>
                        <a:t>0,985</a:t>
                      </a:r>
                      <a:endParaRPr lang="pt-BR" sz="110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(9; 0,985)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727266286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10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10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1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8B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(10,1)</a:t>
                      </a:r>
                      <a:endParaRPr lang="pt-BR" sz="1100" b="1" dirty="0">
                        <a:solidFill>
                          <a:srgbClr val="8B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effectLst/>
                        </a:rPr>
                        <a:t>0,995</a:t>
                      </a:r>
                      <a:endParaRPr lang="pt-BR" sz="1100" dirty="0">
                        <a:effectLst/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(10; 0,995)</a:t>
                      </a:r>
                      <a:endParaRPr lang="pt-BR" sz="1100" b="1" dirty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rlito" panose="020F0502020204030204" pitchFamily="34" charset="0"/>
                      </a:endParaRP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3660013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750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3C7DF-C024-972D-5B64-E08DC9442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90CA91-C2FB-DC5C-F8F2-A9AEE7F78CE2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833DCE-7C23-3355-DE23-9D81A6473555}"/>
              </a:ext>
            </a:extLst>
          </p:cNvPr>
          <p:cNvSpPr/>
          <p:nvPr/>
        </p:nvSpPr>
        <p:spPr>
          <a:xfrm>
            <a:off x="475488" y="54593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CF6C30-BD7E-3241-1C21-E7E46D5502E4}"/>
              </a:ext>
            </a:extLst>
          </p:cNvPr>
          <p:cNvSpPr/>
          <p:nvPr/>
        </p:nvSpPr>
        <p:spPr>
          <a:xfrm>
            <a:off x="1024128" y="502920"/>
            <a:ext cx="34196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Logística — EXEMPLO 01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7A9302-41B1-0044-B3C9-03979285E26A}"/>
              </a:ext>
            </a:extLst>
          </p:cNvPr>
          <p:cNvSpPr/>
          <p:nvPr/>
        </p:nvSpPr>
        <p:spPr>
          <a:xfrm>
            <a:off x="-4046178" y="93419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CF0334-8AD4-97BA-3385-2A153DBC9785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E06A77-30D3-22E6-49D0-D98466DED942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25">
                <a:extLst>
                  <a:ext uri="{FF2B5EF4-FFF2-40B4-BE49-F238E27FC236}">
                    <a16:creationId xmlns:a16="http://schemas.microsoft.com/office/drawing/2014/main" id="{947BC865-3E53-722F-637A-07ECB5FCC820}"/>
                  </a:ext>
                </a:extLst>
              </p:cNvPr>
              <p:cNvSpPr/>
              <p:nvPr/>
            </p:nvSpPr>
            <p:spPr>
              <a:xfrm>
                <a:off x="4814392" y="184391"/>
                <a:ext cx="3764914" cy="749807"/>
              </a:xfrm>
              <a:prstGeom prst="rect">
                <a:avLst/>
              </a:prstGeom>
              <a:solidFill>
                <a:srgbClr val="EAF7EF"/>
              </a:solidFill>
              <a:ln w="12700">
                <a:solidFill>
                  <a:srgbClr val="2E9D62"/>
                </a:solidFill>
              </a:ln>
            </p:spPr>
            <p:txBody>
              <a:bodyPr wrap="square" lIns="1143" tIns="1143" rIns="1143" bIns="1143" rtlCol="0" anchor="ctr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1,19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∗(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 − 6,52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Text 25">
                <a:extLst>
                  <a:ext uri="{FF2B5EF4-FFF2-40B4-BE49-F238E27FC236}">
                    <a16:creationId xmlns:a16="http://schemas.microsoft.com/office/drawing/2014/main" id="{947BC865-3E53-722F-637A-07ECB5FCC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392" y="184391"/>
                <a:ext cx="3764914" cy="7498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2E9D6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ixaDeTexto 21">
            <a:extLst>
              <a:ext uri="{FF2B5EF4-FFF2-40B4-BE49-F238E27FC236}">
                <a16:creationId xmlns:a16="http://schemas.microsoft.com/office/drawing/2014/main" id="{A021C8F0-0F5C-16CE-A107-90FE502AFFA1}"/>
              </a:ext>
            </a:extLst>
          </p:cNvPr>
          <p:cNvSpPr txBox="1"/>
          <p:nvPr/>
        </p:nvSpPr>
        <p:spPr>
          <a:xfrm>
            <a:off x="234069" y="1936737"/>
            <a:ext cx="5021595" cy="3766416"/>
          </a:xfrm>
          <a:prstGeom prst="rect">
            <a:avLst/>
          </a:prstGeom>
          <a:solidFill>
            <a:srgbClr val="F5F5F5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numpy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pandas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pd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Definindo os dados da tabela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{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id_aluno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7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9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horas_estudo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9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7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status_real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}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pd.DataFrame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(dados)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Parâmetros do modelo obtidos (w e b)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w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1.19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b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 -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6.52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008000"/>
                </a:solidFill>
                <a:effectLst/>
                <a:latin typeface="Roboto Mono" pitchFamily="2" charset="0"/>
              </a:rPr>
              <a:t># Continua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985BF85-85D5-DD2D-D612-EF5E573C25D5}"/>
              </a:ext>
            </a:extLst>
          </p:cNvPr>
          <p:cNvSpPr txBox="1"/>
          <p:nvPr/>
        </p:nvSpPr>
        <p:spPr>
          <a:xfrm>
            <a:off x="5477678" y="1128824"/>
            <a:ext cx="6599894" cy="5382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008000"/>
                </a:solidFill>
                <a:effectLst/>
                <a:latin typeface="Roboto Mono" pitchFamily="2" charset="0"/>
              </a:rPr>
              <a:t># Continuação</a:t>
            </a: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1. Calculando o valor de z: z = w * X_1 + b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valor_z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(w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*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horas_estudo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2. Calculando a Probabilidade via Função Sigmoide: P(y=1) = 1 / (1 + e^-z)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'probabilidade'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/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+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np.exp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-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valor_z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3. Formatando a probabilidade para exibição em porcentagem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probabilidade_pct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'probabilidade'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*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100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).round(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).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astype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str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'%'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Exibindo o resultado formatado de forma limpa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tabela_resultado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pd.DataFrame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({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'ID do Aluno'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id_aluno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'Horas de Estudo (X1)'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horas_estudo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'Status Real (y)'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status_real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'Valor de z'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valor_z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].round(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'Probabilidade Calculada'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probabilidade_pct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'Probabilidade (Decimal)'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'probabilidade'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].round(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})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tabela_resultado.to_string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index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False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A897F50F-B966-D639-12FA-E521D1358AA5}"/>
              </a:ext>
            </a:extLst>
          </p:cNvPr>
          <p:cNvSpPr/>
          <p:nvPr/>
        </p:nvSpPr>
        <p:spPr>
          <a:xfrm>
            <a:off x="475488" y="1154847"/>
            <a:ext cx="4087028" cy="55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Implementação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Python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142160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D2467-992F-9115-FED7-EC778AD2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52D78808-7CE5-BD18-BFCA-17EDABE31853}"/>
              </a:ext>
            </a:extLst>
          </p:cNvPr>
          <p:cNvSpPr/>
          <p:nvPr/>
        </p:nvSpPr>
        <p:spPr>
          <a:xfrm>
            <a:off x="1241572" y="1719744"/>
            <a:ext cx="9387280" cy="249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 </a:t>
            </a:r>
            <a:r>
              <a:rPr lang="en-US" sz="72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7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72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mais</a:t>
            </a:r>
            <a:r>
              <a:rPr lang="en-US" sz="7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72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r>
              <a:rPr lang="en-US" sz="7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- KNN</a:t>
            </a:r>
            <a:endParaRPr lang="en-US" sz="7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F361FA-C8EB-4A2C-6743-C54A84B05D0F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8E5283-26EA-2644-2CD5-5594968F42FE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05502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CE108-E0FB-56B8-1A6A-4B2DDB84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7B8D13-E5CA-6670-1BC9-45FDE56DE8EC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9007B0-C348-4392-143F-496D930AC1F0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657A03-5B54-38F3-F72D-4E3AF257F52D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– KNN – “K” </a:t>
            </a:r>
            <a:r>
              <a:rPr lang="pt-BR" sz="1600" b="1" dirty="0" err="1"/>
              <a:t>Nearest</a:t>
            </a:r>
            <a:r>
              <a:rPr lang="pt-BR" sz="1600" b="1" dirty="0"/>
              <a:t> </a:t>
            </a:r>
            <a:r>
              <a:rPr lang="pt-BR" sz="1600" b="1" dirty="0" err="1"/>
              <a:t>Neighbors</a:t>
            </a:r>
            <a:endParaRPr lang="en-US" sz="1700" b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0AB3CB-7F91-4B09-C4DA-8129766C5D9E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AC045D-FF6A-888D-09A4-2C72152F7A6A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3EC3D3-EA56-D2CA-74DF-35213439DC7A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B70AF3-0265-7DB5-48C1-9E10A62EAC3D}"/>
              </a:ext>
            </a:extLst>
          </p:cNvPr>
          <p:cNvSpPr/>
          <p:nvPr/>
        </p:nvSpPr>
        <p:spPr>
          <a:xfrm>
            <a:off x="475488" y="1775728"/>
            <a:ext cx="9875520" cy="106813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just"/>
            <a:r>
              <a:rPr lang="pt-BR" dirty="0"/>
              <a:t>Dado um conjunto de elementos com os mesmos atributos com valores diferenciados, qual é a melhor forma de </a:t>
            </a:r>
            <a:r>
              <a:rPr lang="pt-BR" b="1" dirty="0"/>
              <a:t>agrupar</a:t>
            </a:r>
            <a:r>
              <a:rPr lang="pt-BR" dirty="0"/>
              <a:t> elementos de um conjunto pelo seu “</a:t>
            </a:r>
            <a:r>
              <a:rPr lang="pt-BR" b="1" dirty="0"/>
              <a:t>perfil</a:t>
            </a:r>
            <a:r>
              <a:rPr lang="pt-BR" dirty="0"/>
              <a:t>” 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7C86439-C082-16C9-B7EF-BF7FF054EAAE}"/>
              </a:ext>
            </a:extLst>
          </p:cNvPr>
          <p:cNvSpPr txBox="1"/>
          <p:nvPr/>
        </p:nvSpPr>
        <p:spPr>
          <a:xfrm>
            <a:off x="475488" y="1069712"/>
            <a:ext cx="2883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MOTIVAÇÃO: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758BC6A-19CE-100F-F32F-86F80642B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071800"/>
            <a:ext cx="5948671" cy="324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571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4E65D-781C-442C-8056-8CDBA450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336EF0-3C4B-098B-3996-11171E625D8D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26FE3F-7B49-ED9C-84F9-CBEA48AA6AE7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9912FC-65F6-3928-0CDC-F0B75A249A1B}"/>
              </a:ext>
            </a:extLst>
          </p:cNvPr>
          <p:cNvSpPr/>
          <p:nvPr/>
        </p:nvSpPr>
        <p:spPr>
          <a:xfrm>
            <a:off x="1024128" y="502920"/>
            <a:ext cx="2994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428894D-081F-D1DA-2B57-E3B31C6622E7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7C89D3-E442-7F88-3D18-BFEC06C0EAB2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DB0A59-CF5F-222F-06F1-F02CC8193F06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E35242B-B5FC-8CFA-907A-5600D917C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070" y="131212"/>
            <a:ext cx="7867738" cy="429498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096698C-D6D3-4D1E-32D4-3801D35EC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75" y="865484"/>
            <a:ext cx="3793105" cy="2070650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FD09B13C-9276-D4F8-1C4E-ED84AD774846}"/>
              </a:ext>
            </a:extLst>
          </p:cNvPr>
          <p:cNvSpPr/>
          <p:nvPr/>
        </p:nvSpPr>
        <p:spPr>
          <a:xfrm>
            <a:off x="332875" y="4570744"/>
            <a:ext cx="9875520" cy="106813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just"/>
            <a:r>
              <a:rPr lang="pt-BR" dirty="0"/>
              <a:t>O ponto preto central (</a:t>
            </a:r>
            <a:r>
              <a:rPr lang="pt-BR" dirty="0">
                <a:solidFill>
                  <a:srgbClr val="FF0000"/>
                </a:solidFill>
              </a:rPr>
              <a:t>X</a:t>
            </a:r>
            <a:r>
              <a:rPr lang="pt-BR" dirty="0"/>
              <a:t>,</a:t>
            </a:r>
            <a:r>
              <a:rPr lang="pt-BR" dirty="0">
                <a:solidFill>
                  <a:srgbClr val="FF0000"/>
                </a:solidFill>
              </a:rPr>
              <a:t>Y</a:t>
            </a:r>
            <a:r>
              <a:rPr lang="pt-BR" dirty="0"/>
              <a:t>) acaba de ser adicionado ao banco de dados. Como saber com qual grupo ele se identifica mais ? Com qual </a:t>
            </a:r>
            <a:r>
              <a:rPr lang="pt-BR" b="1" dirty="0"/>
              <a:t>perfil</a:t>
            </a:r>
            <a:r>
              <a:rPr lang="pt-BR" dirty="0"/>
              <a:t> este </a:t>
            </a:r>
            <a:r>
              <a:rPr lang="pt-BR" b="1" dirty="0"/>
              <a:t>novo cliente</a:t>
            </a:r>
            <a:r>
              <a:rPr lang="pt-BR" dirty="0"/>
              <a:t> do mercado se </a:t>
            </a:r>
            <a:r>
              <a:rPr lang="pt-BR" b="1" dirty="0"/>
              <a:t>identifica</a:t>
            </a:r>
            <a:r>
              <a:rPr lang="pt-BR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218038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33BDC-3D69-5FED-FF25-F600F373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3E472E-C567-C231-06BD-620338FBA4E6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1E959A-7CA5-BC40-230E-C8BAD792A86B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31D800-964C-FBAB-32F6-7B40E0BBF2F1}"/>
              </a:ext>
            </a:extLst>
          </p:cNvPr>
          <p:cNvSpPr/>
          <p:nvPr/>
        </p:nvSpPr>
        <p:spPr>
          <a:xfrm>
            <a:off x="1024128" y="502920"/>
            <a:ext cx="2994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7D5FDF-6676-4B0A-349E-A1A7B111ABBB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821F08-B161-0ADF-CEB0-976318405905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544965-6DA9-D05E-C08C-202925E74F38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9873E4D-A601-7FBD-12C8-B4FC740BBDE0}"/>
              </a:ext>
            </a:extLst>
          </p:cNvPr>
          <p:cNvSpPr/>
          <p:nvPr/>
        </p:nvSpPr>
        <p:spPr>
          <a:xfrm>
            <a:off x="584545" y="2117581"/>
            <a:ext cx="9875520" cy="106813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just"/>
            <a:r>
              <a:rPr lang="pt-BR" dirty="0"/>
              <a:t>A </a:t>
            </a:r>
            <a:r>
              <a:rPr lang="pt-BR" b="1" dirty="0"/>
              <a:t>distância euclidiana</a:t>
            </a:r>
            <a:r>
              <a:rPr lang="pt-BR" dirty="0"/>
              <a:t> representa o </a:t>
            </a:r>
            <a:r>
              <a:rPr lang="pt-BR" b="1" dirty="0"/>
              <a:t>comprimento do segmento de reta</a:t>
            </a:r>
            <a:r>
              <a:rPr lang="pt-BR" dirty="0"/>
              <a:t> que conecta diretamente dois pontos em um espaço cartesiano — ou seja, é a menor distância possível ("em linha reta") entre eles.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FFD5874-4432-6FA6-0F3A-9F0AC36EFAAA}"/>
              </a:ext>
            </a:extLst>
          </p:cNvPr>
          <p:cNvSpPr txBox="1"/>
          <p:nvPr/>
        </p:nvSpPr>
        <p:spPr>
          <a:xfrm>
            <a:off x="865624" y="1280160"/>
            <a:ext cx="9095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DISTÂNCIA EUCLIDIANA ENTRE 2 PONTOS: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31B7B00-C373-8DF3-97E4-7B4778877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45" y="3376810"/>
            <a:ext cx="5426278" cy="296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55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4D3F3-0D4E-FEED-0068-4986A30BA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FBE5F0-6925-AA61-01D8-4C812D41A07F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2135F0-EB9E-4863-EA03-40BFA853AD4D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AB8BBD-190C-5F29-965A-FBDDD03F1470}"/>
              </a:ext>
            </a:extLst>
          </p:cNvPr>
          <p:cNvSpPr/>
          <p:nvPr/>
        </p:nvSpPr>
        <p:spPr>
          <a:xfrm>
            <a:off x="1024128" y="502920"/>
            <a:ext cx="2994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71D56C1-F483-0721-30D6-E08E7D51F277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0EF952-C596-D8CB-ADC9-B171D8ED90F0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62D2F9-8207-7CBB-F3E8-991EA05C8494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6">
                <a:extLst>
                  <a:ext uri="{FF2B5EF4-FFF2-40B4-BE49-F238E27FC236}">
                    <a16:creationId xmlns:a16="http://schemas.microsoft.com/office/drawing/2014/main" id="{F58B38E5-0599-9372-6673-7920909C4E4A}"/>
                  </a:ext>
                </a:extLst>
              </p:cNvPr>
              <p:cNvSpPr/>
              <p:nvPr/>
            </p:nvSpPr>
            <p:spPr>
              <a:xfrm>
                <a:off x="584544" y="1926491"/>
                <a:ext cx="10863743" cy="1259229"/>
              </a:xfrm>
              <a:prstGeom prst="rect">
                <a:avLst/>
              </a:prstGeom>
              <a:solidFill>
                <a:schemeClr val="bg1"/>
              </a:solidFill>
              <a:ln/>
            </p:spPr>
            <p:txBody>
              <a:bodyPr wrap="square" lIns="508" tIns="508" rIns="508" bIns="508" rtlCol="0" anchor="ctr">
                <a:normAutofit fontScale="85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pt-BR" dirty="0"/>
                  <a:t>Com base na imagem apresentada:</a:t>
                </a:r>
              </a:p>
              <a:p>
                <a:pPr lvl="0">
                  <a:lnSpc>
                    <a:spcPct val="160000"/>
                  </a:lnSpc>
                </a:pPr>
                <a:r>
                  <a:rPr lang="pt-BR" b="1" dirty="0"/>
                  <a:t>Pontos no Espaço:</a:t>
                </a:r>
                <a:r>
                  <a:rPr lang="pt-BR" dirty="0"/>
                  <a:t> Temos o ponto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b="1" i="1">
                            <a:solidFill>
                              <a:srgbClr val="005E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1" i="1">
                                <a:solidFill>
                                  <a:srgbClr val="005E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solidFill>
                                  <a:srgbClr val="005E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1" i="1">
                                <a:solidFill>
                                  <a:srgbClr val="005E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pt-BR" b="1">
                            <a:solidFill>
                              <a:srgbClr val="005E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b="1" i="1">
                                <a:solidFill>
                                  <a:srgbClr val="005E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solidFill>
                                  <a:srgbClr val="005E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b="1" i="1">
                                <a:solidFill>
                                  <a:srgbClr val="005E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e o ponto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b="1" i="1">
                            <a:solidFill>
                              <a:srgbClr val="004E9A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1" i="1">
                                <a:solidFill>
                                  <a:srgbClr val="004E9A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solidFill>
                                  <a:srgbClr val="004E9A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1" i="1">
                                <a:solidFill>
                                  <a:srgbClr val="004E9A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pt-BR" b="1">
                            <a:solidFill>
                              <a:srgbClr val="004E9A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b="1" i="1">
                                <a:solidFill>
                                  <a:srgbClr val="004E9A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solidFill>
                                  <a:srgbClr val="004E9A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b="1" i="1">
                                <a:solidFill>
                                  <a:srgbClr val="004E9A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, onde cada eixo representa uma variável do perfil de compras (</a:t>
                </a:r>
                <a:r>
                  <a:rPr lang="pt-BR" i="1" dirty="0"/>
                  <a:t>Variedade de Itens</a:t>
                </a:r>
                <a:r>
                  <a:rPr lang="pt-BR" dirty="0"/>
                  <a:t> no eixo das abscissas e </a:t>
                </a:r>
                <a:r>
                  <a:rPr lang="pt-BR" i="1" dirty="0"/>
                  <a:t>Volume de Compras</a:t>
                </a:r>
                <a:r>
                  <a:rPr lang="pt-BR" dirty="0"/>
                  <a:t> no eixo das ordenadas).</a:t>
                </a:r>
              </a:p>
              <a:p>
                <a:pPr lvl="0">
                  <a:lnSpc>
                    <a:spcPct val="160000"/>
                  </a:lnSpc>
                </a:pPr>
                <a:r>
                  <a:rPr lang="pt-BR" b="1" dirty="0"/>
                  <a:t>Segmento Tracejado:</a:t>
                </a:r>
                <a:r>
                  <a:rPr lang="pt-BR" dirty="0"/>
                  <a:t> A linha pontilhada que liga o ponto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dirty="0"/>
                  <a:t>ao ponto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pt-BR" dirty="0"/>
                  <a:t>representa geometricamente o cálculo dessa distância.</a:t>
                </a:r>
              </a:p>
            </p:txBody>
          </p:sp>
        </mc:Choice>
        <mc:Fallback xmlns="">
          <p:sp>
            <p:nvSpPr>
              <p:cNvPr id="14" name="Text 6">
                <a:extLst>
                  <a:ext uri="{FF2B5EF4-FFF2-40B4-BE49-F238E27FC236}">
                    <a16:creationId xmlns:a16="http://schemas.microsoft.com/office/drawing/2014/main" id="{F58B38E5-0599-9372-6673-7920909C4E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44" y="1926491"/>
                <a:ext cx="10863743" cy="1259229"/>
              </a:xfrm>
              <a:prstGeom prst="rect">
                <a:avLst/>
              </a:prstGeom>
              <a:blipFill>
                <a:blip r:embed="rId3"/>
                <a:stretch>
                  <a:fillRect l="-1066" r="-168" b="-9179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C3F8EB8F-868C-C0FE-C43A-CA536BF54BBC}"/>
              </a:ext>
            </a:extLst>
          </p:cNvPr>
          <p:cNvSpPr txBox="1"/>
          <p:nvPr/>
        </p:nvSpPr>
        <p:spPr>
          <a:xfrm>
            <a:off x="865624" y="1280160"/>
            <a:ext cx="9095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DISTÂNCIA EUCLIDIANA ENTRE 2 PONTOS: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1E8E4A2-6715-72BB-8221-DE550A407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13" y="3376810"/>
            <a:ext cx="5426278" cy="2962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AFC084D-7BE7-A7E2-E7A1-9A08BECD7F20}"/>
                  </a:ext>
                </a:extLst>
              </p:cNvPr>
              <p:cNvSpPr txBox="1"/>
              <p:nvPr/>
            </p:nvSpPr>
            <p:spPr>
              <a:xfrm>
                <a:off x="6096000" y="3506598"/>
                <a:ext cx="5735496" cy="1047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pt-BR" sz="2800" b="1" i="1" smtClean="0">
                              <a:solidFill>
                                <a:srgbClr val="005E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solidFill>
                                <a:srgbClr val="005E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pt-BR" sz="2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1" i="1" smtClean="0">
                              <a:solidFill>
                                <a:srgbClr val="004E9A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pt-BR" sz="28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sz="2800" b="1" i="1">
                                  <a:solidFill>
                                    <a:srgbClr val="005E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b="1" i="1">
                                      <a:solidFill>
                                        <a:srgbClr val="005E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pt-BR" sz="28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pt-BR" sz="2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8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pt-BR" sz="28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800" b="1" i="1">
                                  <a:solidFill>
                                    <a:srgbClr val="005E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b="1" i="1">
                                      <a:solidFill>
                                        <a:srgbClr val="005E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pt-BR" sz="28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pt-BR" sz="2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8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pt-BR" sz="28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AFC084D-7BE7-A7E2-E7A1-9A08BECD7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506598"/>
                <a:ext cx="5735496" cy="1047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C1154878-94F9-E5A1-E6B8-F1ADC2C8237F}"/>
                  </a:ext>
                </a:extLst>
              </p:cNvPr>
              <p:cNvSpPr txBox="1"/>
              <p:nvPr/>
            </p:nvSpPr>
            <p:spPr>
              <a:xfrm>
                <a:off x="6535024" y="4553936"/>
                <a:ext cx="424404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O “</a:t>
                </a:r>
                <a:r>
                  <a:rPr lang="pt-B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K</a:t>
                </a:r>
                <a:r>
                  <a:rPr lang="pt-BR" dirty="0"/>
                  <a:t>” :</a:t>
                </a:r>
              </a:p>
              <a:p>
                <a:r>
                  <a:rPr lang="pt-BR" dirty="0"/>
                  <a:t>Ele seleciona os </a:t>
                </a:r>
                <a:endParaRPr lang="pt-BR" i="1" dirty="0"/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pt-BR" b="1" dirty="0"/>
                  <a:t> vizinhos com as menores distâncias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C1154878-94F9-E5A1-E6B8-F1ADC2C82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024" y="4553936"/>
                <a:ext cx="4244047" cy="923330"/>
              </a:xfrm>
              <a:prstGeom prst="rect">
                <a:avLst/>
              </a:prstGeom>
              <a:blipFill>
                <a:blip r:embed="rId6"/>
                <a:stretch>
                  <a:fillRect l="-1149" t="-3289" r="-718" b="-98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18AC0FC6-D4E7-3359-9615-D12E90124B2A}"/>
              </a:ext>
            </a:extLst>
          </p:cNvPr>
          <p:cNvSpPr txBox="1"/>
          <p:nvPr/>
        </p:nvSpPr>
        <p:spPr>
          <a:xfrm>
            <a:off x="6535023" y="5496458"/>
            <a:ext cx="3708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NESTE CASO, TEMOS </a:t>
            </a:r>
            <a:r>
              <a:rPr lang="pt-BR" b="1" dirty="0"/>
              <a:t>K=1 </a:t>
            </a:r>
          </a:p>
          <a:p>
            <a:r>
              <a:rPr lang="pt-BR" b="1" dirty="0"/>
              <a:t>PORQUE </a:t>
            </a:r>
          </a:p>
          <a:p>
            <a:r>
              <a:rPr lang="pt-BR" b="1" dirty="0"/>
              <a:t>“Y” </a:t>
            </a:r>
            <a:r>
              <a:rPr lang="pt-BR" dirty="0"/>
              <a:t>tem apenas 1 vizinho, que é “</a:t>
            </a:r>
            <a:r>
              <a:rPr lang="pt-BR" b="1" dirty="0"/>
              <a:t>X”</a:t>
            </a:r>
          </a:p>
        </p:txBody>
      </p:sp>
    </p:spTree>
    <p:extLst>
      <p:ext uri="{BB962C8B-B14F-4D97-AF65-F5344CB8AC3E}">
        <p14:creationId xmlns:p14="http://schemas.microsoft.com/office/powerpoint/2010/main" val="818069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17388-84D6-80E1-F1C3-A8614D72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E9913F-0118-344C-986E-27F7ACFDD1F4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6A62B4-CFB9-EA08-201A-907E74AEF03F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7BFB3C-331D-C46C-197E-2F0FCD7557E5}"/>
              </a:ext>
            </a:extLst>
          </p:cNvPr>
          <p:cNvSpPr/>
          <p:nvPr/>
        </p:nvSpPr>
        <p:spPr>
          <a:xfrm>
            <a:off x="1024128" y="502920"/>
            <a:ext cx="2994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2474B9-3EB2-77BE-0BF4-147A8866B243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743047-2B1B-BD31-5682-2DDFB42B5A8D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6C8D68-A6DB-77A3-432B-73ADAEEAF5F8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32D9C28-7485-A31C-4F5C-5D82C02D8EA4}"/>
              </a:ext>
            </a:extLst>
          </p:cNvPr>
          <p:cNvSpPr txBox="1"/>
          <p:nvPr/>
        </p:nvSpPr>
        <p:spPr>
          <a:xfrm>
            <a:off x="395841" y="944029"/>
            <a:ext cx="686803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DISTÂNCIA EUCLIDIANA ENTRE: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/>
              <a:t>Ponto central (novo cliente);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/>
              <a:t>Ponto mais próximo de cada grupo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95B56BC9-5A91-BD91-6F6A-F88C0E4CB675}"/>
                  </a:ext>
                </a:extLst>
              </p:cNvPr>
              <p:cNvSpPr txBox="1"/>
              <p:nvPr/>
            </p:nvSpPr>
            <p:spPr>
              <a:xfrm>
                <a:off x="7801760" y="3506598"/>
                <a:ext cx="4169330" cy="895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00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pt-BR" sz="2000" b="1" i="1" smtClean="0">
                              <a:solidFill>
                                <a:srgbClr val="005E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solidFill>
                                <a:srgbClr val="005E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pt-BR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1" i="1" smtClean="0">
                              <a:solidFill>
                                <a:srgbClr val="004E9A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pt-BR" sz="20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sz="2000" b="1" i="1">
                                  <a:solidFill>
                                    <a:srgbClr val="005E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000" b="1" i="1">
                                      <a:solidFill>
                                        <a:srgbClr val="005E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pt-BR" sz="2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b="1" i="1">
                                  <a:solidFill>
                                    <a:srgbClr val="005E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000" b="1" i="1">
                                      <a:solidFill>
                                        <a:srgbClr val="005E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pt-BR" sz="2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pt-BR" sz="20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95B56BC9-5A91-BD91-6F6A-F88C0E4CB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760" y="3506598"/>
                <a:ext cx="4169330" cy="8959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m 14">
            <a:extLst>
              <a:ext uri="{FF2B5EF4-FFF2-40B4-BE49-F238E27FC236}">
                <a16:creationId xmlns:a16="http://schemas.microsoft.com/office/drawing/2014/main" id="{2277DE57-DE68-2D02-DB8A-973E268AC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407" y="1117154"/>
            <a:ext cx="3793105" cy="207065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6FD4242-855A-5770-C88A-811E61B99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81" y="2340364"/>
            <a:ext cx="7555328" cy="41244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7050E18-761A-24C3-F9BA-A19EFBD3A0CD}"/>
                  </a:ext>
                </a:extLst>
              </p:cNvPr>
              <p:cNvSpPr txBox="1"/>
              <p:nvPr/>
            </p:nvSpPr>
            <p:spPr>
              <a:xfrm>
                <a:off x="7818509" y="4352367"/>
                <a:ext cx="430528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Na imagem, vemos 5 linhas tracejadas </a:t>
                </a:r>
              </a:p>
              <a:p>
                <a:r>
                  <a:rPr lang="pt-BR" dirty="0"/>
                  <a:t>conectando o ponto central </a:t>
                </a:r>
              </a:p>
              <a:p>
                <a:r>
                  <a:rPr lang="pt-BR" dirty="0"/>
                  <a:t>(o </a:t>
                </a:r>
                <a:r>
                  <a:rPr lang="pt-BR" b="1" dirty="0"/>
                  <a:t>NOVO CLIENTE</a:t>
                </a:r>
                <a:r>
                  <a:rPr lang="pt-BR" dirty="0"/>
                  <a:t>) às </a:t>
                </a:r>
              </a:p>
              <a:p>
                <a:r>
                  <a:rPr lang="pt-BR" dirty="0"/>
                  <a:t>5 distâncias calculadas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pt-BR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pt-BR" dirty="0"/>
                  <a:t>).</a:t>
                </a: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7050E18-761A-24C3-F9BA-A19EFBD3A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509" y="4352367"/>
                <a:ext cx="4305281" cy="1200329"/>
              </a:xfrm>
              <a:prstGeom prst="rect">
                <a:avLst/>
              </a:prstGeom>
              <a:blipFill>
                <a:blip r:embed="rId6"/>
                <a:stretch>
                  <a:fillRect l="-1275" t="-2538" r="-283" b="-76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ixaDeTexto 18">
            <a:extLst>
              <a:ext uri="{FF2B5EF4-FFF2-40B4-BE49-F238E27FC236}">
                <a16:creationId xmlns:a16="http://schemas.microsoft.com/office/drawing/2014/main" id="{EE76E3E9-5E39-25D9-021A-B649FF261A18}"/>
              </a:ext>
            </a:extLst>
          </p:cNvPr>
          <p:cNvSpPr txBox="1"/>
          <p:nvPr/>
        </p:nvSpPr>
        <p:spPr>
          <a:xfrm>
            <a:off x="7818509" y="5666852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 = 5</a:t>
            </a:r>
          </a:p>
        </p:txBody>
      </p:sp>
    </p:spTree>
    <p:extLst>
      <p:ext uri="{BB962C8B-B14F-4D97-AF65-F5344CB8AC3E}">
        <p14:creationId xmlns:p14="http://schemas.microsoft.com/office/powerpoint/2010/main" val="3309161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060B5-19BB-9E1C-17AA-7675C7A5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F058AF-6316-7A59-5D81-346DCDBC44D5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53AC14-9982-62B6-581F-3E653F7C1347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C6ECD0-74E0-A744-B96C-D899987D329E}"/>
              </a:ext>
            </a:extLst>
          </p:cNvPr>
          <p:cNvSpPr/>
          <p:nvPr/>
        </p:nvSpPr>
        <p:spPr>
          <a:xfrm>
            <a:off x="1024128" y="502920"/>
            <a:ext cx="2994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C63E479-2C33-CD90-0003-8D76A65B1AF8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71308B-73E1-ED0D-09A9-238D98910691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2113A5-3B0C-C118-D7F4-1F3024AFA9FC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6441EC-0ADB-74EE-5756-BE7903B7D4D5}"/>
              </a:ext>
            </a:extLst>
          </p:cNvPr>
          <p:cNvSpPr txBox="1"/>
          <p:nvPr/>
        </p:nvSpPr>
        <p:spPr>
          <a:xfrm>
            <a:off x="395841" y="944029"/>
            <a:ext cx="295548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MENOR DISTÂNCIA:</a:t>
            </a:r>
          </a:p>
          <a:p>
            <a:r>
              <a:rPr lang="pt-BR" sz="2400" b="1" dirty="0">
                <a:solidFill>
                  <a:srgbClr val="E24F46"/>
                </a:solidFill>
              </a:rPr>
              <a:t>D</a:t>
            </a:r>
            <a:r>
              <a:rPr lang="pt-BR" sz="1600" b="1" dirty="0">
                <a:solidFill>
                  <a:srgbClr val="E24F46"/>
                </a:solidFill>
              </a:rPr>
              <a:t>5 = </a:t>
            </a:r>
            <a:r>
              <a:rPr lang="pt-BR" sz="2800" b="1" dirty="0">
                <a:solidFill>
                  <a:srgbClr val="E24F46"/>
                </a:solidFill>
              </a:rPr>
              <a:t>4,2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323AC589-3627-4E74-3D9E-08257B6A345E}"/>
                  </a:ext>
                </a:extLst>
              </p:cNvPr>
              <p:cNvSpPr txBox="1"/>
              <p:nvPr/>
            </p:nvSpPr>
            <p:spPr>
              <a:xfrm>
                <a:off x="7801760" y="3506598"/>
                <a:ext cx="4169330" cy="895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00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pt-BR" sz="2000" b="1" i="1" smtClean="0">
                              <a:solidFill>
                                <a:srgbClr val="005E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solidFill>
                                <a:srgbClr val="005E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pt-BR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1" i="1" smtClean="0">
                              <a:solidFill>
                                <a:srgbClr val="004E9A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pt-BR" sz="20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sz="2000" b="1" i="1">
                                  <a:solidFill>
                                    <a:srgbClr val="005E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000" b="1" i="1">
                                      <a:solidFill>
                                        <a:srgbClr val="005E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pt-BR" sz="2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b="1" i="1">
                                  <a:solidFill>
                                    <a:srgbClr val="005E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000" b="1" i="1">
                                      <a:solidFill>
                                        <a:srgbClr val="005E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pt-BR" sz="2000" b="1" i="1">
                                          <a:solidFill>
                                            <a:srgbClr val="005E00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pt-BR" sz="2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pt-BR" sz="2000" b="1" i="1">
                                          <a:solidFill>
                                            <a:srgbClr val="004E9A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pt-BR" sz="20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323AC589-3627-4E74-3D9E-08257B6A3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760" y="3506598"/>
                <a:ext cx="4169330" cy="8959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m 14">
            <a:extLst>
              <a:ext uri="{FF2B5EF4-FFF2-40B4-BE49-F238E27FC236}">
                <a16:creationId xmlns:a16="http://schemas.microsoft.com/office/drawing/2014/main" id="{1FB6492D-9F78-7210-0088-E8E42627B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407" y="1117154"/>
            <a:ext cx="3793105" cy="207065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EE9A7B7-136C-38D9-CACF-14423FCFF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81" y="2340364"/>
            <a:ext cx="7555328" cy="412444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B17D96B-75EB-A8B9-16AD-0AFDFBF7D09F}"/>
              </a:ext>
            </a:extLst>
          </p:cNvPr>
          <p:cNvSpPr txBox="1"/>
          <p:nvPr/>
        </p:nvSpPr>
        <p:spPr>
          <a:xfrm>
            <a:off x="3829634" y="1403987"/>
            <a:ext cx="34898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Portanto novo cliente é:</a:t>
            </a:r>
          </a:p>
          <a:p>
            <a:r>
              <a:rPr lang="pt-BR" sz="2400" b="1" dirty="0">
                <a:solidFill>
                  <a:srgbClr val="E24F46"/>
                </a:solidFill>
              </a:rPr>
              <a:t>Caçador de Ofertas</a:t>
            </a:r>
            <a:endParaRPr lang="pt-BR" sz="2800" b="1" dirty="0">
              <a:solidFill>
                <a:srgbClr val="E24F46"/>
              </a:solidFill>
            </a:endParaRP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276BF83E-2754-6770-8BE0-AADC8D049890}"/>
              </a:ext>
            </a:extLst>
          </p:cNvPr>
          <p:cNvSpPr/>
          <p:nvPr/>
        </p:nvSpPr>
        <p:spPr>
          <a:xfrm>
            <a:off x="1627464" y="1518569"/>
            <a:ext cx="2097272" cy="249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400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CBF7B-3056-3A49-1485-D018A1157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564E76-0DB9-139B-CD3E-34D98C11ED17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DE34E4-9E93-EBEF-7B9C-216376A952DC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756624-6B87-EC0C-D94C-AFB9337603C2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74CA72-C359-1717-9080-73716BD55F67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93626B-D56B-5A22-D9ED-4B899318CB74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E4569AD-E100-9170-B70F-7792AF23D657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9E0AD4D7-89FC-A30A-C0F9-74D5DFB86529}"/>
                  </a:ext>
                </a:extLst>
              </p:cNvPr>
              <p:cNvSpPr/>
              <p:nvPr/>
            </p:nvSpPr>
            <p:spPr>
              <a:xfrm>
                <a:off x="475488" y="1012330"/>
                <a:ext cx="9875520" cy="2762716"/>
              </a:xfrm>
              <a:prstGeom prst="rect">
                <a:avLst/>
              </a:prstGeom>
              <a:solidFill>
                <a:schemeClr val="bg1"/>
              </a:solidFill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/>
                  <a:t>Os algoritmos anteriores ( </a:t>
                </a:r>
                <a:r>
                  <a:rPr lang="pt-BR" b="1" dirty="0"/>
                  <a:t>Regressão Linear</a:t>
                </a:r>
                <a:r>
                  <a:rPr lang="pt-BR" dirty="0"/>
                  <a:t>, </a:t>
                </a:r>
                <a:r>
                  <a:rPr lang="pt-BR" b="1" dirty="0"/>
                  <a:t>Regressão Logística</a:t>
                </a:r>
                <a:r>
                  <a:rPr lang="pt-BR" dirty="0"/>
                  <a:t>) eram </a:t>
                </a:r>
                <a:r>
                  <a:rPr lang="pt-BR" b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PARAMÉTRICOS</a:t>
                </a:r>
                <a:r>
                  <a:rPr lang="pt-BR" dirty="0"/>
                  <a:t>: </a:t>
                </a:r>
              </a:p>
              <a:p>
                <a:pPr algn="just"/>
                <a:r>
                  <a:rPr lang="pt-BR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- w (peso) ;</a:t>
                </a:r>
              </a:p>
              <a:p>
                <a:pPr algn="just"/>
                <a:r>
                  <a:rPr lang="pt-BR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- b (vício ou </a:t>
                </a:r>
                <a:r>
                  <a:rPr lang="pt-BR" b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viez</a:t>
                </a:r>
                <a:r>
                  <a:rPr lang="pt-BR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 ;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/>
                  <a:t>O algoritmo KNN é </a:t>
                </a:r>
                <a:r>
                  <a:rPr lang="pt-BR" b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NÃO-PARAMÉTRICO</a:t>
                </a:r>
                <a:r>
                  <a:rPr lang="pt-BR" dirty="0"/>
                  <a:t> (</a:t>
                </a:r>
                <a:r>
                  <a:rPr lang="pt-BR" b="1" u="sng" dirty="0"/>
                  <a:t>não existe </a:t>
                </a:r>
                <a:r>
                  <a:rPr lang="pt-BR" b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</a:t>
                </a:r>
                <a:r>
                  <a:rPr lang="pt-BR" b="1" u="sng" dirty="0"/>
                  <a:t> e </a:t>
                </a:r>
                <a:r>
                  <a:rPr lang="pt-BR" b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 </a:t>
                </a:r>
                <a:r>
                  <a:rPr lang="pt-BR" b="1" u="sng" dirty="0"/>
                  <a:t>no Teorema de Pitágoras</a:t>
                </a:r>
                <a:r>
                  <a:rPr lang="pt-BR" dirty="0"/>
                  <a:t> ):</a:t>
                </a:r>
              </a:p>
              <a:p>
                <a:pPr algn="just"/>
                <a:r>
                  <a:rPr lang="pt-B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-</a:t>
                </a:r>
                <a:r>
                  <a:rPr lang="pt-BR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pt-BR" b="1" i="1">
                            <a:solidFill>
                              <a:srgbClr val="005E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rgbClr val="005E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1" i="1">
                            <a:solidFill>
                              <a:srgbClr val="004E9A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pt-BR" b="1" i="1">
                                <a:solidFill>
                                  <a:srgbClr val="005E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b="1" i="1">
                                    <a:solidFill>
                                      <a:srgbClr val="005E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b="1" i="1">
                                        <a:solidFill>
                                          <a:srgbClr val="005E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>
                                        <a:solidFill>
                                          <a:srgbClr val="005E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b="1" i="1">
                                        <a:solidFill>
                                          <a:srgbClr val="005E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pt-BR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1" i="1">
                                        <a:solidFill>
                                          <a:srgbClr val="004E9A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>
                                        <a:solidFill>
                                          <a:srgbClr val="004E9A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b="1" i="1">
                                        <a:solidFill>
                                          <a:srgbClr val="004E9A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pt-BR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pt-BR" b="1" i="1">
                                <a:solidFill>
                                  <a:srgbClr val="005E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b="1" i="1">
                                    <a:solidFill>
                                      <a:srgbClr val="005E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b="1" i="1">
                                        <a:solidFill>
                                          <a:srgbClr val="005E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>
                                        <a:solidFill>
                                          <a:srgbClr val="005E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pt-BR" b="1" i="1">
                                        <a:solidFill>
                                          <a:srgbClr val="005E00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pt-BR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1" i="1">
                                        <a:solidFill>
                                          <a:srgbClr val="004E9A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>
                                        <a:solidFill>
                                          <a:srgbClr val="004E9A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pt-BR" b="1" i="1">
                                        <a:solidFill>
                                          <a:srgbClr val="004E9A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>
                                              <a:alpha val="43137"/>
                                            </a:srgb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pt-BR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pt-BR" dirty="0"/>
              </a:p>
              <a:p>
                <a:pPr algn="just"/>
                <a:endParaRPr lang="pt-BR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9E0AD4D7-89FC-A30A-C0F9-74D5DFB86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1012330"/>
                <a:ext cx="9875520" cy="2762716"/>
              </a:xfrm>
              <a:prstGeom prst="rect">
                <a:avLst/>
              </a:prstGeom>
              <a:blipFill>
                <a:blip r:embed="rId3"/>
                <a:stretch>
                  <a:fillRect l="-1481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160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DE41E-E8F4-DA3F-551F-A4BA6027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0D3EF3-510B-B5CD-7559-4CA03FEFED1D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11BEEB-1BD2-A39D-43F4-98140FF3D8C5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1C4B19-FF35-132E-73AD-14A4C312233D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F8D320-643C-4379-EDB3-ED8EA6ADA4DE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E8FEB8-A96D-E23C-2FDC-672C510880F9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283E82-9F47-F352-1CCC-D7E19383B55A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3225676-43D4-9F77-0FA4-82EF94D5B6AD}"/>
              </a:ext>
            </a:extLst>
          </p:cNvPr>
          <p:cNvSpPr txBox="1"/>
          <p:nvPr/>
        </p:nvSpPr>
        <p:spPr>
          <a:xfrm>
            <a:off x="395841" y="1048435"/>
            <a:ext cx="5138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KNN EXEMPLO PYTHON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07B1DAE-F364-2EB1-BF25-BC57F70C9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483" y="1014960"/>
            <a:ext cx="3793105" cy="207065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9C39BD6E-4A1E-5E46-BFE0-A5B0901929FA}"/>
              </a:ext>
            </a:extLst>
          </p:cNvPr>
          <p:cNvSpPr txBox="1"/>
          <p:nvPr/>
        </p:nvSpPr>
        <p:spPr>
          <a:xfrm>
            <a:off x="771787" y="2978092"/>
            <a:ext cx="463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Criar os dados de exemplo  em PYTHON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0594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D3B1A-37BC-A300-13EB-195BAD68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AC7338-F0A1-1912-221C-9F776F317307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E818E4-DF92-3979-407C-4A40E4586E6D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2DAAF4-53EA-16D1-C2C6-33440068F298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178F3B6-F89C-7CFB-03CD-896E3BF637A8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5919E8-44AC-DE19-3A54-97797B9DDDB6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11EE04-1236-08C7-C618-628641072189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D8F9605-9145-7B6B-8FCF-9844D6072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483" y="1014960"/>
            <a:ext cx="3793105" cy="207065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C17C6F0-22E2-0BFC-0384-77DC9CD2FA6D}"/>
              </a:ext>
            </a:extLst>
          </p:cNvPr>
          <p:cNvSpPr txBox="1"/>
          <p:nvPr/>
        </p:nvSpPr>
        <p:spPr>
          <a:xfrm>
            <a:off x="3047301" y="-22388375"/>
            <a:ext cx="6094602" cy="13126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import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pandas as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pd</a:t>
            </a: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import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numpy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as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</a:t>
            </a: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# Configurar semente para reprodutibilidade dos resultados na aula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np.random.seed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(42)</a:t>
            </a:r>
          </a:p>
          <a:p>
            <a:pPr marL="0" marR="0" indent="0" algn="l">
              <a:lnSpc>
                <a:spcPct val="100000"/>
              </a:lnSpc>
              <a:buNone/>
            </a:pP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def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gerar_clientes_por_perfil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(perfil,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):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"""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Gera dados sintéticos baseados nas características de cada perfil de cliente.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Atributos: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-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qtd_frescos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: % de itens hortifrúti/frescos na cesta (0 a 100)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-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qtd_industrializados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: % de itens ultraprocessados/congelados (0 a 100)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-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preco_medio_item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: Valor médio gasto por item em R$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-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volume_total_itens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: Quantidade total de itens no carrinho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- %_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itens_promocao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: Porcentagem de itens comprados com desconto (0 a 100)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"""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if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perfil == "Cliente Saudável":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frescos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=70,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industrializados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preco_medio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=18,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=3,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volume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=25,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promocao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elif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perfil == "Família Grande":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frescos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=30,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industrializados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=45,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preco_medio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=12,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=2,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volume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=12,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promocao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=40,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elif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perfil == "Casal Jovem Gourmet":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frescos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=45,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=7,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industrializados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preco_medio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=35,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volume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=20,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=4,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promocao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=4,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elif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perfil == "Solteiro Prático":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frescos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=4,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industrializados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=70,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preco_medio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=3,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volume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=12,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=3,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promocao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=20,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elif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perfil == "Caçador de Ofertas":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frescos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=25,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=6,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industrializados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=35,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preco_medio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=2,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volume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=35,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promocao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np.random.normal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loc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=80,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scale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=8,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size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df_perfil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pd.DataFrame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({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'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pct_frescos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':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np.clip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(frescos, 0, 100),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'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pct_industrializados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':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np.clip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(industrializados, 0, 100),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'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preco_medio_item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':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np.clip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preco_medio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, 1,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None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),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'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volume_total_itens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':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np.clip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(volume, 1,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None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).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astype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int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),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'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pct_promocao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':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np.clip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promocao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, 0, 100),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    '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perfil_cliente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': perfil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})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return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df_perfil</a:t>
            </a: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# Gerar 20 amostras para cada um dos 5 perfis (Total: 100 clientes)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perfis = ["Cliente Saudável", "Família Grande", "Casal Jovem Gourmet", "Solteiro Prático", "Caçador de Ofertas"]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dfs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[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gerar_clientes_por_perfil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(p,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n_amostras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=20) for p in perfis]</a:t>
            </a:r>
          </a:p>
          <a:p>
            <a:pPr marL="0" marR="0" indent="0" algn="l">
              <a:lnSpc>
                <a:spcPct val="100000"/>
              </a:lnSpc>
              <a:buNone/>
            </a:pP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# Combinar em um único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DataFrame</a:t>
            </a: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df_clientes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pd.concat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dfs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ignore_index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True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lnSpc>
                <a:spcPct val="100000"/>
              </a:lnSpc>
              <a:buNone/>
            </a:pP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# Arredondar valores numéricos para melhor apresentação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df_clientes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df_clientes.round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(2)</a:t>
            </a:r>
          </a:p>
          <a:p>
            <a:pPr marL="0" marR="0" indent="0" algn="l">
              <a:lnSpc>
                <a:spcPct val="100000"/>
              </a:lnSpc>
              <a:buNone/>
            </a:pPr>
            <a:endParaRPr lang="pt-BR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# Exibir os 5 primeiros registros e salvar em CSV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print(</a:t>
            </a: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df_clientes.head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())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pt-BR" sz="1100" b="0" i="0" dirty="0" err="1">
                <a:solidFill>
                  <a:schemeClr val="tx1"/>
                </a:solidFill>
                <a:effectLst/>
                <a:latin typeface="+mn-lt"/>
              </a:rPr>
              <a:t>df_clientes.to_csv</a:t>
            </a:r>
            <a:r>
              <a:rPr lang="pt-BR" sz="1100" b="0" i="0" dirty="0">
                <a:solidFill>
                  <a:schemeClr val="tx1"/>
                </a:solidFill>
                <a:effectLst/>
                <a:latin typeface="+mn-lt"/>
              </a:rPr>
              <a:t>("clientes_supermercado_knn.csv", index=False)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4DCDE43-C379-0231-6B72-C59ADB9B3AD5}"/>
              </a:ext>
            </a:extLst>
          </p:cNvPr>
          <p:cNvSpPr txBox="1"/>
          <p:nvPr/>
        </p:nvSpPr>
        <p:spPr>
          <a:xfrm>
            <a:off x="515112" y="1042416"/>
            <a:ext cx="7014721" cy="157889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pandas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pd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numpy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Configurar semente para reprodutibilidade dos resultados na aula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np.random.seed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gerar_clientes_por_perfil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(perfil,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"""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Gera dados sintéticos baseados nas características de cada perfil de cliente.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Atributos: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- 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qtd_frescos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% de itens hortifrúti/frescos na cesta (0 a 100)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- 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qtd_industrializados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% de itens ultraprocessados/congelados (0 a 100)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- 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preco_medio_item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Valor médio gasto por item em R$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- 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volume_total_itens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Quantidade total de itens no carrinho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- %_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itens_promocao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Porcentagem de itens comprados com desconto (0 a 100)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"""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perfil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"Cliente Saudável"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frescos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70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industrializados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preco_medio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volume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promocao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elif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perfil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"Família Grande"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frescos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industrializados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preco_medio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volume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promocao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elif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perfil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"Casal Jovem Gourmet"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frescos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7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industrializados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preco_medio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volume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promocao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elif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perfil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"Solteiro Prático"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frescos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industrializados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70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preco_medio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volume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promocao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elif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perfil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"Caçador de Ofertas"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frescos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industrializados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preco_medio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volume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promocao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np.random.normal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loc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scale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size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df_perfil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pd.DataFrame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({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    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pct_frescos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np.clip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(frescos,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    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pct_industrializados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np.clip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(industrializados,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    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preco_medio_item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np.clip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preco_medio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None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    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volume_total_itens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np.clip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(volume,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None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).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astype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    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pct_promocao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np.clip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promocao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    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perfil_cliente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perfil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})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df_perfil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Gerar 20 amostras para cada um dos 5 perfis (Total: 100 clientes)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perfis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"Cliente Saudável"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"Família Grande"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"Casal Jovem Gourmet"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"Solteiro Prático"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"Caçador de Ofertas"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gerar_clientes_por_perfil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(p,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n_amostras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for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in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perfis]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Combinar em um único </a:t>
            </a:r>
            <a:r>
              <a:rPr lang="pt-BR" sz="1200" b="0" i="0" dirty="0" err="1">
                <a:solidFill>
                  <a:srgbClr val="D81B60"/>
                </a:solidFill>
                <a:effectLst/>
                <a:latin typeface="Roboto Mono" pitchFamily="2" charset="0"/>
              </a:rPr>
              <a:t>DataFrame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df_clientes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pd.concat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ignore_index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True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Arredondar valores numéricos para melhor apresentação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df_clientes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df_clientes.round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Exibir os 5 primeiros registros e salvar em CSV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df_clientes.head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df_clientes.to_csv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"clientes_supermercado_knn.csv"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index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False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5717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5B7B5-4EFF-B4B0-6F24-1F9FA8F8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D3D9F0E-9A22-361E-BE08-B7CFFB9814A0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B14295-051D-3F82-C406-3344BCCC8017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F50487-D10D-C846-5463-3F6629E0D6E9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317EAD-F1F3-FAD8-0C84-1037575FD289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363D1B-E10A-EF2B-E298-D3A762D3F1FD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B1936F-528E-2542-FC3E-4A192D1AAB0A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C882EBD-6C20-2695-55DB-6C1E0E6099A8}"/>
              </a:ext>
            </a:extLst>
          </p:cNvPr>
          <p:cNvSpPr txBox="1"/>
          <p:nvPr/>
        </p:nvSpPr>
        <p:spPr>
          <a:xfrm>
            <a:off x="395841" y="1048435"/>
            <a:ext cx="5138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KNN EXEMPLO PYTHON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CAD8EBA-AACA-7BA0-3CA6-AB9928DDF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483" y="1014960"/>
            <a:ext cx="3793105" cy="207065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C275905-3F32-E663-560B-E188D3475AC8}"/>
              </a:ext>
            </a:extLst>
          </p:cNvPr>
          <p:cNvSpPr txBox="1"/>
          <p:nvPr/>
        </p:nvSpPr>
        <p:spPr>
          <a:xfrm>
            <a:off x="177727" y="2835638"/>
            <a:ext cx="7229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APLICAR O AGRUPAMENTO USANDO KNN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652921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E19F9-CB6E-1162-F8A6-932F1AE3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F20B4F-117B-476A-6D90-3074AFA20256}"/>
              </a:ext>
            </a:extLst>
          </p:cNvPr>
          <p:cNvSpPr/>
          <p:nvPr/>
        </p:nvSpPr>
        <p:spPr>
          <a:xfrm>
            <a:off x="475488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III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A884F7-8611-CBBB-9DAF-84BAE295B397}"/>
              </a:ext>
            </a:extLst>
          </p:cNvPr>
          <p:cNvSpPr/>
          <p:nvPr/>
        </p:nvSpPr>
        <p:spPr>
          <a:xfrm>
            <a:off x="475488" y="4937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9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201064-7EC0-FFDE-AA3F-99290D950B4E}"/>
              </a:ext>
            </a:extLst>
          </p:cNvPr>
          <p:cNvSpPr/>
          <p:nvPr/>
        </p:nvSpPr>
        <p:spPr>
          <a:xfrm>
            <a:off x="1024128" y="502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 –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Vizinhos</a:t>
            </a: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Mais </a:t>
            </a:r>
            <a:r>
              <a:rPr lang="en-US" sz="17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8E6196E-8635-E267-39FB-336203A436E7}"/>
              </a:ext>
            </a:extLst>
          </p:cNvPr>
          <p:cNvSpPr/>
          <p:nvPr/>
        </p:nvSpPr>
        <p:spPr>
          <a:xfrm>
            <a:off x="475488" y="932688"/>
            <a:ext cx="112471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8B9387-0AFA-A6F3-B82A-88AFDAEF8429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F88342-12E9-38FF-1FCA-70DC87A31E4D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6865AAB-4EF3-2F11-8DCA-E764FE94F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483" y="1014960"/>
            <a:ext cx="3793105" cy="207065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BA7762D-7B16-B9C5-C094-E2EDC8070E8E}"/>
              </a:ext>
            </a:extLst>
          </p:cNvPr>
          <p:cNvSpPr txBox="1"/>
          <p:nvPr/>
        </p:nvSpPr>
        <p:spPr>
          <a:xfrm>
            <a:off x="6207853" y="3214921"/>
            <a:ext cx="5984147" cy="33047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3. Treinar o modelo KNN com k=5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knn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KNeighborsClassifier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n_neighbors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knn.fit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X_scaled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y)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4. Exemplo de um NOVO cliente que acabou de passar no caixa: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Exemplo: 12% frescos, 68% industrializados, </a:t>
            </a: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R$ 14.50 preço médio, 10 itens, 15% promoção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novo_cliente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np.array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14.50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]])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novo_cliente_scaled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scaler.transform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novo_cliente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Predição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predicao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knn.predict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novo_cliente_scaled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\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n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Perfil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previsto para o novo cliente: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predicao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Saída esperada: "Solteiro Prático"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C96806-FBD8-72ED-A708-8E8942FCCE61}"/>
              </a:ext>
            </a:extLst>
          </p:cNvPr>
          <p:cNvSpPr txBox="1"/>
          <p:nvPr/>
        </p:nvSpPr>
        <p:spPr>
          <a:xfrm>
            <a:off x="362824" y="1011936"/>
            <a:ext cx="5733176" cy="28430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from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sklearn.model_selection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train_test_split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from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sklearn.preprocessing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StandardScaler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from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sklearn.neighbors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KNeighborsClassifier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1. Separar Atributos (X) e Rótulo (y)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df_clientes.drop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columns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perfil_cliente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y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df_clientes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perfil_cliente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2. Padronização dos dados </a:t>
            </a: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(fundamental para explicar o impacto da distância no KNN)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scaler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StandardScaler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ct val="125022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X_scaled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scaler.fit_transform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(X)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281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E2876329B5D3B4FBA1D26A8667C2633" ma:contentTypeVersion="14" ma:contentTypeDescription="Crie um novo documento." ma:contentTypeScope="" ma:versionID="c18e529f75eeba5e3380f7426394bcf9">
  <xsd:schema xmlns:xsd="http://www.w3.org/2001/XMLSchema" xmlns:xs="http://www.w3.org/2001/XMLSchema" xmlns:p="http://schemas.microsoft.com/office/2006/metadata/properties" xmlns:ns3="1ea3c9c0-e698-4ea3-9529-a2c71b2c9eef" xmlns:ns4="38d922ee-4e44-47a7-a878-a22d9e8094bc" targetNamespace="http://schemas.microsoft.com/office/2006/metadata/properties" ma:root="true" ma:fieldsID="6a86d318e1343c5a9145aa5d09437703" ns3:_="" ns4:_="">
    <xsd:import namespace="1ea3c9c0-e698-4ea3-9529-a2c71b2c9eef"/>
    <xsd:import namespace="38d922ee-4e44-47a7-a878-a22d9e8094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3c9c0-e698-4ea3-9529-a2c71b2c9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922ee-4e44-47a7-a878-a22d9e8094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a3c9c0-e698-4ea3-9529-a2c71b2c9eef" xsi:nil="true"/>
  </documentManagement>
</p:properties>
</file>

<file path=customXml/itemProps1.xml><?xml version="1.0" encoding="utf-8"?>
<ds:datastoreItem xmlns:ds="http://schemas.openxmlformats.org/officeDocument/2006/customXml" ds:itemID="{ED4652CD-F36D-4B45-A152-BCD8A2661B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2158D8-4C33-4132-A61E-E0532140A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3c9c0-e698-4ea3-9529-a2c71b2c9eef"/>
    <ds:schemaRef ds:uri="38d922ee-4e44-47a7-a878-a22d9e8094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1E0874-EAAB-4A60-8F28-27A437EC07BB}">
  <ds:schemaRefs>
    <ds:schemaRef ds:uri="http://schemas.microsoft.com/office/2006/metadata/properties"/>
    <ds:schemaRef ds:uri="http://schemas.microsoft.com/office/infopath/2007/PartnerControls"/>
    <ds:schemaRef ds:uri="1ea3c9c0-e698-4ea3-9529-a2c71b2c9ee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7050</Words>
  <Application>Microsoft Office PowerPoint</Application>
  <PresentationFormat>Widescreen</PresentationFormat>
  <Paragraphs>1122</Paragraphs>
  <Slides>44</Slides>
  <Notes>44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44</vt:i4>
      </vt:variant>
    </vt:vector>
  </HeadingPairs>
  <TitlesOfParts>
    <vt:vector size="58" baseType="lpstr">
      <vt:lpstr>Aptos</vt:lpstr>
      <vt:lpstr>Aptos Display</vt:lpstr>
      <vt:lpstr>Arial</vt:lpstr>
      <vt:lpstr>Calibri</vt:lpstr>
      <vt:lpstr>Cambria Math</vt:lpstr>
      <vt:lpstr>Carlito</vt:lpstr>
      <vt:lpstr>Courier New</vt:lpstr>
      <vt:lpstr>Inter</vt:lpstr>
      <vt:lpstr>Roboto Mono</vt:lpstr>
      <vt:lpstr>Symbol</vt:lpstr>
      <vt:lpstr>Times New Roman</vt:lpstr>
      <vt:lpstr>Wingdings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04 - Organização e Preparação de Dados; Regressão Logística e KNN</dc:title>
  <dc:subject>Organização e Preparação de Dados; Regressão Logística e KNN</dc:subject>
  <dc:creator>OpenAI</dc:creator>
  <cp:lastModifiedBy>MIGUEL PENTEADO</cp:lastModifiedBy>
  <cp:revision>45</cp:revision>
  <dcterms:created xsi:type="dcterms:W3CDTF">2026-08-22T16:19:43Z</dcterms:created>
  <dcterms:modified xsi:type="dcterms:W3CDTF">2026-09-22T05:27:14Z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0x0101002E2876329B5D3B4FBA1D26A8667C2633</vt:lpwstr>
  </property>
</Properties>
</file>