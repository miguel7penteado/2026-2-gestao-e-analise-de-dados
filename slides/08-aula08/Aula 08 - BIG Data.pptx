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2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4A7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25312"/>
            <a:ext cx="12192000" cy="713232"/>
          </a:xfrm>
          <a:prstGeom prst="rect">
            <a:avLst/>
          </a:prstGeom>
          <a:solidFill>
            <a:srgbClr val="4A7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uni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8288"/>
            <a:ext cx="352044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3268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Aula 08 – BIG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5564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D7E3F4"/>
                </a:solidFill>
                <a:latin typeface="Arial"/>
              </a:rPr>
              <a:t>Os 5 Vs • Processamento Distribuído • MapReduce com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7E3F4"/>
                </a:solidFill>
                <a:latin typeface="Arial"/>
              </a:rPr>
              <a:t>Professor Miguél Suares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2788920"/>
            <a:ext cx="1691640" cy="713232"/>
          </a:xfrm>
          <a:prstGeom prst="roundRect">
            <a:avLst/>
          </a:prstGeom>
          <a:solidFill>
            <a:srgbClr val="2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00600" y="2953512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VOLUME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788920"/>
            <a:ext cx="1691640" cy="713232"/>
          </a:xfrm>
          <a:prstGeom prst="roundRect">
            <a:avLst/>
          </a:prstGeom>
          <a:solidFill>
            <a:srgbClr val="4A7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2953512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VELOCIDADE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2788920"/>
            <a:ext cx="1691640" cy="713232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32520" y="2953512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VARIEDADE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3749039"/>
            <a:ext cx="1691640" cy="713232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600" y="3913631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VERACIDADE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3749039"/>
            <a:ext cx="1691640" cy="713232"/>
          </a:xfrm>
          <a:prstGeom prst="round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3913631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B223F"/>
                </a:solidFill>
                <a:latin typeface="Arial"/>
              </a:rPr>
              <a:t>VALOR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93792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7E3F4"/>
                </a:solidFill>
                <a:latin typeface="Arial"/>
              </a:rPr>
              <a:t>UNIP • GTI – Oferta 2026 - Gestão e Análise de Dados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23F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1738B"/>
                </a:solidFill>
                <a:latin typeface="Arial"/>
              </a:rPr>
              <a:t>UNIP • GTI – Oferta 2026 - Gestão e Análise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1738B"/>
                </a:solidFill>
                <a:latin typeface="Arial"/>
              </a:rPr>
              <a:t>01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234440"/>
            <a:ext cx="475488" cy="475488"/>
          </a:xfrm>
          <a:prstGeom prst="ellipse">
            <a:avLst/>
          </a:prstGeom>
          <a:solidFill>
            <a:srgbClr val="2F69E8"/>
          </a:solidFill>
          <a:ln>
            <a:solidFill>
              <a:srgbClr val="2F6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16736"/>
            <a:ext cx="4754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252728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11111"/>
                </a:solidFill>
                <a:latin typeface="Arial"/>
              </a:rPr>
              <a:t>O que é Big Data?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993392"/>
            <a:ext cx="475488" cy="475488"/>
          </a:xfrm>
          <a:prstGeom prst="ellipse">
            <a:avLst/>
          </a:prstGeom>
          <a:solidFill>
            <a:srgbClr val="F6F7F9"/>
          </a:solidFill>
          <a:ln>
            <a:solidFill>
              <a:srgbClr val="2F6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075688"/>
            <a:ext cx="4754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F69E8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201168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11111"/>
                </a:solidFill>
                <a:latin typeface="Arial"/>
              </a:rPr>
              <a:t>Os 5 Vs do Big Data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752344"/>
            <a:ext cx="475488" cy="475488"/>
          </a:xfrm>
          <a:prstGeom prst="ellipse">
            <a:avLst/>
          </a:prstGeom>
          <a:solidFill>
            <a:srgbClr val="F6F7F9"/>
          </a:solidFill>
          <a:ln>
            <a:solidFill>
              <a:srgbClr val="2F6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834639"/>
            <a:ext cx="4754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F69E8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770632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11111"/>
                </a:solidFill>
                <a:latin typeface="Arial"/>
              </a:rPr>
              <a:t>Escalabilidade e processamento distribuído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511296"/>
            <a:ext cx="475488" cy="475488"/>
          </a:xfrm>
          <a:prstGeom prst="ellipse">
            <a:avLst/>
          </a:prstGeom>
          <a:solidFill>
            <a:srgbClr val="F6F7F9"/>
          </a:solidFill>
          <a:ln>
            <a:solidFill>
              <a:srgbClr val="2F6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593591"/>
            <a:ext cx="4754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F69E8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3529584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11111"/>
                </a:solidFill>
                <a:latin typeface="Arial"/>
              </a:rPr>
              <a:t>MapReduce: Map → Shuffle → Reduce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270248"/>
            <a:ext cx="475488" cy="475488"/>
          </a:xfrm>
          <a:prstGeom prst="ellipse">
            <a:avLst/>
          </a:prstGeom>
          <a:solidFill>
            <a:srgbClr val="F6F7F9"/>
          </a:solidFill>
          <a:ln>
            <a:solidFill>
              <a:srgbClr val="2F6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352544"/>
            <a:ext cx="4754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F69E8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288536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11111"/>
                </a:solidFill>
                <a:latin typeface="Arial"/>
              </a:rPr>
              <a:t>MapReduce em Python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5029200"/>
            <a:ext cx="475488" cy="475488"/>
          </a:xfrm>
          <a:prstGeom prst="ellipse">
            <a:avLst/>
          </a:prstGeom>
          <a:solidFill>
            <a:srgbClr val="F6F7F9"/>
          </a:solidFill>
          <a:ln>
            <a:solidFill>
              <a:srgbClr val="2F6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111496"/>
            <a:ext cx="4754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F69E8"/>
                </a:solidFill>
                <a:latin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5047488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11111"/>
                </a:solidFill>
                <a:latin typeface="Arial"/>
              </a:rPr>
              <a:t>Laboratório / exercício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331720"/>
            <a:ext cx="106984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0">
                <a:solidFill>
                  <a:srgbClr val="0B223F"/>
                </a:solidFill>
                <a:latin typeface="Arial"/>
              </a:rPr>
              <a:t>BIG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1738B"/>
                </a:solidFill>
                <a:latin typeface="Arial"/>
              </a:rPr>
              <a:t>UNIP • GTI – Oferta 2026 - Gestão e Análise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1738B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23F"/>
                </a:solidFill>
                <a:latin typeface="Arial"/>
              </a:rPr>
              <a:t>O que é Big Data?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1738B"/>
                </a:solidFill>
                <a:latin typeface="Arial"/>
              </a:rPr>
              <a:t>UNIP • GTI – Oferta 2026 - Gestão e Análise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1738B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6187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B223F"/>
                </a:solidFill>
                <a:latin typeface="Arial"/>
              </a:rPr>
              <a:t>Big Data não significa apenas “um arquivo muito grande”.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333756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057400"/>
            <a:ext cx="91440" cy="2468880"/>
          </a:xfrm>
          <a:prstGeom prst="rect">
            <a:avLst/>
          </a:prstGeom>
          <a:solidFill>
            <a:srgbClr val="2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221992"/>
            <a:ext cx="29535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B223F"/>
                </a:solidFill>
                <a:latin typeface="Arial"/>
              </a:rPr>
              <a:t>Dados tradicionais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79192"/>
            <a:ext cx="2953512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rial"/>
              </a:rPr>
              <a:t>Estrutura previsível
Volume administrável
Processamento em uma máquina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057400"/>
            <a:ext cx="333756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2057400"/>
            <a:ext cx="91440" cy="2468880"/>
          </a:xfrm>
          <a:prstGeom prst="rect">
            <a:avLst/>
          </a:prstGeom>
          <a:solidFill>
            <a:srgbClr val="4A7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2221992"/>
            <a:ext cx="29535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B223F"/>
                </a:solidFill>
                <a:latin typeface="Arial"/>
              </a:rPr>
              <a:t>Big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79192"/>
            <a:ext cx="2953512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rial"/>
              </a:rPr>
              <a:t>Escala elevada
Alta taxa de geração
Múltiplos formatos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057400"/>
            <a:ext cx="333756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2057400"/>
            <a:ext cx="91440" cy="24688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221992"/>
            <a:ext cx="29535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B223F"/>
                </a:solidFill>
                <a:latin typeface="Arial"/>
              </a:rPr>
              <a:t>Desafio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679192"/>
            <a:ext cx="2953512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rial"/>
              </a:rPr>
              <a:t>Armazenar
Processar
Extrair informação útil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010912"/>
            <a:ext cx="104241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111111"/>
                </a:solidFill>
                <a:latin typeface="Arial"/>
              </a:rPr>
              <a:t>Quando as soluções tradicionais deixam de atender bem, distribuímos armazenamento e processamento.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23F"/>
                </a:solidFill>
                <a:latin typeface="Arial"/>
              </a:rPr>
              <a:t>Os 5 Vs do Big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1738B"/>
                </a:solidFill>
                <a:latin typeface="Arial"/>
              </a:rPr>
              <a:t>UNIP • GTI – Oferta 2026 - Gestão e Análise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1738B"/>
                </a:solidFill>
                <a:latin typeface="Arial"/>
              </a:rPr>
              <a:t>04</a:t>
            </a:r>
          </a:p>
        </p:txBody>
      </p:sp>
      <p:sp>
        <p:nvSpPr>
          <p:cNvPr id="6" name="Oval 5"/>
          <p:cNvSpPr/>
          <p:nvPr/>
        </p:nvSpPr>
        <p:spPr>
          <a:xfrm>
            <a:off x="4846320" y="2331720"/>
            <a:ext cx="2331720" cy="1234440"/>
          </a:xfrm>
          <a:prstGeom prst="ellipse">
            <a:avLst/>
          </a:prstGeom>
          <a:solidFill>
            <a:srgbClr val="0B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0" y="2670048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BIG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17320"/>
            <a:ext cx="2514600" cy="960120"/>
          </a:xfrm>
          <a:prstGeom prst="roundRect">
            <a:avLst/>
          </a:prstGeom>
          <a:solidFill>
            <a:srgbClr val="2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27048"/>
            <a:ext cx="2514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92808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Quanto?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1417320"/>
            <a:ext cx="2514600" cy="960120"/>
          </a:xfrm>
          <a:prstGeom prst="roundRect">
            <a:avLst/>
          </a:prstGeom>
          <a:solidFill>
            <a:srgbClr val="4A7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0" y="1527048"/>
            <a:ext cx="2514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VELOCIDADE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892808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Quão rápido?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069080"/>
            <a:ext cx="2514600" cy="96012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178808"/>
            <a:ext cx="2514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VARIEDADE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44568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Quais formatos?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4069080"/>
            <a:ext cx="2514600" cy="96012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32520" y="4178808"/>
            <a:ext cx="2514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VERACIDADE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4544568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É confiável?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4572000"/>
            <a:ext cx="2514600" cy="960120"/>
          </a:xfrm>
          <a:prstGeom prst="round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34840" y="4681728"/>
            <a:ext cx="2514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223F"/>
                </a:solidFill>
                <a:latin typeface="Arial"/>
              </a:rPr>
              <a:t>VALOR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5047488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0B223F"/>
                </a:solidFill>
                <a:latin typeface="Arial"/>
              </a:rPr>
              <a:t>Para que serve?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23F"/>
                </a:solidFill>
                <a:latin typeface="Arial"/>
              </a:rPr>
              <a:t>V1 — 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1738B"/>
                </a:solidFill>
                <a:latin typeface="Arial"/>
              </a:rPr>
              <a:t>UNIP • GTI – Oferta 2026 - Gestão e Análise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1738B"/>
                </a:solidFill>
                <a:latin typeface="Aria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B223F"/>
                </a:solidFill>
                <a:latin typeface="Arial"/>
              </a:rPr>
              <a:t>Quantidade de dados produzidos, armazenados ou processados.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11111"/>
                </a:solidFill>
                <a:latin typeface="Arial"/>
              </a:defRPr>
            </a:pPr>
            <a:r>
              <a:t>• milhões ou bilhões de registros</a:t>
            </a:r>
          </a:p>
          <a:p>
            <a:pPr>
              <a:spcAft>
                <a:spcPts val="700"/>
              </a:spcAft>
              <a:defRPr sz="1900">
                <a:solidFill>
                  <a:srgbClr val="111111"/>
                </a:solidFill>
                <a:latin typeface="Arial"/>
              </a:defRPr>
            </a:pPr>
            <a:r>
              <a:t>• imagens de satélite e vídeos</a:t>
            </a:r>
          </a:p>
          <a:p>
            <a:pPr>
              <a:spcAft>
                <a:spcPts val="700"/>
              </a:spcAft>
              <a:defRPr sz="1900">
                <a:solidFill>
                  <a:srgbClr val="111111"/>
                </a:solidFill>
                <a:latin typeface="Arial"/>
              </a:defRPr>
            </a:pPr>
            <a:r>
              <a:t>• logs, sensores e transações</a:t>
            </a:r>
          </a:p>
          <a:p>
            <a:pPr>
              <a:spcAft>
                <a:spcPts val="700"/>
              </a:spcAft>
              <a:defRPr sz="1900">
                <a:solidFill>
                  <a:srgbClr val="111111"/>
                </a:solidFill>
                <a:latin typeface="Arial"/>
              </a:defRPr>
            </a:pPr>
            <a:r>
              <a:t>• o conjunto pode superar a memória de uma única máquina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4800600" cy="3154680"/>
          </a:xfrm>
          <a:prstGeom prst="roundRect">
            <a:avLst/>
          </a:prstGeom>
          <a:solidFill>
            <a:srgbClr val="112338"/>
          </a:solidFill>
          <a:ln>
            <a:solidFill>
              <a:srgbClr val="233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3952" y="1828800"/>
            <a:ext cx="4471416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F4F7FB"/>
                </a:solidFill>
                <a:latin typeface="Consolas"/>
              </a:rPr>
              <a:t>import random
dados = [</a:t>
            </a:r>
            <a:r>
              <a:rPr sz="1400" b="0" dirty="0" err="1">
                <a:solidFill>
                  <a:srgbClr val="F4F7FB"/>
                </a:solidFill>
                <a:latin typeface="Consolas"/>
              </a:rPr>
              <a:t>random.randint</a:t>
            </a:r>
            <a:r>
              <a:rPr sz="1400" b="0" dirty="0">
                <a:solidFill>
                  <a:srgbClr val="F4F7FB"/>
                </a:solidFill>
                <a:latin typeface="Consolas"/>
              </a:rPr>
              <a:t>(1, 100)
         for _ in range(1_000_000)]
print(</a:t>
            </a:r>
            <a:r>
              <a:rPr sz="1400" b="0" dirty="0" err="1">
                <a:solidFill>
                  <a:srgbClr val="F4F7FB"/>
                </a:solidFill>
                <a:latin typeface="Consolas"/>
              </a:rPr>
              <a:t>len</a:t>
            </a:r>
            <a:r>
              <a:rPr sz="1400" b="0" dirty="0">
                <a:solidFill>
                  <a:srgbClr val="F4F7FB"/>
                </a:solidFill>
                <a:latin typeface="Consolas"/>
              </a:rPr>
              <a:t>(dados))
# 1000000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507492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D7D31"/>
                </a:solidFill>
                <a:latin typeface="Arial"/>
              </a:rPr>
              <a:t>Problema de escala: o que acontece com 1 bilhão de registros?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23F"/>
                </a:solidFill>
                <a:latin typeface="Arial"/>
              </a:rPr>
              <a:t>V2 — Velocidade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1738B"/>
                </a:solidFill>
                <a:latin typeface="Arial"/>
              </a:rPr>
              <a:t>UNIP • GTI – Oferta 2026 - Gestão e Análise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1738B"/>
                </a:solidFill>
                <a:latin typeface="Aria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B223F"/>
                </a:solidFill>
                <a:latin typeface="Arial"/>
              </a:rPr>
              <a:t>Rapidez com que os dados chegam e precisam ser processados.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29184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91440" cy="2560320"/>
          </a:xfrm>
          <a:prstGeom prst="rect">
            <a:avLst/>
          </a:prstGeom>
          <a:solidFill>
            <a:srgbClr val="2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993392"/>
            <a:ext cx="2907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B223F"/>
                </a:solidFill>
                <a:latin typeface="Arial"/>
              </a:rPr>
              <a:t>Streaming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50592"/>
            <a:ext cx="2907792" cy="1783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rial"/>
              </a:rPr>
              <a:t>Sensores
Mercado financeiro
GPS
Redes sociais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29184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828800"/>
            <a:ext cx="91440" cy="2560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993392"/>
            <a:ext cx="2907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B223F"/>
                </a:solidFill>
                <a:latin typeface="Arial"/>
              </a:rPr>
              <a:t>Latência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50592"/>
            <a:ext cx="2907792" cy="1783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rial"/>
              </a:rPr>
              <a:t>Quanto tempo pode passar entre o dado chegar e uma decisão ser produzida?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691640"/>
            <a:ext cx="3520440" cy="3017520"/>
          </a:xfrm>
          <a:prstGeom prst="roundRect">
            <a:avLst/>
          </a:prstGeom>
          <a:solidFill>
            <a:srgbClr val="112338"/>
          </a:solidFill>
          <a:ln>
            <a:solidFill>
              <a:srgbClr val="233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19871" y="1828800"/>
            <a:ext cx="3191256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4F7FB"/>
                </a:solidFill>
                <a:latin typeface="Consolas"/>
              </a:rPr>
              <a:t>import time, random
for i in range(5):
    temp = random.uniform(20, 35)
    print(f'{temp:.2f} °C')
    time.sleep(1)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74920"/>
            <a:ext cx="103327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111111"/>
                </a:solidFill>
                <a:latin typeface="Arial"/>
              </a:rPr>
              <a:t>Em alguns problemas, “processar depois” significa perder o valor do dado.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23F"/>
                </a:solidFill>
                <a:latin typeface="Arial"/>
              </a:rPr>
              <a:t>V3 — Variedade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1738B"/>
                </a:solidFill>
                <a:latin typeface="Arial"/>
              </a:rPr>
              <a:t>UNIP • GTI – Oferta 2026 - Gestão e Análise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1738B"/>
                </a:solidFill>
                <a:latin typeface="Arial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B223F"/>
                </a:solidFill>
                <a:latin typeface="Arial"/>
              </a:rPr>
              <a:t>Dados podem assumir diferentes estruturas e formatos.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42900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91440" cy="2560320"/>
          </a:xfrm>
          <a:prstGeom prst="rect">
            <a:avLst/>
          </a:prstGeom>
          <a:solidFill>
            <a:srgbClr val="2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39112"/>
            <a:ext cx="30449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B223F"/>
                </a:solidFill>
                <a:latin typeface="Arial"/>
              </a:rPr>
              <a:t>Estruturados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96312"/>
            <a:ext cx="3044952" cy="1783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rial"/>
              </a:rPr>
              <a:t>Tabelas
SQL
CSV
DataFrames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74519"/>
            <a:ext cx="342900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874519"/>
            <a:ext cx="91440" cy="2560320"/>
          </a:xfrm>
          <a:prstGeom prst="rect">
            <a:avLst/>
          </a:prstGeom>
          <a:solidFill>
            <a:srgbClr val="4A7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30449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B223F"/>
                </a:solidFill>
                <a:latin typeface="Arial"/>
              </a:rPr>
              <a:t>Semiestruturados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96312"/>
            <a:ext cx="3044952" cy="1783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rial"/>
              </a:rPr>
              <a:t>JSON
XML
Logs
Mensagens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874519"/>
            <a:ext cx="342900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874519"/>
            <a:ext cx="91440" cy="2560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2039112"/>
            <a:ext cx="30449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B223F"/>
                </a:solidFill>
                <a:latin typeface="Arial"/>
              </a:rPr>
              <a:t>Não estruturados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96312"/>
            <a:ext cx="3044952" cy="1783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Arial"/>
              </a:rPr>
              <a:t>Texto
Imagens
Áudio
Vídeo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33672" y="4663440"/>
            <a:ext cx="3703320" cy="1471030"/>
          </a:xfrm>
          <a:prstGeom prst="roundRect">
            <a:avLst/>
          </a:prstGeom>
          <a:solidFill>
            <a:srgbClr val="112338"/>
          </a:solidFill>
          <a:ln>
            <a:solidFill>
              <a:srgbClr val="233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98264" y="4800600"/>
            <a:ext cx="3374136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0" dirty="0" err="1">
                <a:solidFill>
                  <a:srgbClr val="F4F7FB"/>
                </a:solidFill>
                <a:latin typeface="Consolas"/>
              </a:rPr>
              <a:t>registro</a:t>
            </a:r>
            <a:r>
              <a:rPr sz="1230" b="0" dirty="0">
                <a:solidFill>
                  <a:srgbClr val="F4F7FB"/>
                </a:solidFill>
                <a:latin typeface="Consolas"/>
              </a:rPr>
              <a:t> = {
  "sensor": "A01",
  "</a:t>
            </a:r>
            <a:r>
              <a:rPr sz="1230" b="0" dirty="0" err="1">
                <a:solidFill>
                  <a:srgbClr val="F4F7FB"/>
                </a:solidFill>
                <a:latin typeface="Consolas"/>
              </a:rPr>
              <a:t>lat</a:t>
            </a:r>
            <a:r>
              <a:rPr sz="1230" b="0" dirty="0">
                <a:solidFill>
                  <a:srgbClr val="F4F7FB"/>
                </a:solidFill>
                <a:latin typeface="Consolas"/>
              </a:rPr>
              <a:t>": -23.55,
  "</a:t>
            </a:r>
            <a:r>
              <a:rPr sz="1230" b="0" dirty="0" err="1">
                <a:solidFill>
                  <a:srgbClr val="F4F7FB"/>
                </a:solidFill>
                <a:latin typeface="Consolas"/>
              </a:rPr>
              <a:t>lon</a:t>
            </a:r>
            <a:r>
              <a:rPr sz="1230" b="0" dirty="0">
                <a:solidFill>
                  <a:srgbClr val="F4F7FB"/>
                </a:solidFill>
                <a:latin typeface="Consolas"/>
              </a:rPr>
              <a:t>": -46.63,
  "temp": 27.4
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23F"/>
                </a:solidFill>
                <a:latin typeface="Arial"/>
              </a:rPr>
              <a:t>V4 — Veracidade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1738B"/>
                </a:solidFill>
                <a:latin typeface="Arial"/>
              </a:rPr>
              <a:t>UNIP • GTI – Oferta 2026 - Gestão e Análise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1738B"/>
                </a:solidFill>
                <a:latin typeface="Arial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B223F"/>
                </a:solidFill>
                <a:latin typeface="Arial"/>
              </a:rPr>
              <a:t>Quantidade não substitui qualidade.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11111"/>
                </a:solidFill>
                <a:latin typeface="Arial"/>
              </a:defRPr>
            </a:pPr>
            <a:r>
              <a:t>• valores ausentes</a:t>
            </a:r>
          </a:p>
          <a:p>
            <a:pPr>
              <a:spcAft>
                <a:spcPts val="700"/>
              </a:spcAft>
              <a:defRPr sz="1900">
                <a:solidFill>
                  <a:srgbClr val="111111"/>
                </a:solidFill>
                <a:latin typeface="Arial"/>
              </a:defRPr>
            </a:pPr>
            <a:r>
              <a:t>• duplicidades</a:t>
            </a:r>
          </a:p>
          <a:p>
            <a:pPr>
              <a:spcAft>
                <a:spcPts val="700"/>
              </a:spcAft>
              <a:defRPr sz="1900">
                <a:solidFill>
                  <a:srgbClr val="111111"/>
                </a:solidFill>
                <a:latin typeface="Arial"/>
              </a:defRPr>
            </a:pPr>
            <a:r>
              <a:t>• erros de medição</a:t>
            </a:r>
          </a:p>
          <a:p>
            <a:pPr>
              <a:spcAft>
                <a:spcPts val="700"/>
              </a:spcAft>
              <a:defRPr sz="1900">
                <a:solidFill>
                  <a:srgbClr val="111111"/>
                </a:solidFill>
                <a:latin typeface="Arial"/>
              </a:defRPr>
            </a:pPr>
            <a:r>
              <a:t>• valores impossíveis</a:t>
            </a:r>
          </a:p>
          <a:p>
            <a:pPr>
              <a:spcAft>
                <a:spcPts val="700"/>
              </a:spcAft>
              <a:defRPr sz="1900">
                <a:solidFill>
                  <a:srgbClr val="111111"/>
                </a:solidFill>
                <a:latin typeface="Arial"/>
              </a:defRPr>
            </a:pPr>
            <a:r>
              <a:t>• dados desatualizados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691640"/>
            <a:ext cx="6537960" cy="3337560"/>
          </a:xfrm>
          <a:prstGeom prst="roundRect">
            <a:avLst/>
          </a:prstGeom>
          <a:solidFill>
            <a:srgbClr val="112338"/>
          </a:solidFill>
          <a:ln>
            <a:solidFill>
              <a:srgbClr val="233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73752" y="1828800"/>
            <a:ext cx="6208776" cy="3063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4F7FB"/>
                </a:solidFill>
                <a:latin typeface="Consolas"/>
              </a:rPr>
              <a:t>idades = [18, 21, 35, -5, 42, 250, None, 30]
validas = [x for x in idades
           if x is not None and 0 &lt;= x &lt;= 120]
print(validas)
# [18, 21, 35, 42, 30]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166360"/>
            <a:ext cx="10287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D7D31"/>
                </a:solidFill>
                <a:latin typeface="Arial"/>
              </a:rPr>
              <a:t>Veracidade = podemos confiar no dado antes de transformá-lo em decisão?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23F"/>
                </a:solidFill>
                <a:latin typeface="Arial"/>
              </a:rPr>
              <a:t>V5 —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1738B"/>
                </a:solidFill>
                <a:latin typeface="Arial"/>
              </a:rPr>
              <a:t>UNIP • GTI – Oferta 2026 - Gestão e Análise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1738B"/>
                </a:solidFill>
                <a:latin typeface="Arial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B223F"/>
                </a:solidFill>
                <a:latin typeface="Arial"/>
              </a:rPr>
              <a:t>O objetivo final não é acumular dados: é gerar informação útil.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40280"/>
            <a:ext cx="2148840" cy="914400"/>
          </a:xfrm>
          <a:prstGeom prst="roundRect">
            <a:avLst/>
          </a:prstGeom>
          <a:solidFill>
            <a:srgbClr val="2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505456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DADOS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2697480"/>
            <a:ext cx="502920" cy="0"/>
          </a:xfrm>
          <a:prstGeom prst="line">
            <a:avLst/>
          </a:prstGeom>
          <a:ln w="27940">
            <a:solidFill>
              <a:srgbClr val="0B22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11879" y="2240280"/>
            <a:ext cx="2148840" cy="914400"/>
          </a:xfrm>
          <a:prstGeom prst="roundRect">
            <a:avLst/>
          </a:prstGeom>
          <a:solidFill>
            <a:srgbClr val="4A7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79" y="2505456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INFORMAÇÃO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06440" y="2697480"/>
            <a:ext cx="502920" cy="0"/>
          </a:xfrm>
          <a:prstGeom prst="line">
            <a:avLst/>
          </a:prstGeom>
          <a:ln w="27940">
            <a:solidFill>
              <a:srgbClr val="0B22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0" y="2240280"/>
            <a:ext cx="2148840" cy="91440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505456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CONHECIMENTO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95360" y="2697480"/>
            <a:ext cx="502920" cy="0"/>
          </a:xfrm>
          <a:prstGeom prst="line">
            <a:avLst/>
          </a:prstGeom>
          <a:ln w="27940">
            <a:solidFill>
              <a:srgbClr val="0B22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89719" y="2240280"/>
            <a:ext cx="2148840" cy="9144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89719" y="2505456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DECISÃO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931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111111"/>
                </a:solidFill>
                <a:latin typeface="Arial"/>
              </a:rPr>
              <a:t>Exemplo: milhões de compras podem revelar produtos mais vendidos, padrões de consumo e previsão de demanda.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331720"/>
            <a:ext cx="107899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0">
                <a:solidFill>
                  <a:srgbClr val="0B223F"/>
                </a:solidFill>
                <a:latin typeface="Arial"/>
              </a:rPr>
              <a:t>PROCESSAMENTO DISTRIBUÍDO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1738B"/>
                </a:solidFill>
                <a:latin typeface="Arial"/>
              </a:rPr>
              <a:t>UNIP • GTI – Oferta 2026 - Gestão e Análise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1738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23F"/>
                </a:solidFill>
                <a:latin typeface="Arial"/>
              </a:rPr>
              <a:t>Escalabilidade: Scale Up × Scale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1738B"/>
                </a:solidFill>
                <a:latin typeface="Arial"/>
              </a:rPr>
              <a:t>UNIP • GTI – Oferta 2026 - Gestão e Análise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1738B"/>
                </a:solidFill>
                <a:latin typeface="Arial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4983480" cy="4069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91440" cy="4069080"/>
          </a:xfrm>
          <a:prstGeom prst="rect">
            <a:avLst/>
          </a:prstGeom>
          <a:solidFill>
            <a:srgbClr val="2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73351"/>
            <a:ext cx="45994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B223F"/>
                </a:solidFill>
                <a:latin typeface="Arial"/>
              </a:rPr>
              <a:t>Scale Up — Vertical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30552"/>
            <a:ext cx="459943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11111"/>
                </a:solidFill>
                <a:latin typeface="Arial"/>
              </a:rPr>
              <a:t>Aumentar CPU, RAM ou armazenamento
de uma única máquina.
+ simples
− existe um limite físico e financeiro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508760"/>
            <a:ext cx="4983480" cy="4069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46520" y="1508760"/>
            <a:ext cx="91440" cy="4069080"/>
          </a:xfrm>
          <a:prstGeom prst="rect">
            <a:avLst/>
          </a:prstGeom>
          <a:solidFill>
            <a:srgbClr val="4A7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673351"/>
            <a:ext cx="45994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B223F"/>
                </a:solidFill>
                <a:latin typeface="Arial"/>
              </a:rPr>
              <a:t>Scale Out — Horizontal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30552"/>
            <a:ext cx="459943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11111"/>
                </a:solidFill>
                <a:latin typeface="Arial"/>
              </a:rPr>
              <a:t>Adicionar mais máquinas ao sistema.
+ distribui trabalho
+ pode crescer em nós
− exige coordenação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D7D31"/>
                </a:solidFill>
                <a:latin typeface="Arial"/>
              </a:rPr>
              <a:t>MapReduce foi criado para explorar principalmente a escalabilidade horizontal.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331720"/>
            <a:ext cx="106984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0">
                <a:solidFill>
                  <a:srgbClr val="0B223F"/>
                </a:solidFill>
                <a:latin typeface="Arial"/>
              </a:rPr>
              <a:t>MAPREDUCE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1738B"/>
                </a:solidFill>
                <a:latin typeface="Arial"/>
              </a:rPr>
              <a:t>UNIP • GTI – Oferta 2026 - Gestão e Análise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1738B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23F"/>
                </a:solidFill>
                <a:latin typeface="Arial"/>
              </a:rPr>
              <a:t>MapReduce: dividir, agrupar e combinar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1738B"/>
                </a:solidFill>
                <a:latin typeface="Arial"/>
              </a:rPr>
              <a:t>UNIP • GTI – Oferta 2026 - Gestão e Análise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1738B"/>
                </a:solidFill>
                <a:latin typeface="Arial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011680"/>
            <a:ext cx="2743200" cy="1874519"/>
          </a:xfrm>
          <a:prstGeom prst="roundRect">
            <a:avLst/>
          </a:prstGeom>
          <a:solidFill>
            <a:srgbClr val="2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359152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26080"/>
            <a:ext cx="2377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Transforma
cada entrada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40480" y="2971800"/>
            <a:ext cx="685800" cy="0"/>
          </a:xfrm>
          <a:prstGeom prst="line">
            <a:avLst/>
          </a:prstGeom>
          <a:ln w="34290">
            <a:solidFill>
              <a:srgbClr val="0B22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709160" y="2011680"/>
            <a:ext cx="2743200" cy="1874519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2359152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SHUFFLE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926080"/>
            <a:ext cx="2377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Agrupa
chaves iguais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43800" y="2971800"/>
            <a:ext cx="685800" cy="0"/>
          </a:xfrm>
          <a:prstGeom prst="line">
            <a:avLst/>
          </a:prstGeom>
          <a:ln w="34290">
            <a:solidFill>
              <a:srgbClr val="0B22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412480" y="2011680"/>
            <a:ext cx="2743200" cy="1874519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2359152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REDUCE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2926080"/>
            <a:ext cx="2377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Agrega
os valores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111111"/>
                </a:solidFill>
                <a:latin typeface="Arial"/>
              </a:rPr>
              <a:t>Ideia central: levar o processamento até as partes dos dados e depois consolidar resultados.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23F"/>
                </a:solidFill>
                <a:latin typeface="Arial"/>
              </a:rPr>
              <a:t>Exemplo: contagem de palavras —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1738B"/>
                </a:solidFill>
                <a:latin typeface="Arial"/>
              </a:rPr>
              <a:t>UNIP • GTI – Oferta 2026 - Gestão e Análise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1738B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B223F"/>
                </a:solidFill>
                <a:latin typeface="Arial"/>
              </a:rPr>
              <a:t>Entrada: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4800600" cy="1600200"/>
          </a:xfrm>
          <a:prstGeom prst="roundRect">
            <a:avLst/>
          </a:prstGeom>
          <a:solidFill>
            <a:srgbClr val="112338"/>
          </a:solidFill>
          <a:ln>
            <a:solidFill>
              <a:srgbClr val="233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783080"/>
            <a:ext cx="4471416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4F7FB"/>
                </a:solidFill>
                <a:latin typeface="Consolas"/>
              </a:rPr>
              <a:t>big data usa dados
dados geram informacao
big data usa processamento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77840" y="2423160"/>
            <a:ext cx="868680" cy="0"/>
          </a:xfrm>
          <a:prstGeom prst="line">
            <a:avLst/>
          </a:prstGeom>
          <a:ln w="35560">
            <a:solidFill>
              <a:srgbClr val="2F6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29400" y="123444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B223F"/>
                </a:solidFill>
                <a:latin typeface="Arial"/>
              </a:rPr>
              <a:t>MAP gera pares (chave, valor):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691640"/>
            <a:ext cx="4206240" cy="2286000"/>
          </a:xfrm>
          <a:prstGeom prst="roundRect">
            <a:avLst/>
          </a:prstGeom>
          <a:solidFill>
            <a:srgbClr val="112338"/>
          </a:solidFill>
          <a:ln>
            <a:solidFill>
              <a:srgbClr val="233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93992" y="1828800"/>
            <a:ext cx="387705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4F7FB"/>
                </a:solidFill>
                <a:latin typeface="Consolas"/>
              </a:rPr>
              <a:t>('big',1)
('data',1)
('usa',1)
('dados',1)
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D7D31"/>
                </a:solidFill>
                <a:latin typeface="Arial"/>
              </a:rPr>
              <a:t>Cada registro pode ser processado independentemente.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23F"/>
                </a:solidFill>
                <a:latin typeface="Arial"/>
              </a:rPr>
              <a:t>Exemplo: contagem de palavras — SHUFFLE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1738B"/>
                </a:solidFill>
                <a:latin typeface="Arial"/>
              </a:rPr>
              <a:t>UNIP • GTI – Oferta 2026 - Gestão e Análise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1738B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B223F"/>
                </a:solidFill>
                <a:latin typeface="Arial"/>
              </a:rPr>
              <a:t>O sistema reorganiza os pares pelas chaves.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920240"/>
            <a:ext cx="3017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2075688"/>
            <a:ext cx="1325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223F"/>
                </a:solidFill>
                <a:latin typeface="Arial"/>
              </a:rPr>
              <a:t>big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075688"/>
            <a:ext cx="1417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11111"/>
                </a:solidFill>
                <a:latin typeface="Arial"/>
              </a:rPr>
              <a:t>→ [1, 1]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920240"/>
            <a:ext cx="3017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36592" y="2075688"/>
            <a:ext cx="1325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223F"/>
                </a:solidFill>
                <a:latin typeface="Arial"/>
              </a:rP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075688"/>
            <a:ext cx="1417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11111"/>
                </a:solidFill>
                <a:latin typeface="Arial"/>
              </a:rPr>
              <a:t>→ [1, 1]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19" y="1920240"/>
            <a:ext cx="3017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9911" y="2075688"/>
            <a:ext cx="1325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223F"/>
                </a:solidFill>
                <a:latin typeface="Arial"/>
              </a:rPr>
              <a:t>dados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075688"/>
            <a:ext cx="1417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11111"/>
                </a:solidFill>
                <a:latin typeface="Arial"/>
              </a:rPr>
              <a:t>→ [1, 1]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337560"/>
            <a:ext cx="3017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3271" y="3493008"/>
            <a:ext cx="1325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223F"/>
                </a:solidFill>
                <a:latin typeface="Arial"/>
              </a:rPr>
              <a:t>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493008"/>
            <a:ext cx="1417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11111"/>
                </a:solidFill>
                <a:latin typeface="Arial"/>
              </a:rPr>
              <a:t>→ [1, 1]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337560"/>
            <a:ext cx="3017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36592" y="3493008"/>
            <a:ext cx="1325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223F"/>
                </a:solidFill>
                <a:latin typeface="Arial"/>
              </a:rPr>
              <a:t>geram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3493008"/>
            <a:ext cx="1417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11111"/>
                </a:solidFill>
                <a:latin typeface="Arial"/>
              </a:rPr>
              <a:t>→ [1]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19" y="3337560"/>
            <a:ext cx="3017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9911" y="3493008"/>
            <a:ext cx="1325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223F"/>
                </a:solidFill>
                <a:latin typeface="Arial"/>
              </a:rPr>
              <a:t>processamento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493008"/>
            <a:ext cx="1417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11111"/>
                </a:solidFill>
                <a:latin typeface="Arial"/>
              </a:rPr>
              <a:t>→ [1]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1091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D7D31"/>
                </a:solidFill>
                <a:latin typeface="Arial"/>
              </a:rPr>
              <a:t>Shuffle = agrupar os valores associados à mesma chave.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23F"/>
                </a:solidFill>
                <a:latin typeface="Arial"/>
              </a:rPr>
              <a:t>Exemplo: contagem de palavras — REDUCE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1738B"/>
                </a:solidFill>
                <a:latin typeface="Arial"/>
              </a:rPr>
              <a:t>UNIP • GTI – Oferta 2026 - Gestão e Análise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1738B"/>
                </a:solidFill>
                <a:latin typeface="Arial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B223F"/>
                </a:solidFill>
                <a:latin typeface="Arial"/>
              </a:rPr>
              <a:t>REDUCE combina os valores de cada chave.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920240"/>
            <a:ext cx="3017520" cy="914400"/>
          </a:xfrm>
          <a:prstGeom prst="roundRect">
            <a:avLst/>
          </a:prstGeom>
          <a:solidFill>
            <a:srgbClr val="EAF3E5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2075688"/>
            <a:ext cx="1737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223F"/>
                </a:solidFill>
                <a:latin typeface="Arial"/>
              </a:rPr>
              <a:t>big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39" y="2075688"/>
            <a:ext cx="685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70AD47"/>
                </a:solidFill>
                <a:latin typeface="Arial"/>
              </a:rPr>
              <a:t>→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920240"/>
            <a:ext cx="3017520" cy="914400"/>
          </a:xfrm>
          <a:prstGeom prst="roundRect">
            <a:avLst/>
          </a:prstGeom>
          <a:solidFill>
            <a:srgbClr val="EAF3E5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36592" y="2075688"/>
            <a:ext cx="1737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223F"/>
                </a:solidFill>
                <a:latin typeface="Arial"/>
              </a:rP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075688"/>
            <a:ext cx="685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70AD47"/>
                </a:solidFill>
                <a:latin typeface="Arial"/>
              </a:rPr>
              <a:t>→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19" y="1920240"/>
            <a:ext cx="3017520" cy="914400"/>
          </a:xfrm>
          <a:prstGeom prst="roundRect">
            <a:avLst/>
          </a:prstGeom>
          <a:solidFill>
            <a:srgbClr val="EAF3E5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9911" y="2075688"/>
            <a:ext cx="1737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223F"/>
                </a:solidFill>
                <a:latin typeface="Arial"/>
              </a:rPr>
              <a:t>dados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2075688"/>
            <a:ext cx="685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70AD47"/>
                </a:solidFill>
                <a:latin typeface="Arial"/>
              </a:rPr>
              <a:t>→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337560"/>
            <a:ext cx="3017520" cy="914400"/>
          </a:xfrm>
          <a:prstGeom prst="roundRect">
            <a:avLst/>
          </a:prstGeom>
          <a:solidFill>
            <a:srgbClr val="EAF3E5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3271" y="3493008"/>
            <a:ext cx="1737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223F"/>
                </a:solidFill>
                <a:latin typeface="Arial"/>
              </a:rPr>
              <a:t>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39" y="3493008"/>
            <a:ext cx="685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70AD47"/>
                </a:solidFill>
                <a:latin typeface="Arial"/>
              </a:rPr>
              <a:t>→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337560"/>
            <a:ext cx="3017520" cy="914400"/>
          </a:xfrm>
          <a:prstGeom prst="roundRect">
            <a:avLst/>
          </a:prstGeom>
          <a:solidFill>
            <a:srgbClr val="EAF3E5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36592" y="3493008"/>
            <a:ext cx="1737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223F"/>
                </a:solidFill>
                <a:latin typeface="Arial"/>
              </a:rPr>
              <a:t>geram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493008"/>
            <a:ext cx="685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70AD47"/>
                </a:solidFill>
                <a:latin typeface="Arial"/>
              </a:rPr>
              <a:t>→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19" y="3337560"/>
            <a:ext cx="3017520" cy="914400"/>
          </a:xfrm>
          <a:prstGeom prst="roundRect">
            <a:avLst/>
          </a:prstGeom>
          <a:solidFill>
            <a:srgbClr val="EAF3E5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9911" y="3493008"/>
            <a:ext cx="1737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223F"/>
                </a:solidFill>
                <a:latin typeface="Arial"/>
              </a:rPr>
              <a:t>processamento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3493008"/>
            <a:ext cx="685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70AD47"/>
                </a:solidFill>
                <a:latin typeface="Arial"/>
              </a:rPr>
              <a:t>→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1091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111111"/>
                </a:solidFill>
                <a:latin typeface="Arial"/>
              </a:rPr>
              <a:t>Resultado final: uma agregação compacta produzida a partir de muitos registros.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23F"/>
                </a:solidFill>
                <a:latin typeface="Arial"/>
              </a:rPr>
              <a:t>MapReduce em Python — versão didática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1738B"/>
                </a:solidFill>
                <a:latin typeface="Arial"/>
              </a:rPr>
              <a:t>UNIP • GTI – Oferta 2026 - Gestão e Análise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1738B"/>
                </a:solidFill>
                <a:latin typeface="Arial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61873"/>
            <a:ext cx="10835640" cy="4434840"/>
          </a:xfrm>
          <a:prstGeom prst="roundRect">
            <a:avLst/>
          </a:prstGeom>
          <a:solidFill>
            <a:srgbClr val="112338"/>
          </a:solidFill>
          <a:ln>
            <a:solidFill>
              <a:srgbClr val="233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35607"/>
            <a:ext cx="10506456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 dirty="0">
                <a:solidFill>
                  <a:srgbClr val="F4F7FB"/>
                </a:solidFill>
                <a:latin typeface="Consolas"/>
              </a:rPr>
              <a:t>from collections import </a:t>
            </a:r>
            <a:r>
              <a:rPr sz="1120" b="0" dirty="0" err="1">
                <a:solidFill>
                  <a:srgbClr val="F4F7FB"/>
                </a:solidFill>
                <a:latin typeface="Consolas"/>
              </a:rPr>
              <a:t>defaultdict</a:t>
            </a:r>
            <a:r>
              <a:rPr sz="1120" b="0" dirty="0">
                <a:solidFill>
                  <a:srgbClr val="F4F7FB"/>
                </a:solidFill>
                <a:latin typeface="Consolas"/>
              </a:rPr>
              <a:t>
</a:t>
            </a:r>
            <a:r>
              <a:rPr sz="1120" b="0" dirty="0" err="1">
                <a:solidFill>
                  <a:srgbClr val="F4F7FB"/>
                </a:solidFill>
                <a:latin typeface="Consolas"/>
              </a:rPr>
              <a:t>documentos</a:t>
            </a:r>
            <a:r>
              <a:rPr sz="1120" b="0" dirty="0">
                <a:solidFill>
                  <a:srgbClr val="F4F7FB"/>
                </a:solidFill>
                <a:latin typeface="Consolas"/>
              </a:rPr>
              <a:t> = [
    "big data </a:t>
            </a:r>
            <a:r>
              <a:rPr sz="1120" b="0" dirty="0" err="1">
                <a:solidFill>
                  <a:srgbClr val="F4F7FB"/>
                </a:solidFill>
                <a:latin typeface="Consolas"/>
              </a:rPr>
              <a:t>usa</a:t>
            </a:r>
            <a:r>
              <a:rPr sz="1120" b="0" dirty="0">
                <a:solidFill>
                  <a:srgbClr val="F4F7FB"/>
                </a:solidFill>
                <a:latin typeface="Consolas"/>
              </a:rPr>
              <a:t> dados",
    "dados </a:t>
            </a:r>
            <a:r>
              <a:rPr sz="1120" b="0" dirty="0" err="1">
                <a:solidFill>
                  <a:srgbClr val="F4F7FB"/>
                </a:solidFill>
                <a:latin typeface="Consolas"/>
              </a:rPr>
              <a:t>geram</a:t>
            </a:r>
            <a:r>
              <a:rPr sz="1120" b="0" dirty="0">
                <a:solidFill>
                  <a:srgbClr val="F4F7FB"/>
                </a:solidFill>
                <a:latin typeface="Consolas"/>
              </a:rPr>
              <a:t> </a:t>
            </a:r>
            <a:r>
              <a:rPr sz="1120" b="0" dirty="0" err="1">
                <a:solidFill>
                  <a:srgbClr val="F4F7FB"/>
                </a:solidFill>
                <a:latin typeface="Consolas"/>
              </a:rPr>
              <a:t>informacao</a:t>
            </a:r>
            <a:r>
              <a:rPr sz="1120" b="0" dirty="0">
                <a:solidFill>
                  <a:srgbClr val="F4F7FB"/>
                </a:solidFill>
                <a:latin typeface="Consolas"/>
              </a:rPr>
              <a:t>",
    "big data </a:t>
            </a:r>
            <a:r>
              <a:rPr sz="1120" b="0" dirty="0" err="1">
                <a:solidFill>
                  <a:srgbClr val="F4F7FB"/>
                </a:solidFill>
                <a:latin typeface="Consolas"/>
              </a:rPr>
              <a:t>usa</a:t>
            </a:r>
            <a:r>
              <a:rPr sz="1120" b="0" dirty="0">
                <a:solidFill>
                  <a:srgbClr val="F4F7FB"/>
                </a:solidFill>
                <a:latin typeface="Consolas"/>
              </a:rPr>
              <a:t> </a:t>
            </a:r>
            <a:r>
              <a:rPr sz="1120" b="0" dirty="0" err="1">
                <a:solidFill>
                  <a:srgbClr val="F4F7FB"/>
                </a:solidFill>
                <a:latin typeface="Consolas"/>
              </a:rPr>
              <a:t>processamento</a:t>
            </a:r>
            <a:r>
              <a:rPr sz="1120" b="0" dirty="0">
                <a:solidFill>
                  <a:srgbClr val="F4F7FB"/>
                </a:solidFill>
                <a:latin typeface="Consolas"/>
              </a:rPr>
              <a:t>"
]
def </a:t>
            </a:r>
            <a:r>
              <a:rPr sz="1120" b="0" dirty="0" err="1">
                <a:solidFill>
                  <a:srgbClr val="F4F7FB"/>
                </a:solidFill>
                <a:latin typeface="Consolas"/>
              </a:rPr>
              <a:t>mapear</a:t>
            </a:r>
            <a:r>
              <a:rPr sz="1120" b="0" dirty="0">
                <a:solidFill>
                  <a:srgbClr val="F4F7FB"/>
                </a:solidFill>
                <a:latin typeface="Consolas"/>
              </a:rPr>
              <a:t>(</a:t>
            </a:r>
            <a:r>
              <a:rPr sz="1120" b="0" dirty="0" err="1">
                <a:solidFill>
                  <a:srgbClr val="F4F7FB"/>
                </a:solidFill>
                <a:latin typeface="Consolas"/>
              </a:rPr>
              <a:t>texto</a:t>
            </a:r>
            <a:r>
              <a:rPr sz="1120" b="0" dirty="0">
                <a:solidFill>
                  <a:srgbClr val="F4F7FB"/>
                </a:solidFill>
                <a:latin typeface="Consolas"/>
              </a:rPr>
              <a:t>):
    return [(p, 1) for p in </a:t>
            </a:r>
            <a:r>
              <a:rPr sz="1120" b="0" dirty="0" err="1">
                <a:solidFill>
                  <a:srgbClr val="F4F7FB"/>
                </a:solidFill>
                <a:latin typeface="Consolas"/>
              </a:rPr>
              <a:t>texto.lower</a:t>
            </a:r>
            <a:r>
              <a:rPr sz="1120" b="0" dirty="0">
                <a:solidFill>
                  <a:srgbClr val="F4F7FB"/>
                </a:solidFill>
                <a:latin typeface="Consolas"/>
              </a:rPr>
              <a:t>().split()]
</a:t>
            </a:r>
            <a:r>
              <a:rPr sz="1120" b="0" dirty="0" err="1">
                <a:solidFill>
                  <a:srgbClr val="F4F7FB"/>
                </a:solidFill>
                <a:latin typeface="Consolas"/>
              </a:rPr>
              <a:t>mapeados</a:t>
            </a:r>
            <a:r>
              <a:rPr sz="1120" b="0" dirty="0">
                <a:solidFill>
                  <a:srgbClr val="F4F7FB"/>
                </a:solidFill>
                <a:latin typeface="Consolas"/>
              </a:rPr>
              <a:t> = [par for doc in </a:t>
            </a:r>
            <a:r>
              <a:rPr sz="1120" b="0" dirty="0" err="1">
                <a:solidFill>
                  <a:srgbClr val="F4F7FB"/>
                </a:solidFill>
                <a:latin typeface="Consolas"/>
              </a:rPr>
              <a:t>documentos</a:t>
            </a:r>
            <a:r>
              <a:rPr sz="1120" b="0" dirty="0">
                <a:solidFill>
                  <a:srgbClr val="F4F7FB"/>
                </a:solidFill>
                <a:latin typeface="Consolas"/>
              </a:rPr>
              <a:t> for par in </a:t>
            </a:r>
            <a:r>
              <a:rPr sz="1120" b="0" dirty="0" err="1">
                <a:solidFill>
                  <a:srgbClr val="F4F7FB"/>
                </a:solidFill>
                <a:latin typeface="Consolas"/>
              </a:rPr>
              <a:t>mapear</a:t>
            </a:r>
            <a:r>
              <a:rPr sz="1120" b="0" dirty="0">
                <a:solidFill>
                  <a:srgbClr val="F4F7FB"/>
                </a:solidFill>
                <a:latin typeface="Consolas"/>
              </a:rPr>
              <a:t>(doc)]
</a:t>
            </a:r>
            <a:r>
              <a:rPr sz="1120" b="0" dirty="0" err="1">
                <a:solidFill>
                  <a:srgbClr val="F4F7FB"/>
                </a:solidFill>
                <a:latin typeface="Consolas"/>
              </a:rPr>
              <a:t>agrupados</a:t>
            </a:r>
            <a:r>
              <a:rPr sz="1120" b="0" dirty="0">
                <a:solidFill>
                  <a:srgbClr val="F4F7FB"/>
                </a:solidFill>
                <a:latin typeface="Consolas"/>
              </a:rPr>
              <a:t> = </a:t>
            </a:r>
            <a:r>
              <a:rPr sz="1120" b="0" dirty="0" err="1">
                <a:solidFill>
                  <a:srgbClr val="F4F7FB"/>
                </a:solidFill>
                <a:latin typeface="Consolas"/>
              </a:rPr>
              <a:t>defaultdict</a:t>
            </a:r>
            <a:r>
              <a:rPr sz="1120" b="0" dirty="0">
                <a:solidFill>
                  <a:srgbClr val="F4F7FB"/>
                </a:solidFill>
                <a:latin typeface="Consolas"/>
              </a:rPr>
              <a:t>(list)
for </a:t>
            </a:r>
            <a:r>
              <a:rPr sz="1120" b="0" dirty="0" err="1">
                <a:solidFill>
                  <a:srgbClr val="F4F7FB"/>
                </a:solidFill>
                <a:latin typeface="Consolas"/>
              </a:rPr>
              <a:t>palavra</a:t>
            </a:r>
            <a:r>
              <a:rPr sz="1120" b="0" dirty="0">
                <a:solidFill>
                  <a:srgbClr val="F4F7FB"/>
                </a:solidFill>
                <a:latin typeface="Consolas"/>
              </a:rPr>
              <a:t>, valor in </a:t>
            </a:r>
            <a:r>
              <a:rPr sz="1120" b="0" dirty="0" err="1">
                <a:solidFill>
                  <a:srgbClr val="F4F7FB"/>
                </a:solidFill>
                <a:latin typeface="Consolas"/>
              </a:rPr>
              <a:t>mapeados</a:t>
            </a:r>
            <a:r>
              <a:rPr sz="1120" b="0" dirty="0">
                <a:solidFill>
                  <a:srgbClr val="F4F7FB"/>
                </a:solidFill>
                <a:latin typeface="Consolas"/>
              </a:rPr>
              <a:t>:
    </a:t>
            </a:r>
            <a:r>
              <a:rPr sz="1120" b="0" dirty="0" err="1">
                <a:solidFill>
                  <a:srgbClr val="F4F7FB"/>
                </a:solidFill>
                <a:latin typeface="Consolas"/>
              </a:rPr>
              <a:t>agrupados</a:t>
            </a:r>
            <a:r>
              <a:rPr sz="1120" b="0" dirty="0">
                <a:solidFill>
                  <a:srgbClr val="F4F7FB"/>
                </a:solidFill>
                <a:latin typeface="Consolas"/>
              </a:rPr>
              <a:t>[</a:t>
            </a:r>
            <a:r>
              <a:rPr sz="1120" b="0" dirty="0" err="1">
                <a:solidFill>
                  <a:srgbClr val="F4F7FB"/>
                </a:solidFill>
                <a:latin typeface="Consolas"/>
              </a:rPr>
              <a:t>palavra</a:t>
            </a:r>
            <a:r>
              <a:rPr sz="1120" b="0" dirty="0">
                <a:solidFill>
                  <a:srgbClr val="F4F7FB"/>
                </a:solidFill>
                <a:latin typeface="Consolas"/>
              </a:rPr>
              <a:t>].append(valor)
</a:t>
            </a:r>
            <a:r>
              <a:rPr sz="1120" b="0" dirty="0" err="1">
                <a:solidFill>
                  <a:srgbClr val="F4F7FB"/>
                </a:solidFill>
                <a:latin typeface="Consolas"/>
              </a:rPr>
              <a:t>resultado</a:t>
            </a:r>
            <a:r>
              <a:rPr sz="1120" b="0" dirty="0">
                <a:solidFill>
                  <a:srgbClr val="F4F7FB"/>
                </a:solidFill>
                <a:latin typeface="Consolas"/>
              </a:rPr>
              <a:t> = {p: sum(v) for p, v in </a:t>
            </a:r>
            <a:r>
              <a:rPr sz="1120" b="0" dirty="0" err="1">
                <a:solidFill>
                  <a:srgbClr val="F4F7FB"/>
                </a:solidFill>
                <a:latin typeface="Consolas"/>
              </a:rPr>
              <a:t>agrupados.items</a:t>
            </a:r>
            <a:r>
              <a:rPr sz="1120" b="0" dirty="0">
                <a:solidFill>
                  <a:srgbClr val="F4F7FB"/>
                </a:solidFill>
                <a:latin typeface="Consolas"/>
              </a:rPr>
              <a:t>()}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23F"/>
                </a:solidFill>
                <a:latin typeface="Arial"/>
              </a:rPr>
              <a:t>Do exemplo local ao Big Data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1738B"/>
                </a:solidFill>
                <a:latin typeface="Arial"/>
              </a:rPr>
              <a:t>UNIP • GTI – Oferta 2026 - Gestão e Análise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1738B"/>
                </a:solidFill>
                <a:latin typeface="Arial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74720" cy="4069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91440" cy="4069080"/>
          </a:xfrm>
          <a:prstGeom prst="rect">
            <a:avLst/>
          </a:prstGeom>
          <a:solidFill>
            <a:srgbClr val="2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81912"/>
            <a:ext cx="3090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B223F"/>
                </a:solidFill>
                <a:latin typeface="Arial"/>
              </a:rPr>
              <a:t>Python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309067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11111"/>
                </a:solidFill>
                <a:latin typeface="Arial"/>
              </a:rPr>
              <a:t>Listas
Pandas
multiprocessing
Uma máquina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417320"/>
            <a:ext cx="3474720" cy="4069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61688" y="1417320"/>
            <a:ext cx="91440" cy="4069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581912"/>
            <a:ext cx="3090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B223F"/>
                </a:solidFill>
                <a:latin typeface="Arial"/>
              </a:rPr>
              <a:t>Hadoop MapReduce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039112"/>
            <a:ext cx="309067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11111"/>
                </a:solidFill>
                <a:latin typeface="Arial"/>
              </a:rPr>
              <a:t>HDFS + MapReduce
Processamento distribuído
Múltiplos nós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417320"/>
            <a:ext cx="3474720" cy="4069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83296" y="1417320"/>
            <a:ext cx="91440" cy="40690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1896" y="1581912"/>
            <a:ext cx="3090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B223F"/>
                </a:solidFill>
                <a:latin typeface="Arial"/>
              </a:rPr>
              <a:t>Apache Spark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039112"/>
            <a:ext cx="309067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11111"/>
                </a:solidFill>
                <a:latin typeface="Arial"/>
              </a:rPr>
              <a:t>Processamento distribuído
Uso intensivo de memória
APIs modernas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692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223F"/>
                </a:solidFill>
                <a:latin typeface="Arial"/>
              </a:rPr>
              <a:t>O algoritmo didático é pequeno; o paradigma é o mesmo quando o volume cresce.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23F"/>
                </a:solidFill>
                <a:latin typeface="Arial"/>
              </a:rPr>
              <a:t>Laboratório — MapReduce de vendas por cidade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1738B"/>
                </a:solidFill>
                <a:latin typeface="Arial"/>
              </a:rPr>
              <a:t>UNIP • GTI – Oferta 2026 - Gestão e Análise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1738B"/>
                </a:solidFill>
                <a:latin typeface="Arial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B223F"/>
                </a:solidFill>
                <a:latin typeface="Arial"/>
              </a:rPr>
              <a:t>Dados de entrada: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4114800" cy="3429000"/>
          </a:xfrm>
          <a:prstGeom prst="roundRect">
            <a:avLst/>
          </a:prstGeom>
          <a:solidFill>
            <a:srgbClr val="112338"/>
          </a:solidFill>
          <a:ln>
            <a:solidFill>
              <a:srgbClr val="233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737360"/>
            <a:ext cx="3785615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F4F7FB"/>
                </a:solidFill>
                <a:latin typeface="Consolas"/>
              </a:rPr>
              <a:t>vendas = [
 ('São Paulo', 100),
 ('Campinas', 50),
 ('São Paulo', 200),
 ('Sorocaba', 80),
 ('Campinas', 120),
 ('São Paulo', 150),
 ('Sorocaba', 70)
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3716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B223F"/>
                </a:solidFill>
                <a:latin typeface="Arial"/>
              </a:rPr>
              <a:t>Tarefa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874519"/>
            <a:ext cx="5669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11111"/>
                </a:solidFill>
                <a:latin typeface="Arial"/>
              </a:defRPr>
            </a:pPr>
            <a:r>
              <a:t>• implemente MAP</a:t>
            </a:r>
          </a:p>
          <a:p>
            <a:pPr>
              <a:spcAft>
                <a:spcPts val="700"/>
              </a:spcAft>
              <a:defRPr sz="1900">
                <a:solidFill>
                  <a:srgbClr val="111111"/>
                </a:solidFill>
                <a:latin typeface="Arial"/>
              </a:defRPr>
            </a:pPr>
            <a:r>
              <a:t>• faça o SHUFFLE por cidade</a:t>
            </a:r>
          </a:p>
          <a:p>
            <a:pPr>
              <a:spcAft>
                <a:spcPts val="700"/>
              </a:spcAft>
              <a:defRPr sz="1900">
                <a:solidFill>
                  <a:srgbClr val="111111"/>
                </a:solidFill>
                <a:latin typeface="Arial"/>
              </a:defRPr>
            </a:pPr>
            <a:r>
              <a:t>• implemente REDUCE com sum()</a:t>
            </a:r>
          </a:p>
          <a:p>
            <a:pPr>
              <a:spcAft>
                <a:spcPts val="700"/>
              </a:spcAft>
              <a:defRPr sz="1900">
                <a:solidFill>
                  <a:srgbClr val="111111"/>
                </a:solidFill>
                <a:latin typeface="Arial"/>
              </a:defRPr>
            </a:pPr>
            <a:r>
              <a:t>• obtenha o total de vendas por cidade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4617720"/>
            <a:ext cx="21031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223F"/>
                </a:solidFill>
                <a:latin typeface="Arial"/>
              </a:rPr>
              <a:t>Resultado esperado: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5029200"/>
            <a:ext cx="57150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70AD47"/>
                </a:solidFill>
                <a:latin typeface="Arial"/>
              </a:rPr>
              <a:t>São Paulo = 450   •   Campinas = 170   •   Sorocaba = 150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23F"/>
                </a:solidFill>
                <a:latin typeface="Arial"/>
              </a:rPr>
              <a:t>Síntese da aula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1738B"/>
                </a:solidFill>
                <a:latin typeface="Arial"/>
              </a:rPr>
              <a:t>UNIP • GTI – Oferta 2026 - Gestão e Análise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5566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1738B"/>
                </a:solidFill>
                <a:latin typeface="Arial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1417320"/>
            <a:ext cx="4754880" cy="685800"/>
          </a:xfrm>
          <a:prstGeom prst="roundRect">
            <a:avLst/>
          </a:prstGeom>
          <a:solidFill>
            <a:srgbClr val="0B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0" y="15544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BIG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5544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Arial"/>
              </a:rPr>
              <a:t>5 Vs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121408"/>
            <a:ext cx="0" cy="192024"/>
          </a:xfrm>
          <a:prstGeom prst="line">
            <a:avLst/>
          </a:prstGeom>
          <a:ln w="22860">
            <a:solidFill>
              <a:srgbClr val="617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03320" y="2331720"/>
            <a:ext cx="4754880" cy="685800"/>
          </a:xfrm>
          <a:prstGeom prst="roundRect">
            <a:avLst/>
          </a:prstGeom>
          <a:solidFill>
            <a:srgbClr val="4A7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0" y="246887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ESCALA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468879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Arial"/>
              </a:rPr>
              <a:t>Scale Up / Scale Out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3035808"/>
            <a:ext cx="0" cy="192024"/>
          </a:xfrm>
          <a:prstGeom prst="line">
            <a:avLst/>
          </a:prstGeom>
          <a:ln w="22860">
            <a:solidFill>
              <a:srgbClr val="617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703320" y="3246120"/>
            <a:ext cx="4754880" cy="685800"/>
          </a:xfrm>
          <a:prstGeom prst="roundRect">
            <a:avLst/>
          </a:prstGeom>
          <a:solidFill>
            <a:srgbClr val="2F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0" y="338327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383279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Arial"/>
              </a:rPr>
              <a:t>Transformar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3950208"/>
            <a:ext cx="0" cy="192023"/>
          </a:xfrm>
          <a:prstGeom prst="line">
            <a:avLst/>
          </a:prstGeom>
          <a:ln w="22860">
            <a:solidFill>
              <a:srgbClr val="617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703320" y="4160520"/>
            <a:ext cx="4754880" cy="6858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0" y="4297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SHUFFLE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42976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Arial"/>
              </a:rPr>
              <a:t>Agrupar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4864608"/>
            <a:ext cx="0" cy="192023"/>
          </a:xfrm>
          <a:prstGeom prst="line">
            <a:avLst/>
          </a:prstGeom>
          <a:ln w="22860">
            <a:solidFill>
              <a:srgbClr val="617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703320" y="5074920"/>
            <a:ext cx="4754880" cy="6858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0" y="5212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REDUCE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52120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FFFFFF"/>
                </a:solidFill>
                <a:latin typeface="Arial"/>
              </a:rPr>
              <a:t>Agregar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943600"/>
            <a:ext cx="10424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11111"/>
                </a:solidFill>
                <a:latin typeface="Arial"/>
              </a:rPr>
              <a:t>Big Data exige pensar não só no algoritmo, mas na forma como os dados serão distribuídos e processados.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1433</Words>
  <Application>Microsoft Office PowerPoint</Application>
  <PresentationFormat>Widescreen</PresentationFormat>
  <Paragraphs>209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usuario6</cp:lastModifiedBy>
  <cp:revision>2</cp:revision>
  <dcterms:created xsi:type="dcterms:W3CDTF">2013-01-27T09:14:16Z</dcterms:created>
  <dcterms:modified xsi:type="dcterms:W3CDTF">2026-10-13T05:58:39Z</dcterms:modified>
  <cp:category/>
</cp:coreProperties>
</file>