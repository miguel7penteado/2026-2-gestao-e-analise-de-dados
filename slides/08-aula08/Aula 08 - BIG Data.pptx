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AC453D5-3003-46C4-8E15-342FE808A8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BB0990C-2635-43BD-A49E-F2F3262FC7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B7115E3-4A02-420F-A7CE-783EF65F1D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0F2C6D3-77E5-45C3-BEC3-0AEF23E749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DAD8F10-EB1C-474D-B7E5-22FF4BF8A3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89C752-FC22-425A-B326-7C7AC0389C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174A6D3-4B8A-400E-BB00-586AA86F7E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F875F06-0168-459F-983B-94F1CFF79D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0709063-69BB-4239-8D04-ED275A9A78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do texto do título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0C49CCD-3F41-42C8-8CA5-A72F167608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0AC152-822C-47AA-9396-FC3EECE094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22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760" cy="712800"/>
          </a:xfrm>
          <a:prstGeom prst="rect">
            <a:avLst/>
          </a:prstGeom>
          <a:solidFill>
            <a:srgbClr val="4A77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0" y="5925240"/>
            <a:ext cx="12191760" cy="712800"/>
          </a:xfrm>
          <a:prstGeom prst="rect">
            <a:avLst/>
          </a:prstGeom>
          <a:solidFill>
            <a:srgbClr val="4A77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3" name="Picture 3" descr="unip_logo.png"/>
          <p:cNvPicPr/>
          <p:nvPr/>
        </p:nvPicPr>
        <p:blipFill>
          <a:blip r:embed="rId1"/>
          <a:stretch/>
        </p:blipFill>
        <p:spPr>
          <a:xfrm>
            <a:off x="4224600" y="18360"/>
            <a:ext cx="352008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Box 4"/>
          <p:cNvSpPr/>
          <p:nvPr/>
        </p:nvSpPr>
        <p:spPr>
          <a:xfrm>
            <a:off x="685800" y="932760"/>
            <a:ext cx="10515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Aula 08 – BIG Data</a:t>
            </a:r>
            <a:endParaRPr lang="pt-BR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731520" y="175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D7E3F4"/>
                </a:solidFill>
                <a:effectLst/>
                <a:uFillTx/>
                <a:latin typeface="Arial"/>
              </a:rPr>
              <a:t>Os 5 Vs • Processamento Distribuído • MapReduce com Python</a:t>
            </a:r>
            <a:endParaRPr lang="pt-BR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731520" y="2853000"/>
            <a:ext cx="2742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D7E3F4"/>
                </a:solidFill>
                <a:effectLst/>
                <a:uFillTx/>
                <a:latin typeface="Arial"/>
              </a:rPr>
              <a:t>Professor Miguél Suares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Rounded Rectangle 7"/>
          <p:cNvSpPr/>
          <p:nvPr/>
        </p:nvSpPr>
        <p:spPr>
          <a:xfrm>
            <a:off x="4800600" y="2788920"/>
            <a:ext cx="1691280" cy="712800"/>
          </a:xfrm>
          <a:prstGeom prst="roundRect">
            <a:avLst>
              <a:gd name="adj" fmla="val 16667"/>
            </a:avLst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4800600" y="295344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VOLUME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Rounded Rectangle 9"/>
          <p:cNvSpPr/>
          <p:nvPr/>
        </p:nvSpPr>
        <p:spPr>
          <a:xfrm>
            <a:off x="6766560" y="2788920"/>
            <a:ext cx="1691280" cy="712800"/>
          </a:xfrm>
          <a:prstGeom prst="roundRect">
            <a:avLst>
              <a:gd name="adj" fmla="val 16667"/>
            </a:avLst>
          </a:prstGeom>
          <a:solidFill>
            <a:srgbClr val="4A77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6766560" y="295344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VELOCIDADE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11"/>
          <p:cNvSpPr/>
          <p:nvPr/>
        </p:nvSpPr>
        <p:spPr>
          <a:xfrm>
            <a:off x="8732520" y="2788920"/>
            <a:ext cx="1691280" cy="712800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8732520" y="295344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VARIEDADE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13"/>
          <p:cNvSpPr/>
          <p:nvPr/>
        </p:nvSpPr>
        <p:spPr>
          <a:xfrm>
            <a:off x="4800600" y="3749040"/>
            <a:ext cx="1691280" cy="712800"/>
          </a:xfrm>
          <a:prstGeom prst="roundRect">
            <a:avLst>
              <a:gd name="adj" fmla="val 16667"/>
            </a:avLst>
          </a:prstGeom>
          <a:solidFill>
            <a:srgbClr val="70A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14"/>
          <p:cNvSpPr/>
          <p:nvPr/>
        </p:nvSpPr>
        <p:spPr>
          <a:xfrm>
            <a:off x="4800600" y="391356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VERACIDADE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Rounded Rectangle 15"/>
          <p:cNvSpPr/>
          <p:nvPr/>
        </p:nvSpPr>
        <p:spPr>
          <a:xfrm>
            <a:off x="6766560" y="3749040"/>
            <a:ext cx="1691280" cy="712800"/>
          </a:xfrm>
          <a:prstGeom prst="roundRect">
            <a:avLst>
              <a:gd name="adj" fmla="val 16667"/>
            </a:avLst>
          </a:prstGeom>
          <a:solidFill>
            <a:srgbClr val="FFE6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16"/>
          <p:cNvSpPr/>
          <p:nvPr/>
        </p:nvSpPr>
        <p:spPr>
          <a:xfrm>
            <a:off x="6766560" y="391356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VALOR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7"/>
          <p:cNvSpPr/>
          <p:nvPr/>
        </p:nvSpPr>
        <p:spPr>
          <a:xfrm>
            <a:off x="731520" y="5193720"/>
            <a:ext cx="457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D7E3F4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AGENDA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01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Oval 5"/>
          <p:cNvSpPr/>
          <p:nvPr/>
        </p:nvSpPr>
        <p:spPr>
          <a:xfrm>
            <a:off x="731520" y="1234440"/>
            <a:ext cx="475200" cy="475200"/>
          </a:xfrm>
          <a:prstGeom prst="ellipse">
            <a:avLst/>
          </a:prstGeom>
          <a:solidFill>
            <a:srgbClr val="2F69E8"/>
          </a:solidFill>
          <a:ln>
            <a:solidFill>
              <a:srgbClr val="2F69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731520" y="1316880"/>
            <a:ext cx="475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1389960" y="1252800"/>
            <a:ext cx="9600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O que é Big Data?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Oval 8"/>
          <p:cNvSpPr/>
          <p:nvPr/>
        </p:nvSpPr>
        <p:spPr>
          <a:xfrm>
            <a:off x="731520" y="1993320"/>
            <a:ext cx="475200" cy="475200"/>
          </a:xfrm>
          <a:prstGeom prst="ellipse">
            <a:avLst/>
          </a:prstGeom>
          <a:solidFill>
            <a:srgbClr val="F6F7F9"/>
          </a:solidFill>
          <a:ln>
            <a:solidFill>
              <a:srgbClr val="2F69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9"/>
          <p:cNvSpPr/>
          <p:nvPr/>
        </p:nvSpPr>
        <p:spPr>
          <a:xfrm>
            <a:off x="731520" y="2075760"/>
            <a:ext cx="475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2F69E8"/>
                </a:solidFill>
                <a:effectLst/>
                <a:uFillTx/>
                <a:latin typeface="Arial"/>
              </a:rPr>
              <a:t>2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0"/>
          <p:cNvSpPr/>
          <p:nvPr/>
        </p:nvSpPr>
        <p:spPr>
          <a:xfrm>
            <a:off x="1389960" y="2011680"/>
            <a:ext cx="9600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Os 5 Vs do Big Data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Oval 11"/>
          <p:cNvSpPr/>
          <p:nvPr/>
        </p:nvSpPr>
        <p:spPr>
          <a:xfrm>
            <a:off x="731520" y="2752200"/>
            <a:ext cx="475200" cy="475200"/>
          </a:xfrm>
          <a:prstGeom prst="ellipse">
            <a:avLst/>
          </a:prstGeom>
          <a:solidFill>
            <a:srgbClr val="F6F7F9"/>
          </a:solidFill>
          <a:ln>
            <a:solidFill>
              <a:srgbClr val="2F69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12"/>
          <p:cNvSpPr/>
          <p:nvPr/>
        </p:nvSpPr>
        <p:spPr>
          <a:xfrm>
            <a:off x="731520" y="2834640"/>
            <a:ext cx="475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2F69E8"/>
                </a:solidFill>
                <a:effectLst/>
                <a:uFillTx/>
                <a:latin typeface="Arial"/>
              </a:rPr>
              <a:t>3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3"/>
          <p:cNvSpPr/>
          <p:nvPr/>
        </p:nvSpPr>
        <p:spPr>
          <a:xfrm>
            <a:off x="1389960" y="2770560"/>
            <a:ext cx="9600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Escalabilidade e processamento distribuído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Oval 14"/>
          <p:cNvSpPr/>
          <p:nvPr/>
        </p:nvSpPr>
        <p:spPr>
          <a:xfrm>
            <a:off x="731520" y="3511440"/>
            <a:ext cx="475200" cy="475200"/>
          </a:xfrm>
          <a:prstGeom prst="ellipse">
            <a:avLst/>
          </a:prstGeom>
          <a:solidFill>
            <a:srgbClr val="F6F7F9"/>
          </a:solidFill>
          <a:ln>
            <a:solidFill>
              <a:srgbClr val="2F69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15"/>
          <p:cNvSpPr/>
          <p:nvPr/>
        </p:nvSpPr>
        <p:spPr>
          <a:xfrm>
            <a:off x="731520" y="3593520"/>
            <a:ext cx="475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2F69E8"/>
                </a:solidFill>
                <a:effectLst/>
                <a:uFillTx/>
                <a:latin typeface="Arial"/>
              </a:rPr>
              <a:t>4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16"/>
          <p:cNvSpPr/>
          <p:nvPr/>
        </p:nvSpPr>
        <p:spPr>
          <a:xfrm>
            <a:off x="1389960" y="3529440"/>
            <a:ext cx="9600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MapReduce: Map → Shuffle → Reduce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Oval 17"/>
          <p:cNvSpPr/>
          <p:nvPr/>
        </p:nvSpPr>
        <p:spPr>
          <a:xfrm>
            <a:off x="731520" y="4270320"/>
            <a:ext cx="475200" cy="475200"/>
          </a:xfrm>
          <a:prstGeom prst="ellipse">
            <a:avLst/>
          </a:prstGeom>
          <a:solidFill>
            <a:srgbClr val="F6F7F9"/>
          </a:solidFill>
          <a:ln>
            <a:solidFill>
              <a:srgbClr val="2F69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18"/>
          <p:cNvSpPr/>
          <p:nvPr/>
        </p:nvSpPr>
        <p:spPr>
          <a:xfrm>
            <a:off x="731520" y="4352400"/>
            <a:ext cx="475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2F69E8"/>
                </a:solidFill>
                <a:effectLst/>
                <a:uFillTx/>
                <a:latin typeface="Arial"/>
              </a:rPr>
              <a:t>5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9"/>
          <p:cNvSpPr/>
          <p:nvPr/>
        </p:nvSpPr>
        <p:spPr>
          <a:xfrm>
            <a:off x="1389960" y="4288680"/>
            <a:ext cx="9600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MapReduce em Python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Oval 20"/>
          <p:cNvSpPr/>
          <p:nvPr/>
        </p:nvSpPr>
        <p:spPr>
          <a:xfrm>
            <a:off x="731520" y="5029200"/>
            <a:ext cx="475200" cy="475200"/>
          </a:xfrm>
          <a:prstGeom prst="ellipse">
            <a:avLst/>
          </a:prstGeom>
          <a:solidFill>
            <a:srgbClr val="F6F7F9"/>
          </a:solidFill>
          <a:ln>
            <a:solidFill>
              <a:srgbClr val="2F69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21"/>
          <p:cNvSpPr/>
          <p:nvPr/>
        </p:nvSpPr>
        <p:spPr>
          <a:xfrm>
            <a:off x="731520" y="5111640"/>
            <a:ext cx="475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2F69E8"/>
                </a:solidFill>
                <a:effectLst/>
                <a:uFillTx/>
                <a:latin typeface="Arial"/>
              </a:rPr>
              <a:t>6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22"/>
          <p:cNvSpPr/>
          <p:nvPr/>
        </p:nvSpPr>
        <p:spPr>
          <a:xfrm>
            <a:off x="1389960" y="5047560"/>
            <a:ext cx="9600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Laboratório / exercício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1"/>
          <p:cNvSpPr/>
          <p:nvPr/>
        </p:nvSpPr>
        <p:spPr>
          <a:xfrm>
            <a:off x="822960" y="2331720"/>
            <a:ext cx="10698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5400" b="0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BIG DATA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2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3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02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26"/>
          <p:cNvSpPr/>
          <p:nvPr/>
        </p:nvSpPr>
        <p:spPr>
          <a:xfrm>
            <a:off x="502920" y="6473880"/>
            <a:ext cx="5303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7"/>
          <p:cNvSpPr/>
          <p:nvPr/>
        </p:nvSpPr>
        <p:spPr>
          <a:xfrm>
            <a:off x="11475720" y="6455520"/>
            <a:ext cx="319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02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"/>
          <p:cNvPicPr/>
          <p:nvPr/>
        </p:nvPicPr>
        <p:blipFill>
          <a:blip r:embed="rId1"/>
          <a:stretch/>
        </p:blipFill>
        <p:spPr>
          <a:xfrm>
            <a:off x="0" y="29520"/>
            <a:ext cx="8280000" cy="573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Box 25"/>
          <p:cNvSpPr/>
          <p:nvPr/>
        </p:nvSpPr>
        <p:spPr>
          <a:xfrm>
            <a:off x="8280000" y="180000"/>
            <a:ext cx="3600000" cy="33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5400" b="0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O </a:t>
            </a:r>
            <a:r>
              <a:rPr lang="en-US" sz="5400" b="0" i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Paper</a:t>
            </a:r>
            <a:r>
              <a:rPr lang="en-US" sz="5400" b="0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 que mudou tudo.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502920" y="5751360"/>
            <a:ext cx="7920000" cy="728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spAutoFit/>
          </a:bodyPr>
          <a:p>
            <a:pPr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DEAN, Jeffrey; GHEMAWAT, Sanjay. </a:t>
            </a:r>
            <a:r>
              <a:rPr lang="pt-BR" sz="1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MapReduce: simplified data processing on large clusters</a:t>
            </a:r>
            <a:r>
              <a:rPr lang="pt-B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In: OSDI´04: </a:t>
            </a:r>
            <a:r>
              <a:rPr lang="pt-BR" sz="1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SYMPOSIUM ON OPERATING SYSTEMS DESIGN AND IMPLEMENTATION</a:t>
            </a:r>
            <a:r>
              <a:rPr lang="pt-B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2004, San Francisco, CA. Proceedings... San Francisco: USENIX Association, 2004. p. 137-150. 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28"/>
          <p:cNvSpPr/>
          <p:nvPr/>
        </p:nvSpPr>
        <p:spPr>
          <a:xfrm>
            <a:off x="502920" y="6473880"/>
            <a:ext cx="5303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29"/>
          <p:cNvSpPr/>
          <p:nvPr/>
        </p:nvSpPr>
        <p:spPr>
          <a:xfrm>
            <a:off x="11475720" y="6455520"/>
            <a:ext cx="319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02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"/>
          <p:cNvPicPr/>
          <p:nvPr/>
        </p:nvPicPr>
        <p:blipFill>
          <a:blip r:embed="rId1"/>
          <a:stretch/>
        </p:blipFill>
        <p:spPr>
          <a:xfrm>
            <a:off x="0" y="29520"/>
            <a:ext cx="4860000" cy="336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"/>
          <p:cNvSpPr txBox="1"/>
          <p:nvPr/>
        </p:nvSpPr>
        <p:spPr>
          <a:xfrm>
            <a:off x="260640" y="3522960"/>
            <a:ext cx="11259360" cy="144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 marL="216000" indent="-216000" algn="just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Abstração da Complexidade: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BR" sz="1600" b="0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Antes deste artigo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programar computação distribuída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exigia </a:t>
            </a: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lidar manualmente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com o </a:t>
            </a: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envio de dados entre redes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controle de concorrência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balanceamento de carga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e, principalmente, </a:t>
            </a: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tolerância a falhas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(o que fazer se uma máquina do cluster caísse no meio do processo). O paper mostrou como esconder toda essa complexidade atrás de duas funções simples: </a:t>
            </a: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222480" y="4966920"/>
            <a:ext cx="11297520" cy="144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 marL="216000" indent="-216000" algn="just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 Nascimento do Hadoop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Inspirados por esse artigo, engenheiros de código aberto (liderados por Doug Cutting e Mike Cafarella) criaram o </a:t>
            </a: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Apache Hadoop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que implementou os conceitos do paper. O </a:t>
            </a: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Hadoop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se tornou o </a:t>
            </a: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padrão da indústria para Big Data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por muitos anos e abriu caminho para a criação de todo o ecossistema moderno de dados (como o </a:t>
            </a: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Apache Spark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Hive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HBase</a:t>
            </a: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etc.). 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O que é Big Data?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03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5"/>
          <p:cNvSpPr/>
          <p:nvPr/>
        </p:nvSpPr>
        <p:spPr>
          <a:xfrm>
            <a:off x="685800" y="1261800"/>
            <a:ext cx="107895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Big Data não significa apenas “um arquivo muito grande”.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Rounded Rectangle 6"/>
          <p:cNvSpPr/>
          <p:nvPr/>
        </p:nvSpPr>
        <p:spPr>
          <a:xfrm>
            <a:off x="731520" y="2057400"/>
            <a:ext cx="3337200" cy="2468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5DC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Rectangle 7"/>
          <p:cNvSpPr/>
          <p:nvPr/>
        </p:nvSpPr>
        <p:spPr>
          <a:xfrm>
            <a:off x="731520" y="2057400"/>
            <a:ext cx="91080" cy="246852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Box 8"/>
          <p:cNvSpPr/>
          <p:nvPr/>
        </p:nvSpPr>
        <p:spPr>
          <a:xfrm>
            <a:off x="960120" y="2221920"/>
            <a:ext cx="295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Dados tradicionais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9"/>
          <p:cNvSpPr/>
          <p:nvPr/>
        </p:nvSpPr>
        <p:spPr>
          <a:xfrm>
            <a:off x="960120" y="2679120"/>
            <a:ext cx="295308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Estrutura previsível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Volume administrável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Processamento em uma máquina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Rounded Rectangle 10"/>
          <p:cNvSpPr/>
          <p:nvPr/>
        </p:nvSpPr>
        <p:spPr>
          <a:xfrm>
            <a:off x="4434840" y="2057400"/>
            <a:ext cx="3337200" cy="2468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5DC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Rectangle 11"/>
          <p:cNvSpPr/>
          <p:nvPr/>
        </p:nvSpPr>
        <p:spPr>
          <a:xfrm>
            <a:off x="4434840" y="2057400"/>
            <a:ext cx="91080" cy="2468520"/>
          </a:xfrm>
          <a:prstGeom prst="rect">
            <a:avLst/>
          </a:prstGeom>
          <a:solidFill>
            <a:srgbClr val="4A77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12"/>
          <p:cNvSpPr/>
          <p:nvPr/>
        </p:nvSpPr>
        <p:spPr>
          <a:xfrm>
            <a:off x="4663440" y="2221920"/>
            <a:ext cx="295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Big Data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13"/>
          <p:cNvSpPr/>
          <p:nvPr/>
        </p:nvSpPr>
        <p:spPr>
          <a:xfrm>
            <a:off x="4663440" y="2679120"/>
            <a:ext cx="295308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Escala elevada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Alta taxa de geração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Múltiplos formatos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ounded Rectangle 14"/>
          <p:cNvSpPr/>
          <p:nvPr/>
        </p:nvSpPr>
        <p:spPr>
          <a:xfrm>
            <a:off x="8138160" y="2057400"/>
            <a:ext cx="3337200" cy="2468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5DC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ectangle 15"/>
          <p:cNvSpPr/>
          <p:nvPr/>
        </p:nvSpPr>
        <p:spPr>
          <a:xfrm>
            <a:off x="8138160" y="2057400"/>
            <a:ext cx="91080" cy="246852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Box 16"/>
          <p:cNvSpPr/>
          <p:nvPr/>
        </p:nvSpPr>
        <p:spPr>
          <a:xfrm>
            <a:off x="8366760" y="2221920"/>
            <a:ext cx="295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Desafio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17"/>
          <p:cNvSpPr/>
          <p:nvPr/>
        </p:nvSpPr>
        <p:spPr>
          <a:xfrm>
            <a:off x="8366760" y="2679120"/>
            <a:ext cx="295308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Armazenar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Processar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Extrair informação útil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8"/>
          <p:cNvSpPr/>
          <p:nvPr/>
        </p:nvSpPr>
        <p:spPr>
          <a:xfrm>
            <a:off x="868680" y="5010840"/>
            <a:ext cx="10423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Quando as soluções tradicionais deixam de atender bem, distribuímos armazenamento e processamento.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Os 5 Vs do Big Data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04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Oval 5"/>
          <p:cNvSpPr/>
          <p:nvPr/>
        </p:nvSpPr>
        <p:spPr>
          <a:xfrm>
            <a:off x="4846320" y="2331720"/>
            <a:ext cx="2331360" cy="1234080"/>
          </a:xfrm>
          <a:prstGeom prst="ellipse">
            <a:avLst/>
          </a:prstGeom>
          <a:solidFill>
            <a:srgbClr val="0B22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Box 6"/>
          <p:cNvSpPr/>
          <p:nvPr/>
        </p:nvSpPr>
        <p:spPr>
          <a:xfrm>
            <a:off x="4846320" y="2670120"/>
            <a:ext cx="2331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BIG DATA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7"/>
          <p:cNvSpPr/>
          <p:nvPr/>
        </p:nvSpPr>
        <p:spPr>
          <a:xfrm>
            <a:off x="914400" y="1417320"/>
            <a:ext cx="2514240" cy="959760"/>
          </a:xfrm>
          <a:prstGeom prst="roundRect">
            <a:avLst>
              <a:gd name="adj" fmla="val 16667"/>
            </a:avLst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8"/>
          <p:cNvSpPr/>
          <p:nvPr/>
        </p:nvSpPr>
        <p:spPr>
          <a:xfrm>
            <a:off x="914400" y="1527120"/>
            <a:ext cx="2514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VOLUME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9"/>
          <p:cNvSpPr/>
          <p:nvPr/>
        </p:nvSpPr>
        <p:spPr>
          <a:xfrm>
            <a:off x="914400" y="189288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Quanto?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10"/>
          <p:cNvSpPr/>
          <p:nvPr/>
        </p:nvSpPr>
        <p:spPr>
          <a:xfrm>
            <a:off x="8869680" y="1417320"/>
            <a:ext cx="2514240" cy="959760"/>
          </a:xfrm>
          <a:prstGeom prst="roundRect">
            <a:avLst>
              <a:gd name="adj" fmla="val 16667"/>
            </a:avLst>
          </a:prstGeom>
          <a:solidFill>
            <a:srgbClr val="4A77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Box 11"/>
          <p:cNvSpPr/>
          <p:nvPr/>
        </p:nvSpPr>
        <p:spPr>
          <a:xfrm>
            <a:off x="8869680" y="1527120"/>
            <a:ext cx="2514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VELOCIDADE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12"/>
          <p:cNvSpPr/>
          <p:nvPr/>
        </p:nvSpPr>
        <p:spPr>
          <a:xfrm>
            <a:off x="8869680" y="189288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Quão rápido?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ounded Rectangle 13"/>
          <p:cNvSpPr/>
          <p:nvPr/>
        </p:nvSpPr>
        <p:spPr>
          <a:xfrm>
            <a:off x="777240" y="4069080"/>
            <a:ext cx="2514240" cy="959760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TextBox 14"/>
          <p:cNvSpPr/>
          <p:nvPr/>
        </p:nvSpPr>
        <p:spPr>
          <a:xfrm>
            <a:off x="777240" y="4178880"/>
            <a:ext cx="2514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VARIEDADE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15"/>
          <p:cNvSpPr/>
          <p:nvPr/>
        </p:nvSpPr>
        <p:spPr>
          <a:xfrm>
            <a:off x="777240" y="454464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Quais formatos?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ounded Rectangle 16"/>
          <p:cNvSpPr/>
          <p:nvPr/>
        </p:nvSpPr>
        <p:spPr>
          <a:xfrm>
            <a:off x="8732520" y="4069080"/>
            <a:ext cx="2514240" cy="959760"/>
          </a:xfrm>
          <a:prstGeom prst="roundRect">
            <a:avLst>
              <a:gd name="adj" fmla="val 16667"/>
            </a:avLst>
          </a:prstGeom>
          <a:solidFill>
            <a:srgbClr val="70A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17"/>
          <p:cNvSpPr/>
          <p:nvPr/>
        </p:nvSpPr>
        <p:spPr>
          <a:xfrm>
            <a:off x="8732520" y="4178880"/>
            <a:ext cx="2514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VERACIDADE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18"/>
          <p:cNvSpPr/>
          <p:nvPr/>
        </p:nvSpPr>
        <p:spPr>
          <a:xfrm>
            <a:off x="8732520" y="454464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É confiável?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19"/>
          <p:cNvSpPr/>
          <p:nvPr/>
        </p:nvSpPr>
        <p:spPr>
          <a:xfrm>
            <a:off x="4434840" y="4572000"/>
            <a:ext cx="2514240" cy="959760"/>
          </a:xfrm>
          <a:prstGeom prst="roundRect">
            <a:avLst>
              <a:gd name="adj" fmla="val 16667"/>
            </a:avLst>
          </a:prstGeom>
          <a:solidFill>
            <a:srgbClr val="FFE6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20"/>
          <p:cNvSpPr/>
          <p:nvPr/>
        </p:nvSpPr>
        <p:spPr>
          <a:xfrm>
            <a:off x="4434840" y="4681800"/>
            <a:ext cx="2514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VALOR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21"/>
          <p:cNvSpPr/>
          <p:nvPr/>
        </p:nvSpPr>
        <p:spPr>
          <a:xfrm>
            <a:off x="4434840" y="5047560"/>
            <a:ext cx="2514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Para que serve?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V1 — Volume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05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5"/>
          <p:cNvSpPr/>
          <p:nvPr/>
        </p:nvSpPr>
        <p:spPr>
          <a:xfrm>
            <a:off x="685800" y="1234440"/>
            <a:ext cx="10698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Quantidade de dados produzidos, armazenados ou processados.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6"/>
          <p:cNvSpPr/>
          <p:nvPr/>
        </p:nvSpPr>
        <p:spPr>
          <a:xfrm>
            <a:off x="731520" y="1874520"/>
            <a:ext cx="521172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• milhões ou bilhões de registros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• imagens de satélite e vídeos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• logs, sensores e transações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• o conjunto pode superar a memória de uma única máquina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7"/>
          <p:cNvSpPr/>
          <p:nvPr/>
        </p:nvSpPr>
        <p:spPr>
          <a:xfrm>
            <a:off x="6309360" y="1691640"/>
            <a:ext cx="4800240" cy="3154320"/>
          </a:xfrm>
          <a:prstGeom prst="roundRect">
            <a:avLst>
              <a:gd name="adj" fmla="val 16667"/>
            </a:avLst>
          </a:prstGeom>
          <a:solidFill>
            <a:srgbClr val="112338"/>
          </a:solidFill>
          <a:ln>
            <a:solidFill>
              <a:srgbClr val="233B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8"/>
          <p:cNvSpPr/>
          <p:nvPr/>
        </p:nvSpPr>
        <p:spPr>
          <a:xfrm>
            <a:off x="6473880" y="1828800"/>
            <a:ext cx="4471200" cy="28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import random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dados = [random.randint(1, 100)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        for _ in range(1_000_000)]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print(len(dados))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# 1000000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9"/>
          <p:cNvSpPr/>
          <p:nvPr/>
        </p:nvSpPr>
        <p:spPr>
          <a:xfrm>
            <a:off x="6355080" y="507492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ED7D31"/>
                </a:solidFill>
                <a:effectLst/>
                <a:uFillTx/>
                <a:latin typeface="Arial"/>
              </a:rPr>
              <a:t>Problema de escala: o que acontece com 1 bilhão de registros?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V2 — Velocidade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06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5"/>
          <p:cNvSpPr/>
          <p:nvPr/>
        </p:nvSpPr>
        <p:spPr>
          <a:xfrm>
            <a:off x="685800" y="1234440"/>
            <a:ext cx="10698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Rapidez com que os dados chegam e precisam ser processados.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Rounded Rectangle 6"/>
          <p:cNvSpPr/>
          <p:nvPr/>
        </p:nvSpPr>
        <p:spPr>
          <a:xfrm>
            <a:off x="731520" y="1828800"/>
            <a:ext cx="329148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5DC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Rectangle 7"/>
          <p:cNvSpPr/>
          <p:nvPr/>
        </p:nvSpPr>
        <p:spPr>
          <a:xfrm>
            <a:off x="731520" y="1828800"/>
            <a:ext cx="91080" cy="255996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TextBox 8"/>
          <p:cNvSpPr/>
          <p:nvPr/>
        </p:nvSpPr>
        <p:spPr>
          <a:xfrm>
            <a:off x="960120" y="1993320"/>
            <a:ext cx="290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Streaming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9"/>
          <p:cNvSpPr/>
          <p:nvPr/>
        </p:nvSpPr>
        <p:spPr>
          <a:xfrm>
            <a:off x="960120" y="2450520"/>
            <a:ext cx="2907360" cy="178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Sensores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Mercado financeiro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GPS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Redes sociais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ounded Rectangle 10"/>
          <p:cNvSpPr/>
          <p:nvPr/>
        </p:nvSpPr>
        <p:spPr>
          <a:xfrm>
            <a:off x="4434840" y="1828800"/>
            <a:ext cx="329148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5DC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Rectangle 11"/>
          <p:cNvSpPr/>
          <p:nvPr/>
        </p:nvSpPr>
        <p:spPr>
          <a:xfrm>
            <a:off x="4434840" y="1828800"/>
            <a:ext cx="91080" cy="255996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12"/>
          <p:cNvSpPr/>
          <p:nvPr/>
        </p:nvSpPr>
        <p:spPr>
          <a:xfrm>
            <a:off x="4663440" y="1993320"/>
            <a:ext cx="290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Latência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13"/>
          <p:cNvSpPr/>
          <p:nvPr/>
        </p:nvSpPr>
        <p:spPr>
          <a:xfrm>
            <a:off x="4663440" y="2450520"/>
            <a:ext cx="29073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Quanto tempo pode passar entre </a:t>
            </a:r>
            <a:r>
              <a:rPr lang="en-US" sz="14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o dado chegar</a:t>
            </a:r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 e uma </a:t>
            </a:r>
            <a:r>
              <a:rPr lang="en-US" sz="14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decisão ser produzida</a:t>
            </a:r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?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ounded Rectangle 14"/>
          <p:cNvSpPr/>
          <p:nvPr/>
        </p:nvSpPr>
        <p:spPr>
          <a:xfrm>
            <a:off x="7955280" y="1691640"/>
            <a:ext cx="3520080" cy="3017160"/>
          </a:xfrm>
          <a:prstGeom prst="roundRect">
            <a:avLst>
              <a:gd name="adj" fmla="val 16667"/>
            </a:avLst>
          </a:prstGeom>
          <a:solidFill>
            <a:srgbClr val="112338"/>
          </a:solidFill>
          <a:ln>
            <a:solidFill>
              <a:srgbClr val="233B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15"/>
          <p:cNvSpPr/>
          <p:nvPr/>
        </p:nvSpPr>
        <p:spPr>
          <a:xfrm>
            <a:off x="8119800" y="1828800"/>
            <a:ext cx="3191040" cy="1233000"/>
          </a:xfrm>
          <a:prstGeom prst="rect">
            <a:avLst/>
          </a:prstGeom>
          <a:solidFill>
            <a:srgbClr val="FFFFD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import time, random</a:t>
            </a:r>
            <a:endParaRPr lang="pt-BR" sz="125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pt-BR" sz="125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for i in range(5):</a:t>
            </a:r>
            <a:endParaRPr lang="pt-BR" sz="125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 temp = random.uniform(20, 35)</a:t>
            </a:r>
            <a:endParaRPr lang="pt-BR" sz="125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 print(f'{temp:.2f} °C')</a:t>
            </a:r>
            <a:endParaRPr lang="pt-BR" sz="125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 time.sleep(1)</a:t>
            </a:r>
            <a:endParaRPr lang="pt-BR" sz="125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16"/>
          <p:cNvSpPr/>
          <p:nvPr/>
        </p:nvSpPr>
        <p:spPr>
          <a:xfrm>
            <a:off x="868680" y="5074920"/>
            <a:ext cx="10332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Em alguns problemas, “processar depois” significa perder o valor do dado.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V3 — Variedade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07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685800" y="1234440"/>
            <a:ext cx="10698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Dados podem assumir diferentes estruturas e formatos.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6"/>
          <p:cNvSpPr/>
          <p:nvPr/>
        </p:nvSpPr>
        <p:spPr>
          <a:xfrm>
            <a:off x="685800" y="1874520"/>
            <a:ext cx="342864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5DC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Rectangle 7"/>
          <p:cNvSpPr/>
          <p:nvPr/>
        </p:nvSpPr>
        <p:spPr>
          <a:xfrm>
            <a:off x="685800" y="1874520"/>
            <a:ext cx="91080" cy="255996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8"/>
          <p:cNvSpPr/>
          <p:nvPr/>
        </p:nvSpPr>
        <p:spPr>
          <a:xfrm>
            <a:off x="914400" y="2039040"/>
            <a:ext cx="304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Estruturados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914400" y="2496240"/>
            <a:ext cx="3044520" cy="178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Tabelas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SQL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CSV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DataFrames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10"/>
          <p:cNvSpPr/>
          <p:nvPr/>
        </p:nvSpPr>
        <p:spPr>
          <a:xfrm>
            <a:off x="4389120" y="1874520"/>
            <a:ext cx="342864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5DC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Rectangle 11"/>
          <p:cNvSpPr/>
          <p:nvPr/>
        </p:nvSpPr>
        <p:spPr>
          <a:xfrm>
            <a:off x="4389120" y="1874520"/>
            <a:ext cx="91080" cy="2559960"/>
          </a:xfrm>
          <a:prstGeom prst="rect">
            <a:avLst/>
          </a:prstGeom>
          <a:solidFill>
            <a:srgbClr val="4A77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4617720" y="2039040"/>
            <a:ext cx="304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Semiestruturados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3"/>
          <p:cNvSpPr/>
          <p:nvPr/>
        </p:nvSpPr>
        <p:spPr>
          <a:xfrm>
            <a:off x="4617720" y="2496240"/>
            <a:ext cx="3044520" cy="178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JSON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XML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Logs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Mensagens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Rounded Rectangle 14"/>
          <p:cNvSpPr/>
          <p:nvPr/>
        </p:nvSpPr>
        <p:spPr>
          <a:xfrm>
            <a:off x="8092440" y="1874520"/>
            <a:ext cx="3428640" cy="2559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5DC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Rectangle 15"/>
          <p:cNvSpPr/>
          <p:nvPr/>
        </p:nvSpPr>
        <p:spPr>
          <a:xfrm>
            <a:off x="8092440" y="1874520"/>
            <a:ext cx="91080" cy="255996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Box 16"/>
          <p:cNvSpPr/>
          <p:nvPr/>
        </p:nvSpPr>
        <p:spPr>
          <a:xfrm>
            <a:off x="8321040" y="2039040"/>
            <a:ext cx="304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Não estruturados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17"/>
          <p:cNvSpPr/>
          <p:nvPr/>
        </p:nvSpPr>
        <p:spPr>
          <a:xfrm>
            <a:off x="8321040" y="2496240"/>
            <a:ext cx="3044520" cy="178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Texto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Imagens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Áudio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Vídeo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Rounded Rectangle 18"/>
          <p:cNvSpPr/>
          <p:nvPr/>
        </p:nvSpPr>
        <p:spPr>
          <a:xfrm>
            <a:off x="4233600" y="4663440"/>
            <a:ext cx="3702960" cy="1470600"/>
          </a:xfrm>
          <a:prstGeom prst="roundRect">
            <a:avLst>
              <a:gd name="adj" fmla="val 16667"/>
            </a:avLst>
          </a:prstGeom>
          <a:solidFill>
            <a:srgbClr val="112338"/>
          </a:solidFill>
          <a:ln>
            <a:solidFill>
              <a:srgbClr val="233B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TextBox 19"/>
          <p:cNvSpPr/>
          <p:nvPr/>
        </p:nvSpPr>
        <p:spPr>
          <a:xfrm>
            <a:off x="4398120" y="4800600"/>
            <a:ext cx="3373920" cy="121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3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registro = {</a:t>
            </a:r>
            <a:endParaRPr lang="pt-BR" sz="12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3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 "sensor": "A01",</a:t>
            </a:r>
            <a:endParaRPr lang="pt-BR" sz="12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3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 "lat": -23.55,</a:t>
            </a:r>
            <a:endParaRPr lang="pt-BR" sz="12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3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 "lon": -46.63,</a:t>
            </a:r>
            <a:endParaRPr lang="pt-BR" sz="12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3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 "temp": 27.4</a:t>
            </a:r>
            <a:endParaRPr lang="pt-BR" sz="12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3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}</a:t>
            </a:r>
            <a:endParaRPr lang="pt-BR" sz="12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V4 — Veracidade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08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5"/>
          <p:cNvSpPr/>
          <p:nvPr/>
        </p:nvSpPr>
        <p:spPr>
          <a:xfrm>
            <a:off x="685800" y="1234440"/>
            <a:ext cx="10698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Quantidade não substitui qualidade.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6"/>
          <p:cNvSpPr/>
          <p:nvPr/>
        </p:nvSpPr>
        <p:spPr>
          <a:xfrm>
            <a:off x="731520" y="1874520"/>
            <a:ext cx="384012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• valores ausentes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• duplicidades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• erros de medição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• valores impossíveis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• dados desatualizados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Rounded Rectangle 7"/>
          <p:cNvSpPr/>
          <p:nvPr/>
        </p:nvSpPr>
        <p:spPr>
          <a:xfrm>
            <a:off x="4709160" y="1691640"/>
            <a:ext cx="6537600" cy="3337200"/>
          </a:xfrm>
          <a:prstGeom prst="roundRect">
            <a:avLst>
              <a:gd name="adj" fmla="val 16667"/>
            </a:avLst>
          </a:prstGeom>
          <a:solidFill>
            <a:srgbClr val="112338"/>
          </a:solidFill>
          <a:ln>
            <a:solidFill>
              <a:srgbClr val="233B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TextBox 8"/>
          <p:cNvSpPr/>
          <p:nvPr/>
        </p:nvSpPr>
        <p:spPr>
          <a:xfrm>
            <a:off x="4873680" y="1828800"/>
            <a:ext cx="620856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3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idades = [18, 21, 35, -5, 42, 250, None, 30]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validas = [x for x in idades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          if x is not None and 0 &lt;= x &lt;= 120]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print(validas)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# [18, 21, 35, 42, 30]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9"/>
          <p:cNvSpPr/>
          <p:nvPr/>
        </p:nvSpPr>
        <p:spPr>
          <a:xfrm>
            <a:off x="868680" y="5166360"/>
            <a:ext cx="10286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ED7D31"/>
                </a:solidFill>
                <a:effectLst/>
                <a:uFillTx/>
                <a:latin typeface="Arial"/>
              </a:rPr>
              <a:t>Veracidade = podemos confiar no dado antes de transformá-lo em decisão?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V5 — Valor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09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5"/>
          <p:cNvSpPr/>
          <p:nvPr/>
        </p:nvSpPr>
        <p:spPr>
          <a:xfrm>
            <a:off x="685800" y="1234440"/>
            <a:ext cx="10698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O objetivo final não é acumular dados: é gerar informação útil.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Rounded Rectangle 6"/>
          <p:cNvSpPr/>
          <p:nvPr/>
        </p:nvSpPr>
        <p:spPr>
          <a:xfrm>
            <a:off x="822960" y="2240280"/>
            <a:ext cx="2148480" cy="914040"/>
          </a:xfrm>
          <a:prstGeom prst="roundRect">
            <a:avLst>
              <a:gd name="adj" fmla="val 16667"/>
            </a:avLst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7"/>
          <p:cNvSpPr/>
          <p:nvPr/>
        </p:nvSpPr>
        <p:spPr>
          <a:xfrm>
            <a:off x="822960" y="2505600"/>
            <a:ext cx="2148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DADOS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2" name="Connector 8"/>
          <p:cNvCxnSpPr/>
          <p:nvPr/>
        </p:nvCxnSpPr>
        <p:spPr>
          <a:xfrm>
            <a:off x="3017520" y="2697480"/>
            <a:ext cx="503280" cy="360"/>
          </a:xfrm>
          <a:prstGeom prst="straightConnector1">
            <a:avLst/>
          </a:prstGeom>
          <a:ln w="27940">
            <a:solidFill>
              <a:srgbClr val="0B223F"/>
            </a:solidFill>
            <a:round/>
          </a:ln>
        </p:spPr>
      </p:cxnSp>
      <p:sp>
        <p:nvSpPr>
          <p:cNvPr id="213" name="Rounded Rectangle 9"/>
          <p:cNvSpPr/>
          <p:nvPr/>
        </p:nvSpPr>
        <p:spPr>
          <a:xfrm>
            <a:off x="3611880" y="2240280"/>
            <a:ext cx="2148480" cy="914040"/>
          </a:xfrm>
          <a:prstGeom prst="roundRect">
            <a:avLst>
              <a:gd name="adj" fmla="val 16667"/>
            </a:avLst>
          </a:prstGeom>
          <a:solidFill>
            <a:srgbClr val="4A77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10"/>
          <p:cNvSpPr/>
          <p:nvPr/>
        </p:nvSpPr>
        <p:spPr>
          <a:xfrm>
            <a:off x="3611880" y="2505600"/>
            <a:ext cx="2148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INFORMAÇÃO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5" name="Connector 11"/>
          <p:cNvCxnSpPr/>
          <p:nvPr/>
        </p:nvCxnSpPr>
        <p:spPr>
          <a:xfrm>
            <a:off x="5806440" y="2697480"/>
            <a:ext cx="503280" cy="360"/>
          </a:xfrm>
          <a:prstGeom prst="straightConnector1">
            <a:avLst/>
          </a:prstGeom>
          <a:ln w="27940">
            <a:solidFill>
              <a:srgbClr val="0B223F"/>
            </a:solidFill>
            <a:round/>
          </a:ln>
        </p:spPr>
      </p:cxnSp>
      <p:sp>
        <p:nvSpPr>
          <p:cNvPr id="216" name="Rounded Rectangle 12"/>
          <p:cNvSpPr/>
          <p:nvPr/>
        </p:nvSpPr>
        <p:spPr>
          <a:xfrm>
            <a:off x="6400800" y="2240280"/>
            <a:ext cx="2148480" cy="914040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13"/>
          <p:cNvSpPr/>
          <p:nvPr/>
        </p:nvSpPr>
        <p:spPr>
          <a:xfrm>
            <a:off x="6400800" y="2505600"/>
            <a:ext cx="2148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CONHECIMENTO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8" name="Connector 14"/>
          <p:cNvCxnSpPr/>
          <p:nvPr/>
        </p:nvCxnSpPr>
        <p:spPr>
          <a:xfrm>
            <a:off x="8595360" y="2697480"/>
            <a:ext cx="503280" cy="360"/>
          </a:xfrm>
          <a:prstGeom prst="straightConnector1">
            <a:avLst/>
          </a:prstGeom>
          <a:ln w="27940">
            <a:solidFill>
              <a:srgbClr val="0B223F"/>
            </a:solidFill>
            <a:round/>
          </a:ln>
        </p:spPr>
      </p:cxnSp>
      <p:sp>
        <p:nvSpPr>
          <p:cNvPr id="219" name="Rounded Rectangle 15"/>
          <p:cNvSpPr/>
          <p:nvPr/>
        </p:nvSpPr>
        <p:spPr>
          <a:xfrm>
            <a:off x="9189720" y="2240280"/>
            <a:ext cx="2148480" cy="914040"/>
          </a:xfrm>
          <a:prstGeom prst="roundRect">
            <a:avLst>
              <a:gd name="adj" fmla="val 16667"/>
            </a:avLst>
          </a:prstGeom>
          <a:solidFill>
            <a:srgbClr val="70A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TextBox 16"/>
          <p:cNvSpPr/>
          <p:nvPr/>
        </p:nvSpPr>
        <p:spPr>
          <a:xfrm>
            <a:off x="9189720" y="2505600"/>
            <a:ext cx="2148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DECISÃO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17"/>
          <p:cNvSpPr/>
          <p:nvPr/>
        </p:nvSpPr>
        <p:spPr>
          <a:xfrm>
            <a:off x="1051560" y="3931920"/>
            <a:ext cx="10058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Exemplo: milhões de compras podem revelar produtos mais vendidos, padrões de consumo e previsão de demanda.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Box 1"/>
          <p:cNvSpPr/>
          <p:nvPr/>
        </p:nvSpPr>
        <p:spPr>
          <a:xfrm>
            <a:off x="731520" y="233172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PROCESSAMENTO DISTRIBUÍDO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Box 2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3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10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Escalabilidade: Scale Up × Scale Out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11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Rounded Rectangle 5"/>
          <p:cNvSpPr/>
          <p:nvPr/>
        </p:nvSpPr>
        <p:spPr>
          <a:xfrm>
            <a:off x="731520" y="1508760"/>
            <a:ext cx="4983120" cy="4068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5DC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0" name="Rectangle 6"/>
          <p:cNvSpPr/>
          <p:nvPr/>
        </p:nvSpPr>
        <p:spPr>
          <a:xfrm>
            <a:off x="731520" y="1508760"/>
            <a:ext cx="91080" cy="406872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TextBox 7"/>
          <p:cNvSpPr/>
          <p:nvPr/>
        </p:nvSpPr>
        <p:spPr>
          <a:xfrm>
            <a:off x="960120" y="1673280"/>
            <a:ext cx="4599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Scale Up — Vertical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8"/>
          <p:cNvSpPr/>
          <p:nvPr/>
        </p:nvSpPr>
        <p:spPr>
          <a:xfrm>
            <a:off x="960120" y="2130480"/>
            <a:ext cx="459900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Aumentar CPU, RAM ou armazenamento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de uma única máquina.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+ simples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− existe um limite físico e financeiro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Rounded Rectangle 9"/>
          <p:cNvSpPr/>
          <p:nvPr/>
        </p:nvSpPr>
        <p:spPr>
          <a:xfrm>
            <a:off x="6446520" y="1508760"/>
            <a:ext cx="4983120" cy="4068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5DC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Rectangle 10"/>
          <p:cNvSpPr/>
          <p:nvPr/>
        </p:nvSpPr>
        <p:spPr>
          <a:xfrm>
            <a:off x="6446520" y="1508760"/>
            <a:ext cx="91080" cy="4068720"/>
          </a:xfrm>
          <a:prstGeom prst="rect">
            <a:avLst/>
          </a:prstGeom>
          <a:solidFill>
            <a:srgbClr val="4A77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5" name="TextBox 11"/>
          <p:cNvSpPr/>
          <p:nvPr/>
        </p:nvSpPr>
        <p:spPr>
          <a:xfrm>
            <a:off x="6675120" y="1673280"/>
            <a:ext cx="4599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Scale Out — Horizontal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12"/>
          <p:cNvSpPr/>
          <p:nvPr/>
        </p:nvSpPr>
        <p:spPr>
          <a:xfrm>
            <a:off x="6675120" y="2130480"/>
            <a:ext cx="459900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Adicionar mais máquinas ao sistema.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+ distribui trabalho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+ pode crescer em nós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− exige coordenação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13"/>
          <p:cNvSpPr/>
          <p:nvPr/>
        </p:nvSpPr>
        <p:spPr>
          <a:xfrm>
            <a:off x="822960" y="5715000"/>
            <a:ext cx="10515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ED7D31"/>
                </a:solidFill>
                <a:effectLst/>
                <a:uFillTx/>
                <a:latin typeface="Arial"/>
              </a:rPr>
              <a:t>MapReduce foi criado para explorar principalmente a escalabilidade horizontal.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Box 1"/>
          <p:cNvSpPr/>
          <p:nvPr/>
        </p:nvSpPr>
        <p:spPr>
          <a:xfrm>
            <a:off x="822960" y="2331720"/>
            <a:ext cx="10698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5400" b="0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MAPREDUCE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2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3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12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MapReduce: dividir, agrupar e combinar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13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Rounded Rectangle 5"/>
          <p:cNvSpPr/>
          <p:nvPr/>
        </p:nvSpPr>
        <p:spPr>
          <a:xfrm>
            <a:off x="1005840" y="2011680"/>
            <a:ext cx="2742840" cy="1874160"/>
          </a:xfrm>
          <a:prstGeom prst="roundRect">
            <a:avLst>
              <a:gd name="adj" fmla="val 16667"/>
            </a:avLst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TextBox 6"/>
          <p:cNvSpPr/>
          <p:nvPr/>
        </p:nvSpPr>
        <p:spPr>
          <a:xfrm>
            <a:off x="1005840" y="2359080"/>
            <a:ext cx="2742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MAP</a:t>
            </a:r>
            <a:endParaRPr lang="pt-B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7"/>
          <p:cNvSpPr/>
          <p:nvPr/>
        </p:nvSpPr>
        <p:spPr>
          <a:xfrm>
            <a:off x="1188720" y="2926080"/>
            <a:ext cx="2377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Transforma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cada entrada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8" name="Connector 8"/>
          <p:cNvCxnSpPr/>
          <p:nvPr/>
        </p:nvCxnSpPr>
        <p:spPr>
          <a:xfrm>
            <a:off x="3840480" y="2971800"/>
            <a:ext cx="686160" cy="360"/>
          </a:xfrm>
          <a:prstGeom prst="straightConnector1">
            <a:avLst/>
          </a:prstGeom>
          <a:ln w="34290">
            <a:solidFill>
              <a:srgbClr val="0B223F"/>
            </a:solidFill>
            <a:round/>
          </a:ln>
        </p:spPr>
      </p:cxnSp>
      <p:sp>
        <p:nvSpPr>
          <p:cNvPr id="249" name="Rounded Rectangle 9"/>
          <p:cNvSpPr/>
          <p:nvPr/>
        </p:nvSpPr>
        <p:spPr>
          <a:xfrm>
            <a:off x="4709160" y="2011680"/>
            <a:ext cx="2742840" cy="1874160"/>
          </a:xfrm>
          <a:prstGeom prst="roundRect">
            <a:avLst>
              <a:gd name="adj" fmla="val 16667"/>
            </a:avLst>
          </a:prstGeom>
          <a:solidFill>
            <a:srgbClr val="ED7D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0" name="TextBox 10"/>
          <p:cNvSpPr/>
          <p:nvPr/>
        </p:nvSpPr>
        <p:spPr>
          <a:xfrm>
            <a:off x="4709160" y="2359080"/>
            <a:ext cx="2742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SHUFFLE</a:t>
            </a:r>
            <a:endParaRPr lang="pt-B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4892040" y="2926080"/>
            <a:ext cx="2377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Agrupa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chaves iguais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2" name="Connector 12"/>
          <p:cNvCxnSpPr/>
          <p:nvPr/>
        </p:nvCxnSpPr>
        <p:spPr>
          <a:xfrm>
            <a:off x="7543800" y="2971800"/>
            <a:ext cx="686160" cy="360"/>
          </a:xfrm>
          <a:prstGeom prst="straightConnector1">
            <a:avLst/>
          </a:prstGeom>
          <a:ln w="34290">
            <a:solidFill>
              <a:srgbClr val="0B223F"/>
            </a:solidFill>
            <a:round/>
          </a:ln>
        </p:spPr>
      </p:cxnSp>
      <p:sp>
        <p:nvSpPr>
          <p:cNvPr id="253" name="Rounded Rectangle 13"/>
          <p:cNvSpPr/>
          <p:nvPr/>
        </p:nvSpPr>
        <p:spPr>
          <a:xfrm>
            <a:off x="8412480" y="2011680"/>
            <a:ext cx="2742840" cy="1874160"/>
          </a:xfrm>
          <a:prstGeom prst="roundRect">
            <a:avLst>
              <a:gd name="adj" fmla="val 16667"/>
            </a:avLst>
          </a:prstGeom>
          <a:solidFill>
            <a:srgbClr val="70A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14"/>
          <p:cNvSpPr/>
          <p:nvPr/>
        </p:nvSpPr>
        <p:spPr>
          <a:xfrm>
            <a:off x="8412480" y="2359080"/>
            <a:ext cx="2742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REDUCE</a:t>
            </a:r>
            <a:endParaRPr lang="pt-B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15"/>
          <p:cNvSpPr/>
          <p:nvPr/>
        </p:nvSpPr>
        <p:spPr>
          <a:xfrm>
            <a:off x="8595360" y="2926080"/>
            <a:ext cx="2377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Agrega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os valores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6"/>
          <p:cNvSpPr/>
          <p:nvPr/>
        </p:nvSpPr>
        <p:spPr>
          <a:xfrm>
            <a:off x="822960" y="4846320"/>
            <a:ext cx="10515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Ideia central: levar o processamento até as partes dos dados e depois consolidar resultados.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Exemplo: contagem de palavras — MAP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14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5"/>
          <p:cNvSpPr/>
          <p:nvPr/>
        </p:nvSpPr>
        <p:spPr>
          <a:xfrm>
            <a:off x="685800" y="303444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Entrada: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Rounded Rectangle 6"/>
          <p:cNvSpPr/>
          <p:nvPr/>
        </p:nvSpPr>
        <p:spPr>
          <a:xfrm>
            <a:off x="731520" y="3445920"/>
            <a:ext cx="4800240" cy="1599840"/>
          </a:xfrm>
          <a:prstGeom prst="roundRect">
            <a:avLst>
              <a:gd name="adj" fmla="val 16667"/>
            </a:avLst>
          </a:prstGeom>
          <a:solidFill>
            <a:srgbClr val="112338"/>
          </a:solidFill>
          <a:ln>
            <a:solidFill>
              <a:srgbClr val="233B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Box 7"/>
          <p:cNvSpPr/>
          <p:nvPr/>
        </p:nvSpPr>
        <p:spPr>
          <a:xfrm>
            <a:off x="896040" y="3583080"/>
            <a:ext cx="447120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5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big data usa dados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dados geram informacao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big data usa processamento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4" name="Connector 8"/>
          <p:cNvCxnSpPr/>
          <p:nvPr/>
        </p:nvCxnSpPr>
        <p:spPr>
          <a:xfrm>
            <a:off x="5577840" y="4223160"/>
            <a:ext cx="869040" cy="360"/>
          </a:xfrm>
          <a:prstGeom prst="straightConnector1">
            <a:avLst/>
          </a:prstGeom>
          <a:ln w="35560">
            <a:solidFill>
              <a:srgbClr val="2F69E8"/>
            </a:solidFill>
            <a:round/>
          </a:ln>
        </p:spPr>
      </p:cxnSp>
      <p:sp>
        <p:nvSpPr>
          <p:cNvPr id="265" name="TextBox 9"/>
          <p:cNvSpPr/>
          <p:nvPr/>
        </p:nvSpPr>
        <p:spPr>
          <a:xfrm>
            <a:off x="6629400" y="3034440"/>
            <a:ext cx="47545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MAP gera pares (chave, valor):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Rounded Rectangle 10"/>
          <p:cNvSpPr/>
          <p:nvPr/>
        </p:nvSpPr>
        <p:spPr>
          <a:xfrm>
            <a:off x="6629400" y="3491640"/>
            <a:ext cx="4205880" cy="2285640"/>
          </a:xfrm>
          <a:prstGeom prst="roundRect">
            <a:avLst>
              <a:gd name="adj" fmla="val 16667"/>
            </a:avLst>
          </a:prstGeom>
          <a:solidFill>
            <a:srgbClr val="112338"/>
          </a:solidFill>
          <a:ln>
            <a:solidFill>
              <a:srgbClr val="233B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11"/>
          <p:cNvSpPr/>
          <p:nvPr/>
        </p:nvSpPr>
        <p:spPr>
          <a:xfrm>
            <a:off x="6793920" y="3628800"/>
            <a:ext cx="387684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('big',1)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('data',1)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('usa',1)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('dados',1)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...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2"/>
          <p:cNvSpPr/>
          <p:nvPr/>
        </p:nvSpPr>
        <p:spPr>
          <a:xfrm>
            <a:off x="822960" y="5972040"/>
            <a:ext cx="10515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ED7D31"/>
                </a:solidFill>
                <a:effectLst/>
                <a:uFillTx/>
                <a:latin typeface="Arial"/>
              </a:rPr>
              <a:t>Cada registro pode ser processado independentemente.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20000" y="1531080"/>
            <a:ext cx="6660000" cy="988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 algn="just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 framework pega o grande conjunto de dados, divide em pedaços menores e distribui para várias máquinas (nós) processarem em paralelo. Cada máquina aplica uma função "Map" em seus dados locais.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720000" y="1184760"/>
            <a:ext cx="19850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Como Funciona ?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Exemplo: contagem de palavras — SHUFFLE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15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5"/>
          <p:cNvSpPr/>
          <p:nvPr/>
        </p:nvSpPr>
        <p:spPr>
          <a:xfrm>
            <a:off x="685800" y="2314440"/>
            <a:ext cx="10698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O sistema reorganiza os pares pelas chaves.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ounded Rectangle 6"/>
          <p:cNvSpPr/>
          <p:nvPr/>
        </p:nvSpPr>
        <p:spPr>
          <a:xfrm>
            <a:off x="868680" y="3000240"/>
            <a:ext cx="3017160" cy="914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D7D3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Box 7"/>
          <p:cNvSpPr/>
          <p:nvPr/>
        </p:nvSpPr>
        <p:spPr>
          <a:xfrm>
            <a:off x="1033200" y="3155760"/>
            <a:ext cx="1325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big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8"/>
          <p:cNvSpPr/>
          <p:nvPr/>
        </p:nvSpPr>
        <p:spPr>
          <a:xfrm>
            <a:off x="2286000" y="3155760"/>
            <a:ext cx="14169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→ [1, 1]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Rounded Rectangle 9"/>
          <p:cNvSpPr/>
          <p:nvPr/>
        </p:nvSpPr>
        <p:spPr>
          <a:xfrm>
            <a:off x="4572000" y="3000240"/>
            <a:ext cx="3017160" cy="914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D7D3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Box 10"/>
          <p:cNvSpPr/>
          <p:nvPr/>
        </p:nvSpPr>
        <p:spPr>
          <a:xfrm>
            <a:off x="4736520" y="3155760"/>
            <a:ext cx="1325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data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11"/>
          <p:cNvSpPr/>
          <p:nvPr/>
        </p:nvSpPr>
        <p:spPr>
          <a:xfrm>
            <a:off x="5989320" y="3155760"/>
            <a:ext cx="14169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→ [1, 1]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Rounded Rectangle 12"/>
          <p:cNvSpPr/>
          <p:nvPr/>
        </p:nvSpPr>
        <p:spPr>
          <a:xfrm>
            <a:off x="8275320" y="3000240"/>
            <a:ext cx="3017160" cy="914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D7D3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13"/>
          <p:cNvSpPr/>
          <p:nvPr/>
        </p:nvSpPr>
        <p:spPr>
          <a:xfrm>
            <a:off x="8439840" y="3155760"/>
            <a:ext cx="1325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dados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4"/>
          <p:cNvSpPr/>
          <p:nvPr/>
        </p:nvSpPr>
        <p:spPr>
          <a:xfrm>
            <a:off x="9692640" y="3155760"/>
            <a:ext cx="14169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→ [1, 1]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Rounded Rectangle 15"/>
          <p:cNvSpPr/>
          <p:nvPr/>
        </p:nvSpPr>
        <p:spPr>
          <a:xfrm>
            <a:off x="868680" y="4417560"/>
            <a:ext cx="3017160" cy="914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D7D3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6" name="TextBox 16"/>
          <p:cNvSpPr/>
          <p:nvPr/>
        </p:nvSpPr>
        <p:spPr>
          <a:xfrm>
            <a:off x="1033200" y="4573080"/>
            <a:ext cx="1325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usa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17"/>
          <p:cNvSpPr/>
          <p:nvPr/>
        </p:nvSpPr>
        <p:spPr>
          <a:xfrm>
            <a:off x="2286000" y="4573080"/>
            <a:ext cx="14169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→ [1, 1]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Rounded Rectangle 18"/>
          <p:cNvSpPr/>
          <p:nvPr/>
        </p:nvSpPr>
        <p:spPr>
          <a:xfrm>
            <a:off x="4572000" y="4417560"/>
            <a:ext cx="3017160" cy="914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D7D3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9" name="TextBox 19"/>
          <p:cNvSpPr/>
          <p:nvPr/>
        </p:nvSpPr>
        <p:spPr>
          <a:xfrm>
            <a:off x="4736520" y="4573080"/>
            <a:ext cx="1325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geram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Box 20"/>
          <p:cNvSpPr/>
          <p:nvPr/>
        </p:nvSpPr>
        <p:spPr>
          <a:xfrm>
            <a:off x="5989320" y="4573080"/>
            <a:ext cx="14169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→ [1]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Rounded Rectangle 21"/>
          <p:cNvSpPr/>
          <p:nvPr/>
        </p:nvSpPr>
        <p:spPr>
          <a:xfrm>
            <a:off x="8275320" y="4417560"/>
            <a:ext cx="3017160" cy="914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D7D3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22"/>
          <p:cNvSpPr/>
          <p:nvPr/>
        </p:nvSpPr>
        <p:spPr>
          <a:xfrm>
            <a:off x="8439840" y="4573080"/>
            <a:ext cx="1325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processamento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23"/>
          <p:cNvSpPr/>
          <p:nvPr/>
        </p:nvSpPr>
        <p:spPr>
          <a:xfrm>
            <a:off x="9692640" y="4573080"/>
            <a:ext cx="14169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→ [1]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Box 24"/>
          <p:cNvSpPr/>
          <p:nvPr/>
        </p:nvSpPr>
        <p:spPr>
          <a:xfrm>
            <a:off x="822960" y="6090840"/>
            <a:ext cx="10515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ED7D31"/>
                </a:solidFill>
                <a:effectLst/>
                <a:uFillTx/>
                <a:latin typeface="Arial"/>
              </a:rPr>
              <a:t>Shuffle = agrupar os valores associados à mesma chave.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720000" y="1351080"/>
            <a:ext cx="10260000" cy="988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 algn="just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Após a fase Map, os dados estão espalhados por várias máquinas. O Shuffle identifica todas as chaves iguais (por exemplo, todas as ocorrências da palavra "usa") </a:t>
            </a:r>
            <a:r>
              <a:rPr lang="pt-BR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geradas em diferentes máquinas</a:t>
            </a: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e as </a:t>
            </a:r>
            <a:r>
              <a:rPr lang="pt-BR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transfere (embaralha) pela rede para uma máquina específica responsável por aquela chave</a:t>
            </a: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720000" y="1004760"/>
            <a:ext cx="19850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Como Funciona ?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Exemplo: contagem de palavras — REDUCE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16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5"/>
          <p:cNvSpPr/>
          <p:nvPr/>
        </p:nvSpPr>
        <p:spPr>
          <a:xfrm>
            <a:off x="685800" y="2314440"/>
            <a:ext cx="10698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REDUCE combina os valores de cada chave.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Rounded Rectangle 6"/>
          <p:cNvSpPr/>
          <p:nvPr/>
        </p:nvSpPr>
        <p:spPr>
          <a:xfrm>
            <a:off x="868680" y="3000240"/>
            <a:ext cx="3017160" cy="914040"/>
          </a:xfrm>
          <a:prstGeom prst="roundRect">
            <a:avLst>
              <a:gd name="adj" fmla="val 16667"/>
            </a:avLst>
          </a:prstGeom>
          <a:solidFill>
            <a:srgbClr val="EAF3E5"/>
          </a:solidFill>
          <a:ln>
            <a:solidFill>
              <a:srgbClr val="70AD4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3" name="TextBox 7"/>
          <p:cNvSpPr/>
          <p:nvPr/>
        </p:nvSpPr>
        <p:spPr>
          <a:xfrm>
            <a:off x="1033200" y="3155760"/>
            <a:ext cx="17370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big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8"/>
          <p:cNvSpPr/>
          <p:nvPr/>
        </p:nvSpPr>
        <p:spPr>
          <a:xfrm>
            <a:off x="2834640" y="3155760"/>
            <a:ext cx="685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70AD47"/>
                </a:solidFill>
                <a:effectLst/>
                <a:uFillTx/>
                <a:latin typeface="Arial"/>
              </a:rPr>
              <a:t>→ 2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Rounded Rectangle 9"/>
          <p:cNvSpPr/>
          <p:nvPr/>
        </p:nvSpPr>
        <p:spPr>
          <a:xfrm>
            <a:off x="4572000" y="3000240"/>
            <a:ext cx="3017160" cy="914040"/>
          </a:xfrm>
          <a:prstGeom prst="roundRect">
            <a:avLst>
              <a:gd name="adj" fmla="val 16667"/>
            </a:avLst>
          </a:prstGeom>
          <a:solidFill>
            <a:srgbClr val="EAF3E5"/>
          </a:solidFill>
          <a:ln>
            <a:solidFill>
              <a:srgbClr val="70AD4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6" name="TextBox 10"/>
          <p:cNvSpPr/>
          <p:nvPr/>
        </p:nvSpPr>
        <p:spPr>
          <a:xfrm>
            <a:off x="4736520" y="3155760"/>
            <a:ext cx="17370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data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11"/>
          <p:cNvSpPr/>
          <p:nvPr/>
        </p:nvSpPr>
        <p:spPr>
          <a:xfrm>
            <a:off x="6537960" y="3155760"/>
            <a:ext cx="685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70AD47"/>
                </a:solidFill>
                <a:effectLst/>
                <a:uFillTx/>
                <a:latin typeface="Arial"/>
              </a:rPr>
              <a:t>→ 2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Rounded Rectangle 12"/>
          <p:cNvSpPr/>
          <p:nvPr/>
        </p:nvSpPr>
        <p:spPr>
          <a:xfrm>
            <a:off x="8275320" y="3000240"/>
            <a:ext cx="3017160" cy="914040"/>
          </a:xfrm>
          <a:prstGeom prst="roundRect">
            <a:avLst>
              <a:gd name="adj" fmla="val 16667"/>
            </a:avLst>
          </a:prstGeom>
          <a:solidFill>
            <a:srgbClr val="EAF3E5"/>
          </a:solidFill>
          <a:ln>
            <a:solidFill>
              <a:srgbClr val="70AD4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9" name="TextBox 13"/>
          <p:cNvSpPr/>
          <p:nvPr/>
        </p:nvSpPr>
        <p:spPr>
          <a:xfrm>
            <a:off x="8439840" y="3155760"/>
            <a:ext cx="17370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dados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Box 14"/>
          <p:cNvSpPr/>
          <p:nvPr/>
        </p:nvSpPr>
        <p:spPr>
          <a:xfrm>
            <a:off x="10241280" y="3155760"/>
            <a:ext cx="685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70AD47"/>
                </a:solidFill>
                <a:effectLst/>
                <a:uFillTx/>
                <a:latin typeface="Arial"/>
              </a:rPr>
              <a:t>→ 2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Rounded Rectangle 15"/>
          <p:cNvSpPr/>
          <p:nvPr/>
        </p:nvSpPr>
        <p:spPr>
          <a:xfrm>
            <a:off x="868680" y="4417560"/>
            <a:ext cx="3017160" cy="914040"/>
          </a:xfrm>
          <a:prstGeom prst="roundRect">
            <a:avLst>
              <a:gd name="adj" fmla="val 16667"/>
            </a:avLst>
          </a:prstGeom>
          <a:solidFill>
            <a:srgbClr val="EAF3E5"/>
          </a:solidFill>
          <a:ln>
            <a:solidFill>
              <a:srgbClr val="70AD4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Box 16"/>
          <p:cNvSpPr/>
          <p:nvPr/>
        </p:nvSpPr>
        <p:spPr>
          <a:xfrm>
            <a:off x="1033200" y="4573080"/>
            <a:ext cx="17370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usa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17"/>
          <p:cNvSpPr/>
          <p:nvPr/>
        </p:nvSpPr>
        <p:spPr>
          <a:xfrm>
            <a:off x="2834640" y="4573080"/>
            <a:ext cx="685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70AD47"/>
                </a:solidFill>
                <a:effectLst/>
                <a:uFillTx/>
                <a:latin typeface="Arial"/>
              </a:rPr>
              <a:t>→ 2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Rounded Rectangle 18"/>
          <p:cNvSpPr/>
          <p:nvPr/>
        </p:nvSpPr>
        <p:spPr>
          <a:xfrm>
            <a:off x="4572000" y="4417560"/>
            <a:ext cx="3017160" cy="914040"/>
          </a:xfrm>
          <a:prstGeom prst="roundRect">
            <a:avLst>
              <a:gd name="adj" fmla="val 16667"/>
            </a:avLst>
          </a:prstGeom>
          <a:solidFill>
            <a:srgbClr val="EAF3E5"/>
          </a:solidFill>
          <a:ln>
            <a:solidFill>
              <a:srgbClr val="70AD4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5" name="TextBox 19"/>
          <p:cNvSpPr/>
          <p:nvPr/>
        </p:nvSpPr>
        <p:spPr>
          <a:xfrm>
            <a:off x="4736520" y="4573080"/>
            <a:ext cx="17370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geram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20"/>
          <p:cNvSpPr/>
          <p:nvPr/>
        </p:nvSpPr>
        <p:spPr>
          <a:xfrm>
            <a:off x="6537960" y="4573080"/>
            <a:ext cx="685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70AD47"/>
                </a:solidFill>
                <a:effectLst/>
                <a:uFillTx/>
                <a:latin typeface="Arial"/>
              </a:rPr>
              <a:t>→ 1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Rounded Rectangle 21"/>
          <p:cNvSpPr/>
          <p:nvPr/>
        </p:nvSpPr>
        <p:spPr>
          <a:xfrm>
            <a:off x="8275320" y="4417560"/>
            <a:ext cx="3017160" cy="914040"/>
          </a:xfrm>
          <a:prstGeom prst="roundRect">
            <a:avLst>
              <a:gd name="adj" fmla="val 16667"/>
            </a:avLst>
          </a:prstGeom>
          <a:solidFill>
            <a:srgbClr val="EAF3E5"/>
          </a:solidFill>
          <a:ln>
            <a:solidFill>
              <a:srgbClr val="70AD4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8" name="TextBox 22"/>
          <p:cNvSpPr/>
          <p:nvPr/>
        </p:nvSpPr>
        <p:spPr>
          <a:xfrm>
            <a:off x="8439840" y="4573080"/>
            <a:ext cx="17370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processamento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Box 23"/>
          <p:cNvSpPr/>
          <p:nvPr/>
        </p:nvSpPr>
        <p:spPr>
          <a:xfrm>
            <a:off x="10241280" y="4573080"/>
            <a:ext cx="685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70AD47"/>
                </a:solidFill>
                <a:effectLst/>
                <a:uFillTx/>
                <a:latin typeface="Arial"/>
              </a:rPr>
              <a:t>→ 1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4"/>
          <p:cNvSpPr/>
          <p:nvPr/>
        </p:nvSpPr>
        <p:spPr>
          <a:xfrm>
            <a:off x="822960" y="5726160"/>
            <a:ext cx="10515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Resultado final: uma agregação compacta produzida a partir de muitos registros.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720000" y="1325520"/>
            <a:ext cx="10260000" cy="988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 algn="just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Uma função "Reduce" é aplicada </a:t>
            </a:r>
            <a:r>
              <a:rPr lang="pt-BR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 cada chave única</a:t>
            </a: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BR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sua lista de valores associados</a:t>
            </a: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Ela </a:t>
            </a:r>
            <a:r>
              <a:rPr lang="pt-BR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combina esses valores</a:t>
            </a: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para </a:t>
            </a:r>
            <a:r>
              <a:rPr lang="pt-BR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produzir um resultado</a:t>
            </a: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resumido.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720000" y="979200"/>
            <a:ext cx="19850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Como Funciona ?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4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MapReduce em Python — versão didática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17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Rounded Rectangle 5"/>
          <p:cNvSpPr/>
          <p:nvPr/>
        </p:nvSpPr>
        <p:spPr>
          <a:xfrm>
            <a:off x="685800" y="1261800"/>
            <a:ext cx="10835280" cy="4434480"/>
          </a:xfrm>
          <a:prstGeom prst="roundRect">
            <a:avLst>
              <a:gd name="adj" fmla="val 16667"/>
            </a:avLst>
          </a:prstGeom>
          <a:solidFill>
            <a:srgbClr val="112338"/>
          </a:solidFill>
          <a:ln>
            <a:solidFill>
              <a:srgbClr val="233B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8" name="TextBox 6"/>
          <p:cNvSpPr/>
          <p:nvPr/>
        </p:nvSpPr>
        <p:spPr>
          <a:xfrm>
            <a:off x="850320" y="1435680"/>
            <a:ext cx="10506240" cy="41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12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from collections import defaultdict</a:t>
            </a:r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2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documentos = [</a:t>
            </a:r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2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   "big data usa dados",</a:t>
            </a:r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2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   "dados geram informacao",</a:t>
            </a:r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2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   "big data usa processamento"</a:t>
            </a:r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2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]</a:t>
            </a:r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2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def mapear(texto):</a:t>
            </a:r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2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   return [(p, 1) for p in texto.lower().split()]</a:t>
            </a:r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2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mapeados = [par for doc in documentos for par in mapear(doc)]</a:t>
            </a:r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2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agrupados = defaultdict(list)</a:t>
            </a:r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2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for palavra, valor in mapeados:</a:t>
            </a:r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2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   agrupados[palavra].append(valor)</a:t>
            </a:r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2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resultado = {p: sum(v) for p, v in agrupados.items()}</a:t>
            </a:r>
            <a:endParaRPr lang="pt-BR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Do exemplo local ao Big Data real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18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Rounded Rectangle 5"/>
          <p:cNvSpPr/>
          <p:nvPr/>
        </p:nvSpPr>
        <p:spPr>
          <a:xfrm>
            <a:off x="640080" y="1792440"/>
            <a:ext cx="3474360" cy="4068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5DC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4" name="Rectangle 6"/>
          <p:cNvSpPr/>
          <p:nvPr/>
        </p:nvSpPr>
        <p:spPr>
          <a:xfrm>
            <a:off x="640080" y="1792440"/>
            <a:ext cx="91080" cy="406872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Box 7"/>
          <p:cNvSpPr/>
          <p:nvPr/>
        </p:nvSpPr>
        <p:spPr>
          <a:xfrm>
            <a:off x="868680" y="1956960"/>
            <a:ext cx="3090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Python local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Box 8"/>
          <p:cNvSpPr/>
          <p:nvPr/>
        </p:nvSpPr>
        <p:spPr>
          <a:xfrm>
            <a:off x="868680" y="3494160"/>
            <a:ext cx="3090240" cy="13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- Listas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- Pandas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- multiprocessing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buClr>
                <a:srgbClr val="111111"/>
              </a:buClr>
              <a:buFont typeface="Wingdings" charset="2"/>
              <a:buChar char=""/>
            </a:pP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Uma máquina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Rounded Rectangle 9"/>
          <p:cNvSpPr/>
          <p:nvPr/>
        </p:nvSpPr>
        <p:spPr>
          <a:xfrm>
            <a:off x="4361760" y="1792440"/>
            <a:ext cx="3474360" cy="4068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5DC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8" name="Rectangle 10"/>
          <p:cNvSpPr/>
          <p:nvPr/>
        </p:nvSpPr>
        <p:spPr>
          <a:xfrm>
            <a:off x="4361760" y="1792440"/>
            <a:ext cx="91080" cy="4068720"/>
          </a:xfrm>
          <a:prstGeom prst="rect">
            <a:avLst/>
          </a:prstGeom>
          <a:solidFill>
            <a:srgbClr val="ED7D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Box 11"/>
          <p:cNvSpPr/>
          <p:nvPr/>
        </p:nvSpPr>
        <p:spPr>
          <a:xfrm>
            <a:off x="4590360" y="1956960"/>
            <a:ext cx="3090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Hadoop MapReduce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12"/>
          <p:cNvSpPr/>
          <p:nvPr/>
        </p:nvSpPr>
        <p:spPr>
          <a:xfrm>
            <a:off x="4590360" y="3494160"/>
            <a:ext cx="3090240" cy="13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7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HDFS</a:t>
            </a: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 + </a:t>
            </a:r>
            <a:r>
              <a:rPr lang="en-US" sz="17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MapReduce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Uso intensivo de </a:t>
            </a:r>
            <a:r>
              <a:rPr lang="en-US" sz="17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Sistema de Arquivos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Processamento distribuído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buClr>
                <a:srgbClr val="111111"/>
              </a:buClr>
              <a:buFont typeface="Wingdings" charset="2"/>
              <a:buChar char=""/>
            </a:pP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Múltiplos nós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Rounded Rectangle 13"/>
          <p:cNvSpPr/>
          <p:nvPr/>
        </p:nvSpPr>
        <p:spPr>
          <a:xfrm>
            <a:off x="8083440" y="1792440"/>
            <a:ext cx="3474360" cy="4068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5DC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2" name="Rectangle 14"/>
          <p:cNvSpPr/>
          <p:nvPr/>
        </p:nvSpPr>
        <p:spPr>
          <a:xfrm>
            <a:off x="8083440" y="1792440"/>
            <a:ext cx="91080" cy="4068720"/>
          </a:xfrm>
          <a:prstGeom prst="rect">
            <a:avLst/>
          </a:prstGeom>
          <a:solidFill>
            <a:srgbClr val="70A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TextBox 15"/>
          <p:cNvSpPr/>
          <p:nvPr/>
        </p:nvSpPr>
        <p:spPr>
          <a:xfrm>
            <a:off x="8312040" y="1956960"/>
            <a:ext cx="3090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Apache Spark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Box 16"/>
          <p:cNvSpPr/>
          <p:nvPr/>
        </p:nvSpPr>
        <p:spPr>
          <a:xfrm>
            <a:off x="8312040" y="3494160"/>
            <a:ext cx="3090240" cy="13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Processamento distribuído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Uso intensivo de memória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Processamento distribuído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buClr>
                <a:srgbClr val="111111"/>
              </a:buClr>
              <a:buFont typeface="Wingdings" charset="2"/>
              <a:buChar char=""/>
            </a:pP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Múltiplos nós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buClr>
                <a:srgbClr val="111111"/>
              </a:buClr>
              <a:buFont typeface="Wingdings" charset="2"/>
              <a:buChar char=""/>
            </a:pPr>
            <a:r>
              <a:rPr lang="en-US" sz="17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APIs modernas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17"/>
          <p:cNvSpPr/>
          <p:nvPr/>
        </p:nvSpPr>
        <p:spPr>
          <a:xfrm>
            <a:off x="822960" y="6044400"/>
            <a:ext cx="10515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O algoritmo didático é pequeno; o paradigma é o mesmo quando o volume cresce.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900000" y="1080000"/>
            <a:ext cx="6575760" cy="45936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pt-BR" sz="2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Como esse algoritmo pode ser testado ?</a:t>
            </a:r>
            <a:endParaRPr lang="pt-B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7" name=""/>
          <p:cNvPicPr/>
          <p:nvPr/>
        </p:nvPicPr>
        <p:blipFill>
          <a:blip r:embed="rId1"/>
          <a:stretch/>
        </p:blipFill>
        <p:spPr>
          <a:xfrm>
            <a:off x="900000" y="2340000"/>
            <a:ext cx="1129680" cy="108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8" name=""/>
          <p:cNvPicPr/>
          <p:nvPr/>
        </p:nvPicPr>
        <p:blipFill>
          <a:blip r:embed="rId2"/>
          <a:stretch/>
        </p:blipFill>
        <p:spPr>
          <a:xfrm>
            <a:off x="5611680" y="2396520"/>
            <a:ext cx="868320" cy="109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9" name=""/>
          <p:cNvPicPr/>
          <p:nvPr/>
        </p:nvPicPr>
        <p:blipFill>
          <a:blip r:embed="rId3"/>
          <a:stretch/>
        </p:blipFill>
        <p:spPr>
          <a:xfrm>
            <a:off x="900000" y="2340000"/>
            <a:ext cx="1129680" cy="108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0" name=""/>
          <p:cNvPicPr/>
          <p:nvPr/>
        </p:nvPicPr>
        <p:blipFill>
          <a:blip r:embed="rId4"/>
          <a:stretch/>
        </p:blipFill>
        <p:spPr>
          <a:xfrm>
            <a:off x="8312040" y="2520000"/>
            <a:ext cx="1129680" cy="108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1" name=""/>
          <p:cNvPicPr/>
          <p:nvPr/>
        </p:nvPicPr>
        <p:blipFill>
          <a:blip r:embed="rId5"/>
          <a:stretch/>
        </p:blipFill>
        <p:spPr>
          <a:xfrm>
            <a:off x="9571680" y="2396520"/>
            <a:ext cx="868320" cy="109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2" name=""/>
          <p:cNvPicPr/>
          <p:nvPr/>
        </p:nvPicPr>
        <p:blipFill>
          <a:blip r:embed="rId6"/>
          <a:stretch/>
        </p:blipFill>
        <p:spPr>
          <a:xfrm>
            <a:off x="10440000" y="2576520"/>
            <a:ext cx="984240" cy="843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4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Laboratório — MapReduce de vendas por cidade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19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Box 5"/>
          <p:cNvSpPr/>
          <p:nvPr/>
        </p:nvSpPr>
        <p:spPr>
          <a:xfrm>
            <a:off x="685800" y="123444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Dados de entrada: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Rounded Rectangle 6"/>
          <p:cNvSpPr/>
          <p:nvPr/>
        </p:nvSpPr>
        <p:spPr>
          <a:xfrm>
            <a:off x="731520" y="1600200"/>
            <a:ext cx="4114440" cy="3428640"/>
          </a:xfrm>
          <a:prstGeom prst="roundRect">
            <a:avLst>
              <a:gd name="adj" fmla="val 16667"/>
            </a:avLst>
          </a:prstGeom>
          <a:solidFill>
            <a:srgbClr val="112338"/>
          </a:solidFill>
          <a:ln>
            <a:solidFill>
              <a:srgbClr val="233B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Box 7"/>
          <p:cNvSpPr/>
          <p:nvPr/>
        </p:nvSpPr>
        <p:spPr>
          <a:xfrm>
            <a:off x="896040" y="1737360"/>
            <a:ext cx="3785400" cy="31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35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vendas = [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('São Paulo', 100),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('Campinas', 50),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('São Paulo', 200),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('Sorocaba', 80),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('Campinas', 120),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('São Paulo', 150),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5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 ('Sorocaba', 70)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F4F7FB"/>
                </a:solidFill>
                <a:effectLst/>
                <a:uFillTx/>
                <a:latin typeface="Consolas"/>
              </a:rPr>
              <a:t>]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Box 8"/>
          <p:cNvSpPr/>
          <p:nvPr/>
        </p:nvSpPr>
        <p:spPr>
          <a:xfrm>
            <a:off x="5257800" y="137160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Tarefa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Box 9"/>
          <p:cNvSpPr/>
          <p:nvPr/>
        </p:nvSpPr>
        <p:spPr>
          <a:xfrm>
            <a:off x="5212080" y="1874520"/>
            <a:ext cx="566892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• implemente MAP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• faça o SHUFFLE por cidade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• implemente REDUCE com sum()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00"/>
              </a:spcAft>
            </a:pPr>
            <a:r>
              <a:rPr lang="en-US" sz="19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• obtenha o total de vendas por cidade</a:t>
            </a:r>
            <a:endParaRPr lang="pt-BR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Box 10"/>
          <p:cNvSpPr/>
          <p:nvPr/>
        </p:nvSpPr>
        <p:spPr>
          <a:xfrm>
            <a:off x="5277240" y="4351320"/>
            <a:ext cx="21027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Resultado esperado: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11"/>
          <p:cNvSpPr/>
          <p:nvPr/>
        </p:nvSpPr>
        <p:spPr>
          <a:xfrm>
            <a:off x="5257800" y="5029200"/>
            <a:ext cx="57146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70AD47"/>
                </a:solidFill>
                <a:effectLst/>
                <a:uFillTx/>
                <a:latin typeface="Arial"/>
              </a:rPr>
              <a:t>São Paulo = 450   •   Campinas = 170   •   Sorocaba = 150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Rectangl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5" name="TextBox 2"/>
          <p:cNvSpPr/>
          <p:nvPr/>
        </p:nvSpPr>
        <p:spPr>
          <a:xfrm>
            <a:off x="502920" y="411480"/>
            <a:ext cx="11063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Síntese da aula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3"/>
          <p:cNvSpPr/>
          <p:nvPr/>
        </p:nvSpPr>
        <p:spPr>
          <a:xfrm>
            <a:off x="502920" y="6473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Box 4"/>
          <p:cNvSpPr/>
          <p:nvPr/>
        </p:nvSpPr>
        <p:spPr>
          <a:xfrm>
            <a:off x="11475720" y="6455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20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Rounded Rectangle 5"/>
          <p:cNvSpPr/>
          <p:nvPr/>
        </p:nvSpPr>
        <p:spPr>
          <a:xfrm>
            <a:off x="3703320" y="1417320"/>
            <a:ext cx="4754520" cy="685440"/>
          </a:xfrm>
          <a:prstGeom prst="roundRect">
            <a:avLst>
              <a:gd name="adj" fmla="val 16667"/>
            </a:avLst>
          </a:prstGeom>
          <a:solidFill>
            <a:srgbClr val="0B22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9" name="TextBox 6"/>
          <p:cNvSpPr/>
          <p:nvPr/>
        </p:nvSpPr>
        <p:spPr>
          <a:xfrm>
            <a:off x="3840480" y="155448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BIG DATA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Box 7"/>
          <p:cNvSpPr/>
          <p:nvPr/>
        </p:nvSpPr>
        <p:spPr>
          <a:xfrm>
            <a:off x="5715000" y="155448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 Vs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1" name="Connector 8"/>
          <p:cNvCxnSpPr/>
          <p:nvPr/>
        </p:nvCxnSpPr>
        <p:spPr>
          <a:xfrm>
            <a:off x="6080760" y="2121120"/>
            <a:ext cx="360" cy="192600"/>
          </a:xfrm>
          <a:prstGeom prst="straightConnector1">
            <a:avLst/>
          </a:prstGeom>
          <a:ln w="22860">
            <a:solidFill>
              <a:srgbClr val="61738B"/>
            </a:solidFill>
            <a:round/>
          </a:ln>
        </p:spPr>
      </p:cxnSp>
      <p:sp>
        <p:nvSpPr>
          <p:cNvPr id="372" name="Rounded Rectangle 9"/>
          <p:cNvSpPr/>
          <p:nvPr/>
        </p:nvSpPr>
        <p:spPr>
          <a:xfrm>
            <a:off x="3703320" y="2331720"/>
            <a:ext cx="4754520" cy="685440"/>
          </a:xfrm>
          <a:prstGeom prst="roundRect">
            <a:avLst>
              <a:gd name="adj" fmla="val 16667"/>
            </a:avLst>
          </a:prstGeom>
          <a:solidFill>
            <a:srgbClr val="4A77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3" name="TextBox 10"/>
          <p:cNvSpPr/>
          <p:nvPr/>
        </p:nvSpPr>
        <p:spPr>
          <a:xfrm>
            <a:off x="3840480" y="246888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ESCALA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Box 11"/>
          <p:cNvSpPr/>
          <p:nvPr/>
        </p:nvSpPr>
        <p:spPr>
          <a:xfrm>
            <a:off x="5715000" y="246888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Scale Up / Scale Out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5" name="Connector 12"/>
          <p:cNvCxnSpPr/>
          <p:nvPr/>
        </p:nvCxnSpPr>
        <p:spPr>
          <a:xfrm>
            <a:off x="6080760" y="3035520"/>
            <a:ext cx="360" cy="192600"/>
          </a:xfrm>
          <a:prstGeom prst="straightConnector1">
            <a:avLst/>
          </a:prstGeom>
          <a:ln w="22860">
            <a:solidFill>
              <a:srgbClr val="61738B"/>
            </a:solidFill>
            <a:round/>
          </a:ln>
        </p:spPr>
      </p:cxnSp>
      <p:sp>
        <p:nvSpPr>
          <p:cNvPr id="376" name="Rounded Rectangle 13"/>
          <p:cNvSpPr/>
          <p:nvPr/>
        </p:nvSpPr>
        <p:spPr>
          <a:xfrm>
            <a:off x="3703320" y="3246120"/>
            <a:ext cx="4754520" cy="685440"/>
          </a:xfrm>
          <a:prstGeom prst="roundRect">
            <a:avLst>
              <a:gd name="adj" fmla="val 16667"/>
            </a:avLst>
          </a:prstGeom>
          <a:solidFill>
            <a:srgbClr val="2F69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7" name="TextBox 14"/>
          <p:cNvSpPr/>
          <p:nvPr/>
        </p:nvSpPr>
        <p:spPr>
          <a:xfrm>
            <a:off x="3840480" y="338328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MAP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Box 15"/>
          <p:cNvSpPr/>
          <p:nvPr/>
        </p:nvSpPr>
        <p:spPr>
          <a:xfrm>
            <a:off x="5715000" y="338328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Transformar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9" name="Connector 16"/>
          <p:cNvCxnSpPr/>
          <p:nvPr/>
        </p:nvCxnSpPr>
        <p:spPr>
          <a:xfrm>
            <a:off x="6080760" y="3949920"/>
            <a:ext cx="360" cy="192600"/>
          </a:xfrm>
          <a:prstGeom prst="straightConnector1">
            <a:avLst/>
          </a:prstGeom>
          <a:ln w="22860">
            <a:solidFill>
              <a:srgbClr val="61738B"/>
            </a:solidFill>
            <a:round/>
          </a:ln>
        </p:spPr>
      </p:cxnSp>
      <p:sp>
        <p:nvSpPr>
          <p:cNvPr id="380" name="Rounded Rectangle 17"/>
          <p:cNvSpPr/>
          <p:nvPr/>
        </p:nvSpPr>
        <p:spPr>
          <a:xfrm>
            <a:off x="3703320" y="4160520"/>
            <a:ext cx="4754520" cy="685440"/>
          </a:xfrm>
          <a:prstGeom prst="roundRect">
            <a:avLst>
              <a:gd name="adj" fmla="val 16667"/>
            </a:avLst>
          </a:prstGeom>
          <a:solidFill>
            <a:srgbClr val="ED7D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1" name="TextBox 18"/>
          <p:cNvSpPr/>
          <p:nvPr/>
        </p:nvSpPr>
        <p:spPr>
          <a:xfrm>
            <a:off x="3840480" y="429768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SHUFFLE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19"/>
          <p:cNvSpPr/>
          <p:nvPr/>
        </p:nvSpPr>
        <p:spPr>
          <a:xfrm>
            <a:off x="5715000" y="429768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Agrupar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3" name="Connector 20"/>
          <p:cNvCxnSpPr/>
          <p:nvPr/>
        </p:nvCxnSpPr>
        <p:spPr>
          <a:xfrm>
            <a:off x="6080760" y="4864320"/>
            <a:ext cx="360" cy="192600"/>
          </a:xfrm>
          <a:prstGeom prst="straightConnector1">
            <a:avLst/>
          </a:prstGeom>
          <a:ln w="22860">
            <a:solidFill>
              <a:srgbClr val="61738B"/>
            </a:solidFill>
            <a:round/>
          </a:ln>
        </p:spPr>
      </p:cxnSp>
      <p:sp>
        <p:nvSpPr>
          <p:cNvPr id="384" name="Rounded Rectangle 21"/>
          <p:cNvSpPr/>
          <p:nvPr/>
        </p:nvSpPr>
        <p:spPr>
          <a:xfrm>
            <a:off x="3703320" y="5074920"/>
            <a:ext cx="4754520" cy="685440"/>
          </a:xfrm>
          <a:prstGeom prst="roundRect">
            <a:avLst>
              <a:gd name="adj" fmla="val 16667"/>
            </a:avLst>
          </a:prstGeom>
          <a:solidFill>
            <a:srgbClr val="70A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5" name="TextBox 22"/>
          <p:cNvSpPr/>
          <p:nvPr/>
        </p:nvSpPr>
        <p:spPr>
          <a:xfrm>
            <a:off x="3840480" y="521208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REDUCE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Box 23"/>
          <p:cNvSpPr/>
          <p:nvPr/>
        </p:nvSpPr>
        <p:spPr>
          <a:xfrm>
            <a:off x="5715000" y="521208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Agregar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Box 24"/>
          <p:cNvSpPr/>
          <p:nvPr/>
        </p:nvSpPr>
        <p:spPr>
          <a:xfrm>
            <a:off x="868680" y="5943600"/>
            <a:ext cx="10423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Big Data exige pensar não só no algoritmo, mas na forma como os dados serão distribuídos e processados.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TextBox 31"/>
          <p:cNvSpPr/>
          <p:nvPr/>
        </p:nvSpPr>
        <p:spPr>
          <a:xfrm>
            <a:off x="0" y="3420000"/>
            <a:ext cx="414000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5400" b="0" u="none" strike="noStrike">
                <a:solidFill>
                  <a:srgbClr val="0B223F"/>
                </a:solidFill>
                <a:effectLst/>
                <a:uFillTx/>
                <a:latin typeface="Arial"/>
              </a:rPr>
              <a:t>Referências: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Box 32"/>
          <p:cNvSpPr/>
          <p:nvPr/>
        </p:nvSpPr>
        <p:spPr>
          <a:xfrm>
            <a:off x="502920" y="6473880"/>
            <a:ext cx="5303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UNIP • GTI – Oferta 2026 - Gestão e Análise de Dados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Box 33"/>
          <p:cNvSpPr/>
          <p:nvPr/>
        </p:nvSpPr>
        <p:spPr>
          <a:xfrm>
            <a:off x="11475720" y="6455520"/>
            <a:ext cx="319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1738B"/>
                </a:solidFill>
                <a:effectLst/>
                <a:uFillTx/>
                <a:latin typeface="Arial"/>
              </a:rPr>
              <a:t>12</a:t>
            </a:r>
            <a:endParaRPr lang="pt-B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180000" y="4320000"/>
            <a:ext cx="11880000" cy="515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DEAN, Jeffrey; GHEMAWAT, Sanjay. </a:t>
            </a:r>
            <a:r>
              <a:rPr lang="pt-BR" sz="1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MapReduce: simplified data processing on large clusters</a:t>
            </a:r>
            <a:r>
              <a:rPr lang="pt-B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In: OSDI'04: SIXTH SYMPOSIUM ON OPERATING SYSTEMS DESIGN AND IMPLEMENTATION, 2004, San Francisco, CA. Proceedings... San Francisco: USENIX Association, 2004. p. 137-150. 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LibreOffice/26.2.5.2$Windows_X86_64 LibreOffice_project/cd7284b4cbbfeb507e630c1aac019f4157393acb</Application>
  <AppVersion>15.0000</AppVersion>
  <Words>1433</Words>
  <Paragraphs>209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2026-10-13T16:40:10Z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21</vt:i4>
  </property>
</Properties>
</file>