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</p:sldMasterIdLst>
  <p:notesMasterIdLst>
    <p:notesMasterId r:id="rId37"/>
  </p:notesMasterIdLst>
  <p:sldIdLst>
    <p:sldId id="256" r:id="rId6"/>
    <p:sldId id="257" r:id="rId7"/>
    <p:sldId id="258" r:id="rId8"/>
    <p:sldId id="259" r:id="rId9"/>
    <p:sldId id="284" r:id="rId10"/>
    <p:sldId id="283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85" r:id="rId25"/>
    <p:sldId id="273" r:id="rId26"/>
    <p:sldId id="274" r:id="rId27"/>
    <p:sldId id="275" r:id="rId28"/>
    <p:sldId id="276" r:id="rId29"/>
    <p:sldId id="277" r:id="rId30"/>
    <p:sldId id="286" r:id="rId31"/>
    <p:sldId id="278" r:id="rId32"/>
    <p:sldId id="279" r:id="rId33"/>
    <p:sldId id="280" r:id="rId34"/>
    <p:sldId id="281" r:id="rId35"/>
    <p:sldId id="282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6969"/>
    <a:srgbClr val="F4F5F7"/>
    <a:srgbClr val="B6ECFF"/>
    <a:srgbClr val="FF7474"/>
    <a:srgbClr val="FFFF00"/>
    <a:srgbClr val="00FF00"/>
    <a:srgbClr val="D6DCE5"/>
    <a:srgbClr val="FF7C7C"/>
    <a:srgbClr val="5C883F"/>
    <a:srgbClr val="256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13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viewProps" Target="view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5662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D050AA-3B7C-4976-B9D4-CC2310A73BAE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6568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D050AA-3B7C-4976-B9D4-CC2310A73BAE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6568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03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21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</a:p>
        </p:txBody>
      </p:sp>
    </p:spTree>
    <p:extLst>
      <p:ext uri="{BB962C8B-B14F-4D97-AF65-F5344CB8AC3E}">
        <p14:creationId xmlns:p14="http://schemas.microsoft.com/office/powerpoint/2010/main" val="1623070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2743200" cy="5841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173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3268B8"/>
                </a:solidFill>
                <a:latin typeface="Arial"/>
              </a:rPr>
              <a:t>Aula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0"/>
            <a:ext cx="5943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900" b="1" i="0">
                <a:solidFill>
                  <a:srgbClr val="0A1F3A"/>
                </a:solidFill>
                <a:latin typeface="Arial"/>
              </a:rPr>
              <a:t>Redes Neurais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2542032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0" i="0">
                <a:solidFill>
                  <a:srgbClr val="1C2A37"/>
                </a:solidFill>
                <a:latin typeface="Arial"/>
              </a:rPr>
              <a:t>Do modelo linear ao MLP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4B5B69"/>
                </a:solidFill>
                <a:latin typeface="Arial"/>
              </a:rPr>
              <a:t>Neurônios como peças de LEGO: entradas, camadas, Feed Forward, erro, Backpropagation e funções de ativação.</a:t>
            </a:r>
          </a:p>
        </p:txBody>
      </p:sp>
      <p:sp>
        <p:nvSpPr>
          <p:cNvPr id="7" name="Oval 6"/>
          <p:cNvSpPr/>
          <p:nvPr/>
        </p:nvSpPr>
        <p:spPr>
          <a:xfrm>
            <a:off x="7104888" y="1618488"/>
            <a:ext cx="420624" cy="420624"/>
          </a:xfrm>
          <a:prstGeom prst="ellipse">
            <a:avLst/>
          </a:prstGeom>
          <a:solidFill>
            <a:srgbClr val="DBE8F8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1F3A"/>
                </a:solidFill>
                <a:latin typeface="Arial"/>
              </a:rPr>
              <a:t>x1</a:t>
            </a:r>
          </a:p>
        </p:txBody>
      </p:sp>
      <p:sp>
        <p:nvSpPr>
          <p:cNvPr id="8" name="Oval 7"/>
          <p:cNvSpPr/>
          <p:nvPr/>
        </p:nvSpPr>
        <p:spPr>
          <a:xfrm>
            <a:off x="7104888" y="2532888"/>
            <a:ext cx="420624" cy="420624"/>
          </a:xfrm>
          <a:prstGeom prst="ellipse">
            <a:avLst/>
          </a:prstGeom>
          <a:solidFill>
            <a:srgbClr val="DBE8F8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1F3A"/>
                </a:solidFill>
                <a:latin typeface="Arial"/>
              </a:rPr>
              <a:t>x2</a:t>
            </a:r>
          </a:p>
        </p:txBody>
      </p:sp>
      <p:sp>
        <p:nvSpPr>
          <p:cNvPr id="9" name="Oval 8"/>
          <p:cNvSpPr/>
          <p:nvPr/>
        </p:nvSpPr>
        <p:spPr>
          <a:xfrm>
            <a:off x="7104888" y="3447288"/>
            <a:ext cx="420624" cy="420624"/>
          </a:xfrm>
          <a:prstGeom prst="ellipse">
            <a:avLst/>
          </a:prstGeom>
          <a:solidFill>
            <a:srgbClr val="DBE8F8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1F3A"/>
                </a:solidFill>
                <a:latin typeface="Arial"/>
              </a:rPr>
              <a:t>x3</a:t>
            </a:r>
          </a:p>
        </p:txBody>
      </p:sp>
      <p:sp>
        <p:nvSpPr>
          <p:cNvPr id="10" name="Oval 9"/>
          <p:cNvSpPr/>
          <p:nvPr/>
        </p:nvSpPr>
        <p:spPr>
          <a:xfrm>
            <a:off x="7104888" y="4361688"/>
            <a:ext cx="420624" cy="420624"/>
          </a:xfrm>
          <a:prstGeom prst="ellipse">
            <a:avLst/>
          </a:prstGeom>
          <a:solidFill>
            <a:srgbClr val="DBE8F8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1F3A"/>
                </a:solidFill>
                <a:latin typeface="Arial"/>
              </a:rPr>
              <a:t>x4</a:t>
            </a:r>
          </a:p>
        </p:txBody>
      </p:sp>
      <p:sp>
        <p:nvSpPr>
          <p:cNvPr id="11" name="Oval 10"/>
          <p:cNvSpPr/>
          <p:nvPr/>
        </p:nvSpPr>
        <p:spPr>
          <a:xfrm>
            <a:off x="8613648" y="1892807"/>
            <a:ext cx="420624" cy="420624"/>
          </a:xfrm>
          <a:prstGeom prst="ellipse">
            <a:avLst/>
          </a:prstGeom>
          <a:solidFill>
            <a:srgbClr val="FFF200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613648" y="2990088"/>
            <a:ext cx="420624" cy="420624"/>
          </a:xfrm>
          <a:prstGeom prst="ellipse">
            <a:avLst/>
          </a:prstGeom>
          <a:solidFill>
            <a:srgbClr val="FFF200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613648" y="4087368"/>
            <a:ext cx="420624" cy="420624"/>
          </a:xfrm>
          <a:prstGeom prst="ellipse">
            <a:avLst/>
          </a:prstGeom>
          <a:solidFill>
            <a:srgbClr val="FFF200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848088" y="2258568"/>
            <a:ext cx="420624" cy="420624"/>
          </a:xfrm>
          <a:prstGeom prst="ellipse">
            <a:avLst/>
          </a:prstGeom>
          <a:solidFill>
            <a:srgbClr val="FAE2D0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848088" y="3721607"/>
            <a:ext cx="420624" cy="420624"/>
          </a:xfrm>
          <a:prstGeom prst="ellipse">
            <a:avLst/>
          </a:prstGeom>
          <a:solidFill>
            <a:srgbClr val="FAE2D0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08208" y="2944368"/>
            <a:ext cx="512064" cy="512064"/>
          </a:xfrm>
          <a:prstGeom prst="ellipse">
            <a:avLst/>
          </a:prstGeom>
          <a:solidFill>
            <a:srgbClr val="6ED278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1F3A"/>
                </a:solidFill>
                <a:latin typeface="Arial"/>
              </a:rPr>
              <a:t>ŷ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25512" y="1828800"/>
            <a:ext cx="1088136" cy="27432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25512" y="1828800"/>
            <a:ext cx="1088136" cy="137160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525512" y="1828800"/>
            <a:ext cx="1088136" cy="246888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525512" y="2103120"/>
            <a:ext cx="1088136" cy="64008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525512" y="2743200"/>
            <a:ext cx="1088136" cy="45720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25512" y="2743200"/>
            <a:ext cx="1088136" cy="155448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525512" y="2103120"/>
            <a:ext cx="1088136" cy="155448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525512" y="3200400"/>
            <a:ext cx="1088136" cy="45720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525512" y="3657600"/>
            <a:ext cx="1088136" cy="64008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525512" y="2103120"/>
            <a:ext cx="1088136" cy="246888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525512" y="3200400"/>
            <a:ext cx="1088136" cy="137160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525512" y="4297680"/>
            <a:ext cx="1088136" cy="27432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034272" y="2103120"/>
            <a:ext cx="813816" cy="36576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034272" y="2103120"/>
            <a:ext cx="813816" cy="182880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034272" y="2468880"/>
            <a:ext cx="813816" cy="73152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034272" y="3200400"/>
            <a:ext cx="813816" cy="73152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034272" y="2468880"/>
            <a:ext cx="813816" cy="182880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9034272" y="3931920"/>
            <a:ext cx="813816" cy="36576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268712" y="2468880"/>
            <a:ext cx="539496" cy="73152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0268712" y="3200400"/>
            <a:ext cx="539496" cy="73152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" y="605332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35508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A1F3A"/>
                </a:solidFill>
                <a:latin typeface="Arial"/>
              </a:rPr>
              <a:t>Da regressão linear às redes neurais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512064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1  Modelo linear → neurônio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48840"/>
            <a:ext cx="512064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0A1F3A"/>
                </a:solidFill>
                <a:latin typeface="Arial"/>
              </a:rPr>
              <a:t>2  Múltiplas entradas e camadas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90088"/>
            <a:ext cx="512064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0A1F3A"/>
                </a:solidFill>
                <a:latin typeface="Arial"/>
              </a:rPr>
              <a:t>3  Feed Forward Network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90088"/>
            <a:ext cx="512064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4  Erro, Gradiente Descendente e Backpropagation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31336"/>
            <a:ext cx="512064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5  XOR e o limite da linearidade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31336"/>
            <a:ext cx="512064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0A1F3A"/>
                </a:solidFill>
                <a:latin typeface="Arial"/>
              </a:rPr>
              <a:t>6  Funções de ativação: ReLU e Softmax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72584"/>
            <a:ext cx="512064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>
                <a:solidFill>
                  <a:srgbClr val="0A1F3A"/>
                </a:solidFill>
                <a:latin typeface="Arial"/>
              </a:rPr>
              <a:t>7  MLP totalmente conectada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672584"/>
            <a:ext cx="512064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8  CIFAR-10: gatos × cachorros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1 • PONTO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A1F3A"/>
                </a:solidFill>
                <a:latin typeface="Arial"/>
              </a:rPr>
              <a:t>O modelo linear que já conhecemos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55648"/>
            <a:ext cx="11247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4B5B69"/>
                </a:solidFill>
                <a:latin typeface="Arial"/>
              </a:rPr>
              <a:t>y = w·x +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4023360" cy="123444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>
                <a:solidFill>
                  <a:srgbClr val="0A1F3A"/>
                </a:solidFill>
                <a:latin typeface="Arial"/>
              </a:rPr>
              <a:t>y = w·x +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94760"/>
            <a:ext cx="36576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C2A37"/>
                </a:solidFill>
                <a:latin typeface="Arial"/>
              </a:rPr>
              <a:t>x = entrada
w = peso
b = bias (intercepto)
y = saída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2860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3268B8"/>
                </a:solidFill>
                <a:latin typeface="Arial"/>
              </a:rPr>
              <a:t>Exemplo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2651760"/>
            <a:ext cx="521208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700" b="1">
                <a:solidFill>
                  <a:srgbClr val="0A1F3A"/>
                </a:solidFill>
                <a:latin typeface="Arial"/>
              </a:rPr>
              <a:t>y = 2x + 10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37947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C2A37"/>
                </a:solidFill>
                <a:latin typeface="Arial"/>
              </a:rPr>
              <a:t>Se x = 20, então y = 50.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4434840"/>
            <a:ext cx="5303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4B5B69"/>
                </a:solidFill>
                <a:latin typeface="Arial"/>
              </a:rPr>
              <a:t>Ideia-chave: o peso w controla quanto a entrada influencia a saída.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1 • DO MODELO AO NEURÔNIO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A1F3A"/>
                </a:solidFill>
                <a:latin typeface="Arial"/>
              </a:rPr>
              <a:t>E se tivermos várias entradas?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55648"/>
            <a:ext cx="11247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4B5B69"/>
                </a:solidFill>
                <a:latin typeface="Arial"/>
              </a:rPr>
              <a:t>O mesmo raciocínio linear pode combinar várias informações.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23160"/>
            <a:ext cx="2103120" cy="621792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0A1F3A"/>
                </a:solidFill>
                <a:latin typeface="Arial"/>
              </a:rPr>
              <a:t>x₁ • </a:t>
            </a:r>
            <a:r>
              <a:rPr sz="1600" b="1" dirty="0" err="1">
                <a:solidFill>
                  <a:srgbClr val="0A1F3A"/>
                </a:solidFill>
                <a:latin typeface="Arial"/>
              </a:rPr>
              <a:t>idade</a:t>
            </a:r>
            <a:endParaRPr sz="1600" b="1" dirty="0">
              <a:solidFill>
                <a:srgbClr val="0A1F3A"/>
              </a:solidFill>
              <a:latin typeface="Arial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2743200" y="2734056"/>
            <a:ext cx="2103120" cy="877824"/>
          </a:xfrm>
          <a:prstGeom prst="line">
            <a:avLst/>
          </a:prstGeom>
          <a:ln w="2032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3355848"/>
            <a:ext cx="2103120" cy="621792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x₂ • renda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743200" y="3611880"/>
            <a:ext cx="2103120" cy="54864"/>
          </a:xfrm>
          <a:prstGeom prst="line">
            <a:avLst/>
          </a:prstGeom>
          <a:ln w="2032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4288536"/>
            <a:ext cx="2103120" cy="621792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x₃ • compras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743200" y="3611880"/>
            <a:ext cx="2103120" cy="987552"/>
          </a:xfrm>
          <a:prstGeom prst="line">
            <a:avLst/>
          </a:prstGeom>
          <a:ln w="2032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46320" y="2880360"/>
            <a:ext cx="2926080" cy="141732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500" b="1">
                <a:solidFill>
                  <a:srgbClr val="0A1F3A"/>
                </a:solidFill>
                <a:latin typeface="Arial"/>
              </a:rPr>
              <a:t>Σ  wᵢxᵢ + 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0" y="3584448"/>
            <a:ext cx="1371600" cy="0"/>
          </a:xfrm>
          <a:prstGeom prst="line">
            <a:avLst/>
          </a:prstGeom>
          <a:ln w="3048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0" y="3182112"/>
            <a:ext cx="2011680" cy="822960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0A1F3A"/>
                </a:solidFill>
                <a:latin typeface="Arial"/>
              </a:rPr>
              <a:t>saída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5321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C2A37"/>
                </a:solidFill>
                <a:latin typeface="Arial"/>
              </a:rPr>
              <a:t>Cada entrada possui seu próprio peso.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55321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C2A37"/>
                </a:solidFill>
                <a:latin typeface="Arial"/>
              </a:rPr>
              <a:t>O neurônio combina todas elas em uma única saída.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EDDE92-0806-95C8-E194-DDE58FA8B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>
            <a:extLst>
              <a:ext uri="{FF2B5EF4-FFF2-40B4-BE49-F238E27FC236}">
                <a16:creationId xmlns:a16="http://schemas.microsoft.com/office/drawing/2014/main" id="{EFDC0F86-D7D5-96F4-2049-3879DEC88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CF112F-99DC-F695-170D-6E3D5614C360}"/>
              </a:ext>
            </a:extLst>
          </p:cNvPr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1 • DO MODELO AO NEURÔNIO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359DDF-0519-71D3-7220-EF185542BFEC}"/>
              </a:ext>
            </a:extLst>
          </p:cNvPr>
          <p:cNvSpPr txBox="1"/>
          <p:nvPr/>
        </p:nvSpPr>
        <p:spPr>
          <a:xfrm>
            <a:off x="256032" y="1207008"/>
            <a:ext cx="114300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pt-BR" sz="2700" b="1" i="0" dirty="0" err="1">
                <a:solidFill>
                  <a:srgbClr val="0A1F3A"/>
                </a:solidFill>
                <a:latin typeface="Arial"/>
              </a:rPr>
              <a:t>Perceptron</a:t>
            </a:r>
            <a:r>
              <a:rPr lang="pt-BR" sz="2700" b="1" i="0" dirty="0">
                <a:solidFill>
                  <a:srgbClr val="0A1F3A"/>
                </a:solidFill>
                <a:latin typeface="Arial"/>
              </a:rPr>
              <a:t> e o Teorema da Convergência - </a:t>
            </a:r>
            <a:endParaRPr sz="2700" b="1" i="0" dirty="0">
              <a:solidFill>
                <a:srgbClr val="0A1F3A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DCBB1-E9C7-307E-9CB3-AE9DAED94529}"/>
              </a:ext>
            </a:extLst>
          </p:cNvPr>
          <p:cNvSpPr txBox="1"/>
          <p:nvPr/>
        </p:nvSpPr>
        <p:spPr>
          <a:xfrm>
            <a:off x="274320" y="1755648"/>
            <a:ext cx="112471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i="0" dirty="0">
                <a:solidFill>
                  <a:srgbClr val="4B5B69"/>
                </a:solidFill>
                <a:latin typeface="Arial"/>
              </a:rPr>
              <a:t>O </a:t>
            </a:r>
            <a:r>
              <a:rPr sz="1400" b="0" i="0" dirty="0" err="1">
                <a:solidFill>
                  <a:srgbClr val="4B5B69"/>
                </a:solidFill>
                <a:latin typeface="Arial"/>
              </a:rPr>
              <a:t>mesmo</a:t>
            </a:r>
            <a:r>
              <a:rPr sz="1400" b="0" i="0" dirty="0">
                <a:solidFill>
                  <a:srgbClr val="4B5B69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B5B69"/>
                </a:solidFill>
                <a:latin typeface="Arial"/>
              </a:rPr>
              <a:t>raciocínio</a:t>
            </a:r>
            <a:r>
              <a:rPr sz="1400" b="0" i="0" dirty="0">
                <a:solidFill>
                  <a:srgbClr val="4B5B69"/>
                </a:solidFill>
                <a:latin typeface="Arial"/>
              </a:rPr>
              <a:t> linear </a:t>
            </a:r>
            <a:r>
              <a:rPr sz="1400" b="0" i="0" dirty="0" err="1">
                <a:solidFill>
                  <a:srgbClr val="4B5B69"/>
                </a:solidFill>
                <a:latin typeface="Arial"/>
              </a:rPr>
              <a:t>pode</a:t>
            </a:r>
            <a:r>
              <a:rPr sz="1400" b="0" i="0" dirty="0">
                <a:solidFill>
                  <a:srgbClr val="4B5B69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B5B69"/>
                </a:solidFill>
                <a:latin typeface="Arial"/>
              </a:rPr>
              <a:t>combinar</a:t>
            </a:r>
            <a:r>
              <a:rPr sz="1400" b="0" i="0" dirty="0">
                <a:solidFill>
                  <a:srgbClr val="4B5B69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B5B69"/>
                </a:solidFill>
                <a:latin typeface="Arial"/>
              </a:rPr>
              <a:t>várias</a:t>
            </a:r>
            <a:r>
              <a:rPr sz="1400" b="0" i="0" dirty="0">
                <a:solidFill>
                  <a:srgbClr val="4B5B69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B5B69"/>
                </a:solidFill>
                <a:latin typeface="Arial"/>
              </a:rPr>
              <a:t>informações</a:t>
            </a:r>
            <a:r>
              <a:rPr sz="1400" b="0" i="0" dirty="0">
                <a:solidFill>
                  <a:srgbClr val="4B5B69"/>
                </a:solidFill>
                <a:latin typeface="Arial"/>
              </a:rPr>
              <a:t>.</a:t>
            </a:r>
            <a:r>
              <a:rPr lang="pt-BR" sz="1400" dirty="0">
                <a:solidFill>
                  <a:srgbClr val="4B5B69"/>
                </a:solidFill>
                <a:latin typeface="Arial"/>
              </a:rPr>
              <a:t> </a:t>
            </a:r>
            <a:r>
              <a:rPr lang="pt-BR" sz="1400" dirty="0" err="1">
                <a:solidFill>
                  <a:srgbClr val="4B5B69"/>
                </a:solidFill>
                <a:latin typeface="Arial"/>
              </a:rPr>
              <a:t>Rosenblatt</a:t>
            </a:r>
            <a:r>
              <a:rPr lang="pt-BR" sz="1400" dirty="0">
                <a:solidFill>
                  <a:srgbClr val="4B5B69"/>
                </a:solidFill>
                <a:latin typeface="Arial"/>
              </a:rPr>
              <a:t> (1962); Block (1962); </a:t>
            </a:r>
            <a:r>
              <a:rPr lang="pt-BR" sz="1400" dirty="0" err="1">
                <a:solidFill>
                  <a:srgbClr val="4B5B69"/>
                </a:solidFill>
                <a:latin typeface="Arial"/>
              </a:rPr>
              <a:t>Minsky</a:t>
            </a:r>
            <a:r>
              <a:rPr lang="pt-BR" sz="1400" dirty="0">
                <a:solidFill>
                  <a:srgbClr val="4B5B69"/>
                </a:solidFill>
                <a:latin typeface="Arial"/>
              </a:rPr>
              <a:t> et al. (1969); </a:t>
            </a:r>
            <a:r>
              <a:rPr lang="pt-BR" sz="1400" dirty="0" err="1">
                <a:solidFill>
                  <a:srgbClr val="4B5B69"/>
                </a:solidFill>
                <a:latin typeface="Arial"/>
              </a:rPr>
              <a:t>Hornik</a:t>
            </a:r>
            <a:r>
              <a:rPr lang="pt-BR" sz="1400" dirty="0">
                <a:solidFill>
                  <a:srgbClr val="4B5B69"/>
                </a:solidFill>
                <a:latin typeface="Arial"/>
              </a:rPr>
              <a:t> et al. (1989); Barron et al. (1993)</a:t>
            </a:r>
            <a:endParaRPr sz="1400" b="0" i="0" dirty="0">
              <a:solidFill>
                <a:srgbClr val="4B5B69"/>
              </a:solidFill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306C24-B592-D303-0C3C-DF1A5554F035}"/>
              </a:ext>
            </a:extLst>
          </p:cNvPr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552C76-D0B8-C8A6-4264-6E0A4C1AE916}"/>
              </a:ext>
            </a:extLst>
          </p:cNvPr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C297CB-F550-068C-6809-D21C598CEE27}"/>
              </a:ext>
            </a:extLst>
          </p:cNvPr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4122F9-B081-ADA3-F86D-1377CE32F02B}"/>
              </a:ext>
            </a:extLst>
          </p:cNvPr>
          <p:cNvSpPr txBox="1"/>
          <p:nvPr/>
        </p:nvSpPr>
        <p:spPr>
          <a:xfrm>
            <a:off x="685800" y="55321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C2A37"/>
                </a:solidFill>
                <a:latin typeface="Arial"/>
              </a:rPr>
              <a:t>Cada entrada possui seu próprio peso.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CF0474-2D90-1398-9068-98DC39125891}"/>
              </a:ext>
            </a:extLst>
          </p:cNvPr>
          <p:cNvSpPr txBox="1"/>
          <p:nvPr/>
        </p:nvSpPr>
        <p:spPr>
          <a:xfrm>
            <a:off x="5577840" y="55321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C2A37"/>
                </a:solidFill>
                <a:latin typeface="Arial"/>
              </a:rPr>
              <a:t>O neurônio combina todas elas em uma única saída.</a:t>
            </a:r>
          </a:p>
        </p:txBody>
      </p:sp>
      <p:cxnSp>
        <p:nvCxnSpPr>
          <p:cNvPr id="20" name="Connector 7">
            <a:extLst>
              <a:ext uri="{FF2B5EF4-FFF2-40B4-BE49-F238E27FC236}">
                <a16:creationId xmlns:a16="http://schemas.microsoft.com/office/drawing/2014/main" id="{9E897A44-7F54-DA3A-B19B-1A3093B6B375}"/>
              </a:ext>
            </a:extLst>
          </p:cNvPr>
          <p:cNvCxnSpPr>
            <a:cxnSpLocks/>
          </p:cNvCxnSpPr>
          <p:nvPr/>
        </p:nvCxnSpPr>
        <p:spPr>
          <a:xfrm>
            <a:off x="2268551" y="2345692"/>
            <a:ext cx="0" cy="2535991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8">
            <a:extLst>
              <a:ext uri="{FF2B5EF4-FFF2-40B4-BE49-F238E27FC236}">
                <a16:creationId xmlns:a16="http://schemas.microsoft.com/office/drawing/2014/main" id="{B5284A4E-09F6-667D-E2D2-B2F618F02487}"/>
              </a:ext>
            </a:extLst>
          </p:cNvPr>
          <p:cNvCxnSpPr>
            <a:cxnSpLocks/>
          </p:cNvCxnSpPr>
          <p:nvPr/>
        </p:nvCxnSpPr>
        <p:spPr>
          <a:xfrm>
            <a:off x="2266746" y="2345692"/>
            <a:ext cx="158975" cy="0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9">
            <a:extLst>
              <a:ext uri="{FF2B5EF4-FFF2-40B4-BE49-F238E27FC236}">
                <a16:creationId xmlns:a16="http://schemas.microsoft.com/office/drawing/2014/main" id="{86080796-77DC-56E4-F0BD-568979985E4A}"/>
              </a:ext>
            </a:extLst>
          </p:cNvPr>
          <p:cNvCxnSpPr/>
          <p:nvPr/>
        </p:nvCxnSpPr>
        <p:spPr>
          <a:xfrm>
            <a:off x="2258797" y="4881683"/>
            <a:ext cx="174873" cy="0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11">
            <a:extLst>
              <a:ext uri="{FF2B5EF4-FFF2-40B4-BE49-F238E27FC236}">
                <a16:creationId xmlns:a16="http://schemas.microsoft.com/office/drawing/2014/main" id="{204DCA71-4605-675B-60BF-15C9FB670D29}"/>
              </a:ext>
            </a:extLst>
          </p:cNvPr>
          <p:cNvSpPr/>
          <p:nvPr/>
        </p:nvSpPr>
        <p:spPr>
          <a:xfrm>
            <a:off x="2561159" y="2152745"/>
            <a:ext cx="475488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>
                <a:solidFill>
                  <a:srgbClr val="141414"/>
                </a:solidFill>
                <a:latin typeface="Cambria Math"/>
              </a:rPr>
              <a:t>x₁</a:t>
            </a: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8CB10E5F-C053-9792-8696-771B81350B8B}"/>
              </a:ext>
            </a:extLst>
          </p:cNvPr>
          <p:cNvSpPr/>
          <p:nvPr/>
        </p:nvSpPr>
        <p:spPr>
          <a:xfrm>
            <a:off x="2561159" y="3359753"/>
            <a:ext cx="475488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dirty="0">
                <a:solidFill>
                  <a:srgbClr val="141414"/>
                </a:solidFill>
                <a:latin typeface="Cambria Math"/>
              </a:rPr>
              <a:t>x₂</a:t>
            </a:r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052B77F1-136B-A66B-4E64-4AD89A94219C}"/>
              </a:ext>
            </a:extLst>
          </p:cNvPr>
          <p:cNvSpPr/>
          <p:nvPr/>
        </p:nvSpPr>
        <p:spPr>
          <a:xfrm>
            <a:off x="2561159" y="4676489"/>
            <a:ext cx="475488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>
                <a:solidFill>
                  <a:srgbClr val="141414"/>
                </a:solidFill>
                <a:latin typeface="Cambria Math"/>
              </a:rPr>
              <a:t>xₘ</a:t>
            </a:r>
          </a:p>
        </p:txBody>
      </p:sp>
      <p:cxnSp>
        <p:nvCxnSpPr>
          <p:cNvPr id="30" name="Connector 18">
            <a:extLst>
              <a:ext uri="{FF2B5EF4-FFF2-40B4-BE49-F238E27FC236}">
                <a16:creationId xmlns:a16="http://schemas.microsoft.com/office/drawing/2014/main" id="{2BED54FF-1C98-E60A-5C18-D60C0512EBAB}"/>
              </a:ext>
            </a:extLst>
          </p:cNvPr>
          <p:cNvCxnSpPr/>
          <p:nvPr/>
        </p:nvCxnSpPr>
        <p:spPr>
          <a:xfrm>
            <a:off x="3036647" y="2372201"/>
            <a:ext cx="1152144" cy="1170432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21">
            <a:extLst>
              <a:ext uri="{FF2B5EF4-FFF2-40B4-BE49-F238E27FC236}">
                <a16:creationId xmlns:a16="http://schemas.microsoft.com/office/drawing/2014/main" id="{29BC8B2F-49CD-2D84-59A1-F677B2FC93D3}"/>
              </a:ext>
            </a:extLst>
          </p:cNvPr>
          <p:cNvCxnSpPr/>
          <p:nvPr/>
        </p:nvCxnSpPr>
        <p:spPr>
          <a:xfrm flipV="1">
            <a:off x="3036647" y="3542633"/>
            <a:ext cx="1152144" cy="36576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24">
            <a:extLst>
              <a:ext uri="{FF2B5EF4-FFF2-40B4-BE49-F238E27FC236}">
                <a16:creationId xmlns:a16="http://schemas.microsoft.com/office/drawing/2014/main" id="{9B436F27-F26B-989A-0B43-7B351847CBA2}"/>
              </a:ext>
            </a:extLst>
          </p:cNvPr>
          <p:cNvCxnSpPr/>
          <p:nvPr/>
        </p:nvCxnSpPr>
        <p:spPr>
          <a:xfrm flipV="1">
            <a:off x="3036647" y="3542633"/>
            <a:ext cx="1152144" cy="1353312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9">
            <a:extLst>
              <a:ext uri="{FF2B5EF4-FFF2-40B4-BE49-F238E27FC236}">
                <a16:creationId xmlns:a16="http://schemas.microsoft.com/office/drawing/2014/main" id="{D955A8B8-270F-44F3-B6BC-2DC3EEAEFF93}"/>
              </a:ext>
            </a:extLst>
          </p:cNvPr>
          <p:cNvCxnSpPr/>
          <p:nvPr/>
        </p:nvCxnSpPr>
        <p:spPr>
          <a:xfrm>
            <a:off x="2259840" y="3582786"/>
            <a:ext cx="192360" cy="0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32">
            <a:extLst>
              <a:ext uri="{FF2B5EF4-FFF2-40B4-BE49-F238E27FC236}">
                <a16:creationId xmlns:a16="http://schemas.microsoft.com/office/drawing/2014/main" id="{2246D2DF-C8F4-8A29-B8FE-4BFE51041FEE}"/>
              </a:ext>
            </a:extLst>
          </p:cNvPr>
          <p:cNvSpPr/>
          <p:nvPr/>
        </p:nvSpPr>
        <p:spPr>
          <a:xfrm>
            <a:off x="4188791" y="3055940"/>
            <a:ext cx="2240280" cy="8686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pt-BR" sz="1600" dirty="0">
                <a:solidFill>
                  <a:srgbClr val="141414"/>
                </a:solidFill>
                <a:latin typeface="Cambria Math"/>
              </a:rPr>
              <a:t>y</a:t>
            </a:r>
            <a:r>
              <a:rPr sz="1600" dirty="0">
                <a:solidFill>
                  <a:srgbClr val="141414"/>
                </a:solidFill>
                <a:latin typeface="Cambria Math"/>
              </a:rPr>
              <a:t> = </a:t>
            </a:r>
            <a:r>
              <a:rPr lang="pt-BR" sz="1600" b="1" dirty="0">
                <a:solidFill>
                  <a:srgbClr val="14141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/>
              </a:rPr>
              <a:t>w</a:t>
            </a:r>
            <a:r>
              <a:rPr lang="pt-BR" sz="1600" b="1" baseline="-25000" dirty="0">
                <a:solidFill>
                  <a:srgbClr val="14141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/>
              </a:rPr>
              <a:t>1</a:t>
            </a:r>
            <a:r>
              <a:rPr lang="pt-BR" sz="1600" dirty="0">
                <a:solidFill>
                  <a:srgbClr val="141414"/>
                </a:solidFill>
                <a:latin typeface="Cambria Math"/>
              </a:rPr>
              <a:t> (X</a:t>
            </a:r>
            <a:r>
              <a:rPr lang="pt-BR" sz="1600" baseline="-25000" dirty="0">
                <a:solidFill>
                  <a:srgbClr val="141414"/>
                </a:solidFill>
                <a:highlight>
                  <a:srgbClr val="B8F383"/>
                </a:highlight>
                <a:latin typeface="Cambria Math"/>
              </a:rPr>
              <a:t>1</a:t>
            </a:r>
            <a:r>
              <a:rPr lang="pt-BR" sz="1600" baseline="-25000" dirty="0">
                <a:solidFill>
                  <a:srgbClr val="141414"/>
                </a:solidFill>
                <a:latin typeface="Cambria Math"/>
              </a:rPr>
              <a:t>,</a:t>
            </a:r>
            <a:r>
              <a:rPr lang="pt-BR" sz="1600" baseline="-25000" dirty="0">
                <a:solidFill>
                  <a:srgbClr val="141414"/>
                </a:solidFill>
                <a:highlight>
                  <a:srgbClr val="E64646"/>
                </a:highlight>
                <a:latin typeface="Cambria Math"/>
              </a:rPr>
              <a:t>2</a:t>
            </a:r>
            <a:r>
              <a:rPr lang="pt-BR" sz="1600" baseline="-25000" dirty="0">
                <a:solidFill>
                  <a:srgbClr val="141414"/>
                </a:solidFill>
                <a:latin typeface="Cambria Math"/>
              </a:rPr>
              <a:t>,</a:t>
            </a:r>
            <a:r>
              <a:rPr lang="pt-BR" sz="1600" baseline="-25000" dirty="0">
                <a:solidFill>
                  <a:srgbClr val="141414"/>
                </a:solidFill>
                <a:highlight>
                  <a:srgbClr val="FFE063"/>
                </a:highlight>
                <a:latin typeface="Cambria Math"/>
              </a:rPr>
              <a:t>3</a:t>
            </a:r>
            <a:r>
              <a:rPr lang="pt-BR" sz="1600" dirty="0">
                <a:solidFill>
                  <a:srgbClr val="141414"/>
                </a:solidFill>
                <a:latin typeface="Cambria Math"/>
              </a:rPr>
              <a:t>) + b</a:t>
            </a:r>
          </a:p>
        </p:txBody>
      </p:sp>
      <p:sp>
        <p:nvSpPr>
          <p:cNvPr id="49" name="TextBox 4">
            <a:extLst>
              <a:ext uri="{FF2B5EF4-FFF2-40B4-BE49-F238E27FC236}">
                <a16:creationId xmlns:a16="http://schemas.microsoft.com/office/drawing/2014/main" id="{12E91999-BD9A-46A5-B687-E3D05AB43BCB}"/>
              </a:ext>
            </a:extLst>
          </p:cNvPr>
          <p:cNvSpPr txBox="1"/>
          <p:nvPr/>
        </p:nvSpPr>
        <p:spPr>
          <a:xfrm>
            <a:off x="4491885" y="2591657"/>
            <a:ext cx="1280160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 dirty="0" err="1">
                <a:solidFill>
                  <a:srgbClr val="141414"/>
                </a:solidFill>
                <a:latin typeface="Cambria Math"/>
              </a:rPr>
              <a:t>Neur</a:t>
            </a:r>
            <a:r>
              <a:rPr lang="pt-BR" sz="1700" b="0" dirty="0">
                <a:solidFill>
                  <a:srgbClr val="141414"/>
                </a:solidFill>
                <a:latin typeface="Cambria Math"/>
              </a:rPr>
              <a:t>ô</a:t>
            </a:r>
            <a:r>
              <a:rPr sz="1700" b="0" dirty="0">
                <a:solidFill>
                  <a:srgbClr val="141414"/>
                </a:solidFill>
                <a:latin typeface="Cambria Math"/>
              </a:rPr>
              <a:t>n</a:t>
            </a:r>
            <a:r>
              <a:rPr lang="pt-BR" sz="1700" b="0" dirty="0" err="1">
                <a:solidFill>
                  <a:srgbClr val="141414"/>
                </a:solidFill>
                <a:latin typeface="Cambria Math"/>
              </a:rPr>
              <a:t>io</a:t>
            </a:r>
            <a:endParaRPr sz="1700" b="0" dirty="0">
              <a:solidFill>
                <a:srgbClr val="141414"/>
              </a:solidFill>
              <a:latin typeface="Cambria Math"/>
            </a:endParaRPr>
          </a:p>
        </p:txBody>
      </p:sp>
      <p:cxnSp>
        <p:nvCxnSpPr>
          <p:cNvPr id="50" name="Connector 21">
            <a:extLst>
              <a:ext uri="{FF2B5EF4-FFF2-40B4-BE49-F238E27FC236}">
                <a16:creationId xmlns:a16="http://schemas.microsoft.com/office/drawing/2014/main" id="{E57B7C57-CF33-EADC-3653-756C22CC11F3}"/>
              </a:ext>
            </a:extLst>
          </p:cNvPr>
          <p:cNvCxnSpPr>
            <a:cxnSpLocks/>
          </p:cNvCxnSpPr>
          <p:nvPr/>
        </p:nvCxnSpPr>
        <p:spPr>
          <a:xfrm flipV="1">
            <a:off x="6435590" y="3492299"/>
            <a:ext cx="1152144" cy="4418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262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74620" y="607301"/>
            <a:ext cx="182880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800" b="0" dirty="0">
                <a:solidFill>
                  <a:srgbClr val="141414"/>
                </a:solidFill>
                <a:latin typeface="Cambria Math"/>
              </a:rPr>
              <a:t>Camada</a:t>
            </a:r>
            <a:r>
              <a:rPr sz="1800" b="0" dirty="0">
                <a:solidFill>
                  <a:srgbClr val="141414"/>
                </a:solidFill>
                <a:latin typeface="Cambria Math"/>
              </a:rPr>
              <a:t> 1 (L₁)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0" y="1350956"/>
            <a:ext cx="20116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dirty="0">
                <a:solidFill>
                  <a:srgbClr val="141414"/>
                </a:solidFill>
                <a:latin typeface="Cambria Math"/>
              </a:rPr>
              <a:t>Camada</a:t>
            </a:r>
            <a:r>
              <a:rPr sz="1800" b="0" dirty="0">
                <a:solidFill>
                  <a:srgbClr val="141414"/>
                </a:solidFill>
                <a:latin typeface="Cambria Math"/>
              </a:rPr>
              <a:t> 2 (L₂)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2103120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141414"/>
                </a:solidFill>
                <a:latin typeface="Cambria Math"/>
              </a:rPr>
              <a:t>Layer 3
(output layer)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32120" y="-16951"/>
            <a:ext cx="1280160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 dirty="0" err="1">
                <a:solidFill>
                  <a:srgbClr val="141414"/>
                </a:solidFill>
                <a:latin typeface="Cambria Math"/>
              </a:rPr>
              <a:t>Neur</a:t>
            </a:r>
            <a:r>
              <a:rPr lang="pt-BR" sz="1700" b="0" dirty="0">
                <a:solidFill>
                  <a:srgbClr val="141414"/>
                </a:solidFill>
                <a:latin typeface="Cambria Math"/>
              </a:rPr>
              <a:t>ô</a:t>
            </a:r>
            <a:r>
              <a:rPr sz="1700" b="0" dirty="0">
                <a:solidFill>
                  <a:srgbClr val="141414"/>
                </a:solidFill>
                <a:latin typeface="Cambria Math"/>
              </a:rPr>
              <a:t>n</a:t>
            </a:r>
            <a:r>
              <a:rPr lang="pt-BR" sz="1700" b="0" dirty="0" err="1">
                <a:solidFill>
                  <a:srgbClr val="141414"/>
                </a:solidFill>
                <a:latin typeface="Cambria Math"/>
              </a:rPr>
              <a:t>io</a:t>
            </a:r>
            <a:endParaRPr sz="1700" b="0" dirty="0">
              <a:solidFill>
                <a:srgbClr val="141414"/>
              </a:solidFill>
              <a:latin typeface="Cambria Math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83879" y="233393"/>
            <a:ext cx="356616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600" b="0" dirty="0">
                <a:solidFill>
                  <a:srgbClr val="141414"/>
                </a:solidFill>
                <a:latin typeface="Cambria Math"/>
              </a:rPr>
              <a:t>“W” – todos os pesos </a:t>
            </a:r>
            <a:r>
              <a:rPr lang="pt-BR" sz="1600" b="1" dirty="0">
                <a:solidFill>
                  <a:srgbClr val="141414"/>
                </a:solidFill>
                <a:latin typeface="Cambria Math"/>
              </a:rPr>
              <a:t>w </a:t>
            </a:r>
            <a:r>
              <a:rPr lang="pt-BR" sz="1600" dirty="0">
                <a:solidFill>
                  <a:srgbClr val="141414"/>
                </a:solidFill>
                <a:latin typeface="Cambria Math"/>
              </a:rPr>
              <a:t>vão criar uma espécie “resultante de pesos” .</a:t>
            </a:r>
            <a:endParaRPr sz="1600" dirty="0">
              <a:solidFill>
                <a:srgbClr val="141414"/>
              </a:solidFill>
              <a:latin typeface="Cambria Math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548640" y="1920240"/>
            <a:ext cx="0" cy="3383280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" y="1920240"/>
            <a:ext cx="256032" cy="0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" y="5303520"/>
            <a:ext cx="256032" cy="0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0" y="1121807"/>
            <a:ext cx="193479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700" b="0" dirty="0">
                <a:solidFill>
                  <a:srgbClr val="141414"/>
                </a:solidFill>
                <a:latin typeface="Cambria Math"/>
              </a:rPr>
              <a:t>Dimensionalidade da entrada</a:t>
            </a:r>
            <a:endParaRPr sz="1700" b="0" dirty="0">
              <a:solidFill>
                <a:srgbClr val="141414"/>
              </a:solidFill>
              <a:latin typeface="Cambria Math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41248" y="1920240"/>
            <a:ext cx="475488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dirty="0">
                <a:solidFill>
                  <a:srgbClr val="141414"/>
                </a:solidFill>
                <a:latin typeface="Cambria Math"/>
              </a:rPr>
              <a:t>x₁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3127248"/>
            <a:ext cx="475488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>
                <a:solidFill>
                  <a:srgbClr val="141414"/>
                </a:solidFill>
                <a:latin typeface="Cambria Math"/>
              </a:rPr>
              <a:t>x₂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4443984"/>
            <a:ext cx="475488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>
                <a:solidFill>
                  <a:srgbClr val="141414"/>
                </a:solidFill>
                <a:latin typeface="Cambria Math"/>
              </a:rPr>
              <a:t>xₘ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1371600"/>
            <a:ext cx="2240280" cy="960120"/>
          </a:xfrm>
          <a:prstGeom prst="rect">
            <a:avLst/>
          </a:prstGeom>
          <a:solidFill>
            <a:srgbClr val="B8F383"/>
          </a:solidFill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dirty="0">
                <a:solidFill>
                  <a:srgbClr val="141414"/>
                </a:solidFill>
                <a:latin typeface="Cambria Math"/>
              </a:rPr>
              <a:t>y₁¹ = </a:t>
            </a:r>
            <a:r>
              <a:rPr lang="pt-BR" sz="1700" b="1" dirty="0">
                <a:solidFill>
                  <a:srgbClr val="14141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/>
              </a:rPr>
              <a:t>w</a:t>
            </a:r>
            <a:r>
              <a:rPr lang="pt-BR" sz="1700" baseline="-25000" dirty="0">
                <a:solidFill>
                  <a:srgbClr val="141414"/>
                </a:solidFill>
                <a:latin typeface="Cambria Math"/>
              </a:rPr>
              <a:t>1</a:t>
            </a:r>
            <a:r>
              <a:rPr lang="pt-BR" sz="1700" dirty="0">
                <a:solidFill>
                  <a:srgbClr val="141414"/>
                </a:solidFill>
                <a:latin typeface="Cambria Math"/>
              </a:rPr>
              <a:t> (</a:t>
            </a:r>
            <a:r>
              <a:rPr sz="1700" dirty="0">
                <a:solidFill>
                  <a:srgbClr val="141414"/>
                </a:solidFill>
                <a:latin typeface="Cambria Math"/>
              </a:rPr>
              <a:t>x</a:t>
            </a:r>
            <a:r>
              <a:rPr lang="pt-BR" sz="1700" baseline="-25000" dirty="0">
                <a:solidFill>
                  <a:srgbClr val="141414"/>
                </a:solidFill>
                <a:latin typeface="Cambria Math"/>
              </a:rPr>
              <a:t>1,2,3</a:t>
            </a:r>
            <a:r>
              <a:rPr lang="pt-BR" sz="1700" dirty="0">
                <a:solidFill>
                  <a:srgbClr val="141414"/>
                </a:solidFill>
                <a:latin typeface="Cambria Math"/>
              </a:rPr>
              <a:t>)</a:t>
            </a:r>
            <a:r>
              <a:rPr sz="1700" dirty="0">
                <a:solidFill>
                  <a:srgbClr val="141414"/>
                </a:solidFill>
                <a:latin typeface="Cambria Math"/>
              </a:rPr>
              <a:t> + 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2834640"/>
            <a:ext cx="2240280" cy="960120"/>
          </a:xfrm>
          <a:prstGeom prst="rect">
            <a:avLst/>
          </a:prstGeom>
          <a:solidFill>
            <a:srgbClr val="E64646"/>
          </a:solidFill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dirty="0">
                <a:solidFill>
                  <a:srgbClr val="141414"/>
                </a:solidFill>
                <a:latin typeface="Cambria Math"/>
              </a:rPr>
              <a:t>y₂¹ = </a:t>
            </a:r>
            <a:r>
              <a:rPr lang="pt-BR" sz="1700" b="1" dirty="0">
                <a:solidFill>
                  <a:srgbClr val="14141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/>
              </a:rPr>
              <a:t>w</a:t>
            </a:r>
            <a:r>
              <a:rPr lang="pt-BR" sz="1700" baseline="-25000" dirty="0">
                <a:solidFill>
                  <a:srgbClr val="141414"/>
                </a:solidFill>
                <a:latin typeface="Cambria Math"/>
              </a:rPr>
              <a:t>2</a:t>
            </a:r>
            <a:r>
              <a:rPr lang="pt-BR" sz="1700" dirty="0">
                <a:solidFill>
                  <a:srgbClr val="141414"/>
                </a:solidFill>
                <a:latin typeface="Cambria Math"/>
              </a:rPr>
              <a:t> (x</a:t>
            </a:r>
            <a:r>
              <a:rPr lang="pt-BR" sz="1700" baseline="-25000" dirty="0">
                <a:solidFill>
                  <a:srgbClr val="141414"/>
                </a:solidFill>
                <a:latin typeface="Cambria Math"/>
              </a:rPr>
              <a:t>1,2,3</a:t>
            </a:r>
            <a:r>
              <a:rPr lang="pt-BR" sz="1700" dirty="0">
                <a:solidFill>
                  <a:srgbClr val="141414"/>
                </a:solidFill>
                <a:latin typeface="Cambria Math"/>
              </a:rPr>
              <a:t>) +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4389120"/>
            <a:ext cx="2240280" cy="960120"/>
          </a:xfrm>
          <a:prstGeom prst="rect">
            <a:avLst/>
          </a:prstGeom>
          <a:solidFill>
            <a:srgbClr val="FFE063"/>
          </a:solidFill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dirty="0">
                <a:solidFill>
                  <a:srgbClr val="141414"/>
                </a:solidFill>
                <a:latin typeface="Cambria Math"/>
              </a:rPr>
              <a:t>y₃¹ = </a:t>
            </a:r>
            <a:r>
              <a:rPr lang="pt-BR" sz="1700" b="1" dirty="0">
                <a:solidFill>
                  <a:srgbClr val="14141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/>
              </a:rPr>
              <a:t>w</a:t>
            </a:r>
            <a:r>
              <a:rPr lang="pt-BR" sz="1700" baseline="-25000" dirty="0">
                <a:solidFill>
                  <a:srgbClr val="141414"/>
                </a:solidFill>
                <a:latin typeface="Cambria Math"/>
              </a:rPr>
              <a:t>3</a:t>
            </a:r>
            <a:r>
              <a:rPr lang="pt-BR" sz="1700" dirty="0">
                <a:solidFill>
                  <a:srgbClr val="141414"/>
                </a:solidFill>
                <a:latin typeface="Cambria Math"/>
              </a:rPr>
              <a:t> (x</a:t>
            </a:r>
            <a:r>
              <a:rPr lang="pt-BR" sz="1700" baseline="-25000" dirty="0">
                <a:solidFill>
                  <a:srgbClr val="141414"/>
                </a:solidFill>
                <a:latin typeface="Cambria Math"/>
              </a:rPr>
              <a:t>1,2,3</a:t>
            </a:r>
            <a:r>
              <a:rPr lang="pt-BR" sz="1700" dirty="0">
                <a:solidFill>
                  <a:srgbClr val="141414"/>
                </a:solidFill>
                <a:latin typeface="Cambria Math"/>
              </a:rPr>
              <a:t>) + b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1316736" y="1847088"/>
            <a:ext cx="1152144" cy="292608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316736" y="2139696"/>
            <a:ext cx="1152144" cy="1170432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16736" y="2139696"/>
            <a:ext cx="1152144" cy="2724912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316736" y="1847088"/>
            <a:ext cx="1152144" cy="1499616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16736" y="3310128"/>
            <a:ext cx="1152144" cy="36576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316736" y="3346704"/>
            <a:ext cx="1152144" cy="1517904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316736" y="1847088"/>
            <a:ext cx="1152144" cy="2816352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316736" y="3310128"/>
            <a:ext cx="1152144" cy="1353312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316736" y="4663440"/>
            <a:ext cx="1152144" cy="201168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91434" y="1964620"/>
            <a:ext cx="654639" cy="276999"/>
          </a:xfrm>
          <a:prstGeom prst="rect">
            <a:avLst/>
          </a:prstGeom>
          <a:solidFill>
            <a:srgbClr val="B8F383"/>
          </a:solidFill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141414"/>
                </a:solidFill>
                <a:latin typeface="Cambria Math"/>
              </a:rPr>
              <a:t>y₁¹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8758" y="2481144"/>
            <a:ext cx="457200" cy="276999"/>
          </a:xfrm>
          <a:prstGeom prst="rect">
            <a:avLst/>
          </a:prstGeom>
          <a:solidFill>
            <a:srgbClr val="E64646"/>
          </a:solidFill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141414"/>
                </a:solidFill>
                <a:latin typeface="Cambria Math"/>
              </a:rPr>
              <a:t>y₂¹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80886" y="2918147"/>
            <a:ext cx="390144" cy="276999"/>
          </a:xfrm>
          <a:prstGeom prst="rect">
            <a:avLst/>
          </a:prstGeom>
          <a:solidFill>
            <a:srgbClr val="FFE063"/>
          </a:solidFill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141414"/>
                </a:solidFill>
                <a:latin typeface="Cambria Math"/>
              </a:rPr>
              <a:t>y₃¹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1580" y="3494386"/>
            <a:ext cx="496826" cy="276999"/>
          </a:xfrm>
          <a:prstGeom prst="rect">
            <a:avLst/>
          </a:prstGeom>
          <a:solidFill>
            <a:srgbClr val="B8F383"/>
          </a:solidFill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141414"/>
                </a:solidFill>
                <a:latin typeface="Cambria Math"/>
              </a:rPr>
              <a:t>y₁¹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593" y="3793420"/>
            <a:ext cx="411480" cy="276999"/>
          </a:xfrm>
          <a:prstGeom prst="rect">
            <a:avLst/>
          </a:prstGeom>
          <a:solidFill>
            <a:srgbClr val="E64646"/>
          </a:solidFill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141414"/>
                </a:solidFill>
                <a:latin typeface="Cambria Math"/>
              </a:rPr>
              <a:t>y₂¹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6896" y="4380529"/>
            <a:ext cx="411480" cy="276999"/>
          </a:xfrm>
          <a:prstGeom prst="rect">
            <a:avLst/>
          </a:prstGeom>
          <a:solidFill>
            <a:srgbClr val="FFE063"/>
          </a:solidFill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141414"/>
                </a:solidFill>
                <a:latin typeface="Cambria Math"/>
              </a:rPr>
              <a:t>y₃¹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2011680"/>
            <a:ext cx="2240280" cy="8686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pt-BR" sz="1600" dirty="0">
                <a:solidFill>
                  <a:srgbClr val="141414"/>
                </a:solidFill>
                <a:latin typeface="Cambria Math"/>
              </a:rPr>
              <a:t>z</a:t>
            </a:r>
            <a:r>
              <a:rPr sz="1600" dirty="0">
                <a:solidFill>
                  <a:srgbClr val="141414"/>
                </a:solidFill>
                <a:latin typeface="Cambria Math"/>
              </a:rPr>
              <a:t>₁ = </a:t>
            </a:r>
            <a:r>
              <a:rPr lang="pt-BR" sz="1600" b="1" dirty="0">
                <a:solidFill>
                  <a:srgbClr val="14141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/>
              </a:rPr>
              <a:t>w</a:t>
            </a:r>
            <a:r>
              <a:rPr lang="pt-BR" sz="1600" b="1" baseline="-25000" dirty="0">
                <a:solidFill>
                  <a:srgbClr val="14141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/>
              </a:rPr>
              <a:t>4</a:t>
            </a:r>
            <a:r>
              <a:rPr lang="pt-BR" sz="1600" dirty="0">
                <a:solidFill>
                  <a:srgbClr val="141414"/>
                </a:solidFill>
                <a:latin typeface="Cambria Math"/>
              </a:rPr>
              <a:t> (y</a:t>
            </a:r>
            <a:r>
              <a:rPr lang="pt-BR" sz="1600" baseline="-25000" dirty="0">
                <a:solidFill>
                  <a:srgbClr val="141414"/>
                </a:solidFill>
                <a:highlight>
                  <a:srgbClr val="B8F383"/>
                </a:highlight>
                <a:latin typeface="Cambria Math"/>
              </a:rPr>
              <a:t>1</a:t>
            </a:r>
            <a:r>
              <a:rPr lang="pt-BR" sz="1600" baseline="-25000" dirty="0">
                <a:solidFill>
                  <a:srgbClr val="141414"/>
                </a:solidFill>
                <a:latin typeface="Cambria Math"/>
              </a:rPr>
              <a:t>,</a:t>
            </a:r>
            <a:r>
              <a:rPr lang="pt-BR" sz="1600" baseline="-25000" dirty="0">
                <a:solidFill>
                  <a:srgbClr val="141414"/>
                </a:solidFill>
                <a:highlight>
                  <a:srgbClr val="E64646"/>
                </a:highlight>
                <a:latin typeface="Cambria Math"/>
              </a:rPr>
              <a:t>2</a:t>
            </a:r>
            <a:r>
              <a:rPr lang="pt-BR" sz="1600" baseline="-25000" dirty="0">
                <a:solidFill>
                  <a:srgbClr val="141414"/>
                </a:solidFill>
                <a:latin typeface="Cambria Math"/>
              </a:rPr>
              <a:t>,</a:t>
            </a:r>
            <a:r>
              <a:rPr lang="pt-BR" sz="1600" baseline="-25000" dirty="0">
                <a:solidFill>
                  <a:srgbClr val="141414"/>
                </a:solidFill>
                <a:highlight>
                  <a:srgbClr val="FFE063"/>
                </a:highlight>
                <a:latin typeface="Cambria Math"/>
              </a:rPr>
              <a:t>3</a:t>
            </a:r>
            <a:r>
              <a:rPr lang="pt-BR" sz="1600" dirty="0">
                <a:solidFill>
                  <a:srgbClr val="141414"/>
                </a:solidFill>
                <a:latin typeface="Cambria Math"/>
              </a:rPr>
              <a:t>) + 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3657600"/>
            <a:ext cx="2240280" cy="868680"/>
          </a:xfrm>
          <a:prstGeom prst="rect">
            <a:avLst/>
          </a:prstGeom>
          <a:solidFill>
            <a:srgbClr val="00FFFF"/>
          </a:solidFill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pt-BR" sz="1600" dirty="0">
                <a:solidFill>
                  <a:srgbClr val="141414"/>
                </a:solidFill>
                <a:latin typeface="Cambria Math"/>
              </a:rPr>
              <a:t>z</a:t>
            </a:r>
            <a:r>
              <a:rPr sz="1600" dirty="0">
                <a:solidFill>
                  <a:srgbClr val="141414"/>
                </a:solidFill>
                <a:latin typeface="Cambria Math"/>
              </a:rPr>
              <a:t>₂ = </a:t>
            </a:r>
            <a:r>
              <a:rPr lang="pt-BR" sz="1600" b="1" dirty="0">
                <a:solidFill>
                  <a:srgbClr val="14141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/>
              </a:rPr>
              <a:t>w</a:t>
            </a:r>
            <a:r>
              <a:rPr lang="pt-BR" sz="1600" b="1" baseline="-25000" dirty="0">
                <a:solidFill>
                  <a:srgbClr val="14141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/>
              </a:rPr>
              <a:t>5</a:t>
            </a:r>
            <a:r>
              <a:rPr lang="pt-BR" sz="1600" dirty="0">
                <a:solidFill>
                  <a:srgbClr val="141414"/>
                </a:solidFill>
                <a:latin typeface="Cambria Math"/>
              </a:rPr>
              <a:t> (y</a:t>
            </a:r>
            <a:r>
              <a:rPr lang="pt-BR" sz="1600" baseline="-25000" dirty="0">
                <a:solidFill>
                  <a:srgbClr val="141414"/>
                </a:solidFill>
                <a:highlight>
                  <a:srgbClr val="B8F383"/>
                </a:highlight>
                <a:latin typeface="Cambria Math"/>
              </a:rPr>
              <a:t>1</a:t>
            </a:r>
            <a:r>
              <a:rPr lang="pt-BR" sz="1600" baseline="-25000" dirty="0">
                <a:solidFill>
                  <a:srgbClr val="141414"/>
                </a:solidFill>
                <a:latin typeface="Cambria Math"/>
              </a:rPr>
              <a:t>,</a:t>
            </a:r>
            <a:r>
              <a:rPr lang="pt-BR" sz="1600" baseline="-25000" dirty="0">
                <a:solidFill>
                  <a:srgbClr val="141414"/>
                </a:solidFill>
                <a:highlight>
                  <a:srgbClr val="E64646"/>
                </a:highlight>
                <a:latin typeface="Cambria Math"/>
              </a:rPr>
              <a:t>2</a:t>
            </a:r>
            <a:r>
              <a:rPr lang="pt-BR" sz="1600" baseline="-25000" dirty="0">
                <a:solidFill>
                  <a:srgbClr val="141414"/>
                </a:solidFill>
                <a:latin typeface="Cambria Math"/>
              </a:rPr>
              <a:t>,</a:t>
            </a:r>
            <a:r>
              <a:rPr lang="pt-BR" sz="1600" baseline="-25000" dirty="0">
                <a:solidFill>
                  <a:srgbClr val="141414"/>
                </a:solidFill>
                <a:highlight>
                  <a:srgbClr val="FFE063"/>
                </a:highlight>
                <a:latin typeface="Cambria Math"/>
              </a:rPr>
              <a:t>3</a:t>
            </a:r>
            <a:r>
              <a:rPr lang="pt-BR" sz="1600" dirty="0">
                <a:solidFill>
                  <a:srgbClr val="141414"/>
                </a:solidFill>
                <a:latin typeface="Cambria Math"/>
              </a:rPr>
              <a:t>) + b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709160" y="1847088"/>
            <a:ext cx="1280160" cy="603504"/>
          </a:xfrm>
          <a:prstGeom prst="line">
            <a:avLst/>
          </a:prstGeom>
          <a:ln w="15240">
            <a:solidFill>
              <a:srgbClr val="B8F3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709160" y="1847088"/>
            <a:ext cx="1280160" cy="2249424"/>
          </a:xfrm>
          <a:prstGeom prst="line">
            <a:avLst/>
          </a:prstGeom>
          <a:ln w="15240">
            <a:solidFill>
              <a:srgbClr val="B8F3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709160" y="2450592"/>
            <a:ext cx="1280160" cy="859536"/>
          </a:xfrm>
          <a:prstGeom prst="line">
            <a:avLst/>
          </a:prstGeom>
          <a:ln w="15240">
            <a:solidFill>
              <a:srgbClr val="E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709160" y="3310128"/>
            <a:ext cx="1280160" cy="786384"/>
          </a:xfrm>
          <a:prstGeom prst="line">
            <a:avLst/>
          </a:prstGeom>
          <a:ln w="15240">
            <a:solidFill>
              <a:srgbClr val="E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709160" y="2450592"/>
            <a:ext cx="1280160" cy="2414016"/>
          </a:xfrm>
          <a:prstGeom prst="line">
            <a:avLst/>
          </a:prstGeom>
          <a:ln w="15240">
            <a:solidFill>
              <a:srgbClr val="FFE0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709160" y="4096512"/>
            <a:ext cx="1280160" cy="768096"/>
          </a:xfrm>
          <a:prstGeom prst="line">
            <a:avLst/>
          </a:prstGeom>
          <a:ln w="15240">
            <a:solidFill>
              <a:srgbClr val="FFE0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412480" y="2226451"/>
            <a:ext cx="4572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600" dirty="0">
                <a:solidFill>
                  <a:srgbClr val="141414"/>
                </a:solidFill>
                <a:latin typeface="Cambria Math"/>
              </a:rPr>
              <a:t>z</a:t>
            </a:r>
            <a:r>
              <a:rPr sz="1600" b="0" dirty="0">
                <a:solidFill>
                  <a:srgbClr val="141414"/>
                </a:solidFill>
                <a:latin typeface="Cambria Math"/>
              </a:rPr>
              <a:t>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4192" y="3890659"/>
            <a:ext cx="4572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600" dirty="0">
                <a:solidFill>
                  <a:srgbClr val="141414"/>
                </a:solidFill>
                <a:latin typeface="Cambria Math"/>
              </a:rPr>
              <a:t>z</a:t>
            </a:r>
            <a:r>
              <a:rPr sz="1600" b="0" dirty="0">
                <a:solidFill>
                  <a:srgbClr val="141414"/>
                </a:solidFill>
                <a:latin typeface="Cambria Math"/>
              </a:rPr>
              <a:t>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20" y="2971800"/>
            <a:ext cx="2331720" cy="960120"/>
          </a:xfrm>
          <a:prstGeom prst="rect">
            <a:avLst/>
          </a:prstGeom>
          <a:solidFill>
            <a:srgbClr val="EFCDCD"/>
          </a:solidFill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dirty="0">
                <a:solidFill>
                  <a:srgbClr val="141414"/>
                </a:solidFill>
                <a:latin typeface="Cambria Math"/>
              </a:rPr>
              <a:t>ȳ =</a:t>
            </a:r>
            <a:r>
              <a:rPr lang="el-GR" sz="1600" dirty="0">
                <a:solidFill>
                  <a:srgbClr val="141414"/>
                </a:solidFill>
                <a:latin typeface="Cambria Math"/>
              </a:rPr>
              <a:t> </a:t>
            </a:r>
            <a:r>
              <a:rPr lang="pt-BR" sz="1600" dirty="0">
                <a:solidFill>
                  <a:srgbClr val="141414"/>
                </a:solidFill>
                <a:latin typeface="Cambria Math"/>
              </a:rPr>
              <a:t>w (z</a:t>
            </a:r>
            <a:r>
              <a:rPr lang="pt-BR" sz="1600" baseline="-25000" dirty="0">
                <a:solidFill>
                  <a:srgbClr val="141414"/>
                </a:solidFill>
                <a:highlight>
                  <a:srgbClr val="800080"/>
                </a:highlight>
                <a:latin typeface="Cambria Math"/>
              </a:rPr>
              <a:t>1</a:t>
            </a:r>
            <a:r>
              <a:rPr lang="pt-BR" sz="1600" baseline="-25000" dirty="0">
                <a:solidFill>
                  <a:srgbClr val="141414"/>
                </a:solidFill>
                <a:latin typeface="Cambria Math"/>
              </a:rPr>
              <a:t>,</a:t>
            </a:r>
            <a:r>
              <a:rPr lang="pt-BR" sz="1600" baseline="-25000" dirty="0">
                <a:solidFill>
                  <a:srgbClr val="141414"/>
                </a:solidFill>
                <a:highlight>
                  <a:srgbClr val="00FFFF"/>
                </a:highlight>
                <a:latin typeface="Cambria Math"/>
              </a:rPr>
              <a:t>2</a:t>
            </a:r>
            <a:r>
              <a:rPr lang="pt-BR" sz="1600" dirty="0">
                <a:solidFill>
                  <a:srgbClr val="141414"/>
                </a:solidFill>
                <a:latin typeface="Cambria Math"/>
              </a:rPr>
              <a:t>) + b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229600" y="2450592"/>
            <a:ext cx="731520" cy="1005840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229600" y="3456432"/>
            <a:ext cx="731520" cy="640080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4709160" y="384048"/>
            <a:ext cx="1097280" cy="987552"/>
          </a:xfrm>
          <a:prstGeom prst="line">
            <a:avLst/>
          </a:prstGeom>
          <a:ln w="15240">
            <a:solidFill>
              <a:srgbClr val="141414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>
            <a:cxnSpLocks/>
          </p:cNvCxnSpPr>
          <p:nvPr/>
        </p:nvCxnSpPr>
        <p:spPr>
          <a:xfrm flipH="1">
            <a:off x="6812280" y="1024128"/>
            <a:ext cx="3246120" cy="1367028"/>
          </a:xfrm>
          <a:prstGeom prst="line">
            <a:avLst/>
          </a:prstGeom>
          <a:ln w="15240">
            <a:solidFill>
              <a:srgbClr val="141414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7B3B6005-1EB2-58A1-3CDA-F85F8CA3975C}"/>
              </a:ext>
            </a:extLst>
          </p:cNvPr>
          <p:cNvSpPr txBox="1"/>
          <p:nvPr/>
        </p:nvSpPr>
        <p:spPr>
          <a:xfrm>
            <a:off x="460948" y="2341076"/>
            <a:ext cx="11019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>
                <a:solidFill>
                  <a:srgbClr val="0A1F3A"/>
                </a:solidFill>
                <a:latin typeface="Arial"/>
              </a:rPr>
              <a:t>idade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1F269B8F-3606-E0BA-284D-108F1557A2DA}"/>
              </a:ext>
            </a:extLst>
          </p:cNvPr>
          <p:cNvSpPr txBox="1"/>
          <p:nvPr/>
        </p:nvSpPr>
        <p:spPr>
          <a:xfrm>
            <a:off x="684487" y="3559551"/>
            <a:ext cx="7890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>
                <a:solidFill>
                  <a:srgbClr val="0A1F3A"/>
                </a:solidFill>
                <a:latin typeface="Arial"/>
              </a:rPr>
              <a:t>renda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5C0F3D68-7F5F-13B8-7DED-114960508B9F}"/>
              </a:ext>
            </a:extLst>
          </p:cNvPr>
          <p:cNvSpPr txBox="1"/>
          <p:nvPr/>
        </p:nvSpPr>
        <p:spPr>
          <a:xfrm>
            <a:off x="676656" y="4886913"/>
            <a:ext cx="8862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>
                <a:solidFill>
                  <a:srgbClr val="0A1F3A"/>
                </a:solidFill>
                <a:latin typeface="Arial"/>
              </a:rPr>
              <a:t>Compras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1 • DO MODELO AO NEURÔNIO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A1F3A"/>
                </a:solidFill>
                <a:latin typeface="Arial"/>
              </a:rPr>
              <a:t>O neurônio como uma peça de LEGO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1097280" cy="50292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x1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28800" y="2898648"/>
            <a:ext cx="2103120" cy="804672"/>
          </a:xfrm>
          <a:prstGeom prst="line">
            <a:avLst/>
          </a:prstGeom>
          <a:ln w="1778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" y="3474720"/>
            <a:ext cx="1097280" cy="50292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x2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828800" y="3703320"/>
            <a:ext cx="2103120" cy="18288"/>
          </a:xfrm>
          <a:prstGeom prst="line">
            <a:avLst/>
          </a:prstGeom>
          <a:ln w="1778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1520" y="4297680"/>
            <a:ext cx="1097280" cy="50292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x3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828800" y="3703320"/>
            <a:ext cx="2103120" cy="841248"/>
          </a:xfrm>
          <a:prstGeom prst="line">
            <a:avLst/>
          </a:prstGeom>
          <a:ln w="1778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931920" y="2880360"/>
            <a:ext cx="3657600" cy="164592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0A1F3A"/>
                </a:solidFill>
                <a:latin typeface="Arial"/>
              </a:rPr>
              <a:t>PEÇA LEGO
z = Σ wᵢxᵢ + 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89520" y="3703320"/>
            <a:ext cx="1645920" cy="0"/>
          </a:xfrm>
          <a:prstGeom prst="line">
            <a:avLst/>
          </a:prstGeom>
          <a:ln w="3048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235440" y="3291840"/>
            <a:ext cx="1828800" cy="822960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0A1F3A"/>
                </a:solidFill>
                <a:latin typeface="Arial"/>
              </a:rPr>
              <a:t>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25780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0A1F3A"/>
                </a:solidFill>
                <a:latin typeface="Arial"/>
              </a:rPr>
              <a:t>Rede neural = muitos pequenos modelos conectados.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2 • CAMADAS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A1F3A"/>
                </a:solidFill>
                <a:latin typeface="Arial"/>
              </a:rPr>
              <a:t>Vários neurônios lado a lado formam uma camada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6</a:t>
            </a:r>
          </a:p>
        </p:txBody>
      </p:sp>
      <p:sp>
        <p:nvSpPr>
          <p:cNvPr id="8" name="Oval 7"/>
          <p:cNvSpPr/>
          <p:nvPr/>
        </p:nvSpPr>
        <p:spPr>
          <a:xfrm>
            <a:off x="1527048" y="2212848"/>
            <a:ext cx="512064" cy="420624"/>
          </a:xfrm>
          <a:prstGeom prst="ellipse">
            <a:avLst/>
          </a:prstGeom>
          <a:solidFill>
            <a:srgbClr val="DBE8F8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1F3A"/>
                </a:solidFill>
                <a:latin typeface="Arial"/>
              </a:rPr>
              <a:t>x1</a:t>
            </a:r>
          </a:p>
        </p:txBody>
      </p:sp>
      <p:sp>
        <p:nvSpPr>
          <p:cNvPr id="9" name="Oval 8"/>
          <p:cNvSpPr/>
          <p:nvPr/>
        </p:nvSpPr>
        <p:spPr>
          <a:xfrm>
            <a:off x="1527048" y="3035808"/>
            <a:ext cx="512064" cy="420624"/>
          </a:xfrm>
          <a:prstGeom prst="ellipse">
            <a:avLst/>
          </a:prstGeom>
          <a:solidFill>
            <a:srgbClr val="DBE8F8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0A1F3A"/>
                </a:solidFill>
                <a:latin typeface="Arial"/>
              </a:rPr>
              <a:t>x2</a:t>
            </a:r>
          </a:p>
        </p:txBody>
      </p:sp>
      <p:sp>
        <p:nvSpPr>
          <p:cNvPr id="10" name="Oval 9"/>
          <p:cNvSpPr/>
          <p:nvPr/>
        </p:nvSpPr>
        <p:spPr>
          <a:xfrm>
            <a:off x="1527048" y="3858768"/>
            <a:ext cx="512064" cy="420624"/>
          </a:xfrm>
          <a:prstGeom prst="ellipse">
            <a:avLst/>
          </a:prstGeom>
          <a:solidFill>
            <a:srgbClr val="DBE8F8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1F3A"/>
                </a:solidFill>
                <a:latin typeface="Arial"/>
              </a:rPr>
              <a:t>x3</a:t>
            </a:r>
          </a:p>
        </p:txBody>
      </p:sp>
      <p:sp>
        <p:nvSpPr>
          <p:cNvPr id="11" name="Oval 10"/>
          <p:cNvSpPr/>
          <p:nvPr/>
        </p:nvSpPr>
        <p:spPr>
          <a:xfrm>
            <a:off x="1527048" y="4681727"/>
            <a:ext cx="512064" cy="420624"/>
          </a:xfrm>
          <a:prstGeom prst="ellipse">
            <a:avLst/>
          </a:prstGeom>
          <a:solidFill>
            <a:srgbClr val="DBE8F8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1F3A"/>
                </a:solidFill>
                <a:latin typeface="Arial"/>
              </a:rPr>
              <a:t>x4</a:t>
            </a:r>
          </a:p>
        </p:txBody>
      </p:sp>
      <p:sp>
        <p:nvSpPr>
          <p:cNvPr id="12" name="Oval 11"/>
          <p:cNvSpPr/>
          <p:nvPr/>
        </p:nvSpPr>
        <p:spPr>
          <a:xfrm>
            <a:off x="5504688" y="2167128"/>
            <a:ext cx="591312" cy="512064"/>
          </a:xfrm>
          <a:prstGeom prst="ellipse">
            <a:avLst/>
          </a:prstGeom>
          <a:solidFill>
            <a:srgbClr val="FFF200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w1</a:t>
            </a:r>
            <a:endParaRPr sz="1200" dirty="0">
              <a:solidFill>
                <a:schemeClr val="tx1"/>
              </a:solidFill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2084831" y="2423160"/>
            <a:ext cx="3401569" cy="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84831" y="2423160"/>
            <a:ext cx="3401569" cy="82296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084831" y="2423160"/>
            <a:ext cx="3401569" cy="164592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084831" y="2423160"/>
            <a:ext cx="3401569" cy="246888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84831" y="2423160"/>
            <a:ext cx="3401569" cy="82296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084831" y="3246120"/>
            <a:ext cx="3401569" cy="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084831" y="3246120"/>
            <a:ext cx="3401569" cy="82296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84831" y="3246120"/>
            <a:ext cx="3401569" cy="164592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084831" y="2423160"/>
            <a:ext cx="3401569" cy="164592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084831" y="3246120"/>
            <a:ext cx="3401569" cy="82296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084831" y="4069080"/>
            <a:ext cx="3401569" cy="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084831" y="4069080"/>
            <a:ext cx="3401569" cy="82296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084831" y="2423160"/>
            <a:ext cx="3401569" cy="246888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084831" y="3246120"/>
            <a:ext cx="3401569" cy="164592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084831" y="4069080"/>
            <a:ext cx="3401569" cy="82296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84831" y="4892040"/>
            <a:ext cx="3401569" cy="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31520" y="53492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3268B8"/>
                </a:solidFill>
                <a:latin typeface="Arial"/>
              </a:rPr>
              <a:t>Camada de entrada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3492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3268B8"/>
                </a:solidFill>
                <a:latin typeface="Arial"/>
              </a:rPr>
              <a:t>Camada de neurônios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0" y="2468880"/>
            <a:ext cx="3566160" cy="2286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0">
                <a:solidFill>
                  <a:srgbClr val="1C2A37"/>
                </a:solidFill>
                <a:latin typeface="Arial"/>
              </a:rPr>
              <a:t>Cada neurônio tem
seus próprios pesos.
Todos recebem as
entradas da camada
anterior.</a:t>
            </a:r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82D5C9C5-0FFB-7631-9A31-10051A6D05F3}"/>
              </a:ext>
            </a:extLst>
          </p:cNvPr>
          <p:cNvSpPr/>
          <p:nvPr/>
        </p:nvSpPr>
        <p:spPr>
          <a:xfrm>
            <a:off x="5532119" y="2990089"/>
            <a:ext cx="591312" cy="512064"/>
          </a:xfrm>
          <a:prstGeom prst="ellipse">
            <a:avLst/>
          </a:prstGeom>
          <a:solidFill>
            <a:srgbClr val="FFF200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w2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38" name="Oval 11">
            <a:extLst>
              <a:ext uri="{FF2B5EF4-FFF2-40B4-BE49-F238E27FC236}">
                <a16:creationId xmlns:a16="http://schemas.microsoft.com/office/drawing/2014/main" id="{0041866F-13F9-5AF9-6503-66589362118C}"/>
              </a:ext>
            </a:extLst>
          </p:cNvPr>
          <p:cNvSpPr/>
          <p:nvPr/>
        </p:nvSpPr>
        <p:spPr>
          <a:xfrm>
            <a:off x="5532119" y="3781045"/>
            <a:ext cx="591312" cy="512064"/>
          </a:xfrm>
          <a:prstGeom prst="ellipse">
            <a:avLst/>
          </a:prstGeom>
          <a:solidFill>
            <a:srgbClr val="FFF200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w3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40" name="Oval 11">
            <a:extLst>
              <a:ext uri="{FF2B5EF4-FFF2-40B4-BE49-F238E27FC236}">
                <a16:creationId xmlns:a16="http://schemas.microsoft.com/office/drawing/2014/main" id="{839638A1-914D-8EEF-B79A-F9F7DF7F88C5}"/>
              </a:ext>
            </a:extLst>
          </p:cNvPr>
          <p:cNvSpPr/>
          <p:nvPr/>
        </p:nvSpPr>
        <p:spPr>
          <a:xfrm>
            <a:off x="5537712" y="4608576"/>
            <a:ext cx="591312" cy="512064"/>
          </a:xfrm>
          <a:prstGeom prst="ellipse">
            <a:avLst/>
          </a:prstGeom>
          <a:solidFill>
            <a:srgbClr val="FFF200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</a:rPr>
              <a:t>w4</a:t>
            </a:r>
            <a:endParaRPr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2 • CAMADAS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A1F3A"/>
                </a:solidFill>
                <a:latin typeface="Arial"/>
              </a:rPr>
              <a:t>Conectando as peças: nasce a rede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7</a:t>
            </a:r>
          </a:p>
        </p:txBody>
      </p:sp>
      <p:sp>
        <p:nvSpPr>
          <p:cNvPr id="8" name="Oval 7"/>
          <p:cNvSpPr/>
          <p:nvPr/>
        </p:nvSpPr>
        <p:spPr>
          <a:xfrm>
            <a:off x="1234440" y="2514600"/>
            <a:ext cx="457200" cy="457200"/>
          </a:xfrm>
          <a:prstGeom prst="ellipse">
            <a:avLst/>
          </a:prstGeom>
          <a:solidFill>
            <a:srgbClr val="DBE8F8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34440" y="3520439"/>
            <a:ext cx="457200" cy="457200"/>
          </a:xfrm>
          <a:prstGeom prst="ellipse">
            <a:avLst/>
          </a:prstGeom>
          <a:solidFill>
            <a:srgbClr val="DBE8F8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34440" y="4526280"/>
            <a:ext cx="457200" cy="457200"/>
          </a:xfrm>
          <a:prstGeom prst="ellipse">
            <a:avLst/>
          </a:prstGeom>
          <a:solidFill>
            <a:srgbClr val="DBE8F8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794760" y="2240280"/>
            <a:ext cx="457200" cy="457200"/>
          </a:xfrm>
          <a:prstGeom prst="ellipse">
            <a:avLst/>
          </a:prstGeom>
          <a:solidFill>
            <a:srgbClr val="FFF200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794760" y="3154680"/>
            <a:ext cx="457200" cy="457200"/>
          </a:xfrm>
          <a:prstGeom prst="ellipse">
            <a:avLst/>
          </a:prstGeom>
          <a:solidFill>
            <a:srgbClr val="FFF200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794760" y="4069080"/>
            <a:ext cx="457200" cy="457200"/>
          </a:xfrm>
          <a:prstGeom prst="ellipse">
            <a:avLst/>
          </a:prstGeom>
          <a:solidFill>
            <a:srgbClr val="FFF200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794760" y="4983480"/>
            <a:ext cx="457200" cy="457200"/>
          </a:xfrm>
          <a:prstGeom prst="ellipse">
            <a:avLst/>
          </a:prstGeom>
          <a:solidFill>
            <a:srgbClr val="FFF200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55080" y="2606040"/>
            <a:ext cx="457200" cy="457200"/>
          </a:xfrm>
          <a:prstGeom prst="ellipse">
            <a:avLst/>
          </a:prstGeom>
          <a:solidFill>
            <a:srgbClr val="FAE2D0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55080" y="3703320"/>
            <a:ext cx="457200" cy="457200"/>
          </a:xfrm>
          <a:prstGeom prst="ellipse">
            <a:avLst/>
          </a:prstGeom>
          <a:solidFill>
            <a:srgbClr val="FAE2D0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55080" y="4800600"/>
            <a:ext cx="457200" cy="457200"/>
          </a:xfrm>
          <a:prstGeom prst="ellipse">
            <a:avLst/>
          </a:prstGeom>
          <a:solidFill>
            <a:srgbClr val="FAE2D0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89720" y="3703320"/>
            <a:ext cx="457200" cy="457200"/>
          </a:xfrm>
          <a:prstGeom prst="ellipse">
            <a:avLst/>
          </a:prstGeom>
          <a:solidFill>
            <a:srgbClr val="6ED278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 flipV="1">
            <a:off x="1691640" y="2468880"/>
            <a:ext cx="2103120" cy="27432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691640" y="2743200"/>
            <a:ext cx="2103120" cy="64008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691640" y="2743200"/>
            <a:ext cx="2103120" cy="155448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691640" y="2743200"/>
            <a:ext cx="2103120" cy="246888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91640" y="2468880"/>
            <a:ext cx="2103120" cy="1280159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691640" y="3383280"/>
            <a:ext cx="2103120" cy="365759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691640" y="3749039"/>
            <a:ext cx="2103120" cy="548641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691640" y="3749039"/>
            <a:ext cx="2103120" cy="1463041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691640" y="2468880"/>
            <a:ext cx="2103120" cy="228600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691640" y="3383280"/>
            <a:ext cx="2103120" cy="137160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691640" y="4297680"/>
            <a:ext cx="2103120" cy="45720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691640" y="4754880"/>
            <a:ext cx="2103120" cy="45720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251960" y="2468880"/>
            <a:ext cx="2103120" cy="36576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251960" y="2468880"/>
            <a:ext cx="2103120" cy="146304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251960" y="2468880"/>
            <a:ext cx="2103120" cy="256032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251960" y="2834640"/>
            <a:ext cx="2103120" cy="54864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251960" y="3383280"/>
            <a:ext cx="2103120" cy="54864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251960" y="3383280"/>
            <a:ext cx="2103120" cy="164592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251960" y="2834640"/>
            <a:ext cx="2103120" cy="146304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251960" y="3931920"/>
            <a:ext cx="2103120" cy="36576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251960" y="4297680"/>
            <a:ext cx="2103120" cy="73152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251960" y="2834640"/>
            <a:ext cx="2103120" cy="237744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251960" y="3931920"/>
            <a:ext cx="2103120" cy="128016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251960" y="5029200"/>
            <a:ext cx="2103120" cy="18288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812280" y="2834640"/>
            <a:ext cx="2377440" cy="109728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812280" y="3931920"/>
            <a:ext cx="2377440" cy="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6812280" y="3931920"/>
            <a:ext cx="2377440" cy="109728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31520" y="54864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3268B8"/>
                </a:solidFill>
                <a:latin typeface="Arial"/>
              </a:rPr>
              <a:t>Entrada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54864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3268B8"/>
                </a:solidFill>
                <a:latin typeface="Arial"/>
              </a:rPr>
              <a:t>Oculta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60" y="54864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3268B8"/>
                </a:solidFill>
                <a:latin typeface="Arial"/>
              </a:rPr>
              <a:t>Oculta 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54864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3268B8"/>
                </a:solidFill>
                <a:latin typeface="Arial"/>
              </a:rPr>
              <a:t>Saída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20240" y="1824166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 i="0">
                <a:solidFill>
                  <a:srgbClr val="4B5B69"/>
                </a:solidFill>
                <a:latin typeface="Arial"/>
              </a:rPr>
              <a:t>Profundidade = número de transformações/camadas percorridas.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3 • FEED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A1F3A"/>
                </a:solidFill>
                <a:latin typeface="Arial"/>
              </a:rPr>
              <a:t>A informação anda para frente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1920240" cy="109728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0A1F3A"/>
                </a:solidFill>
                <a:latin typeface="Arial"/>
              </a:rPr>
              <a:t>ENTRADA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880360"/>
            <a:ext cx="1920240" cy="109728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0A1F3A"/>
                </a:solidFill>
                <a:latin typeface="Arial"/>
              </a:rPr>
              <a:t>CAMADA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880360"/>
            <a:ext cx="1920240" cy="1097280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0A1F3A"/>
                </a:solidFill>
                <a:latin typeface="Arial"/>
              </a:rPr>
              <a:t>CAMADA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2880360"/>
            <a:ext cx="1920240" cy="1097280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0A1F3A"/>
                </a:solidFill>
                <a:latin typeface="Arial"/>
              </a:rPr>
              <a:t>SAÍDA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429000"/>
            <a:ext cx="685800" cy="0"/>
          </a:xfrm>
          <a:prstGeom prst="line">
            <a:avLst/>
          </a:prstGeom>
          <a:ln w="381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303520" y="3429000"/>
            <a:ext cx="685800" cy="0"/>
          </a:xfrm>
          <a:prstGeom prst="line">
            <a:avLst/>
          </a:prstGeom>
          <a:ln w="381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55279" y="3429000"/>
            <a:ext cx="685801" cy="0"/>
          </a:xfrm>
          <a:prstGeom prst="line">
            <a:avLst/>
          </a:prstGeom>
          <a:ln w="381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40480" y="219456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3268B8"/>
                </a:solidFill>
                <a:latin typeface="Arial"/>
              </a:rPr>
              <a:t>FEED FORWARD 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66344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 i="0">
                <a:solidFill>
                  <a:srgbClr val="1C2A37"/>
                </a:solidFill>
                <a:latin typeface="Arial"/>
              </a:rPr>
              <a:t>Durante a previsão, cada camada usa a saída da camada anterior.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3 • FEED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A1F3A"/>
                </a:solidFill>
                <a:latin typeface="Arial"/>
              </a:rPr>
              <a:t>Cada camada cria uma nova representação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88920"/>
            <a:ext cx="1920240" cy="100584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PIXELS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788920"/>
            <a:ext cx="1920240" cy="100584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PADRÕES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88920"/>
            <a:ext cx="1920240" cy="1005840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CARACTERÍSTICAS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788920"/>
            <a:ext cx="1920240" cy="1005840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0A1F3A"/>
                </a:solidFill>
                <a:latin typeface="Arial"/>
              </a:rPr>
              <a:t>CLASSE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34640" y="3291840"/>
            <a:ext cx="777240" cy="0"/>
          </a:xfrm>
          <a:prstGeom prst="line">
            <a:avLst/>
          </a:prstGeom>
          <a:ln w="3048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77840" y="3291840"/>
            <a:ext cx="777239" cy="0"/>
          </a:xfrm>
          <a:prstGeom prst="line">
            <a:avLst/>
          </a:prstGeom>
          <a:ln w="3048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321040" y="3291840"/>
            <a:ext cx="777240" cy="0"/>
          </a:xfrm>
          <a:prstGeom prst="line">
            <a:avLst/>
          </a:prstGeom>
          <a:ln w="3048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920240" y="4297680"/>
            <a:ext cx="8229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0A1F3A"/>
                </a:solidFill>
                <a:latin typeface="Arial"/>
              </a:rPr>
              <a:t>A rede transforma os dados passo a passo.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937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4B5B69"/>
                </a:solidFill>
                <a:latin typeface="Arial"/>
              </a:rPr>
              <a:t>Cada camada aprende uma representação interna útil para a tarefa.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4 • APRENDIZADO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 dirty="0">
                <a:solidFill>
                  <a:srgbClr val="0A1F3A"/>
                </a:solidFill>
                <a:latin typeface="Arial"/>
              </a:rPr>
              <a:t>A rede </a:t>
            </a:r>
            <a:r>
              <a:rPr sz="2700" b="1" i="0" dirty="0" err="1">
                <a:solidFill>
                  <a:srgbClr val="0A1F3A"/>
                </a:solidFill>
                <a:latin typeface="Arial"/>
              </a:rPr>
              <a:t>começa</a:t>
            </a:r>
            <a:r>
              <a:rPr sz="2700" b="1" i="0" dirty="0">
                <a:solidFill>
                  <a:srgbClr val="0A1F3A"/>
                </a:solidFill>
                <a:latin typeface="Arial"/>
              </a:rPr>
              <a:t> </a:t>
            </a:r>
            <a:r>
              <a:rPr sz="2700" b="1" i="0" dirty="0" err="1">
                <a:solidFill>
                  <a:srgbClr val="0A1F3A"/>
                </a:solidFill>
                <a:latin typeface="Arial"/>
              </a:rPr>
              <a:t>sem</a:t>
            </a:r>
            <a:r>
              <a:rPr sz="2700" b="1" i="0" dirty="0">
                <a:solidFill>
                  <a:srgbClr val="0A1F3A"/>
                </a:solidFill>
                <a:latin typeface="Arial"/>
              </a:rPr>
              <a:t> saber a </a:t>
            </a:r>
            <a:r>
              <a:rPr sz="2700" b="1" i="0" dirty="0" err="1">
                <a:solidFill>
                  <a:srgbClr val="0A1F3A"/>
                </a:solidFill>
                <a:latin typeface="Arial"/>
              </a:rPr>
              <a:t>resposta</a:t>
            </a:r>
            <a:r>
              <a:rPr lang="pt-BR" sz="2700" b="1" i="0" dirty="0">
                <a:solidFill>
                  <a:srgbClr val="0A1F3A"/>
                </a:solidFill>
                <a:latin typeface="Arial"/>
              </a:rPr>
              <a:t> – Rede sem treino</a:t>
            </a:r>
            <a:endParaRPr sz="2700" b="1" i="0" dirty="0">
              <a:solidFill>
                <a:srgbClr val="0A1F3A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2834640" cy="2011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0A1F3A"/>
                </a:solidFill>
                <a:latin typeface="Arial"/>
              </a:rPr>
              <a:t>IMAGEM
🐱
classe correta: GATO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66160" y="3429000"/>
            <a:ext cx="1097280" cy="0"/>
          </a:xfrm>
          <a:prstGeom prst="line">
            <a:avLst/>
          </a:prstGeom>
          <a:ln w="3048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663440" y="2423160"/>
            <a:ext cx="2834640" cy="201168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REDE
pesos ainda
não ajustados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79" y="3429000"/>
            <a:ext cx="1097281" cy="0"/>
          </a:xfrm>
          <a:prstGeom prst="line">
            <a:avLst/>
          </a:prstGeom>
          <a:ln w="3048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5360" y="2423160"/>
            <a:ext cx="2834640" cy="2011680"/>
          </a:xfrm>
          <a:prstGeom prst="roundRect">
            <a:avLst/>
          </a:prstGeom>
          <a:solidFill>
            <a:srgbClr val="F56969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0A1F3A"/>
                </a:solidFill>
                <a:latin typeface="Arial"/>
              </a:rPr>
              <a:t>PREVISÃO
🐶
CACHORRO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98348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0A1F3A"/>
                </a:solidFill>
                <a:latin typeface="Arial"/>
              </a:rPr>
              <a:t>esperado ≠ previsto  →  existe ERRO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4 • APRENDIZADO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 dirty="0">
                <a:solidFill>
                  <a:srgbClr val="0A1F3A"/>
                </a:solidFill>
                <a:latin typeface="Arial"/>
              </a:rPr>
              <a:t>A </a:t>
            </a:r>
            <a:r>
              <a:rPr sz="2700" b="1" i="0" dirty="0" err="1">
                <a:solidFill>
                  <a:srgbClr val="0A1F3A"/>
                </a:solidFill>
                <a:latin typeface="Arial"/>
              </a:rPr>
              <a:t>função</a:t>
            </a:r>
            <a:r>
              <a:rPr sz="2700" b="1" i="0" dirty="0">
                <a:solidFill>
                  <a:srgbClr val="0A1F3A"/>
                </a:solidFill>
                <a:latin typeface="Arial"/>
              </a:rPr>
              <a:t> de </a:t>
            </a:r>
            <a:r>
              <a:rPr sz="2700" b="1" i="0" dirty="0" err="1">
                <a:solidFill>
                  <a:srgbClr val="0A1F3A"/>
                </a:solidFill>
                <a:latin typeface="Arial"/>
              </a:rPr>
              <a:t>perda</a:t>
            </a:r>
            <a:r>
              <a:rPr lang="pt-BR" sz="2700" b="1" i="0" dirty="0">
                <a:solidFill>
                  <a:srgbClr val="0A1F3A"/>
                </a:solidFill>
                <a:latin typeface="Arial"/>
              </a:rPr>
              <a:t> (</a:t>
            </a:r>
            <a:r>
              <a:rPr lang="pt-BR" sz="2700" b="1" i="0" dirty="0" err="1">
                <a:solidFill>
                  <a:srgbClr val="0A1F3A"/>
                </a:solidFill>
                <a:latin typeface="Arial"/>
              </a:rPr>
              <a:t>Loss</a:t>
            </a:r>
            <a:r>
              <a:rPr lang="pt-BR" sz="2700" b="1" i="0" dirty="0">
                <a:solidFill>
                  <a:srgbClr val="0A1F3A"/>
                </a:solidFill>
                <a:latin typeface="Arial"/>
              </a:rPr>
              <a:t>)</a:t>
            </a:r>
            <a:r>
              <a:rPr sz="2700" b="1" i="0" dirty="0">
                <a:solidFill>
                  <a:srgbClr val="0A1F3A"/>
                </a:solidFill>
                <a:latin typeface="Arial"/>
              </a:rPr>
              <a:t> </a:t>
            </a:r>
            <a:r>
              <a:rPr sz="2700" b="1" i="0" dirty="0" err="1">
                <a:solidFill>
                  <a:srgbClr val="0A1F3A"/>
                </a:solidFill>
                <a:latin typeface="Arial"/>
              </a:rPr>
              <a:t>mede</a:t>
            </a:r>
            <a:r>
              <a:rPr sz="2700" b="1" i="0" dirty="0">
                <a:solidFill>
                  <a:srgbClr val="0A1F3A"/>
                </a:solidFill>
                <a:latin typeface="Arial"/>
              </a:rPr>
              <a:t> o </a:t>
            </a:r>
            <a:r>
              <a:rPr sz="2700" b="1" i="0" dirty="0" err="1">
                <a:solidFill>
                  <a:srgbClr val="0A1F3A"/>
                </a:solidFill>
                <a:latin typeface="Arial"/>
              </a:rPr>
              <a:t>erro</a:t>
            </a:r>
            <a:endParaRPr sz="2700" b="1" i="0" dirty="0">
              <a:solidFill>
                <a:srgbClr val="0A1F3A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4389120" cy="210312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0A1F3A"/>
                </a:solidFill>
                <a:latin typeface="Arial"/>
              </a:rPr>
              <a:t>CORRETO
Gato = 1
Cachorro =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468880"/>
            <a:ext cx="4389120" cy="2103120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0A1F3A"/>
                </a:solidFill>
                <a:latin typeface="Arial"/>
              </a:rPr>
              <a:t>REDE
Gato = 0,30
Cachorro = 0,70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20640" y="3520440"/>
            <a:ext cx="1280160" cy="0"/>
          </a:xfrm>
          <a:prstGeom prst="line">
            <a:avLst/>
          </a:prstGeom>
          <a:ln w="3048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06240" y="489204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F56969"/>
                </a:solidFill>
                <a:latin typeface="Arial"/>
              </a:rPr>
              <a:t>LOSS / ERRO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440680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 i="0">
                <a:solidFill>
                  <a:srgbClr val="1C2A37"/>
                </a:solidFill>
                <a:latin typeface="Arial"/>
              </a:rPr>
              <a:t>Quanto maior a diferença entre o esperado e o previsto, maior a perda.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4 • APRENDIZADO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A1F3A"/>
                </a:solidFill>
                <a:latin typeface="Arial"/>
              </a:rPr>
              <a:t>Gradiente Descendente: descer a montanha do erro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12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097280" y="2331720"/>
            <a:ext cx="0" cy="2926080"/>
          </a:xfrm>
          <a:prstGeom prst="line">
            <a:avLst/>
          </a:prstGeom>
          <a:ln w="2159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" y="5257800"/>
            <a:ext cx="5577840" cy="0"/>
          </a:xfrm>
          <a:prstGeom prst="line">
            <a:avLst/>
          </a:prstGeom>
          <a:ln w="2159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2788920"/>
            <a:ext cx="731520" cy="640080"/>
          </a:xfrm>
          <a:prstGeom prst="line">
            <a:avLst/>
          </a:prstGeom>
          <a:ln w="381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103120" y="3429000"/>
            <a:ext cx="731520" cy="914400"/>
          </a:xfrm>
          <a:prstGeom prst="line">
            <a:avLst/>
          </a:prstGeom>
          <a:ln w="381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834640" y="4343400"/>
            <a:ext cx="822960" cy="502920"/>
          </a:xfrm>
          <a:prstGeom prst="line">
            <a:avLst/>
          </a:prstGeom>
          <a:ln w="381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657600" y="4389120"/>
            <a:ext cx="731520" cy="457200"/>
          </a:xfrm>
          <a:prstGeom prst="line">
            <a:avLst/>
          </a:prstGeom>
          <a:ln w="381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89120" y="3520440"/>
            <a:ext cx="822960" cy="868680"/>
          </a:xfrm>
          <a:prstGeom prst="line">
            <a:avLst/>
          </a:prstGeom>
          <a:ln w="381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212080" y="2697480"/>
            <a:ext cx="914400" cy="822960"/>
          </a:xfrm>
          <a:prstGeom prst="line">
            <a:avLst/>
          </a:prstGeom>
          <a:ln w="3810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920240" y="3246120"/>
            <a:ext cx="274320" cy="274320"/>
          </a:xfrm>
          <a:prstGeom prst="ellipse">
            <a:avLst/>
          </a:prstGeom>
          <a:solidFill>
            <a:srgbClr val="F56969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2286000" y="3566160"/>
            <a:ext cx="594360" cy="548640"/>
          </a:xfrm>
          <a:prstGeom prst="line">
            <a:avLst/>
          </a:prstGeom>
          <a:ln w="30480">
            <a:solidFill>
              <a:srgbClr val="F5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520440" y="4663440"/>
            <a:ext cx="274320" cy="274320"/>
          </a:xfrm>
          <a:prstGeom prst="ellipse">
            <a:avLst/>
          </a:prstGeom>
          <a:solidFill>
            <a:srgbClr val="6ED278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23317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A1F3A"/>
                </a:solidFill>
                <a:latin typeface="Arial"/>
              </a:rPr>
              <a:t>ERRO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544068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A1F3A"/>
                </a:solidFill>
                <a:latin typeface="Arial"/>
              </a:rPr>
              <a:t>PESOS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2514600"/>
            <a:ext cx="3931920" cy="2286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0">
                <a:solidFill>
                  <a:srgbClr val="1C2A37"/>
                </a:solidFill>
                <a:latin typeface="Arial"/>
              </a:rPr>
              <a:t>Ideia intuitiva:
1. medir o erro
2. descobrir uma direção
3. alterar os pesos
4. repetir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5074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0A1F3A"/>
                </a:solidFill>
                <a:latin typeface="Arial"/>
              </a:rPr>
              <a:t>w_novo = w_antigo − η · gradiente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4 • APRENDIZADO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A1F3A"/>
                </a:solidFill>
                <a:latin typeface="Arial"/>
              </a:rPr>
              <a:t>Backpropagation: o erro volta pela rede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97480"/>
            <a:ext cx="1828800" cy="91440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Entrada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697480"/>
            <a:ext cx="1828800" cy="91440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Oculta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97480"/>
            <a:ext cx="1828800" cy="914400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Oculta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697480"/>
            <a:ext cx="1828800" cy="914400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Saída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3154680"/>
            <a:ext cx="822960" cy="0"/>
          </a:xfrm>
          <a:prstGeom prst="line">
            <a:avLst/>
          </a:prstGeom>
          <a:ln w="30480">
            <a:solidFill>
              <a:srgbClr val="3268B8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486400" y="3154680"/>
            <a:ext cx="822960" cy="0"/>
          </a:xfrm>
          <a:prstGeom prst="line">
            <a:avLst/>
          </a:prstGeom>
          <a:ln w="30480">
            <a:solidFill>
              <a:srgbClr val="3268B8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229600" y="3154680"/>
            <a:ext cx="822960" cy="0"/>
          </a:xfrm>
          <a:prstGeom prst="line">
            <a:avLst/>
          </a:prstGeom>
          <a:ln w="30480">
            <a:solidFill>
              <a:srgbClr val="3268B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023360" y="210312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 dirty="0">
                <a:solidFill>
                  <a:srgbClr val="3268B8"/>
                </a:solidFill>
                <a:latin typeface="Arial"/>
              </a:rPr>
              <a:t>FEED FORWARD  →</a:t>
            </a:r>
          </a:p>
        </p:txBody>
      </p:sp>
      <p:cxnSp>
        <p:nvCxnSpPr>
          <p:cNvPr id="16" name="Connector 15"/>
          <p:cNvCxnSpPr>
            <a:cxnSpLocks/>
          </p:cNvCxnSpPr>
          <p:nvPr/>
        </p:nvCxnSpPr>
        <p:spPr>
          <a:xfrm flipV="1">
            <a:off x="9269835" y="3630168"/>
            <a:ext cx="0" cy="1033272"/>
          </a:xfrm>
          <a:prstGeom prst="line">
            <a:avLst/>
          </a:prstGeom>
          <a:ln w="30480">
            <a:solidFill>
              <a:srgbClr val="F569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cxnSpLocks/>
          </p:cNvCxnSpPr>
          <p:nvPr/>
        </p:nvCxnSpPr>
        <p:spPr>
          <a:xfrm flipH="1">
            <a:off x="5469813" y="3444100"/>
            <a:ext cx="960577" cy="0"/>
          </a:xfrm>
          <a:prstGeom prst="line">
            <a:avLst/>
          </a:prstGeom>
          <a:ln w="30480">
            <a:solidFill>
              <a:srgbClr val="F56969"/>
            </a:solidFill>
            <a:headEnd type="none" w="lg" len="lg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229600" y="3429000"/>
            <a:ext cx="914400" cy="0"/>
          </a:xfrm>
          <a:prstGeom prst="line">
            <a:avLst/>
          </a:prstGeom>
          <a:ln w="30480">
            <a:solidFill>
              <a:srgbClr val="F569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143601" y="4298454"/>
            <a:ext cx="6685597" cy="70788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4000" b="1" i="0" dirty="0">
                <a:solidFill>
                  <a:srgbClr val="F5696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</a:rPr>
              <a:t>←  BACKPROPAGATION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4663440"/>
            <a:ext cx="1828800" cy="685800"/>
          </a:xfrm>
          <a:prstGeom prst="roundRect">
            <a:avLst/>
          </a:prstGeom>
          <a:solidFill>
            <a:srgbClr val="F56969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0A1F3A"/>
                </a:solidFill>
                <a:latin typeface="Arial"/>
              </a:rPr>
              <a:t>ERRO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44068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1C2A37"/>
                </a:solidFill>
                <a:latin typeface="Arial"/>
              </a:rPr>
              <a:t>O backpropagation calcula como cada peso contribuiu para o erro.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900FB8A1-C03E-97B3-1F96-5F431CCC575F}"/>
              </a:ext>
            </a:extLst>
          </p:cNvPr>
          <p:cNvSpPr txBox="1"/>
          <p:nvPr/>
        </p:nvSpPr>
        <p:spPr>
          <a:xfrm>
            <a:off x="4402492" y="2642576"/>
            <a:ext cx="485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</a:t>
            </a:r>
            <a:r>
              <a:rPr lang="pt-BR" sz="1800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pt-BR" baseline="-25000" dirty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24800427-B125-6D28-0C2A-477EC07FE2BB}"/>
              </a:ext>
            </a:extLst>
          </p:cNvPr>
          <p:cNvSpPr txBox="1"/>
          <p:nvPr/>
        </p:nvSpPr>
        <p:spPr>
          <a:xfrm>
            <a:off x="7133501" y="2633739"/>
            <a:ext cx="480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</a:t>
            </a:r>
            <a:r>
              <a:rPr lang="pt-BR" b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pt-BR" dirty="0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00A26E0F-0686-DF8A-9354-B6C85762C839}"/>
              </a:ext>
            </a:extLst>
          </p:cNvPr>
          <p:cNvSpPr txBox="1"/>
          <p:nvPr/>
        </p:nvSpPr>
        <p:spPr>
          <a:xfrm>
            <a:off x="5534788" y="3535541"/>
            <a:ext cx="845616" cy="523220"/>
          </a:xfrm>
          <a:prstGeom prst="rect">
            <a:avLst/>
          </a:prstGeom>
          <a:solidFill>
            <a:srgbClr val="F56969"/>
          </a:solidFill>
        </p:spPr>
        <p:txBody>
          <a:bodyPr wrap="none" rtlCol="0">
            <a:spAutoFit/>
          </a:bodyPr>
          <a:lstStyle/>
          <a:p>
            <a:pPr algn="ctr"/>
            <a:r>
              <a:rPr lang="pt-BR" sz="1400" dirty="0"/>
              <a:t>Atualiza </a:t>
            </a:r>
          </a:p>
          <a:p>
            <a:pPr algn="ctr"/>
            <a:r>
              <a:rPr lang="pt-BR" sz="1400" dirty="0"/>
              <a:t>peso1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AF2A303F-C91C-34CA-10C4-0CE290ABF424}"/>
              </a:ext>
            </a:extLst>
          </p:cNvPr>
          <p:cNvSpPr txBox="1"/>
          <p:nvPr/>
        </p:nvSpPr>
        <p:spPr>
          <a:xfrm>
            <a:off x="8295094" y="3520208"/>
            <a:ext cx="845616" cy="523220"/>
          </a:xfrm>
          <a:prstGeom prst="rect">
            <a:avLst/>
          </a:prstGeom>
          <a:solidFill>
            <a:srgbClr val="F56969"/>
          </a:solidFill>
        </p:spPr>
        <p:txBody>
          <a:bodyPr wrap="none" rtlCol="0">
            <a:spAutoFit/>
          </a:bodyPr>
          <a:lstStyle/>
          <a:p>
            <a:pPr algn="ctr"/>
            <a:r>
              <a:rPr lang="pt-BR" sz="1400" dirty="0"/>
              <a:t>Atualiza </a:t>
            </a:r>
          </a:p>
          <a:p>
            <a:pPr algn="ctr"/>
            <a:r>
              <a:rPr lang="pt-BR" sz="1400" dirty="0"/>
              <a:t>peso2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4 • APRENDIZADO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A1F3A"/>
                </a:solidFill>
                <a:latin typeface="Arial"/>
              </a:rPr>
              <a:t>A rede aprende fazendo duas viagens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86000"/>
            <a:ext cx="594360" cy="566928"/>
          </a:xfrm>
          <a:prstGeom prst="roundRect">
            <a:avLst/>
          </a:prstGeom>
          <a:solidFill>
            <a:srgbClr val="3268B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2286000"/>
            <a:ext cx="320040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Feed Forward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3957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C2A37"/>
                </a:solidFill>
                <a:latin typeface="Arial"/>
              </a:rPr>
              <a:t>O que eu respondo?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08960"/>
            <a:ext cx="594360" cy="566928"/>
          </a:xfrm>
          <a:prstGeom prst="roundRect">
            <a:avLst/>
          </a:prstGeom>
          <a:solidFill>
            <a:srgbClr val="F56969"/>
          </a:solidFill>
          <a:ln w="17780">
            <a:solidFill>
              <a:srgbClr val="F5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0200" y="3108960"/>
            <a:ext cx="320040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5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Loss / Erro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321868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C2A37"/>
                </a:solidFill>
                <a:latin typeface="Arial"/>
              </a:rPr>
              <a:t>Quanto eu errei?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31920"/>
            <a:ext cx="594360" cy="566928"/>
          </a:xfrm>
          <a:prstGeom prst="roundRect">
            <a:avLst/>
          </a:prstGeom>
          <a:solidFill>
            <a:srgbClr val="A046A0"/>
          </a:solidFill>
          <a:ln w="17780">
            <a:solidFill>
              <a:srgbClr val="A0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00200" y="3931920"/>
            <a:ext cx="320040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0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Backpropagation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40416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C2A37"/>
                </a:solidFill>
                <a:latin typeface="Arial"/>
              </a:rPr>
              <a:t>Quais pesos contribuíram?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54880"/>
            <a:ext cx="594360" cy="566928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6E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00200" y="4754880"/>
            <a:ext cx="320040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E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A1F3A"/>
                </a:solidFill>
                <a:latin typeface="Arial"/>
              </a:rPr>
              <a:t>Gradiente Descendente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486460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C2A37"/>
                </a:solidFill>
                <a:latin typeface="Arial"/>
              </a:rPr>
              <a:t>Quanto devo ajustar?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5 • LIMITE DA LINEARIDADE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A1F3A"/>
                </a:solidFill>
                <a:latin typeface="Arial"/>
              </a:rPr>
              <a:t>Empilhar modelos lineares ainda produz um modelo linear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2926080" cy="91440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00" b="1">
                <a:solidFill>
                  <a:srgbClr val="0A1F3A"/>
                </a:solidFill>
                <a:latin typeface="Arial"/>
              </a:rPr>
              <a:t>f(x) = 2x + 1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0" y="2880360"/>
            <a:ext cx="1005840" cy="0"/>
          </a:xfrm>
          <a:prstGeom prst="line">
            <a:avLst/>
          </a:prstGeom>
          <a:ln w="3048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663440" y="2423160"/>
            <a:ext cx="2926080" cy="91440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00" b="1">
                <a:solidFill>
                  <a:srgbClr val="0A1F3A"/>
                </a:solidFill>
                <a:latin typeface="Arial"/>
              </a:rPr>
              <a:t>g(f) = 3f + 2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89520" y="2880360"/>
            <a:ext cx="1005840" cy="0"/>
          </a:xfrm>
          <a:prstGeom prst="line">
            <a:avLst/>
          </a:prstGeom>
          <a:ln w="3048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5360" y="2423160"/>
            <a:ext cx="2743200" cy="914400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00" b="1">
                <a:solidFill>
                  <a:srgbClr val="0A1F3A"/>
                </a:solidFill>
                <a:latin typeface="Arial"/>
              </a:rPr>
              <a:t>g(x)=6x+5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977639"/>
            <a:ext cx="8138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 i="0">
                <a:solidFill>
                  <a:srgbClr val="0A1F3A"/>
                </a:solidFill>
                <a:latin typeface="Arial"/>
              </a:rPr>
              <a:t>linear + linear + linear = linear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00600"/>
            <a:ext cx="9418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4B5B69"/>
                </a:solidFill>
                <a:latin typeface="Arial"/>
              </a:rPr>
              <a:t>Sem não linearidade, aumentar a quantidade de camadas não resolve essa limitação.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5 • XOR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 dirty="0">
                <a:solidFill>
                  <a:srgbClr val="0A1F3A"/>
                </a:solidFill>
                <a:latin typeface="Arial"/>
              </a:rPr>
              <a:t>O </a:t>
            </a:r>
            <a:r>
              <a:rPr sz="2700" b="1" i="0" dirty="0" err="1">
                <a:solidFill>
                  <a:srgbClr val="0A1F3A"/>
                </a:solidFill>
                <a:latin typeface="Arial"/>
              </a:rPr>
              <a:t>problema</a:t>
            </a:r>
            <a:r>
              <a:rPr sz="2700" b="1" i="0" dirty="0">
                <a:solidFill>
                  <a:srgbClr val="0A1F3A"/>
                </a:solidFill>
                <a:latin typeface="Arial"/>
              </a:rPr>
              <a:t> </a:t>
            </a:r>
            <a:r>
              <a:rPr sz="2700" b="1" i="0" dirty="0" err="1">
                <a:solidFill>
                  <a:srgbClr val="0A1F3A"/>
                </a:solidFill>
                <a:latin typeface="Arial"/>
              </a:rPr>
              <a:t>que</a:t>
            </a:r>
            <a:r>
              <a:rPr sz="2700" b="1" i="0" dirty="0">
                <a:solidFill>
                  <a:srgbClr val="0A1F3A"/>
                </a:solidFill>
                <a:latin typeface="Arial"/>
              </a:rPr>
              <a:t> </a:t>
            </a:r>
            <a:r>
              <a:rPr sz="2700" b="1" i="0" dirty="0" err="1">
                <a:solidFill>
                  <a:srgbClr val="0A1F3A"/>
                </a:solidFill>
                <a:latin typeface="Arial"/>
              </a:rPr>
              <a:t>uma</a:t>
            </a:r>
            <a:r>
              <a:rPr sz="2700" b="1" i="0" dirty="0">
                <a:solidFill>
                  <a:srgbClr val="0A1F3A"/>
                </a:solidFill>
                <a:latin typeface="Arial"/>
              </a:rPr>
              <a:t> </a:t>
            </a:r>
            <a:r>
              <a:rPr sz="2700" b="1" i="0" dirty="0" err="1">
                <a:solidFill>
                  <a:srgbClr val="0A1F3A"/>
                </a:solidFill>
                <a:latin typeface="Arial"/>
              </a:rPr>
              <a:t>única</a:t>
            </a:r>
            <a:r>
              <a:rPr sz="2700" b="1" i="0" dirty="0">
                <a:solidFill>
                  <a:srgbClr val="0A1F3A"/>
                </a:solidFill>
                <a:latin typeface="Arial"/>
              </a:rPr>
              <a:t> </a:t>
            </a:r>
            <a:r>
              <a:rPr sz="2700" b="1" i="0" dirty="0" err="1">
                <a:solidFill>
                  <a:srgbClr val="0A1F3A"/>
                </a:solidFill>
                <a:latin typeface="Arial"/>
              </a:rPr>
              <a:t>fronteira</a:t>
            </a:r>
            <a:r>
              <a:rPr sz="2700" b="1" i="0" dirty="0">
                <a:solidFill>
                  <a:srgbClr val="0A1F3A"/>
                </a:solidFill>
                <a:latin typeface="Arial"/>
              </a:rPr>
              <a:t> linear </a:t>
            </a:r>
            <a:r>
              <a:rPr sz="2700" b="1" i="0" dirty="0" err="1">
                <a:solidFill>
                  <a:srgbClr val="0A1F3A"/>
                </a:solidFill>
                <a:latin typeface="Arial"/>
              </a:rPr>
              <a:t>não</a:t>
            </a:r>
            <a:r>
              <a:rPr sz="2700" b="1" i="0" dirty="0">
                <a:solidFill>
                  <a:srgbClr val="0A1F3A"/>
                </a:solidFill>
                <a:latin typeface="Arial"/>
              </a:rPr>
              <a:t> resolve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973771"/>
            <a:ext cx="1051560" cy="457200"/>
          </a:xfrm>
          <a:prstGeom prst="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0A1F3A"/>
                </a:solidFill>
                <a:latin typeface="Arial"/>
              </a:rPr>
              <a:t>x₁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973771"/>
            <a:ext cx="1051560" cy="457200"/>
          </a:xfrm>
          <a:prstGeom prst="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x₂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2973771"/>
            <a:ext cx="1051560" cy="457200"/>
          </a:xfrm>
          <a:prstGeom prst="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XOR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504123"/>
            <a:ext cx="1051560" cy="457200"/>
          </a:xfrm>
          <a:prstGeom prst="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A1F3A"/>
                </a:solidFill>
                <a:latin typeface="Arial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3504123"/>
            <a:ext cx="1051560" cy="457200"/>
          </a:xfrm>
          <a:prstGeom prst="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A1F3A"/>
                </a:solidFill>
                <a:latin typeface="Arial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3504123"/>
            <a:ext cx="1051560" cy="457200"/>
          </a:xfrm>
          <a:prstGeom prst="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A1F3A"/>
                </a:solidFill>
                <a:latin typeface="Arial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034475"/>
            <a:ext cx="1051560" cy="457200"/>
          </a:xfrm>
          <a:prstGeom prst="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A1F3A"/>
                </a:solidFill>
                <a:latin typeface="Arial"/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034475"/>
            <a:ext cx="1051560" cy="457200"/>
          </a:xfrm>
          <a:prstGeom prst="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A1F3A"/>
                </a:solidFill>
                <a:latin typeface="Arial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4034475"/>
            <a:ext cx="1051560" cy="457200"/>
          </a:xfrm>
          <a:prstGeom prst="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A1F3A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564826"/>
            <a:ext cx="1051560" cy="457200"/>
          </a:xfrm>
          <a:prstGeom prst="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A1F3A"/>
                </a:solidFill>
                <a:latin typeface="Arial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4564826"/>
            <a:ext cx="1051560" cy="457200"/>
          </a:xfrm>
          <a:prstGeom prst="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A1F3A"/>
                </a:solidFill>
                <a:latin typeface="Arial"/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71800" y="4564826"/>
            <a:ext cx="1051560" cy="457200"/>
          </a:xfrm>
          <a:prstGeom prst="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A1F3A"/>
                </a:solidFill>
                <a:latin typeface="Arial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095178"/>
            <a:ext cx="1051560" cy="457200"/>
          </a:xfrm>
          <a:prstGeom prst="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A1F3A"/>
                </a:solidFill>
                <a:latin typeface="Arial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5095178"/>
            <a:ext cx="1051560" cy="457200"/>
          </a:xfrm>
          <a:prstGeom prst="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A1F3A"/>
                </a:solidFill>
                <a:latin typeface="Arial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5095178"/>
            <a:ext cx="1051560" cy="457200"/>
          </a:xfrm>
          <a:prstGeom prst="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A1F3A"/>
                </a:solidFill>
                <a:latin typeface="Arial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6219891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56969"/>
                </a:solidFill>
                <a:latin typeface="Arial"/>
              </a:rPr>
              <a:t>Não existe uma única reta que separe perfeitamente as duas classes.</a:t>
            </a: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55D264D1-47B6-49BC-51D8-2F82A2EB2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376" y="2831430"/>
            <a:ext cx="7152924" cy="282025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EA9E8B01-FEF8-D788-42AA-D069FF8E757C}"/>
                  </a:ext>
                </a:extLst>
              </p:cNvPr>
              <p:cNvSpPr txBox="1"/>
              <p:nvPr/>
            </p:nvSpPr>
            <p:spPr>
              <a:xfrm>
                <a:off x="450279" y="1805129"/>
                <a:ext cx="6094602" cy="92333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: autorização pelo crachá (</a:t>
                </a:r>
                <a:r>
                  <a:rPr lang="pt-BR" dirty="0" err="1"/>
                  <a:t>Sim,Não</a:t>
                </a:r>
                <a:r>
                  <a:rPr lang="pt-BR" dirty="0"/>
                  <a:t>)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: autorização temporária pelo segurança (</a:t>
                </a:r>
                <a:r>
                  <a:rPr lang="pt-BR" dirty="0" err="1"/>
                  <a:t>Sim,Não</a:t>
                </a:r>
                <a:r>
                  <a:rPr lang="pt-BR" dirty="0"/>
                  <a:t>)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dirty="0"/>
                  <a:t>: porta abre (</a:t>
                </a:r>
                <a:r>
                  <a:rPr lang="pt-BR" dirty="0" err="1"/>
                  <a:t>Sim,Não</a:t>
                </a:r>
                <a:r>
                  <a:rPr lang="pt-BR" dirty="0"/>
                  <a:t>)</a:t>
                </a:r>
              </a:p>
            </p:txBody>
          </p:sp>
        </mc:Choice>
        <mc:Fallback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EA9E8B01-FEF8-D788-42AA-D069FF8E7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79" y="1805129"/>
                <a:ext cx="6094602" cy="923330"/>
              </a:xfrm>
              <a:prstGeom prst="rect">
                <a:avLst/>
              </a:prstGeom>
              <a:blipFill>
                <a:blip r:embed="rId4"/>
                <a:stretch>
                  <a:fillRect l="-700" t="-2632" b="-986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CaixaDeTexto 33">
            <a:extLst>
              <a:ext uri="{FF2B5EF4-FFF2-40B4-BE49-F238E27FC236}">
                <a16:creationId xmlns:a16="http://schemas.microsoft.com/office/drawing/2014/main" id="{94298070-A399-A3C3-8243-827CEBAB4F84}"/>
              </a:ext>
            </a:extLst>
          </p:cNvPr>
          <p:cNvSpPr txBox="1"/>
          <p:nvPr/>
        </p:nvSpPr>
        <p:spPr>
          <a:xfrm>
            <a:off x="6604705" y="1755648"/>
            <a:ext cx="5205583" cy="83099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se nenhuma autorização existe, não abre;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se exatamente uma autorização existe, abre;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se as duas aparecem ao mesmo tempo, o sistema interpreta como situação inconsistente e bloqueia.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6 • FUNÇÕES DE ATIVAÇÃO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A1F3A"/>
                </a:solidFill>
                <a:latin typeface="Arial"/>
              </a:rPr>
              <a:t>A solução: introduzir não linearidade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3017520" cy="109728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00" b="1">
                <a:solidFill>
                  <a:srgbClr val="0A1F3A"/>
                </a:solidFill>
                <a:latin typeface="Arial"/>
              </a:rPr>
              <a:t>z = Σ wᵢxᵢ + 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40480" y="3063240"/>
            <a:ext cx="1005840" cy="0"/>
          </a:xfrm>
          <a:prstGeom prst="line">
            <a:avLst/>
          </a:prstGeom>
          <a:ln w="3048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846320" y="2514600"/>
            <a:ext cx="3017520" cy="109728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700" b="1">
                <a:solidFill>
                  <a:srgbClr val="0A1F3A"/>
                </a:solidFill>
                <a:latin typeface="Arial"/>
              </a:rPr>
              <a:t>σ(z)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63840" y="3063240"/>
            <a:ext cx="1005840" cy="0"/>
          </a:xfrm>
          <a:prstGeom prst="line">
            <a:avLst/>
          </a:prstGeom>
          <a:ln w="3048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869680" y="2514600"/>
            <a:ext cx="2286000" cy="1097280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00" b="1">
                <a:solidFill>
                  <a:srgbClr val="0A1F3A"/>
                </a:solidFill>
                <a:latin typeface="Arial"/>
              </a:rPr>
              <a:t>saída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20624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0A1F3A"/>
                </a:solidFill>
                <a:latin typeface="Arial"/>
              </a:rPr>
              <a:t>A função de ativação “quebra” a linearidade.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92040"/>
            <a:ext cx="9509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4B5B69"/>
                </a:solidFill>
                <a:latin typeface="Arial"/>
              </a:rPr>
              <a:t>Agora várias camadas podem construir fronteiras de decisão muito mais complexas.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0" y="231386"/>
            <a:ext cx="182880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800" b="0" dirty="0">
                <a:solidFill>
                  <a:srgbClr val="141414"/>
                </a:solidFill>
                <a:latin typeface="Cambria Math"/>
              </a:rPr>
              <a:t>Camada</a:t>
            </a:r>
            <a:r>
              <a:rPr sz="1800" b="0" dirty="0">
                <a:solidFill>
                  <a:srgbClr val="141414"/>
                </a:solidFill>
                <a:latin typeface="Cambria Math"/>
              </a:rPr>
              <a:t> 1 (L₁)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0" y="1511144"/>
            <a:ext cx="20116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dirty="0">
                <a:solidFill>
                  <a:srgbClr val="141414"/>
                </a:solidFill>
                <a:latin typeface="Cambria Math"/>
              </a:rPr>
              <a:t>Camada</a:t>
            </a:r>
            <a:r>
              <a:rPr sz="1800" b="0" dirty="0">
                <a:solidFill>
                  <a:srgbClr val="141414"/>
                </a:solidFill>
                <a:latin typeface="Cambria Math"/>
              </a:rPr>
              <a:t> 2 (L₂)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2148840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800" b="0" dirty="0">
                <a:solidFill>
                  <a:srgbClr val="141414"/>
                </a:solidFill>
                <a:latin typeface="Cambria Math"/>
              </a:rPr>
              <a:t>Camada</a:t>
            </a:r>
            <a:r>
              <a:rPr sz="1800" b="0" dirty="0">
                <a:solidFill>
                  <a:srgbClr val="141414"/>
                </a:solidFill>
                <a:latin typeface="Cambria Math"/>
              </a:rPr>
              <a:t> 3
(output layer)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920240"/>
            <a:ext cx="0" cy="3383280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" y="1920240"/>
            <a:ext cx="256032" cy="0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" y="5303520"/>
            <a:ext cx="256032" cy="0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0" y="1121807"/>
            <a:ext cx="193479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700" b="0" dirty="0">
                <a:solidFill>
                  <a:srgbClr val="141414"/>
                </a:solidFill>
                <a:latin typeface="Cambria Math"/>
              </a:rPr>
              <a:t>Dimensionalidade da entrada</a:t>
            </a:r>
            <a:endParaRPr sz="1700" b="0" dirty="0">
              <a:solidFill>
                <a:srgbClr val="141414"/>
              </a:solidFill>
              <a:latin typeface="Cambria Math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41248" y="1920240"/>
            <a:ext cx="475488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>
                <a:solidFill>
                  <a:srgbClr val="141414"/>
                </a:solidFill>
                <a:latin typeface="Cambria Math"/>
              </a:rPr>
              <a:t>x₁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3127248"/>
            <a:ext cx="475488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>
                <a:solidFill>
                  <a:srgbClr val="141414"/>
                </a:solidFill>
                <a:latin typeface="Cambria Math"/>
              </a:rPr>
              <a:t>x₂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4443984"/>
            <a:ext cx="475488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>
                <a:solidFill>
                  <a:srgbClr val="141414"/>
                </a:solidFill>
                <a:latin typeface="Cambria Math"/>
              </a:rPr>
              <a:t>xₘ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1371600"/>
            <a:ext cx="2240280" cy="960120"/>
          </a:xfrm>
          <a:prstGeom prst="rect">
            <a:avLst/>
          </a:prstGeom>
          <a:solidFill>
            <a:srgbClr val="B8F383"/>
          </a:solidFill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dirty="0">
                <a:solidFill>
                  <a:srgbClr val="141414"/>
                </a:solidFill>
                <a:latin typeface="Cambria Math"/>
              </a:rPr>
              <a:t>y₁¹ = </a:t>
            </a:r>
            <a:r>
              <a:rPr lang="pt-BR" sz="1700" b="1" dirty="0">
                <a:solidFill>
                  <a:srgbClr val="14141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/>
              </a:rPr>
              <a:t>w</a:t>
            </a:r>
            <a:r>
              <a:rPr lang="pt-BR" sz="1700" baseline="-25000" dirty="0">
                <a:solidFill>
                  <a:srgbClr val="141414"/>
                </a:solidFill>
                <a:latin typeface="Cambria Math"/>
              </a:rPr>
              <a:t>1</a:t>
            </a:r>
            <a:r>
              <a:rPr lang="pt-BR" sz="1700" dirty="0">
                <a:solidFill>
                  <a:srgbClr val="141414"/>
                </a:solidFill>
                <a:latin typeface="Cambria Math"/>
              </a:rPr>
              <a:t> (</a:t>
            </a:r>
            <a:r>
              <a:rPr sz="1700" dirty="0">
                <a:solidFill>
                  <a:srgbClr val="141414"/>
                </a:solidFill>
                <a:latin typeface="Cambria Math"/>
              </a:rPr>
              <a:t>x</a:t>
            </a:r>
            <a:r>
              <a:rPr lang="pt-BR" sz="1700" baseline="-25000" dirty="0">
                <a:solidFill>
                  <a:srgbClr val="141414"/>
                </a:solidFill>
                <a:latin typeface="Cambria Math"/>
              </a:rPr>
              <a:t>1,2,3</a:t>
            </a:r>
            <a:r>
              <a:rPr lang="pt-BR" sz="1700" dirty="0">
                <a:solidFill>
                  <a:srgbClr val="141414"/>
                </a:solidFill>
                <a:latin typeface="Cambria Math"/>
              </a:rPr>
              <a:t>)</a:t>
            </a:r>
            <a:r>
              <a:rPr sz="1700" dirty="0">
                <a:solidFill>
                  <a:srgbClr val="141414"/>
                </a:solidFill>
                <a:latin typeface="Cambria Math"/>
              </a:rPr>
              <a:t> + 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2834640"/>
            <a:ext cx="2240280" cy="960120"/>
          </a:xfrm>
          <a:prstGeom prst="rect">
            <a:avLst/>
          </a:prstGeom>
          <a:solidFill>
            <a:srgbClr val="E64646"/>
          </a:solidFill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dirty="0">
                <a:solidFill>
                  <a:srgbClr val="141414"/>
                </a:solidFill>
                <a:latin typeface="Cambria Math"/>
              </a:rPr>
              <a:t>y₂¹ = </a:t>
            </a:r>
            <a:r>
              <a:rPr lang="pt-BR" sz="1700" b="1" dirty="0">
                <a:solidFill>
                  <a:srgbClr val="14141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/>
              </a:rPr>
              <a:t>w</a:t>
            </a:r>
            <a:r>
              <a:rPr lang="pt-BR" sz="1700" baseline="-25000" dirty="0">
                <a:solidFill>
                  <a:srgbClr val="141414"/>
                </a:solidFill>
                <a:latin typeface="Cambria Math"/>
              </a:rPr>
              <a:t>2</a:t>
            </a:r>
            <a:r>
              <a:rPr lang="pt-BR" sz="1700" dirty="0">
                <a:solidFill>
                  <a:srgbClr val="141414"/>
                </a:solidFill>
                <a:latin typeface="Cambria Math"/>
              </a:rPr>
              <a:t> (x</a:t>
            </a:r>
            <a:r>
              <a:rPr lang="pt-BR" sz="1700" baseline="-25000" dirty="0">
                <a:solidFill>
                  <a:srgbClr val="141414"/>
                </a:solidFill>
                <a:latin typeface="Cambria Math"/>
              </a:rPr>
              <a:t>1,2,3</a:t>
            </a:r>
            <a:r>
              <a:rPr lang="pt-BR" sz="1700" dirty="0">
                <a:solidFill>
                  <a:srgbClr val="141414"/>
                </a:solidFill>
                <a:latin typeface="Cambria Math"/>
              </a:rPr>
              <a:t>) +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4389120"/>
            <a:ext cx="2240280" cy="960120"/>
          </a:xfrm>
          <a:prstGeom prst="rect">
            <a:avLst/>
          </a:prstGeom>
          <a:solidFill>
            <a:srgbClr val="FFE063"/>
          </a:solidFill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dirty="0">
                <a:solidFill>
                  <a:srgbClr val="141414"/>
                </a:solidFill>
                <a:latin typeface="Cambria Math"/>
              </a:rPr>
              <a:t>y₃¹ = </a:t>
            </a:r>
            <a:r>
              <a:rPr lang="pt-BR" sz="1700" b="1" dirty="0">
                <a:solidFill>
                  <a:srgbClr val="14141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/>
              </a:rPr>
              <a:t>w</a:t>
            </a:r>
            <a:r>
              <a:rPr lang="pt-BR" sz="1700" baseline="-25000" dirty="0">
                <a:solidFill>
                  <a:srgbClr val="141414"/>
                </a:solidFill>
                <a:latin typeface="Cambria Math"/>
              </a:rPr>
              <a:t>3</a:t>
            </a:r>
            <a:r>
              <a:rPr lang="pt-BR" sz="1700" dirty="0">
                <a:solidFill>
                  <a:srgbClr val="141414"/>
                </a:solidFill>
                <a:latin typeface="Cambria Math"/>
              </a:rPr>
              <a:t> (x</a:t>
            </a:r>
            <a:r>
              <a:rPr lang="pt-BR" sz="1700" baseline="-25000" dirty="0">
                <a:solidFill>
                  <a:srgbClr val="141414"/>
                </a:solidFill>
                <a:latin typeface="Cambria Math"/>
              </a:rPr>
              <a:t>1,2,3</a:t>
            </a:r>
            <a:r>
              <a:rPr lang="pt-BR" sz="1700" dirty="0">
                <a:solidFill>
                  <a:srgbClr val="141414"/>
                </a:solidFill>
                <a:latin typeface="Cambria Math"/>
              </a:rPr>
              <a:t>) + b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1316736" y="1847088"/>
            <a:ext cx="1152144" cy="292608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316736" y="2139696"/>
            <a:ext cx="1152144" cy="1170432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16736" y="2139696"/>
            <a:ext cx="1152144" cy="2724912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316736" y="1847088"/>
            <a:ext cx="1152144" cy="1499616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16736" y="3310128"/>
            <a:ext cx="1152144" cy="36576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316736" y="3346704"/>
            <a:ext cx="1152144" cy="1517904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316736" y="1847088"/>
            <a:ext cx="1152144" cy="2816352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316736" y="3310128"/>
            <a:ext cx="1152144" cy="1353312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316736" y="4663440"/>
            <a:ext cx="1152144" cy="201168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989320" y="2011680"/>
            <a:ext cx="2240280" cy="8686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pt-BR" sz="1600" dirty="0">
                <a:solidFill>
                  <a:srgbClr val="141414"/>
                </a:solidFill>
                <a:latin typeface="Cambria Math"/>
              </a:rPr>
              <a:t>z</a:t>
            </a:r>
            <a:r>
              <a:rPr sz="1600" dirty="0">
                <a:solidFill>
                  <a:srgbClr val="141414"/>
                </a:solidFill>
                <a:latin typeface="Cambria Math"/>
              </a:rPr>
              <a:t>₁ = </a:t>
            </a:r>
            <a:r>
              <a:rPr lang="pt-BR" sz="1600" b="1" dirty="0">
                <a:solidFill>
                  <a:srgbClr val="14141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/>
              </a:rPr>
              <a:t>w</a:t>
            </a:r>
            <a:r>
              <a:rPr lang="pt-BR" sz="1600" b="1" baseline="-25000" dirty="0">
                <a:solidFill>
                  <a:srgbClr val="14141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/>
              </a:rPr>
              <a:t>4</a:t>
            </a:r>
            <a:r>
              <a:rPr lang="pt-BR" sz="1600" dirty="0">
                <a:solidFill>
                  <a:srgbClr val="141414"/>
                </a:solidFill>
                <a:latin typeface="Cambria Math"/>
              </a:rPr>
              <a:t> (y</a:t>
            </a:r>
            <a:r>
              <a:rPr lang="pt-BR" sz="1600" baseline="-25000" dirty="0">
                <a:solidFill>
                  <a:srgbClr val="141414"/>
                </a:solidFill>
                <a:highlight>
                  <a:srgbClr val="B8F383"/>
                </a:highlight>
                <a:latin typeface="Cambria Math"/>
              </a:rPr>
              <a:t>1</a:t>
            </a:r>
            <a:r>
              <a:rPr lang="pt-BR" sz="1600" baseline="-25000" dirty="0">
                <a:solidFill>
                  <a:srgbClr val="141414"/>
                </a:solidFill>
                <a:latin typeface="Cambria Math"/>
              </a:rPr>
              <a:t>,</a:t>
            </a:r>
            <a:r>
              <a:rPr lang="pt-BR" sz="1600" baseline="-25000" dirty="0">
                <a:solidFill>
                  <a:srgbClr val="141414"/>
                </a:solidFill>
                <a:highlight>
                  <a:srgbClr val="E64646"/>
                </a:highlight>
                <a:latin typeface="Cambria Math"/>
              </a:rPr>
              <a:t>2</a:t>
            </a:r>
            <a:r>
              <a:rPr lang="pt-BR" sz="1600" baseline="-25000" dirty="0">
                <a:solidFill>
                  <a:srgbClr val="141414"/>
                </a:solidFill>
                <a:latin typeface="Cambria Math"/>
              </a:rPr>
              <a:t>,</a:t>
            </a:r>
            <a:r>
              <a:rPr lang="pt-BR" sz="1600" baseline="-25000" dirty="0">
                <a:solidFill>
                  <a:srgbClr val="141414"/>
                </a:solidFill>
                <a:highlight>
                  <a:srgbClr val="FFE063"/>
                </a:highlight>
                <a:latin typeface="Cambria Math"/>
              </a:rPr>
              <a:t>3</a:t>
            </a:r>
            <a:r>
              <a:rPr lang="pt-BR" sz="1600" dirty="0">
                <a:solidFill>
                  <a:srgbClr val="141414"/>
                </a:solidFill>
                <a:latin typeface="Cambria Math"/>
              </a:rPr>
              <a:t>) + 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3657600"/>
            <a:ext cx="2240280" cy="868680"/>
          </a:xfrm>
          <a:prstGeom prst="rect">
            <a:avLst/>
          </a:prstGeom>
          <a:solidFill>
            <a:srgbClr val="00FFFF"/>
          </a:solidFill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pt-BR" sz="1600" dirty="0">
                <a:solidFill>
                  <a:srgbClr val="141414"/>
                </a:solidFill>
                <a:latin typeface="Cambria Math"/>
              </a:rPr>
              <a:t>z</a:t>
            </a:r>
            <a:r>
              <a:rPr sz="1600" dirty="0">
                <a:solidFill>
                  <a:srgbClr val="141414"/>
                </a:solidFill>
                <a:latin typeface="Cambria Math"/>
              </a:rPr>
              <a:t>₂ = </a:t>
            </a:r>
            <a:r>
              <a:rPr lang="pt-BR" sz="1600" b="1" dirty="0">
                <a:solidFill>
                  <a:srgbClr val="14141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/>
              </a:rPr>
              <a:t>w</a:t>
            </a:r>
            <a:r>
              <a:rPr lang="pt-BR" sz="1600" b="1" baseline="-25000" dirty="0">
                <a:solidFill>
                  <a:srgbClr val="14141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/>
              </a:rPr>
              <a:t>5</a:t>
            </a:r>
            <a:r>
              <a:rPr lang="pt-BR" sz="1600" dirty="0">
                <a:solidFill>
                  <a:srgbClr val="141414"/>
                </a:solidFill>
                <a:latin typeface="Cambria Math"/>
              </a:rPr>
              <a:t> (y</a:t>
            </a:r>
            <a:r>
              <a:rPr lang="pt-BR" sz="1600" baseline="-25000" dirty="0">
                <a:solidFill>
                  <a:srgbClr val="141414"/>
                </a:solidFill>
                <a:highlight>
                  <a:srgbClr val="B8F383"/>
                </a:highlight>
                <a:latin typeface="Cambria Math"/>
              </a:rPr>
              <a:t>1</a:t>
            </a:r>
            <a:r>
              <a:rPr lang="pt-BR" sz="1600" baseline="-25000" dirty="0">
                <a:solidFill>
                  <a:srgbClr val="141414"/>
                </a:solidFill>
                <a:latin typeface="Cambria Math"/>
              </a:rPr>
              <a:t>,</a:t>
            </a:r>
            <a:r>
              <a:rPr lang="pt-BR" sz="1600" baseline="-25000" dirty="0">
                <a:solidFill>
                  <a:srgbClr val="141414"/>
                </a:solidFill>
                <a:highlight>
                  <a:srgbClr val="E64646"/>
                </a:highlight>
                <a:latin typeface="Cambria Math"/>
              </a:rPr>
              <a:t>2</a:t>
            </a:r>
            <a:r>
              <a:rPr lang="pt-BR" sz="1600" baseline="-25000" dirty="0">
                <a:solidFill>
                  <a:srgbClr val="141414"/>
                </a:solidFill>
                <a:latin typeface="Cambria Math"/>
              </a:rPr>
              <a:t>,</a:t>
            </a:r>
            <a:r>
              <a:rPr lang="pt-BR" sz="1600" baseline="-25000" dirty="0">
                <a:solidFill>
                  <a:srgbClr val="141414"/>
                </a:solidFill>
                <a:highlight>
                  <a:srgbClr val="FFE063"/>
                </a:highlight>
                <a:latin typeface="Cambria Math"/>
              </a:rPr>
              <a:t>3</a:t>
            </a:r>
            <a:r>
              <a:rPr lang="pt-BR" sz="1600" dirty="0">
                <a:solidFill>
                  <a:srgbClr val="141414"/>
                </a:solidFill>
                <a:latin typeface="Cambria Math"/>
              </a:rPr>
              <a:t>) + b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709160" y="1847088"/>
            <a:ext cx="1280160" cy="603504"/>
          </a:xfrm>
          <a:prstGeom prst="line">
            <a:avLst/>
          </a:prstGeom>
          <a:ln w="15240">
            <a:solidFill>
              <a:srgbClr val="B8F3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709160" y="1847088"/>
            <a:ext cx="1280160" cy="2249424"/>
          </a:xfrm>
          <a:prstGeom prst="line">
            <a:avLst/>
          </a:prstGeom>
          <a:ln w="15240">
            <a:solidFill>
              <a:srgbClr val="B8F3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709160" y="2450592"/>
            <a:ext cx="1280160" cy="859536"/>
          </a:xfrm>
          <a:prstGeom prst="line">
            <a:avLst/>
          </a:prstGeom>
          <a:ln w="15240">
            <a:solidFill>
              <a:srgbClr val="E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709160" y="3310128"/>
            <a:ext cx="1280160" cy="786384"/>
          </a:xfrm>
          <a:prstGeom prst="line">
            <a:avLst/>
          </a:prstGeom>
          <a:ln w="15240">
            <a:solidFill>
              <a:srgbClr val="E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709160" y="2450592"/>
            <a:ext cx="1280160" cy="2414016"/>
          </a:xfrm>
          <a:prstGeom prst="line">
            <a:avLst/>
          </a:prstGeom>
          <a:ln w="15240">
            <a:solidFill>
              <a:srgbClr val="FFE0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709160" y="4096512"/>
            <a:ext cx="1280160" cy="768096"/>
          </a:xfrm>
          <a:prstGeom prst="line">
            <a:avLst/>
          </a:prstGeom>
          <a:ln w="15240">
            <a:solidFill>
              <a:srgbClr val="FFE0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412480" y="2226451"/>
            <a:ext cx="4572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600" dirty="0">
                <a:solidFill>
                  <a:srgbClr val="141414"/>
                </a:solidFill>
                <a:latin typeface="Cambria Math"/>
              </a:rPr>
              <a:t>z</a:t>
            </a:r>
            <a:r>
              <a:rPr sz="1600" b="0" dirty="0">
                <a:solidFill>
                  <a:srgbClr val="141414"/>
                </a:solidFill>
                <a:latin typeface="Cambria Math"/>
              </a:rPr>
              <a:t>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4192" y="3890659"/>
            <a:ext cx="4572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pt-BR" sz="1600" dirty="0">
                <a:solidFill>
                  <a:srgbClr val="141414"/>
                </a:solidFill>
                <a:latin typeface="Cambria Math"/>
              </a:rPr>
              <a:t>z</a:t>
            </a:r>
            <a:r>
              <a:rPr sz="1600" b="0" dirty="0">
                <a:solidFill>
                  <a:srgbClr val="141414"/>
                </a:solidFill>
                <a:latin typeface="Cambria Math"/>
              </a:rPr>
              <a:t>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20" y="2971800"/>
            <a:ext cx="2331720" cy="960120"/>
          </a:xfrm>
          <a:prstGeom prst="rect">
            <a:avLst/>
          </a:prstGeom>
          <a:solidFill>
            <a:srgbClr val="EFCDCD"/>
          </a:solidFill>
          <a:ln w="1524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dirty="0">
                <a:solidFill>
                  <a:srgbClr val="141414"/>
                </a:solidFill>
                <a:latin typeface="Cambria Math"/>
              </a:rPr>
              <a:t>ȳ =</a:t>
            </a:r>
            <a:r>
              <a:rPr lang="el-GR" sz="1600" dirty="0">
                <a:solidFill>
                  <a:srgbClr val="141414"/>
                </a:solidFill>
                <a:latin typeface="Cambria Math"/>
              </a:rPr>
              <a:t> </a:t>
            </a:r>
            <a:r>
              <a:rPr lang="pt-BR" sz="1600" dirty="0">
                <a:solidFill>
                  <a:srgbClr val="141414"/>
                </a:solidFill>
                <a:latin typeface="Cambria Math"/>
              </a:rPr>
              <a:t>w (z</a:t>
            </a:r>
            <a:r>
              <a:rPr lang="pt-BR" sz="1600" baseline="-25000" dirty="0">
                <a:solidFill>
                  <a:srgbClr val="141414"/>
                </a:solidFill>
                <a:highlight>
                  <a:srgbClr val="800080"/>
                </a:highlight>
                <a:latin typeface="Cambria Math"/>
              </a:rPr>
              <a:t>1</a:t>
            </a:r>
            <a:r>
              <a:rPr lang="pt-BR" sz="1600" baseline="-25000" dirty="0">
                <a:solidFill>
                  <a:srgbClr val="141414"/>
                </a:solidFill>
                <a:latin typeface="Cambria Math"/>
              </a:rPr>
              <a:t>,</a:t>
            </a:r>
            <a:r>
              <a:rPr lang="pt-BR" sz="1600" baseline="-25000" dirty="0">
                <a:solidFill>
                  <a:srgbClr val="141414"/>
                </a:solidFill>
                <a:highlight>
                  <a:srgbClr val="00FFFF"/>
                </a:highlight>
                <a:latin typeface="Cambria Math"/>
              </a:rPr>
              <a:t>2</a:t>
            </a:r>
            <a:r>
              <a:rPr lang="pt-BR" sz="1600" dirty="0">
                <a:solidFill>
                  <a:srgbClr val="141414"/>
                </a:solidFill>
                <a:latin typeface="Cambria Math"/>
              </a:rPr>
              <a:t>) + b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229600" y="2450592"/>
            <a:ext cx="731520" cy="1005840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229600" y="3456432"/>
            <a:ext cx="731520" cy="640080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>
            <a:cxnSpLocks/>
            <a:endCxn id="50" idx="2"/>
          </p:cNvCxnSpPr>
          <p:nvPr/>
        </p:nvCxnSpPr>
        <p:spPr>
          <a:xfrm flipV="1">
            <a:off x="4469363" y="736092"/>
            <a:ext cx="1002108" cy="614026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6">
            <a:extLst>
              <a:ext uri="{FF2B5EF4-FFF2-40B4-BE49-F238E27FC236}">
                <a16:creationId xmlns:a16="http://schemas.microsoft.com/office/drawing/2014/main" id="{9B3C2649-0D66-5067-2C3C-056E99424840}"/>
              </a:ext>
            </a:extLst>
          </p:cNvPr>
          <p:cNvSpPr txBox="1"/>
          <p:nvPr/>
        </p:nvSpPr>
        <p:spPr>
          <a:xfrm>
            <a:off x="4648511" y="416052"/>
            <a:ext cx="1645920" cy="320040"/>
          </a:xfrm>
          <a:prstGeom prst="rect">
            <a:avLst/>
          </a:prstGeom>
          <a:solidFill>
            <a:srgbClr val="FFFF00"/>
          </a:solidFill>
        </p:spPr>
        <p:txBody>
          <a:bodyPr wrap="square" anchor="ctr">
            <a:spAutoFit/>
          </a:bodyPr>
          <a:lstStyle/>
          <a:p>
            <a:pPr algn="ctr"/>
            <a:r>
              <a:rPr sz="1700" b="0" dirty="0">
                <a:solidFill>
                  <a:srgbClr val="141414"/>
                </a:solidFill>
                <a:latin typeface="Cambria Math"/>
              </a:rPr>
              <a:t>Activation (σ)</a:t>
            </a:r>
          </a:p>
        </p:txBody>
      </p:sp>
      <p:cxnSp>
        <p:nvCxnSpPr>
          <p:cNvPr id="58" name="Connector 46">
            <a:extLst>
              <a:ext uri="{FF2B5EF4-FFF2-40B4-BE49-F238E27FC236}">
                <a16:creationId xmlns:a16="http://schemas.microsoft.com/office/drawing/2014/main" id="{919C9AB4-E8EC-CF5D-7A0A-115CE6A86EF0}"/>
              </a:ext>
            </a:extLst>
          </p:cNvPr>
          <p:cNvCxnSpPr>
            <a:cxnSpLocks/>
          </p:cNvCxnSpPr>
          <p:nvPr/>
        </p:nvCxnSpPr>
        <p:spPr>
          <a:xfrm flipV="1">
            <a:off x="4607334" y="736092"/>
            <a:ext cx="1041042" cy="2119553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46">
            <a:extLst>
              <a:ext uri="{FF2B5EF4-FFF2-40B4-BE49-F238E27FC236}">
                <a16:creationId xmlns:a16="http://schemas.microsoft.com/office/drawing/2014/main" id="{6AFFB3FF-B357-1030-A5A0-0E44482C0400}"/>
              </a:ext>
            </a:extLst>
          </p:cNvPr>
          <p:cNvCxnSpPr>
            <a:cxnSpLocks/>
          </p:cNvCxnSpPr>
          <p:nvPr/>
        </p:nvCxnSpPr>
        <p:spPr>
          <a:xfrm flipV="1">
            <a:off x="4607334" y="759899"/>
            <a:ext cx="1179013" cy="3661225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">
            <a:extLst>
              <a:ext uri="{FF2B5EF4-FFF2-40B4-BE49-F238E27FC236}">
                <a16:creationId xmlns:a16="http://schemas.microsoft.com/office/drawing/2014/main" id="{E52F5992-FF79-9F60-4634-537FAFA4E2C4}"/>
              </a:ext>
            </a:extLst>
          </p:cNvPr>
          <p:cNvSpPr txBox="1"/>
          <p:nvPr/>
        </p:nvSpPr>
        <p:spPr>
          <a:xfrm>
            <a:off x="8229600" y="5539553"/>
            <a:ext cx="1645920" cy="320040"/>
          </a:xfrm>
          <a:prstGeom prst="rect">
            <a:avLst/>
          </a:prstGeom>
          <a:solidFill>
            <a:srgbClr val="FFFF00"/>
          </a:solidFill>
        </p:spPr>
        <p:txBody>
          <a:bodyPr wrap="square" anchor="ctr">
            <a:spAutoFit/>
          </a:bodyPr>
          <a:lstStyle/>
          <a:p>
            <a:pPr algn="ctr"/>
            <a:r>
              <a:rPr sz="1700" b="0" dirty="0">
                <a:solidFill>
                  <a:srgbClr val="141414"/>
                </a:solidFill>
                <a:latin typeface="Cambria Math"/>
              </a:rPr>
              <a:t>Activation (σ)</a:t>
            </a:r>
          </a:p>
        </p:txBody>
      </p:sp>
      <p:cxnSp>
        <p:nvCxnSpPr>
          <p:cNvPr id="67" name="Connector 46">
            <a:extLst>
              <a:ext uri="{FF2B5EF4-FFF2-40B4-BE49-F238E27FC236}">
                <a16:creationId xmlns:a16="http://schemas.microsoft.com/office/drawing/2014/main" id="{64013EFD-F2C6-6A59-FE9C-B8427E7271FC}"/>
              </a:ext>
            </a:extLst>
          </p:cNvPr>
          <p:cNvCxnSpPr>
            <a:cxnSpLocks/>
          </p:cNvCxnSpPr>
          <p:nvPr/>
        </p:nvCxnSpPr>
        <p:spPr>
          <a:xfrm>
            <a:off x="6419461" y="4526280"/>
            <a:ext cx="2080727" cy="1013273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46">
            <a:extLst>
              <a:ext uri="{FF2B5EF4-FFF2-40B4-BE49-F238E27FC236}">
                <a16:creationId xmlns:a16="http://schemas.microsoft.com/office/drawing/2014/main" id="{4C79508E-9E71-34CB-B154-3AA9551F21DE}"/>
              </a:ext>
            </a:extLst>
          </p:cNvPr>
          <p:cNvCxnSpPr>
            <a:cxnSpLocks/>
            <a:endCxn id="66" idx="0"/>
          </p:cNvCxnSpPr>
          <p:nvPr/>
        </p:nvCxnSpPr>
        <p:spPr>
          <a:xfrm>
            <a:off x="7876903" y="2855645"/>
            <a:ext cx="1175657" cy="2683908"/>
          </a:xfrm>
          <a:prstGeom prst="line">
            <a:avLst/>
          </a:prstGeom>
          <a:ln w="19050" cmpd="sng">
            <a:solidFill>
              <a:schemeClr val="tx1"/>
            </a:solidFill>
            <a:prstDash val="dash"/>
            <a:head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6 • FUNÇÕES DE ATIVAÇÃO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18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D64F8CF8-CFBB-5EC0-DC70-ED7E8A03E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67" y="1323401"/>
            <a:ext cx="10282335" cy="482587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6 • FUNÇÕES DE ATIVAÇÃO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A1F3A"/>
                </a:solidFill>
                <a:latin typeface="Arial"/>
              </a:rPr>
              <a:t>Softmax: transformando saídas em probabilidades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3268B8"/>
                </a:solidFill>
                <a:latin typeface="Arial"/>
              </a:rPr>
              <a:t>Saídas brutas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31546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 i="0" dirty="0" err="1">
                <a:solidFill>
                  <a:srgbClr val="0A1F3A"/>
                </a:solidFill>
                <a:latin typeface="Arial"/>
              </a:rPr>
              <a:t>Softmax</a:t>
            </a:r>
            <a:endParaRPr sz="2100" b="1" i="0" dirty="0">
              <a:solidFill>
                <a:srgbClr val="0A1F3A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55279" y="22402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3268B8"/>
                </a:solidFill>
                <a:latin typeface="Arial"/>
              </a:rPr>
              <a:t>Probabilidades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2926080" cy="4754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A1F3A"/>
                </a:solidFill>
                <a:latin typeface="Arial"/>
              </a:rPr>
              <a:t>Gato   4,2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46120"/>
            <a:ext cx="2926080" cy="4754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A1F3A"/>
                </a:solidFill>
                <a:latin typeface="Arial"/>
              </a:rPr>
              <a:t>Cachorro   1,7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40480"/>
            <a:ext cx="2926080" cy="4754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A1F3A"/>
                </a:solidFill>
                <a:latin typeface="Arial"/>
              </a:rPr>
              <a:t>Avião   −0,8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434840"/>
            <a:ext cx="2926080" cy="4754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A1F3A"/>
                </a:solidFill>
                <a:latin typeface="Arial"/>
              </a:rPr>
              <a:t>Carro   0,4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86200" y="3703320"/>
            <a:ext cx="777240" cy="0"/>
          </a:xfrm>
          <a:prstGeom prst="line">
            <a:avLst/>
          </a:prstGeom>
          <a:ln w="3048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629400" y="3703320"/>
            <a:ext cx="960120" cy="0"/>
          </a:xfrm>
          <a:prstGeom prst="line">
            <a:avLst/>
          </a:prstGeom>
          <a:ln w="3048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635240" y="2651760"/>
            <a:ext cx="2926080" cy="475488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Gato   88%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246120"/>
            <a:ext cx="2926080" cy="4754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A1F3A"/>
                </a:solidFill>
                <a:latin typeface="Arial"/>
              </a:rPr>
              <a:t>Cachorro   9%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3840480"/>
            <a:ext cx="2926080" cy="4754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A1F3A"/>
                </a:solidFill>
                <a:latin typeface="Arial"/>
              </a:rPr>
              <a:t>Avião   1%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434840"/>
            <a:ext cx="2926080" cy="4754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A1F3A"/>
                </a:solidFill>
                <a:latin typeface="Arial"/>
              </a:rPr>
              <a:t>Carro   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539496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0A1F3A"/>
                </a:solidFill>
                <a:latin typeface="Arial"/>
              </a:rPr>
              <a:t>ReLU: camadas ocultas  •  Softmax: saída multiclasse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7 • MLP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A1F3A"/>
                </a:solidFill>
                <a:latin typeface="Arial"/>
              </a:rPr>
              <a:t>Multi-Layer Perceptron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68880"/>
            <a:ext cx="3200400" cy="128016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0A1F3A"/>
                </a:solidFill>
                <a:latin typeface="Arial"/>
              </a:rPr>
              <a:t>MULTI
várias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468880"/>
            <a:ext cx="3200400" cy="128016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0A1F3A"/>
                </a:solidFill>
                <a:latin typeface="Arial"/>
              </a:rPr>
              <a:t>LAYER
camadas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468880"/>
            <a:ext cx="3200400" cy="1280160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0A1F3A"/>
                </a:solidFill>
                <a:latin typeface="Arial"/>
              </a:rPr>
              <a:t>PERCEPTRON
neurônios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297680"/>
            <a:ext cx="932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0A1F3A"/>
                </a:solidFill>
                <a:latin typeface="Arial"/>
              </a:rPr>
              <a:t>MLP = rede com múltiplas camadas de neurônios.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983480"/>
            <a:ext cx="9509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 i="0">
                <a:solidFill>
                  <a:srgbClr val="4B5B69"/>
                </a:solidFill>
                <a:latin typeface="Arial"/>
              </a:rPr>
              <a:t>Em uma camada totalmente conectada, cada neurônio recebe as saídas de todos os neurônios da camada anterior.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7 • MLP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A1F3A"/>
                </a:solidFill>
                <a:latin typeface="Arial"/>
              </a:rPr>
              <a:t>Fully Connected: todos com todos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21</a:t>
            </a:r>
          </a:p>
        </p:txBody>
      </p:sp>
      <p:sp>
        <p:nvSpPr>
          <p:cNvPr id="8" name="Oval 7"/>
          <p:cNvSpPr/>
          <p:nvPr/>
        </p:nvSpPr>
        <p:spPr>
          <a:xfrm>
            <a:off x="3798497" y="2514600"/>
            <a:ext cx="457200" cy="457200"/>
          </a:xfrm>
          <a:prstGeom prst="ellipse">
            <a:avLst/>
          </a:prstGeom>
          <a:solidFill>
            <a:srgbClr val="DBE8F8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798497" y="3429000"/>
            <a:ext cx="457200" cy="457200"/>
          </a:xfrm>
          <a:prstGeom prst="ellipse">
            <a:avLst/>
          </a:prstGeom>
          <a:solidFill>
            <a:srgbClr val="DBE8F8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798497" y="4343400"/>
            <a:ext cx="457200" cy="457200"/>
          </a:xfrm>
          <a:prstGeom prst="ellipse">
            <a:avLst/>
          </a:prstGeom>
          <a:solidFill>
            <a:srgbClr val="DBE8F8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273217" y="2240280"/>
            <a:ext cx="457200" cy="457200"/>
          </a:xfrm>
          <a:prstGeom prst="ellipse">
            <a:avLst/>
          </a:prstGeom>
          <a:solidFill>
            <a:srgbClr val="FFF200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273217" y="3063240"/>
            <a:ext cx="457200" cy="457200"/>
          </a:xfrm>
          <a:prstGeom prst="ellipse">
            <a:avLst/>
          </a:prstGeom>
          <a:solidFill>
            <a:srgbClr val="FFF200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273217" y="3886200"/>
            <a:ext cx="457200" cy="457200"/>
          </a:xfrm>
          <a:prstGeom prst="ellipse">
            <a:avLst/>
          </a:prstGeom>
          <a:solidFill>
            <a:srgbClr val="FFF200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273217" y="4709160"/>
            <a:ext cx="457200" cy="457200"/>
          </a:xfrm>
          <a:prstGeom prst="ellipse">
            <a:avLst/>
          </a:prstGeom>
          <a:solidFill>
            <a:srgbClr val="FFF200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47937" y="2788920"/>
            <a:ext cx="457200" cy="457200"/>
          </a:xfrm>
          <a:prstGeom prst="ellipse">
            <a:avLst/>
          </a:prstGeom>
          <a:solidFill>
            <a:srgbClr val="6ED278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747937" y="4069080"/>
            <a:ext cx="457200" cy="457200"/>
          </a:xfrm>
          <a:prstGeom prst="ellipse">
            <a:avLst/>
          </a:prstGeom>
          <a:solidFill>
            <a:srgbClr val="6ED278"/>
          </a:solidFill>
          <a:ln w="1651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 flipV="1">
            <a:off x="4255697" y="2468880"/>
            <a:ext cx="3017520" cy="27432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255697" y="2743200"/>
            <a:ext cx="3017520" cy="54864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55697" y="2743200"/>
            <a:ext cx="3017520" cy="137160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255697" y="2743200"/>
            <a:ext cx="3017520" cy="219456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255697" y="2468880"/>
            <a:ext cx="3017520" cy="118872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255697" y="3291840"/>
            <a:ext cx="3017520" cy="36576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55697" y="3657600"/>
            <a:ext cx="3017520" cy="45720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255697" y="3657600"/>
            <a:ext cx="3017520" cy="128016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255697" y="2468880"/>
            <a:ext cx="3017520" cy="210312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255697" y="3291840"/>
            <a:ext cx="3017520" cy="128016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255697" y="4114800"/>
            <a:ext cx="3017520" cy="45720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255697" y="4572000"/>
            <a:ext cx="3017520" cy="36576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730417" y="2468880"/>
            <a:ext cx="3017520" cy="54864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730417" y="2468880"/>
            <a:ext cx="3017520" cy="182880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730417" y="3017520"/>
            <a:ext cx="3017520" cy="27432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730417" y="3291840"/>
            <a:ext cx="3017520" cy="100584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730417" y="3017520"/>
            <a:ext cx="3017520" cy="109728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730417" y="4114800"/>
            <a:ext cx="3017520" cy="18288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730417" y="3017520"/>
            <a:ext cx="3017520" cy="192024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730417" y="4297680"/>
            <a:ext cx="3017520" cy="640080"/>
          </a:xfrm>
          <a:prstGeom prst="line">
            <a:avLst/>
          </a:prstGeom>
          <a:ln w="12700">
            <a:solidFill>
              <a:srgbClr val="0A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383280" y="5289804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 dirty="0">
                <a:solidFill>
                  <a:srgbClr val="3268B8"/>
                </a:solidFill>
                <a:latin typeface="Arial"/>
              </a:rPr>
              <a:t>Entrada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70297" y="534924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3268B8"/>
                </a:solidFill>
                <a:latin typeface="Arial"/>
              </a:rPr>
              <a:t>Dense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5017" y="534924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3268B8"/>
                </a:solidFill>
                <a:latin typeface="Arial"/>
              </a:rPr>
              <a:t>Saída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8617" y="19202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0A1F3A"/>
                </a:solidFill>
                <a:latin typeface="Arial"/>
              </a:rPr>
              <a:t>Cada conexão possui um peso aprendível.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8 • CIFAR-10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A1F3A"/>
                </a:solidFill>
                <a:latin typeface="Arial"/>
              </a:rPr>
              <a:t>Imagens pequenas, mas milhares de entradas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77440"/>
            <a:ext cx="2926080" cy="210312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0A1F3A"/>
                </a:solidFill>
                <a:latin typeface="Arial"/>
              </a:rPr>
              <a:t>IMAGEM RGB
32 × 32 pixels
3 canais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3429000"/>
            <a:ext cx="1097280" cy="0"/>
          </a:xfrm>
          <a:prstGeom prst="line">
            <a:avLst/>
          </a:prstGeom>
          <a:ln w="3048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09160" y="2377440"/>
            <a:ext cx="2926080" cy="210312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0A1F3A"/>
                </a:solidFill>
                <a:latin typeface="Arial"/>
              </a:rPr>
              <a:t>FLATTEN
32 × 32 × 3
= 3072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35240" y="3429000"/>
            <a:ext cx="1097280" cy="0"/>
          </a:xfrm>
          <a:prstGeom prst="line">
            <a:avLst/>
          </a:prstGeom>
          <a:ln w="3048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732520" y="2377440"/>
            <a:ext cx="2468880" cy="2103120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0A1F3A"/>
                </a:solidFill>
                <a:latin typeface="Arial"/>
              </a:rPr>
              <a:t>MLP
3072
entradas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074920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56969"/>
                </a:solidFill>
                <a:latin typeface="Arial"/>
              </a:rPr>
              <a:t>Importante: “32” é a largura/altura da imagem; a MLP recebe 3072 valores após o Flatten.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083EC7-24A0-DEB7-80B9-5490A4C94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>
            <a:extLst>
              <a:ext uri="{FF2B5EF4-FFF2-40B4-BE49-F238E27FC236}">
                <a16:creationId xmlns:a16="http://schemas.microsoft.com/office/drawing/2014/main" id="{403B6822-50FF-D29B-018B-12767994B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1BA2F3-FD21-D09D-6939-53C7CDB7CA37}"/>
              </a:ext>
            </a:extLst>
          </p:cNvPr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8 • CIFAR-10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F72940-CBE7-9DEB-E2B5-085AF44E303E}"/>
              </a:ext>
            </a:extLst>
          </p:cNvPr>
          <p:cNvSpPr txBox="1"/>
          <p:nvPr/>
        </p:nvSpPr>
        <p:spPr>
          <a:xfrm>
            <a:off x="256032" y="12070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A1F3A"/>
                </a:solidFill>
                <a:latin typeface="Arial"/>
              </a:rPr>
              <a:t>Imagens pequenas, mas milhares de entradas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AADF61-81D1-073C-932C-D2C11F56841F}"/>
              </a:ext>
            </a:extLst>
          </p:cNvPr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433C03-AFA1-22AF-DF8B-EAE94BFFE3BB}"/>
              </a:ext>
            </a:extLst>
          </p:cNvPr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D41238-2F3B-5A75-DEA7-78187E7DB02E}"/>
              </a:ext>
            </a:extLst>
          </p:cNvPr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22</a:t>
            </a:r>
          </a:p>
        </p:txBody>
      </p:sp>
      <p:pic>
        <p:nvPicPr>
          <p:cNvPr id="15" name="Imagem 14" descr="Figure from [9]. The CIFAR-10 dataset is a benchmark image... | Download  Scientific Diagram">
            <a:extLst>
              <a:ext uri="{FF2B5EF4-FFF2-40B4-BE49-F238E27FC236}">
                <a16:creationId xmlns:a16="http://schemas.microsoft.com/office/drawing/2014/main" id="{F5781517-50A9-57E1-BE36-8CCB26335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69" y="1938528"/>
            <a:ext cx="5364018" cy="4206239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6369B7FD-D1BC-451D-FB9F-77E042C2F816}"/>
              </a:ext>
            </a:extLst>
          </p:cNvPr>
          <p:cNvSpPr txBox="1"/>
          <p:nvPr/>
        </p:nvSpPr>
        <p:spPr>
          <a:xfrm>
            <a:off x="6522098" y="2561974"/>
            <a:ext cx="1390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CIFAR-10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367AA46-EE9F-C081-0B54-286A60DBCE6A}"/>
              </a:ext>
            </a:extLst>
          </p:cNvPr>
          <p:cNvSpPr txBox="1"/>
          <p:nvPr/>
        </p:nvSpPr>
        <p:spPr>
          <a:xfrm>
            <a:off x="6522098" y="2985796"/>
            <a:ext cx="2161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10.000 IMAGENS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D8EE8DC-9943-FD6F-46D7-E7AFD97A16D6}"/>
              </a:ext>
            </a:extLst>
          </p:cNvPr>
          <p:cNvSpPr txBox="1"/>
          <p:nvPr/>
        </p:nvSpPr>
        <p:spPr>
          <a:xfrm>
            <a:off x="6522098" y="3409618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32 PIXELS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7FA25B5-A9A8-C0FF-4352-683759CD82EF}"/>
              </a:ext>
            </a:extLst>
          </p:cNvPr>
          <p:cNvSpPr txBox="1"/>
          <p:nvPr/>
        </p:nvSpPr>
        <p:spPr>
          <a:xfrm>
            <a:off x="6522098" y="3737632"/>
            <a:ext cx="2992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10 CLASSES DE OBJETOS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FD23A04-D88A-DD3C-B960-A4130C719092}"/>
              </a:ext>
            </a:extLst>
          </p:cNvPr>
          <p:cNvSpPr txBox="1"/>
          <p:nvPr/>
        </p:nvSpPr>
        <p:spPr>
          <a:xfrm>
            <a:off x="6522098" y="4120136"/>
            <a:ext cx="2473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CADA PIXEL – 8 BITS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2EBBB7A-D077-CB7E-1900-B12A0AD9D816}"/>
              </a:ext>
            </a:extLst>
          </p:cNvPr>
          <p:cNvSpPr txBox="1"/>
          <p:nvPr/>
        </p:nvSpPr>
        <p:spPr>
          <a:xfrm>
            <a:off x="6529758" y="4543958"/>
            <a:ext cx="1979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3 CORES - RGB</a:t>
            </a:r>
          </a:p>
        </p:txBody>
      </p:sp>
    </p:spTree>
    <p:extLst>
      <p:ext uri="{BB962C8B-B14F-4D97-AF65-F5344CB8AC3E}">
        <p14:creationId xmlns:p14="http://schemas.microsoft.com/office/powerpoint/2010/main" val="25166930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8 • CIFAR-10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A1F3A"/>
                </a:solidFill>
                <a:latin typeface="Arial"/>
              </a:rPr>
              <a:t>Exemplo: classificar GATO × CACHORRO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788920"/>
            <a:ext cx="1371600" cy="91440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Imagem
32×32×3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91640" y="3246120"/>
            <a:ext cx="146304" cy="0"/>
          </a:xfrm>
          <a:prstGeom prst="line">
            <a:avLst/>
          </a:prstGeom>
          <a:ln w="2032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56231" y="2788920"/>
            <a:ext cx="128016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Flatten
3072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36391" y="3246120"/>
            <a:ext cx="146305" cy="0"/>
          </a:xfrm>
          <a:prstGeom prst="line">
            <a:avLst/>
          </a:prstGeom>
          <a:ln w="2032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00983" y="2788920"/>
            <a:ext cx="1188720" cy="91440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Dense
128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89703" y="3246120"/>
            <a:ext cx="146304" cy="0"/>
          </a:xfrm>
          <a:prstGeom prst="line">
            <a:avLst/>
          </a:prstGeom>
          <a:ln w="2032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54296" y="2788920"/>
            <a:ext cx="91440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ReLU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68696" y="3246120"/>
            <a:ext cx="146304" cy="0"/>
          </a:xfrm>
          <a:prstGeom prst="line">
            <a:avLst/>
          </a:prstGeom>
          <a:ln w="2032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733288" y="2788920"/>
            <a:ext cx="1143000" cy="914400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Dense
64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76288" y="3246120"/>
            <a:ext cx="146304" cy="0"/>
          </a:xfrm>
          <a:prstGeom prst="line">
            <a:avLst/>
          </a:prstGeom>
          <a:ln w="2032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040879" y="2788920"/>
            <a:ext cx="91440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ReLU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55279" y="3246120"/>
            <a:ext cx="146304" cy="0"/>
          </a:xfrm>
          <a:prstGeom prst="line">
            <a:avLst/>
          </a:prstGeom>
          <a:ln w="2032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19871" y="2788920"/>
            <a:ext cx="1097280" cy="914400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Dense
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217151" y="3246120"/>
            <a:ext cx="146304" cy="0"/>
          </a:xfrm>
          <a:prstGeom prst="line">
            <a:avLst/>
          </a:prstGeom>
          <a:ln w="2032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381743" y="2788920"/>
            <a:ext cx="109728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A1F3A"/>
                </a:solidFill>
                <a:latin typeface="Arial"/>
              </a:rPr>
              <a:t>Softmax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572000"/>
            <a:ext cx="2103120" cy="731520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0A1F3A"/>
                </a:solidFill>
                <a:latin typeface="Arial"/>
              </a:rPr>
              <a:t>🐱 GATO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572000"/>
            <a:ext cx="2103120" cy="731520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0A1F3A"/>
                </a:solidFill>
                <a:latin typeface="Arial"/>
              </a:rPr>
              <a:t>🐶 CACHORRO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2057400"/>
            <a:ext cx="7589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0A1F3A"/>
                </a:solidFill>
                <a:latin typeface="Arial"/>
              </a:rPr>
              <a:t>A MLP aprende os pesos durante o treinamento.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8 • TREINAMENTO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A1F3A"/>
                </a:solidFill>
                <a:latin typeface="Arial"/>
              </a:rPr>
              <a:t>O ciclo completo de aprendizado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51760"/>
            <a:ext cx="1737360" cy="82296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1
Imagem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011680"/>
            <a:ext cx="1737360" cy="82296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2
Feed Forward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2011680"/>
            <a:ext cx="1737360" cy="822960"/>
          </a:xfrm>
          <a:prstGeom prst="roundRect">
            <a:avLst/>
          </a:prstGeom>
          <a:solidFill>
            <a:srgbClr val="6ED278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3
Previsão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651760"/>
            <a:ext cx="1737360" cy="822960"/>
          </a:xfrm>
          <a:prstGeom prst="roundRect">
            <a:avLst/>
          </a:prstGeom>
          <a:solidFill>
            <a:srgbClr val="F56969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4
Erro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4297680"/>
            <a:ext cx="1737360" cy="822960"/>
          </a:xfrm>
          <a:prstGeom prst="roundRect">
            <a:avLst/>
          </a:prstGeom>
          <a:solidFill>
            <a:srgbClr val="FAE2D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5
Backprop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4297680"/>
            <a:ext cx="1737360" cy="8229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A1F3A"/>
                </a:solidFill>
                <a:latin typeface="Arial"/>
              </a:rPr>
              <a:t>6
Atualiza pesos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828800" y="2423160"/>
            <a:ext cx="2103120" cy="640080"/>
          </a:xfrm>
          <a:prstGeom prst="line">
            <a:avLst/>
          </a:prstGeom>
          <a:ln w="2286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931920" y="2423160"/>
            <a:ext cx="2468880" cy="0"/>
          </a:xfrm>
          <a:prstGeom prst="line">
            <a:avLst/>
          </a:prstGeom>
          <a:ln w="2286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00800" y="2423160"/>
            <a:ext cx="2286000" cy="640080"/>
          </a:xfrm>
          <a:prstGeom prst="line">
            <a:avLst/>
          </a:prstGeom>
          <a:ln w="2286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400800" y="3063240"/>
            <a:ext cx="2286000" cy="1645920"/>
          </a:xfrm>
          <a:prstGeom prst="line">
            <a:avLst/>
          </a:prstGeom>
          <a:ln w="2286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931920" y="4709160"/>
            <a:ext cx="2468880" cy="0"/>
          </a:xfrm>
          <a:prstGeom prst="line">
            <a:avLst/>
          </a:prstGeom>
          <a:ln w="2286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1828800" y="3063240"/>
            <a:ext cx="2103120" cy="1645920"/>
          </a:xfrm>
          <a:prstGeom prst="line">
            <a:avLst/>
          </a:prstGeom>
          <a:ln w="22860">
            <a:solidFill>
              <a:srgbClr val="326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834640" y="548640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 i="0">
                <a:solidFill>
                  <a:srgbClr val="0A1F3A"/>
                </a:solidFill>
                <a:latin typeface="Arial"/>
              </a:rPr>
              <a:t>Treinar = repetir esse ciclo muitas vezes.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A1F3A"/>
                </a:solidFill>
                <a:latin typeface="Arial"/>
              </a:rPr>
              <a:t>Da reta à rede neural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411480" cy="365760"/>
          </a:xfrm>
          <a:prstGeom prst="roundRect">
            <a:avLst/>
          </a:prstGeom>
          <a:solidFill>
            <a:srgbClr val="3268B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066543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A1F3A"/>
                </a:solidFill>
                <a:latin typeface="Arial"/>
              </a:rPr>
              <a:t>Neurônio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066543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C2A37"/>
                </a:solidFill>
                <a:latin typeface="Arial"/>
              </a:rPr>
              <a:t>combina várias entradas com pesos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32888"/>
            <a:ext cx="411480" cy="365760"/>
          </a:xfrm>
          <a:prstGeom prst="roundRect">
            <a:avLst/>
          </a:prstGeom>
          <a:solidFill>
            <a:srgbClr val="3268B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542032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A1F3A"/>
                </a:solidFill>
                <a:latin typeface="Arial"/>
              </a:rPr>
              <a:t>Camada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542032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C2A37"/>
                </a:solidFill>
                <a:latin typeface="Arial"/>
              </a:rPr>
              <a:t>organiza vários neurônios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08376"/>
            <a:ext cx="411480" cy="365760"/>
          </a:xfrm>
          <a:prstGeom prst="roundRect">
            <a:avLst/>
          </a:prstGeom>
          <a:solidFill>
            <a:srgbClr val="3268B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17520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A1F3A"/>
                </a:solidFill>
                <a:latin typeface="Arial"/>
              </a:rPr>
              <a:t>Feed Forward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017520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C2A37"/>
                </a:solidFill>
                <a:latin typeface="Arial"/>
              </a:rPr>
              <a:t>leva a informação até a saída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83864"/>
            <a:ext cx="411480" cy="365760"/>
          </a:xfrm>
          <a:prstGeom prst="roundRect">
            <a:avLst/>
          </a:prstGeom>
          <a:solidFill>
            <a:srgbClr val="3268B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493008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A1F3A"/>
                </a:solidFill>
                <a:latin typeface="Arial"/>
              </a:rPr>
              <a:t>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493008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C2A37"/>
                </a:solidFill>
                <a:latin typeface="Arial"/>
              </a:rPr>
              <a:t>mede o erro da previsão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59352"/>
            <a:ext cx="411480" cy="365760"/>
          </a:xfrm>
          <a:prstGeom prst="roundRect">
            <a:avLst/>
          </a:prstGeom>
          <a:solidFill>
            <a:srgbClr val="3268B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968496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A1F3A"/>
                </a:solidFill>
                <a:latin typeface="Arial"/>
              </a:rPr>
              <a:t>Backpropagation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968496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C2A37"/>
                </a:solidFill>
                <a:latin typeface="Arial"/>
              </a:rPr>
              <a:t>leva a informação do erro para trás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434840"/>
            <a:ext cx="411480" cy="365760"/>
          </a:xfrm>
          <a:prstGeom prst="roundRect">
            <a:avLst/>
          </a:prstGeom>
          <a:solidFill>
            <a:srgbClr val="3268B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443983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A1F3A"/>
                </a:solidFill>
                <a:latin typeface="Arial"/>
              </a:rPr>
              <a:t>Gradiente Descendente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443983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C2A37"/>
                </a:solidFill>
                <a:latin typeface="Arial"/>
              </a:rPr>
              <a:t>ajusta os pesos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910328"/>
            <a:ext cx="411480" cy="365760"/>
          </a:xfrm>
          <a:prstGeom prst="roundRect">
            <a:avLst/>
          </a:prstGeom>
          <a:solidFill>
            <a:srgbClr val="3268B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919472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A1F3A"/>
                </a:solidFill>
                <a:latin typeface="Arial"/>
              </a:rPr>
              <a:t>Ativação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919472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C2A37"/>
                </a:solidFill>
                <a:latin typeface="Arial"/>
              </a:rPr>
              <a:t>introduz não linearidade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385816"/>
            <a:ext cx="411480" cy="365760"/>
          </a:xfrm>
          <a:prstGeom prst="roundRect">
            <a:avLst/>
          </a:prstGeom>
          <a:solidFill>
            <a:srgbClr val="3268B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394960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A1F3A"/>
                </a:solidFill>
                <a:latin typeface="Arial"/>
              </a:rPr>
              <a:t>MLP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394960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C2A37"/>
                </a:solidFill>
                <a:latin typeface="Arial"/>
              </a:rPr>
              <a:t>combina várias camadas totalmente conectadas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FECHAMENTO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A1F3A"/>
                </a:solidFill>
                <a:latin typeface="Arial"/>
              </a:rPr>
              <a:t>A ideia central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86000"/>
            <a:ext cx="10241280" cy="1920240"/>
          </a:xfrm>
          <a:prstGeom prst="roundRect">
            <a:avLst/>
          </a:prstGeom>
          <a:solidFill>
            <a:srgbClr val="FFF200"/>
          </a:solidFill>
          <a:ln w="17780">
            <a:solidFill>
              <a:srgbClr val="0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0A1F3A"/>
                </a:solidFill>
                <a:latin typeface="Arial"/>
              </a:rPr>
              <a:t>Uma rede neural é uma composição de pequenos modelos.
As funções de ativação permitem que essa composição aprenda relações NÃO LINEARES.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3268B8"/>
                </a:solidFill>
                <a:latin typeface="Arial"/>
              </a:rPr>
              <a:t>Feed Forward prevê  •  Erro avalia  •  Backpropagation informa  •  Gradiente Descendente ajusta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p_logo_from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468880" cy="525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032" y="932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268B8"/>
                </a:solidFill>
                <a:latin typeface="Arial"/>
              </a:rPr>
              <a:t>LABORATÓRIO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2070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A1F3A"/>
                </a:solidFill>
                <a:latin typeface="Arial"/>
              </a:rPr>
              <a:t>Próximo passo: implementar uma MLP em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A1F3A"/>
                </a:solidFill>
                <a:latin typeface="Arial"/>
              </a:rPr>
              <a:t>Professor Miguél Suares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693408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B5B69"/>
                </a:solidFill>
                <a:latin typeface="Arial"/>
              </a:rPr>
              <a:t>UNIP • GTI – Oferta 2026 • Gestão e Análise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i="0">
                <a:solidFill>
                  <a:srgbClr val="4B5B69"/>
                </a:solidFill>
                <a:latin typeface="Arial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86000"/>
            <a:ext cx="4846320" cy="24688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0">
                <a:solidFill>
                  <a:srgbClr val="1C2A37"/>
                </a:solidFill>
                <a:latin typeface="Arial"/>
              </a:rPr>
              <a:t>Objetivo
• carregar CIFAR-10
• selecionar gato e cachorro
• normalizar pixels
• Flatten
• Dense + ReLU
• Softmax
• treinar e testar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286000"/>
            <a:ext cx="4572000" cy="2468880"/>
          </a:xfrm>
          <a:prstGeom prst="roundRect">
            <a:avLst/>
          </a:prstGeom>
          <a:solidFill>
            <a:srgbClr val="DBE8F8"/>
          </a:solidFill>
          <a:ln w="17780">
            <a:solidFill>
              <a:srgbClr val="326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0">
                <a:solidFill>
                  <a:srgbClr val="1C2A37"/>
                </a:solidFill>
                <a:latin typeface="Arial"/>
              </a:rPr>
              <a:t>Perguntas para observar
• O erro diminui?
• A acurácia aumenta?
• Treino ≠ teste?
• O que muda ao aumentar neurônios?
• O que acontece sem ReLU?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257800"/>
            <a:ext cx="9509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 i="0">
                <a:solidFill>
                  <a:srgbClr val="0A1F3A"/>
                </a:solidFill>
                <a:latin typeface="Arial"/>
              </a:rPr>
              <a:t>A teoria termina aqui. Agora vamos observar a rede aprendendo.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E2876329B5D3B4FBA1D26A8667C2633" ma:contentTypeVersion="14" ma:contentTypeDescription="Crie um novo documento." ma:contentTypeScope="" ma:versionID="c18e529f75eeba5e3380f7426394bcf9">
  <xsd:schema xmlns:xsd="http://www.w3.org/2001/XMLSchema" xmlns:xs="http://www.w3.org/2001/XMLSchema" xmlns:p="http://schemas.microsoft.com/office/2006/metadata/properties" xmlns:ns3="1ea3c9c0-e698-4ea3-9529-a2c71b2c9eef" xmlns:ns4="38d922ee-4e44-47a7-a878-a22d9e8094bc" targetNamespace="http://schemas.microsoft.com/office/2006/metadata/properties" ma:root="true" ma:fieldsID="6a86d318e1343c5a9145aa5d09437703" ns3:_="" ns4:_="">
    <xsd:import namespace="1ea3c9c0-e698-4ea3-9529-a2c71b2c9eef"/>
    <xsd:import namespace="38d922ee-4e44-47a7-a878-a22d9e8094b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a3c9c0-e698-4ea3-9529-a2c71b2c9e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922ee-4e44-47a7-a878-a22d9e8094b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ea3c9c0-e698-4ea3-9529-a2c71b2c9eef" xsi:nil="true"/>
  </documentManagement>
</p:properties>
</file>

<file path=customXml/itemProps1.xml><?xml version="1.0" encoding="utf-8"?>
<ds:datastoreItem xmlns:ds="http://schemas.openxmlformats.org/officeDocument/2006/customXml" ds:itemID="{ED4652CD-F36D-4B45-A152-BCD8A2661B4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A2158D8-4C33-4132-A61E-E0532140A8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a3c9c0-e698-4ea3-9529-a2c71b2c9eef"/>
    <ds:schemaRef ds:uri="38d922ee-4e44-47a7-a878-a22d9e8094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91E0874-EAAB-4A60-8F28-27A437EC07BB}">
  <ds:schemaRefs>
    <ds:schemaRef ds:uri="http://schemas.microsoft.com/office/2006/metadata/properties"/>
    <ds:schemaRef ds:uri="http://schemas.microsoft.com/office/infopath/2007/PartnerControls"/>
    <ds:schemaRef ds:uri="1ea3c9c0-e698-4ea3-9529-a2c71b2c9ee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1955</TotalTime>
  <Words>2059</Words>
  <Application>Microsoft Office PowerPoint</Application>
  <PresentationFormat>Widescreen</PresentationFormat>
  <Paragraphs>408</Paragraphs>
  <Slides>31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31</vt:i4>
      </vt:variant>
    </vt:vector>
  </HeadingPairs>
  <TitlesOfParts>
    <vt:vector size="38" baseType="lpstr">
      <vt:lpstr>Aptos</vt:lpstr>
      <vt:lpstr>Arial</vt:lpstr>
      <vt:lpstr>Cambria Math</vt:lpstr>
      <vt:lpstr>Symbol</vt:lpstr>
      <vt:lpstr>Wingdings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04 - Organização e Preparação de Dados; Regressão Logística e KNN</dc:title>
  <dc:subject>Organização e Preparação de Dados; Regressão Logística e KNN</dc:subject>
  <dc:creator>OpenAI</dc:creator>
  <cp:lastModifiedBy>usuario6</cp:lastModifiedBy>
  <cp:revision>76</cp:revision>
  <dcterms:created xsi:type="dcterms:W3CDTF">2026-08-22T16:19:43Z</dcterms:created>
  <dcterms:modified xsi:type="dcterms:W3CDTF">2026-10-20T19:58:08Z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0x0101002E2876329B5D3B4FBA1D26A8667C2633</vt:lpwstr>
  </property>
</Properties>
</file>