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50" r:id="rId5"/>
  </p:sldMasterIdLst>
  <p:notesMasterIdLst>
    <p:notesMasterId r:id="rId32"/>
  </p:notesMasterIdLst>
  <p:sldIdLst>
    <p:sldId id="273" r:id="rId6"/>
    <p:sldId id="274" r:id="rId7"/>
    <p:sldId id="266" r:id="rId8"/>
    <p:sldId id="256" r:id="rId9"/>
    <p:sldId id="321" r:id="rId10"/>
    <p:sldId id="322" r:id="rId11"/>
    <p:sldId id="343" r:id="rId12"/>
    <p:sldId id="323" r:id="rId13"/>
    <p:sldId id="324" r:id="rId14"/>
    <p:sldId id="326" r:id="rId15"/>
    <p:sldId id="327" r:id="rId16"/>
    <p:sldId id="328" r:id="rId17"/>
    <p:sldId id="325" r:id="rId18"/>
    <p:sldId id="329" r:id="rId19"/>
    <p:sldId id="330" r:id="rId20"/>
    <p:sldId id="331" r:id="rId21"/>
    <p:sldId id="334" r:id="rId22"/>
    <p:sldId id="332" r:id="rId23"/>
    <p:sldId id="333" r:id="rId24"/>
    <p:sldId id="335" r:id="rId25"/>
    <p:sldId id="337" r:id="rId26"/>
    <p:sldId id="336" r:id="rId27"/>
    <p:sldId id="338" r:id="rId28"/>
    <p:sldId id="339" r:id="rId29"/>
    <p:sldId id="341" r:id="rId30"/>
    <p:sldId id="342" r:id="rId3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6ECFF"/>
    <a:srgbClr val="FF7474"/>
    <a:srgbClr val="FFFF00"/>
    <a:srgbClr val="00FF00"/>
    <a:srgbClr val="D6DCE5"/>
    <a:srgbClr val="FF7C7C"/>
    <a:srgbClr val="5C883F"/>
    <a:srgbClr val="2563EB"/>
    <a:srgbClr val="3E5B2A"/>
    <a:srgbClr val="F8F8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Estilo Claro 2 - Ênfase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Estilo Claro 3 - Ênfase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DBED569-4797-4DF1-A0F4-6AAB3CD982D8}" styleName="Estilo Claro 3 - Ênfase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4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34" Type="http://schemas.openxmlformats.org/officeDocument/2006/relationships/viewProps" Target="viewProp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slide" Target="slides/slide24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notesMaster" Target="notesMasters/notesMaster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tableStyles" Target="tableStyle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theme" Target="theme/theme1.xml"/><Relationship Id="rId8" Type="http://schemas.openxmlformats.org/officeDocument/2006/relationships/slide" Target="slides/slide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556629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1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3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6F0D617-58B0-48D7-90B7-0ABD06AE6839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DejaVu Sans"/>
                <a:cs typeface="DejaVu San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DejaVu Sans"/>
              <a:cs typeface="DejaVu San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1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CF82339-5E22-4774-A41C-D5077A7CFDFF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DejaVu Sans"/>
                <a:cs typeface="DejaVu San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DejaVu Sans"/>
              <a:cs typeface="DejaVu San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A93A2-261A-1EDE-462B-378C92E10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DE41B3-7B91-6BCC-99E0-A0CC06A3D9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F0F216-0CA3-7112-E23F-81D0737C3C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115061-04BA-E951-1397-0A7C437563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4754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617B61-9A64-3E49-4ADA-DCCD3A5465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F52FE5-D566-C450-4071-8D0840B7AA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6C7149-C321-8EF7-D6A8-C20EB8DA2B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88707D-A566-3A4B-F03E-614F14D0B5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99353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E861B-0A27-E380-D0C7-FF88436F6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8C14C8-8D87-A402-A7AC-54E4241CFF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9BF336-305C-7EA8-0C32-0D41AFC620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B8999F-A03E-BC30-CD2B-1E4A433F4A9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6093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6A972-7FF1-5317-9FDF-63FE5BE5E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DCE7B7-F083-6CC1-62B9-6A2118E939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6B0FF6-8768-9F22-266E-1F4244BF83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055A30-0D27-5215-3BC9-024A744152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37121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7D2F6-155C-875D-3A4A-C8E693A89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5ACC5D-1B88-F54F-7DC2-8D46BF709F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A24587-6491-3431-D790-25B93D21E6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04304B-53A5-96C2-346B-ACC76939F2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9144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C9ACE-F6DC-5D73-FF33-246926E18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3EB10B-D159-7F21-DD3A-859A0A728C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2586C4-84D0-9E03-B223-65144AACC7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B48163-5BD6-97FC-9EFE-B03763595F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79833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CB4D4-CAB6-A3B1-7320-FFCD3D255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785616-0B93-68C0-1740-EB618A9AF3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E8B1A6-2199-506E-664B-44235E27F4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121B96-AF4A-6A3B-1EA4-6B54F06230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97109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0F15B-2515-B1D5-E2A0-6AAC2C430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79440F-EF9C-C2A2-4385-E6004F39CA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44A050-A985-0C6F-EDB8-53D6B772E4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C5FF6D-1935-15F5-55BD-7C9CB882D3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074666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895031-EBA7-7C85-4916-B4A15362F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B79689-B60B-571B-B33F-CA860874E4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F3F974-82E1-C5BF-4C8E-6E6F652D5F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A1BB28-8F88-CF68-E1EB-97908E8121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03889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1A11C2-50F3-D14A-FEB5-E6DDE540E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67B61A-8774-FC6F-702F-D86660EC23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193266-5340-BBF8-4DB9-687188A17B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0FC72F-76B8-0ED3-0567-64029E7B49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08686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D0634C-6F0E-75A2-A020-38C673C2F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D094AF-21D9-9AFC-2EE1-E97D2041F5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E69C20-225D-18B9-5834-46A4B2E9E9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AC25E6-3181-BD23-F1BA-8A8129F80B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98952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7142D-04A4-7F72-436B-81566AD61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E42B32-646D-DF92-C23A-6C1F8D9426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3160BA-D1D4-216C-0581-6F3EE5C88E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553CA8-6A87-3936-2002-B2CC1B6716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60309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605D1-FA1A-965F-5505-67569980E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269CBF-0FBC-3E4E-C8AF-C1257608F5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B95C15-1F61-91D8-2D16-A83C5A696C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78E69F-2EAF-26F8-80CF-CF7A43074D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7610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34C5D-4ABE-8AA8-02D4-40F565DC4E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3C824A-CD07-EAD1-4DCF-E74AD6B812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F2254D-BD0F-1B8C-FA36-D4FFC89B6E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BB3E39-E2DF-3695-7110-81A45C8502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698316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01B7D-EB45-C9BD-C902-184A682B4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4AB324-5B40-E4CB-44D9-BF56349FFF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02CC32-9010-A3D9-C116-737CD06BC6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0CB70B-2436-F3C8-B458-9848E742D0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11573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CAFDA-363B-8EC2-1A75-D12744E88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13FD9B-0F3E-195F-8402-87B0DE2A1B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2540F2-68D6-551F-E1F4-C626E1A222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E56CBB-C820-14BE-00D4-D60FC9D104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68567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C5DB9-89D3-563E-D6BC-1EB946D7E0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32996E-1797-2355-41E2-27BD24A193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9EE4B1-0166-CA31-5C12-54ACD81C70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C2310F-2202-D666-99F8-D14F4DBDFA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958252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59C7DC-0B9A-E240-4D98-55CE9F983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3ED0B4-F949-B2F9-7F58-C1C005165B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3E6B36-707D-0B95-88E9-D4F9147963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9B7489-4330-846B-9721-883C279A56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161493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CCDA6-8602-3B6C-7424-5960B1020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9A94F2-8EC8-DABE-89DE-D3943CA4A5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3A5C7C-9EE3-ED0D-5B5E-61DBC5FB3A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26C8DF-5602-67A3-52BB-FAD1F32D4F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60335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96C06-58C7-D4FD-0D72-7E288AD86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871467-BCB7-EAA4-F244-0451B73ACA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DC649-36C2-305D-A838-630A7FBE5D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357742-24A2-EBEC-C92A-33C7663608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502728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1C86D-0243-BDDE-A167-6B7C7DECDD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476D46-42B4-BD87-152A-E5614F56B1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0C84DC-07F4-0105-9A27-9B77F42D5E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877509-7914-01B5-7FF1-0FEA08B080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03785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20F63-84BF-445A-4E75-EE17FA91F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EF971-DE58-98D0-16FB-10D53B5E88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23AFE4-2ADE-F46B-F21C-B66FCF64C6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5CDA0B-97EC-FEB8-7F7D-A3F4E4CA16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4298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5219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>
              <a:buNone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formato do texto do título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Clique para editar o formato de texto dos tópicos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2.º nível de tópicos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3.º nível de tópicos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4.º nível de tópicos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5.º nível de tópicos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6.º nível de tópicos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7.º nível de tópicos</a:t>
            </a:r>
          </a:p>
        </p:txBody>
      </p:sp>
    </p:spTree>
    <p:extLst>
      <p:ext uri="{BB962C8B-B14F-4D97-AF65-F5344CB8AC3E}">
        <p14:creationId xmlns:p14="http://schemas.microsoft.com/office/powerpoint/2010/main" val="1623070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recantodasletras.com.br/humor/2505867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recantodasletras.com.br/humor/2505867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recantodasletras.com.br/humor/2505867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ibm.com/br-pt/think/topics/decision-trees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hyperlink" Target="https://www.ibm.com/br-pt/think/topics/decision-trees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ibm.com/br-pt/think/topics/decision-trees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ibm.com/br-pt/think/topics/decision-trees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ibm.com/br-pt/think/topics/decision-trees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hyperlink" Target="https://www.ibm.com/br-pt/think/topics/decision-trees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ibm.com/br-pt/think/topics/decision-trees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hyperlink" Target="https://www.ibm.com/br-pt/think/topics/decision-trees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ibm.com/br-pt/think/topics/decision-trees" TargetMode="Externa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2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hyperlink" Target="https://www.ibm.com/br-pt/think/topics/decision-trees" TargetMode="External"/><Relationship Id="rId9" Type="http://schemas.openxmlformats.org/officeDocument/2006/relationships/image" Target="../media/image12.png"/><Relationship Id="rId14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png"/><Relationship Id="rId3" Type="http://schemas.openxmlformats.org/officeDocument/2006/relationships/image" Target="../media/image2.png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2" Type="http://schemas.openxmlformats.org/officeDocument/2006/relationships/notesSlide" Target="../notesSlides/notesSlide19.xml"/><Relationship Id="rId16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5" Type="http://schemas.openxmlformats.org/officeDocument/2006/relationships/image" Target="../media/image28.png"/><Relationship Id="rId10" Type="http://schemas.openxmlformats.org/officeDocument/2006/relationships/image" Target="../media/image23.png"/><Relationship Id="rId4" Type="http://schemas.openxmlformats.org/officeDocument/2006/relationships/hyperlink" Target="https://www.ibm.com/br-pt/think/topics/decision-trees" TargetMode="External"/><Relationship Id="rId9" Type="http://schemas.openxmlformats.org/officeDocument/2006/relationships/image" Target="../media/image22.png"/><Relationship Id="rId14" Type="http://schemas.openxmlformats.org/officeDocument/2006/relationships/image" Target="../media/image2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openxmlformats.org/officeDocument/2006/relationships/hyperlink" Target="https://www.ibm.com/br-pt/think/topics/decision-trees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png"/><Relationship Id="rId4" Type="http://schemas.openxmlformats.org/officeDocument/2006/relationships/hyperlink" Target="https://www.ibm.com/br-pt/think/topics/decision-trees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2.png"/><Relationship Id="rId4" Type="http://schemas.openxmlformats.org/officeDocument/2006/relationships/hyperlink" Target="https://www.ibm.com/br-pt/think/topics/decision-trees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ibm.com/br-pt/think/topics/decision-trees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ibm.com/br-pt/think/topics/decision-trees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ibm.com/br-pt/think/topics/decision-trees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ibm.com/br-pt/think/topics/decision-tree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4"/>
          <p:cNvSpPr/>
          <p:nvPr/>
        </p:nvSpPr>
        <p:spPr>
          <a:xfrm>
            <a:off x="702360" y="712800"/>
            <a:ext cx="9301332" cy="90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/>
                <a:ea typeface="Aptos Display"/>
                <a:cs typeface="+mn-cs"/>
              </a:rPr>
              <a:t>Aula 06 – Á</a:t>
            </a:r>
            <a:r>
              <a:rPr lang="en-US" sz="4400" b="1" dirty="0" err="1">
                <a:solidFill>
                  <a:srgbClr val="FFFFFF"/>
                </a:solidFill>
                <a:latin typeface="Aptos Display"/>
                <a:ea typeface="Aptos Display"/>
              </a:rPr>
              <a:t>rvores</a:t>
            </a:r>
            <a:r>
              <a:rPr lang="en-US" sz="4400" b="1" dirty="0">
                <a:solidFill>
                  <a:srgbClr val="FFFFFF"/>
                </a:solidFill>
                <a:latin typeface="Aptos Display"/>
                <a:ea typeface="Aptos Display"/>
              </a:rPr>
              <a:t> de </a:t>
            </a:r>
            <a:r>
              <a:rPr lang="en-US" sz="4400" b="1" dirty="0" err="1">
                <a:solidFill>
                  <a:srgbClr val="FFFFFF"/>
                </a:solidFill>
                <a:latin typeface="Aptos Display"/>
                <a:ea typeface="Aptos Display"/>
              </a:rPr>
              <a:t>Decisão</a:t>
            </a:r>
            <a:endParaRPr kumimoji="0" lang="pt-BR" sz="4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" name="Text 5"/>
          <p:cNvSpPr/>
          <p:nvPr/>
        </p:nvSpPr>
        <p:spPr>
          <a:xfrm>
            <a:off x="701280" y="2814972"/>
            <a:ext cx="2432689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D7EAFE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Professor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D7EAFE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Miguél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D7EAFE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Suares</a:t>
            </a: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hape 6"/>
              <p:cNvSpPr/>
              <p:nvPr/>
            </p:nvSpPr>
            <p:spPr>
              <a:xfrm>
                <a:off x="570451" y="3217505"/>
                <a:ext cx="10592023" cy="498136"/>
              </a:xfrm>
              <a:prstGeom prst="roundRect">
                <a:avLst>
                  <a:gd name="adj" fmla="val 9412"/>
                </a:avLst>
              </a:prstGeom>
              <a:solidFill>
                <a:srgbClr val="132F55"/>
              </a:solidFill>
              <a:ln w="15240">
                <a:solidFill>
                  <a:srgbClr val="4DA3FF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lvl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pt-BR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𝐸𝑁𝑇𝑅𝐴𝐷𝐴</m:t>
                      </m:r>
                      <m:r>
                        <a:rPr kumimoji="0" lang="pt-BR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 </m:t>
                      </m:r>
                      <m:r>
                        <a:rPr kumimoji="0" lang="pt-BR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𝐶𝑂𝑁𝐻𝐸𝐶𝐼𝐷𝐴</m:t>
                      </m:r>
                      <m:r>
                        <a:rPr kumimoji="0" lang="pt-BR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⇒</m:t>
                      </m:r>
                      <m:r>
                        <a:rPr kumimoji="0" lang="pt-BR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𝑇𝑅𝐸𝐼𝑁𝑂</m:t>
                      </m:r>
                      <m:r>
                        <a:rPr kumimoji="0" lang="pt-BR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⇒</m:t>
                      </m:r>
                      <m:r>
                        <a:rPr kumimoji="0" lang="pt-BR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𝑆𝐴</m:t>
                      </m:r>
                      <m:r>
                        <a:rPr kumimoji="0" lang="pt-BR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Í</m:t>
                      </m:r>
                      <m:r>
                        <a:rPr kumimoji="0" lang="pt-BR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𝐷𝐴</m:t>
                      </m:r>
                      <m:r>
                        <a:rPr kumimoji="0" lang="pt-BR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 </m:t>
                      </m:r>
                      <m:r>
                        <a:rPr kumimoji="0" lang="pt-BR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FFFF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𝐶𝑂𝑁𝐻𝐸𝐶𝐼𝐷𝐴</m:t>
                      </m:r>
                    </m:oMath>
                  </m:oMathPara>
                </a14:m>
                <a:endParaRPr kumimoji="0" lang="pt-BR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3" name="Shap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451" y="3217505"/>
                <a:ext cx="10592023" cy="498136"/>
              </a:xfrm>
              <a:prstGeom prst="roundRect">
                <a:avLst>
                  <a:gd name="adj" fmla="val 9412"/>
                </a:avLst>
              </a:prstGeom>
              <a:blipFill>
                <a:blip r:embed="rId3"/>
                <a:stretch>
                  <a:fillRect/>
                </a:stretch>
              </a:blipFill>
              <a:ln w="15240">
                <a:solidFill>
                  <a:srgbClr val="4DA3FF"/>
                </a:solidFill>
                <a:round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 7"/>
          <p:cNvSpPr/>
          <p:nvPr/>
        </p:nvSpPr>
        <p:spPr>
          <a:xfrm>
            <a:off x="7551732" y="2632926"/>
            <a:ext cx="3017160" cy="63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lvl="0" algn="ctr">
              <a:tabLst>
                <a:tab pos="0" algn="l"/>
              </a:tabLst>
            </a:pPr>
            <a:endParaRPr kumimoji="0" lang="pt-BR" sz="2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3" name="Text 16"/>
          <p:cNvSpPr/>
          <p:nvPr/>
        </p:nvSpPr>
        <p:spPr>
          <a:xfrm>
            <a:off x="749880" y="5039280"/>
            <a:ext cx="30171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BBD7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UNIP • GTI – Oferta 2026 - Gestão e Análise de Dados</a:t>
            </a:r>
            <a:endParaRPr kumimoji="0" lang="pt-BR" sz="1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4" name="Retângulo 18"/>
          <p:cNvSpPr/>
          <p:nvPr/>
        </p:nvSpPr>
        <p:spPr>
          <a:xfrm>
            <a:off x="0" y="0"/>
            <a:ext cx="12191760" cy="712800"/>
          </a:xfrm>
          <a:prstGeom prst="rect">
            <a:avLst/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Retângulo 20"/>
          <p:cNvSpPr/>
          <p:nvPr/>
        </p:nvSpPr>
        <p:spPr>
          <a:xfrm>
            <a:off x="-360" y="5852160"/>
            <a:ext cx="12191760" cy="712800"/>
          </a:xfrm>
          <a:prstGeom prst="rect">
            <a:avLst/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26" name="Imagem 25"/>
          <p:cNvPicPr/>
          <p:nvPr/>
        </p:nvPicPr>
        <p:blipFill>
          <a:blip r:embed="rId4"/>
          <a:stretch/>
        </p:blipFill>
        <p:spPr>
          <a:xfrm>
            <a:off x="4116960" y="0"/>
            <a:ext cx="3533400" cy="712800"/>
          </a:xfrm>
          <a:prstGeom prst="rect">
            <a:avLst/>
          </a:prstGeom>
          <a:noFill/>
          <a:ln w="0">
            <a:noFill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Shape 6">
                <a:extLst>
                  <a:ext uri="{FF2B5EF4-FFF2-40B4-BE49-F238E27FC236}">
                    <a16:creationId xmlns:a16="http://schemas.microsoft.com/office/drawing/2014/main" id="{19988A39-07FD-ECDD-B085-7D4C968F0B04}"/>
                  </a:ext>
                </a:extLst>
              </p:cNvPr>
              <p:cNvSpPr/>
              <p:nvPr/>
            </p:nvSpPr>
            <p:spPr>
              <a:xfrm>
                <a:off x="570451" y="3957686"/>
                <a:ext cx="10592023" cy="498136"/>
              </a:xfrm>
              <a:prstGeom prst="roundRect">
                <a:avLst>
                  <a:gd name="adj" fmla="val 9412"/>
                </a:avLst>
              </a:prstGeom>
              <a:solidFill>
                <a:srgbClr val="132F55"/>
              </a:solidFill>
              <a:ln w="15240">
                <a:solidFill>
                  <a:srgbClr val="4DA3FF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pPr lvl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pt-BR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E03D3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𝐸𝑁𝑇𝑅𝐴𝐷𝐴</m:t>
                      </m:r>
                      <m:r>
                        <a:rPr kumimoji="0" lang="pt-BR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E03D3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 </m:t>
                      </m:r>
                      <m:r>
                        <a:rPr kumimoji="0" lang="pt-BR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E03D3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𝐷𝐸𝑆𝐶𝑂𝑁𝐻𝐸𝐶𝐼𝐷𝐴</m:t>
                      </m:r>
                      <m:r>
                        <a:rPr kumimoji="0" lang="pt-BR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⇒</m:t>
                      </m:r>
                      <m:r>
                        <a:rPr kumimoji="0" lang="pt-BR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𝑇𝐸𝑆𝑇𝐸</m:t>
                      </m:r>
                      <m:r>
                        <a:rPr kumimoji="0" lang="pt-BR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⇒</m:t>
                      </m:r>
                      <m:r>
                        <a:rPr kumimoji="0" lang="pt-BR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E03D3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𝑆𝐴</m:t>
                      </m:r>
                      <m:r>
                        <a:rPr kumimoji="0" lang="pt-BR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E03D3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Í</m:t>
                      </m:r>
                      <m:r>
                        <a:rPr kumimoji="0" lang="pt-BR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E03D3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𝐷𝐴</m:t>
                      </m:r>
                      <m:r>
                        <a:rPr kumimoji="0" lang="pt-BR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E03D3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 </m:t>
                      </m:r>
                      <m:r>
                        <a:rPr kumimoji="0" lang="pt-BR" sz="2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E03D3D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𝐷𝐸𝑆𝐶𝑂𝑁𝐻𝐸𝐶𝐼𝐷𝐴</m:t>
                      </m:r>
                    </m:oMath>
                  </m:oMathPara>
                </a14:m>
                <a:endParaRPr kumimoji="0" lang="pt-BR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E03D3D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" name="Shape 6">
                <a:extLst>
                  <a:ext uri="{FF2B5EF4-FFF2-40B4-BE49-F238E27FC236}">
                    <a16:creationId xmlns:a16="http://schemas.microsoft.com/office/drawing/2014/main" id="{19988A39-07FD-ECDD-B085-7D4C968F0B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451" y="3957686"/>
                <a:ext cx="10592023" cy="498136"/>
              </a:xfrm>
              <a:prstGeom prst="roundRect">
                <a:avLst>
                  <a:gd name="adj" fmla="val 9412"/>
                </a:avLst>
              </a:prstGeom>
              <a:blipFill>
                <a:blip r:embed="rId5"/>
                <a:stretch>
                  <a:fillRect/>
                </a:stretch>
              </a:blipFill>
              <a:ln w="15240">
                <a:solidFill>
                  <a:srgbClr val="4DA3FF"/>
                </a:solidFill>
                <a:round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hape 1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" name="Text 3"/>
          <p:cNvSpPr/>
          <p:nvPr/>
        </p:nvSpPr>
        <p:spPr>
          <a:xfrm>
            <a:off x="502920" y="511920"/>
            <a:ext cx="1078956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800" b="1" i="0" u="none" strike="noStrike" kern="1200" cap="none" spc="0" normalizeH="0" baseline="0" noProof="0">
                <a:ln>
                  <a:noFill/>
                </a:ln>
                <a:solidFill>
                  <a:srgbClr val="0B1F3A"/>
                </a:solidFill>
                <a:effectLst/>
                <a:uLnTx/>
                <a:uFillTx/>
                <a:latin typeface="Aptos Display"/>
                <a:ea typeface="Aptos Display"/>
                <a:cs typeface="+mn-cs"/>
              </a:rPr>
              <a:t>AGENDA</a:t>
            </a:r>
            <a:endParaRPr kumimoji="0" lang="pt-BR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" name="Text 4"/>
          <p:cNvSpPr/>
          <p:nvPr/>
        </p:nvSpPr>
        <p:spPr>
          <a:xfrm>
            <a:off x="502920" y="6446520"/>
            <a:ext cx="32000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Regressão Linear</a:t>
            </a:r>
            <a:endParaRPr kumimoji="0" lang="pt-BR" sz="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" name="Text 5"/>
          <p:cNvSpPr/>
          <p:nvPr/>
        </p:nvSpPr>
        <p:spPr>
          <a:xfrm>
            <a:off x="11247120" y="6419160"/>
            <a:ext cx="4568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01</a:t>
            </a:r>
            <a:endParaRPr kumimoji="0" lang="pt-BR" sz="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" name="Shape 6"/>
          <p:cNvSpPr/>
          <p:nvPr/>
        </p:nvSpPr>
        <p:spPr>
          <a:xfrm>
            <a:off x="731520" y="1234440"/>
            <a:ext cx="456840" cy="456840"/>
          </a:xfrm>
          <a:prstGeom prst="ellipse">
            <a:avLst/>
          </a:prstGeom>
          <a:solidFill>
            <a:srgbClr val="2563EB"/>
          </a:solidFill>
          <a:ln w="1524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" name="Text 7"/>
          <p:cNvSpPr/>
          <p:nvPr/>
        </p:nvSpPr>
        <p:spPr>
          <a:xfrm>
            <a:off x="731520" y="134424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" name="Text 8"/>
          <p:cNvSpPr/>
          <p:nvPr/>
        </p:nvSpPr>
        <p:spPr>
          <a:xfrm>
            <a:off x="1371600" y="1260630"/>
            <a:ext cx="6712560" cy="4152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rmAutofit/>
          </a:bodyPr>
          <a:lstStyle/>
          <a:p>
            <a:pPr>
              <a:tabLst>
                <a:tab pos="0" algn="l"/>
              </a:tabLst>
              <a:defRPr/>
            </a:pPr>
            <a:r>
              <a:rPr lang="pt-BR" dirty="0"/>
              <a:t>Problema: Anedota popular sobre lógica</a:t>
            </a: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" name="Shape 9"/>
          <p:cNvSpPr/>
          <p:nvPr/>
        </p:nvSpPr>
        <p:spPr>
          <a:xfrm>
            <a:off x="731520" y="2057400"/>
            <a:ext cx="456840" cy="456840"/>
          </a:xfrm>
          <a:prstGeom prst="ellipse">
            <a:avLst/>
          </a:prstGeom>
          <a:noFill/>
          <a:ln w="1524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6" name="Text 10"/>
          <p:cNvSpPr/>
          <p:nvPr/>
        </p:nvSpPr>
        <p:spPr>
          <a:xfrm>
            <a:off x="731520" y="216720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2</a:t>
            </a:r>
            <a:endParaRPr kumimoji="0" lang="pt-BR" sz="1200" b="0" i="0" u="none" strike="noStrike" kern="1200" cap="none" spc="0" normalizeH="0" baseline="0" noProof="0" dirty="0">
              <a:ln>
                <a:noFill/>
              </a:ln>
              <a:solidFill>
                <a:srgbClr val="2563EB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7" name="Text 11"/>
          <p:cNvSpPr/>
          <p:nvPr/>
        </p:nvSpPr>
        <p:spPr>
          <a:xfrm>
            <a:off x="1371600" y="2148840"/>
            <a:ext cx="6857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lang="pt-BR" dirty="0">
                <a:solidFill>
                  <a:srgbClr val="000000"/>
                </a:solidFill>
                <a:latin typeface="Arial"/>
              </a:rPr>
              <a:t>Árvores de Decisão</a:t>
            </a:r>
            <a:endParaRPr kumimoji="0" lang="pt-BR" sz="180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8" name="Shape 12"/>
          <p:cNvSpPr/>
          <p:nvPr/>
        </p:nvSpPr>
        <p:spPr>
          <a:xfrm>
            <a:off x="731520" y="2880360"/>
            <a:ext cx="456840" cy="4568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9" name="Text 13"/>
          <p:cNvSpPr/>
          <p:nvPr/>
        </p:nvSpPr>
        <p:spPr>
          <a:xfrm>
            <a:off x="731520" y="299016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3</a:t>
            </a: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0" name="Text 14"/>
          <p:cNvSpPr/>
          <p:nvPr/>
        </p:nvSpPr>
        <p:spPr>
          <a:xfrm>
            <a:off x="1371600" y="2971800"/>
            <a:ext cx="6857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rmAutofit/>
          </a:bodyPr>
          <a:lstStyle/>
          <a:p>
            <a:pPr lvl="0">
              <a:tabLst>
                <a:tab pos="0" algn="l"/>
              </a:tabLst>
              <a:defRPr/>
            </a:pPr>
            <a:r>
              <a:rPr lang="pt-BR" dirty="0">
                <a:solidFill>
                  <a:srgbClr val="000000"/>
                </a:solidFill>
                <a:latin typeface="Arial"/>
              </a:rPr>
              <a:t>Classes Puras e Impuras</a:t>
            </a:r>
          </a:p>
        </p:txBody>
      </p:sp>
      <p:sp>
        <p:nvSpPr>
          <p:cNvPr id="41" name="Shape 15"/>
          <p:cNvSpPr/>
          <p:nvPr/>
        </p:nvSpPr>
        <p:spPr>
          <a:xfrm>
            <a:off x="731520" y="3703320"/>
            <a:ext cx="456840" cy="4568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2" name="Text 16"/>
          <p:cNvSpPr/>
          <p:nvPr/>
        </p:nvSpPr>
        <p:spPr>
          <a:xfrm>
            <a:off x="731520" y="381312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4</a:t>
            </a: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3" name="Text 17"/>
          <p:cNvSpPr/>
          <p:nvPr/>
        </p:nvSpPr>
        <p:spPr>
          <a:xfrm>
            <a:off x="1371600" y="3794760"/>
            <a:ext cx="6857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rmAutofit/>
          </a:bodyPr>
          <a:lstStyle/>
          <a:p>
            <a:pPr lvl="0">
              <a:tabLst>
                <a:tab pos="0" algn="l"/>
              </a:tabLst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Profundidade da Árvore</a:t>
            </a:r>
          </a:p>
        </p:txBody>
      </p:sp>
      <p:sp>
        <p:nvSpPr>
          <p:cNvPr id="44" name="Shape 18"/>
          <p:cNvSpPr/>
          <p:nvPr/>
        </p:nvSpPr>
        <p:spPr>
          <a:xfrm>
            <a:off x="731520" y="4526280"/>
            <a:ext cx="456840" cy="4568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5" name="Text 19"/>
          <p:cNvSpPr/>
          <p:nvPr/>
        </p:nvSpPr>
        <p:spPr>
          <a:xfrm>
            <a:off x="731520" y="463608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2563EB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5</a:t>
            </a:r>
            <a:endParaRPr kumimoji="0" lang="pt-BR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6" name="Text 20"/>
          <p:cNvSpPr/>
          <p:nvPr/>
        </p:nvSpPr>
        <p:spPr>
          <a:xfrm>
            <a:off x="1371600" y="4617720"/>
            <a:ext cx="6857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rmAutofit/>
          </a:bodyPr>
          <a:lstStyle/>
          <a:p>
            <a:pPr lvl="0">
              <a:tabLst>
                <a:tab pos="0" algn="l"/>
              </a:tabLst>
              <a:defRPr/>
            </a:pPr>
            <a:r>
              <a:rPr lang="pt-BR" dirty="0"/>
              <a:t>Árvore em Python</a:t>
            </a: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Shape 18">
            <a:extLst>
              <a:ext uri="{FF2B5EF4-FFF2-40B4-BE49-F238E27FC236}">
                <a16:creationId xmlns:a16="http://schemas.microsoft.com/office/drawing/2014/main" id="{98B33EF8-F3B1-2E29-A218-09F237F6DB1F}"/>
              </a:ext>
            </a:extLst>
          </p:cNvPr>
          <p:cNvSpPr/>
          <p:nvPr/>
        </p:nvSpPr>
        <p:spPr>
          <a:xfrm>
            <a:off x="731520" y="5135520"/>
            <a:ext cx="456840" cy="456840"/>
          </a:xfrm>
          <a:prstGeom prst="ellipse">
            <a:avLst/>
          </a:prstGeom>
          <a:solidFill>
            <a:srgbClr val="FFFFFF"/>
          </a:solidFill>
          <a:ln w="1524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" name="Text 19">
            <a:extLst>
              <a:ext uri="{FF2B5EF4-FFF2-40B4-BE49-F238E27FC236}">
                <a16:creationId xmlns:a16="http://schemas.microsoft.com/office/drawing/2014/main" id="{496BC358-7F4D-D3E7-4375-D6728F3A8126}"/>
              </a:ext>
            </a:extLst>
          </p:cNvPr>
          <p:cNvSpPr/>
          <p:nvPr/>
        </p:nvSpPr>
        <p:spPr>
          <a:xfrm>
            <a:off x="731520" y="5245320"/>
            <a:ext cx="45684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pt-BR" sz="1200" i="0" u="none" strike="noStrike" kern="1200" normalizeH="0" baseline="0" noProof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uLnTx/>
                <a:uFillTx/>
                <a:latin typeface="Arial"/>
                <a:ea typeface="+mn-ea"/>
                <a:cs typeface="+mn-cs"/>
              </a:rPr>
              <a:t>6</a:t>
            </a:r>
            <a:endParaRPr kumimoji="0" lang="pt-BR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Text 20">
            <a:extLst>
              <a:ext uri="{FF2B5EF4-FFF2-40B4-BE49-F238E27FC236}">
                <a16:creationId xmlns:a16="http://schemas.microsoft.com/office/drawing/2014/main" id="{8C06AE38-3C2B-B537-C964-F897F861DBBA}"/>
              </a:ext>
            </a:extLst>
          </p:cNvPr>
          <p:cNvSpPr/>
          <p:nvPr/>
        </p:nvSpPr>
        <p:spPr>
          <a:xfrm>
            <a:off x="1371600" y="5226960"/>
            <a:ext cx="6857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rmAutofit/>
          </a:bodyPr>
          <a:lstStyle/>
          <a:p>
            <a:pPr lvl="0">
              <a:tabLst>
                <a:tab pos="0" algn="l"/>
              </a:tabLst>
              <a:defRPr/>
            </a:pPr>
            <a:r>
              <a:rPr lang="pt-BR" dirty="0"/>
              <a:t>Laboratório</a:t>
            </a:r>
            <a:endParaRPr kumimoji="0" lang="pt-BR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40710" y="1317072"/>
            <a:ext cx="10921878" cy="324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tabLst>
                <a:tab pos="0" algn="l"/>
              </a:tabLst>
              <a:defRPr/>
            </a:pPr>
            <a:r>
              <a:rPr lang="pt-BR" sz="7200" dirty="0"/>
              <a:t>A anedota sobre lógica</a:t>
            </a:r>
            <a:endParaRPr lang="pt-BR" sz="72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Text 4"/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template_extract/ppt/media/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282" y="160020"/>
            <a:ext cx="2423160" cy="5120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36610" y="874385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F69BF"/>
                </a:solidFill>
              </a:rPr>
              <a:t>Aula 05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1040235" y="803905"/>
            <a:ext cx="1062885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tabLst>
                <a:tab pos="0" algn="l"/>
              </a:tabLst>
              <a:defRPr/>
            </a:pPr>
            <a:r>
              <a:rPr lang="en-US" sz="2400" b="1" dirty="0" err="1">
                <a:solidFill>
                  <a:srgbClr val="0B1F3A"/>
                </a:solidFill>
              </a:rPr>
              <a:t>Árvores</a:t>
            </a:r>
            <a:r>
              <a:rPr lang="en-US" sz="2400" b="1" dirty="0">
                <a:solidFill>
                  <a:srgbClr val="0B1F3A"/>
                </a:solidFill>
              </a:rPr>
              <a:t> de </a:t>
            </a:r>
            <a:r>
              <a:rPr lang="en-US" sz="2400" b="1" dirty="0" err="1">
                <a:solidFill>
                  <a:srgbClr val="0B1F3A"/>
                </a:solidFill>
              </a:rPr>
              <a:t>Decisão</a:t>
            </a:r>
            <a:r>
              <a:rPr lang="en-US" sz="2400" b="1" dirty="0">
                <a:solidFill>
                  <a:srgbClr val="0B1F3A"/>
                </a:solidFill>
              </a:rPr>
              <a:t> - </a:t>
            </a:r>
            <a:r>
              <a:rPr lang="en-US" sz="2400" b="1" dirty="0" err="1">
                <a:solidFill>
                  <a:srgbClr val="0B1F3A"/>
                </a:solidFill>
              </a:rPr>
              <a:t>Considere</a:t>
            </a:r>
            <a:r>
              <a:rPr lang="en-US" sz="2400" b="1" dirty="0">
                <a:solidFill>
                  <a:srgbClr val="0B1F3A"/>
                </a:solidFill>
              </a:rPr>
              <a:t> o </a:t>
            </a:r>
            <a:r>
              <a:rPr lang="en-US" sz="2400" b="1" dirty="0" err="1">
                <a:solidFill>
                  <a:srgbClr val="0B1F3A"/>
                </a:solidFill>
              </a:rPr>
              <a:t>fragmento</a:t>
            </a:r>
            <a:r>
              <a:rPr lang="en-US" sz="2400" b="1" dirty="0">
                <a:solidFill>
                  <a:srgbClr val="0B1F3A"/>
                </a:solidFill>
              </a:rPr>
              <a:t> da </a:t>
            </a:r>
            <a:r>
              <a:rPr lang="en-US" sz="2400" b="1" dirty="0" err="1">
                <a:solidFill>
                  <a:srgbClr val="0B1F3A"/>
                </a:solidFill>
              </a:rPr>
              <a:t>seguinte</a:t>
            </a:r>
            <a:r>
              <a:rPr lang="en-US" sz="2400" b="1" dirty="0">
                <a:solidFill>
                  <a:srgbClr val="0B1F3A"/>
                </a:solidFill>
              </a:rPr>
              <a:t> </a:t>
            </a:r>
            <a:r>
              <a:rPr lang="en-US" sz="2400" b="1" dirty="0" err="1">
                <a:solidFill>
                  <a:srgbClr val="0B1F3A"/>
                </a:solidFill>
              </a:rPr>
              <a:t>anedota</a:t>
            </a:r>
            <a:r>
              <a:rPr lang="en-US" sz="2400" b="1" dirty="0">
                <a:solidFill>
                  <a:srgbClr val="0B1F3A"/>
                </a:solidFill>
              </a:rPr>
              <a:t>:</a:t>
            </a:r>
            <a:endParaRPr lang="pt-BR" sz="24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Text 4"/>
          <p:cNvSpPr/>
          <p:nvPr/>
        </p:nvSpPr>
        <p:spPr>
          <a:xfrm>
            <a:off x="658368" y="574243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</a:rPr>
              <a:t>Professor Miguél Suares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58368" y="60533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850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3A463E0C-27F8-136B-C068-93A25BC02402}"/>
              </a:ext>
            </a:extLst>
          </p:cNvPr>
          <p:cNvSpPr txBox="1"/>
          <p:nvPr/>
        </p:nvSpPr>
        <p:spPr>
          <a:xfrm>
            <a:off x="193282" y="1364361"/>
            <a:ext cx="119204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i="1" dirty="0"/>
              <a:t>“ ...Um rapaz chamado </a:t>
            </a:r>
            <a:r>
              <a:rPr lang="pt-BR" sz="1400" b="1" i="1" dirty="0" err="1"/>
              <a:t>joaquim</a:t>
            </a:r>
            <a:r>
              <a:rPr lang="pt-BR" sz="1400" i="1" dirty="0"/>
              <a:t> vinha caminhando tranquilamente por uma rua quando encontrou outro amigo chamado </a:t>
            </a:r>
            <a:r>
              <a:rPr lang="pt-BR" sz="1400" b="1" i="1" dirty="0" err="1"/>
              <a:t>carlos</a:t>
            </a:r>
            <a:r>
              <a:rPr lang="pt-BR" sz="1400" i="1" dirty="0"/>
              <a:t> lendo um livro, eis que o </a:t>
            </a:r>
            <a:r>
              <a:rPr lang="pt-BR" sz="1400" b="1" i="1" dirty="0" err="1"/>
              <a:t>joaquim</a:t>
            </a:r>
            <a:r>
              <a:rPr lang="pt-BR" sz="1400" i="1" dirty="0"/>
              <a:t> pergunta curioso: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D99838ED-3FEB-6311-5137-26D38D8C0281}"/>
              </a:ext>
            </a:extLst>
          </p:cNvPr>
          <p:cNvSpPr txBox="1"/>
          <p:nvPr/>
        </p:nvSpPr>
        <p:spPr>
          <a:xfrm>
            <a:off x="242315" y="1936920"/>
            <a:ext cx="11628183" cy="387798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pt-BR" sz="1200" b="1" i="1" dirty="0"/>
              <a:t>— Que livro é este?</a:t>
            </a:r>
            <a:endParaRPr lang="pt-BR" sz="1200" i="1" dirty="0"/>
          </a:p>
          <a:p>
            <a:r>
              <a:rPr lang="pt-BR" sz="1200" i="1" dirty="0"/>
              <a:t>— É um livro de lógica — responde o amigo </a:t>
            </a:r>
            <a:r>
              <a:rPr lang="pt-BR" sz="1200" i="1" dirty="0" err="1"/>
              <a:t>carlos</a:t>
            </a:r>
            <a:r>
              <a:rPr lang="pt-BR" sz="1200" i="1" dirty="0"/>
              <a:t>.</a:t>
            </a:r>
          </a:p>
          <a:p>
            <a:r>
              <a:rPr lang="pt-BR" sz="1200" b="1" i="1" dirty="0"/>
              <a:t>— Lógica? O que é isso?</a:t>
            </a:r>
            <a:r>
              <a:rPr lang="pt-BR" sz="1200" i="1" dirty="0"/>
              <a:t> — pergunta </a:t>
            </a:r>
            <a:r>
              <a:rPr lang="pt-BR" sz="1200" i="1" dirty="0" err="1"/>
              <a:t>joaquim</a:t>
            </a:r>
            <a:r>
              <a:rPr lang="pt-BR" sz="1200" i="1" dirty="0"/>
              <a:t>.</a:t>
            </a:r>
          </a:p>
          <a:p>
            <a:r>
              <a:rPr lang="pt-BR" sz="1200" i="1" dirty="0"/>
              <a:t>— É um pouco difícil de explicar, mas vou tentar. Você </a:t>
            </a:r>
            <a:r>
              <a:rPr lang="pt-BR" sz="1200" i="1" u="sng" dirty="0"/>
              <a:t>tem um aquário em sua casa</a:t>
            </a:r>
            <a:r>
              <a:rPr lang="pt-BR" sz="1200" i="1" dirty="0"/>
              <a:t>?</a:t>
            </a:r>
          </a:p>
          <a:p>
            <a:r>
              <a:rPr lang="pt-BR" sz="1200" b="1" i="1" dirty="0"/>
              <a:t>— Tenho.</a:t>
            </a:r>
            <a:endParaRPr lang="pt-BR" sz="1200" i="1" dirty="0"/>
          </a:p>
          <a:p>
            <a:r>
              <a:rPr lang="pt-BR" sz="1200" i="1" dirty="0"/>
              <a:t>— Então </a:t>
            </a:r>
            <a:r>
              <a:rPr lang="pt-BR" sz="1200" i="1" u="sng" dirty="0"/>
              <a:t>ele está cheio d'água</a:t>
            </a:r>
            <a:r>
              <a:rPr lang="pt-BR" sz="1200" i="1" dirty="0"/>
              <a:t>, não está?</a:t>
            </a:r>
          </a:p>
          <a:p>
            <a:r>
              <a:rPr lang="pt-BR" sz="1200" b="1" i="1" dirty="0"/>
              <a:t>— Está, é lógico!</a:t>
            </a:r>
            <a:endParaRPr lang="pt-BR" sz="1200" i="1" dirty="0"/>
          </a:p>
          <a:p>
            <a:r>
              <a:rPr lang="pt-BR" sz="1200" i="1" dirty="0"/>
              <a:t>— </a:t>
            </a:r>
            <a:r>
              <a:rPr lang="pt-BR" sz="1200" i="1" u="sng" dirty="0"/>
              <a:t>Se</a:t>
            </a:r>
            <a:r>
              <a:rPr lang="pt-BR" sz="1200" i="1" dirty="0"/>
              <a:t> o </a:t>
            </a:r>
            <a:r>
              <a:rPr lang="pt-BR" sz="1200" i="1" u="sng" dirty="0"/>
              <a:t>aquário tem água</a:t>
            </a:r>
            <a:r>
              <a:rPr lang="pt-BR" sz="1200" i="1" dirty="0"/>
              <a:t> dentro, então </a:t>
            </a:r>
            <a:r>
              <a:rPr lang="pt-BR" sz="1200" i="1" u="sng" dirty="0"/>
              <a:t>também tem uns peixinhos</a:t>
            </a:r>
            <a:r>
              <a:rPr lang="pt-BR" sz="1200" i="1" dirty="0"/>
              <a:t>, não tem?</a:t>
            </a:r>
          </a:p>
          <a:p>
            <a:r>
              <a:rPr lang="pt-BR" sz="1200" b="1" i="1" dirty="0"/>
              <a:t>— Tem, é lógico.</a:t>
            </a:r>
            <a:endParaRPr lang="pt-BR" sz="1200" i="1" dirty="0"/>
          </a:p>
          <a:p>
            <a:r>
              <a:rPr lang="pt-BR" sz="1200" i="1" dirty="0"/>
              <a:t>— Eu acho que você está começando a compreender o que é lógica, não está?</a:t>
            </a:r>
          </a:p>
          <a:p>
            <a:r>
              <a:rPr lang="pt-BR" sz="1200" b="1" i="1" dirty="0"/>
              <a:t>— Ah, mais ou menos, fala um pouco mais que estou gostando desta tal de lógica!</a:t>
            </a:r>
            <a:endParaRPr lang="pt-BR" sz="1200" i="1" dirty="0"/>
          </a:p>
          <a:p>
            <a:r>
              <a:rPr lang="pt-BR" sz="1200" i="1" dirty="0"/>
              <a:t>— Bom, vamos lá então, continuando, </a:t>
            </a:r>
            <a:r>
              <a:rPr lang="pt-BR" sz="1200" i="1" u="sng" dirty="0"/>
              <a:t>se você comprou um aquário</a:t>
            </a:r>
            <a:r>
              <a:rPr lang="pt-BR" sz="1200" i="1" dirty="0"/>
              <a:t>, então foi para </a:t>
            </a:r>
            <a:r>
              <a:rPr lang="pt-BR" sz="1200" i="1" u="sng" dirty="0"/>
              <a:t>agradar os seus filhos</a:t>
            </a:r>
            <a:r>
              <a:rPr lang="pt-BR" sz="1200" i="1" dirty="0"/>
              <a:t>, não foi?</a:t>
            </a:r>
          </a:p>
          <a:p>
            <a:r>
              <a:rPr lang="pt-BR" sz="1200" b="1" i="1" dirty="0"/>
              <a:t>— Foi, é lógico!</a:t>
            </a:r>
            <a:endParaRPr lang="pt-BR" sz="1200" i="1" dirty="0"/>
          </a:p>
          <a:p>
            <a:r>
              <a:rPr lang="pt-BR" sz="1200" i="1" dirty="0"/>
              <a:t>— </a:t>
            </a:r>
            <a:r>
              <a:rPr lang="pt-BR" sz="1200" i="1" u="sng" dirty="0"/>
              <a:t>Se você tem filhos</a:t>
            </a:r>
            <a:r>
              <a:rPr lang="pt-BR" sz="1200" i="1" dirty="0"/>
              <a:t>, então </a:t>
            </a:r>
            <a:r>
              <a:rPr lang="pt-BR" sz="1200" i="1" u="sng" dirty="0"/>
              <a:t>é porque tem uma mulher</a:t>
            </a:r>
            <a:r>
              <a:rPr lang="pt-BR" sz="1200" i="1" dirty="0"/>
              <a:t>, não tem?</a:t>
            </a:r>
          </a:p>
          <a:p>
            <a:r>
              <a:rPr lang="pt-BR" sz="1200" b="1" i="1" dirty="0"/>
              <a:t>— Tenho, é lógico. Fala mais, fala mais!</a:t>
            </a:r>
            <a:endParaRPr lang="pt-BR" sz="1200" i="1" dirty="0"/>
          </a:p>
          <a:p>
            <a:r>
              <a:rPr lang="pt-BR" sz="1200" i="1" dirty="0"/>
              <a:t>— </a:t>
            </a:r>
            <a:r>
              <a:rPr lang="pt-BR" sz="1200" i="1" u="sng" dirty="0"/>
              <a:t>Se você tem uma mulher e filhos</a:t>
            </a:r>
            <a:r>
              <a:rPr lang="pt-BR" sz="1200" i="1" dirty="0"/>
              <a:t>, então </a:t>
            </a:r>
            <a:r>
              <a:rPr lang="pt-BR" sz="1200" i="1" u="sng" dirty="0"/>
              <a:t>você não é homossexual</a:t>
            </a:r>
            <a:r>
              <a:rPr lang="pt-BR" sz="1200" i="1" dirty="0"/>
              <a:t>, estou certo?</a:t>
            </a:r>
          </a:p>
          <a:p>
            <a:r>
              <a:rPr lang="pt-BR" sz="1200" b="1" i="1" dirty="0"/>
              <a:t>— Esta, é lógico. Fala mais que estou gostando dessa tal de lógica.</a:t>
            </a:r>
            <a:endParaRPr lang="pt-BR" sz="1200" i="1" dirty="0"/>
          </a:p>
          <a:p>
            <a:r>
              <a:rPr lang="pt-BR" sz="1200" i="1" dirty="0"/>
              <a:t>— Sinto muito, mas agora não tenho mais tempo. Eu vou fazer o seguinte: </a:t>
            </a:r>
            <a:r>
              <a:rPr lang="pt-BR" sz="1200" b="1" i="1" dirty="0"/>
              <a:t>deixo o livro de lógica com você</a:t>
            </a:r>
            <a:r>
              <a:rPr lang="pt-BR" sz="1200" i="1" dirty="0"/>
              <a:t>, assim você o vai lendo até amanhã, de tarde nos encontramos e conversamos a respeito da lógica. Pode ser assim?</a:t>
            </a:r>
          </a:p>
          <a:p>
            <a:endParaRPr lang="pt-BR" dirty="0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9CC5A6F3-F4A9-2CF9-3F6C-DD61AA9421F5}"/>
              </a:ext>
            </a:extLst>
          </p:cNvPr>
          <p:cNvSpPr txBox="1"/>
          <p:nvPr/>
        </p:nvSpPr>
        <p:spPr>
          <a:xfrm>
            <a:off x="193282" y="6308253"/>
            <a:ext cx="7651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Referência do texto: </a:t>
            </a:r>
            <a:r>
              <a:rPr lang="pt-BR" dirty="0">
                <a:hlinkClick r:id="rId4"/>
              </a:rPr>
              <a:t>https://www.recantodasletras.com.br/humor/2505867</a:t>
            </a:r>
            <a:endParaRPr lang="pt-BR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80FCB0-0C09-0644-30E5-4C82F48057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template_extract/ppt/media/image1.png">
            <a:extLst>
              <a:ext uri="{FF2B5EF4-FFF2-40B4-BE49-F238E27FC236}">
                <a16:creationId xmlns:a16="http://schemas.microsoft.com/office/drawing/2014/main" id="{5A2FFC36-6411-BE59-B846-23FEDFF0A4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282" y="160020"/>
            <a:ext cx="2423160" cy="512064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CE107D97-F2B1-2B8D-39B2-EF3A3D191C2F}"/>
              </a:ext>
            </a:extLst>
          </p:cNvPr>
          <p:cNvSpPr/>
          <p:nvPr/>
        </p:nvSpPr>
        <p:spPr>
          <a:xfrm>
            <a:off x="236610" y="874385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F69BF"/>
                </a:solidFill>
              </a:rPr>
              <a:t>Aula 05</a:t>
            </a:r>
            <a:endParaRPr lang="en-US" sz="13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FA934E46-8AE1-D47D-8856-0A79783CE46B}"/>
              </a:ext>
            </a:extLst>
          </p:cNvPr>
          <p:cNvSpPr/>
          <p:nvPr/>
        </p:nvSpPr>
        <p:spPr>
          <a:xfrm>
            <a:off x="242315" y="1148705"/>
            <a:ext cx="271061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tabLst>
                <a:tab pos="0" algn="l"/>
              </a:tabLst>
              <a:defRPr/>
            </a:pPr>
            <a:r>
              <a:rPr lang="en-US" sz="2400" b="1" dirty="0" err="1">
                <a:solidFill>
                  <a:srgbClr val="0B1F3A"/>
                </a:solidFill>
              </a:rPr>
              <a:t>Árvores</a:t>
            </a:r>
            <a:r>
              <a:rPr lang="en-US" sz="2400" b="1" dirty="0">
                <a:solidFill>
                  <a:srgbClr val="0B1F3A"/>
                </a:solidFill>
              </a:rPr>
              <a:t> de </a:t>
            </a:r>
            <a:r>
              <a:rPr lang="en-US" sz="2400" b="1" dirty="0" err="1">
                <a:solidFill>
                  <a:srgbClr val="0B1F3A"/>
                </a:solidFill>
              </a:rPr>
              <a:t>decisão</a:t>
            </a:r>
            <a:endParaRPr lang="pt-BR" sz="24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E3CAFE9E-81EA-ED4A-7055-A034CC334DAB}"/>
              </a:ext>
            </a:extLst>
          </p:cNvPr>
          <p:cNvSpPr/>
          <p:nvPr/>
        </p:nvSpPr>
        <p:spPr>
          <a:xfrm>
            <a:off x="658368" y="574243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</a:rPr>
              <a:t>Professor Miguél Suares</a:t>
            </a:r>
            <a:endParaRPr lang="en-US" sz="11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8D5781D2-909F-5096-DE59-E4557A7EE83B}"/>
              </a:ext>
            </a:extLst>
          </p:cNvPr>
          <p:cNvSpPr/>
          <p:nvPr/>
        </p:nvSpPr>
        <p:spPr>
          <a:xfrm>
            <a:off x="658368" y="60533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850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818DAC29-E8D7-2D8F-192F-F9A0458CCA5A}"/>
              </a:ext>
            </a:extLst>
          </p:cNvPr>
          <p:cNvSpPr txBox="1"/>
          <p:nvPr/>
        </p:nvSpPr>
        <p:spPr>
          <a:xfrm>
            <a:off x="236610" y="1746553"/>
            <a:ext cx="676185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i="1" dirty="0">
                <a:latin typeface="Calibri" panose="020F0502020204030204" pitchFamily="34" charset="0"/>
                <a:cs typeface="Calibri" panose="020F0502020204030204" pitchFamily="34" charset="0"/>
              </a:rPr>
              <a:t>O amigo </a:t>
            </a:r>
            <a:r>
              <a:rPr lang="pt-BR" sz="1400" b="1" i="1" dirty="0" err="1">
                <a:latin typeface="Calibri" panose="020F0502020204030204" pitchFamily="34" charset="0"/>
                <a:cs typeface="Calibri" panose="020F0502020204030204" pitchFamily="34" charset="0"/>
              </a:rPr>
              <a:t>joaquim</a:t>
            </a:r>
            <a:r>
              <a:rPr lang="pt-BR" sz="1400" i="1" dirty="0">
                <a:latin typeface="Calibri" panose="020F0502020204030204" pitchFamily="34" charset="0"/>
                <a:cs typeface="Calibri" panose="020F0502020204030204" pitchFamily="34" charset="0"/>
              </a:rPr>
              <a:t> concordou e o amigo </a:t>
            </a:r>
            <a:r>
              <a:rPr lang="pt-BR" sz="1400" b="1" i="1" dirty="0" err="1">
                <a:latin typeface="Calibri" panose="020F0502020204030204" pitchFamily="34" charset="0"/>
                <a:cs typeface="Calibri" panose="020F0502020204030204" pitchFamily="34" charset="0"/>
              </a:rPr>
              <a:t>carlos</a:t>
            </a:r>
            <a:r>
              <a:rPr lang="pt-BR" sz="1400" i="1" dirty="0">
                <a:latin typeface="Calibri" panose="020F0502020204030204" pitchFamily="34" charset="0"/>
                <a:cs typeface="Calibri" panose="020F0502020204030204" pitchFamily="34" charset="0"/>
              </a:rPr>
              <a:t> foi embora.</a:t>
            </a:r>
          </a:p>
          <a:p>
            <a:r>
              <a:rPr lang="pt-BR" sz="1400" i="1" dirty="0">
                <a:latin typeface="Calibri" panose="020F0502020204030204" pitchFamily="34" charset="0"/>
                <a:cs typeface="Calibri" panose="020F0502020204030204" pitchFamily="34" charset="0"/>
              </a:rPr>
              <a:t>Pouco depois surgiu o </a:t>
            </a:r>
            <a:r>
              <a:rPr lang="pt-BR" sz="1400" b="1" i="1" dirty="0">
                <a:latin typeface="Calibri" panose="020F0502020204030204" pitchFamily="34" charset="0"/>
                <a:cs typeface="Calibri" panose="020F0502020204030204" pitchFamily="34" charset="0"/>
              </a:rPr>
              <a:t>Manoel</a:t>
            </a:r>
            <a:r>
              <a:rPr lang="pt-BR" sz="1400" i="1" dirty="0">
                <a:latin typeface="Calibri" panose="020F0502020204030204" pitchFamily="34" charset="0"/>
                <a:cs typeface="Calibri" panose="020F0502020204030204" pitchFamily="34" charset="0"/>
              </a:rPr>
              <a:t>. Quando </a:t>
            </a:r>
            <a:r>
              <a:rPr lang="pt-BR" sz="1400" b="1" i="1" dirty="0">
                <a:latin typeface="Calibri" panose="020F0502020204030204" pitchFamily="34" charset="0"/>
                <a:cs typeface="Calibri" panose="020F0502020204030204" pitchFamily="34" charset="0"/>
              </a:rPr>
              <a:t>Manoel</a:t>
            </a:r>
            <a:r>
              <a:rPr lang="pt-BR" sz="1400" i="1" dirty="0">
                <a:latin typeface="Calibri" panose="020F0502020204030204" pitchFamily="34" charset="0"/>
                <a:cs typeface="Calibri" panose="020F0502020204030204" pitchFamily="34" charset="0"/>
              </a:rPr>
              <a:t> viu </a:t>
            </a:r>
            <a:r>
              <a:rPr lang="pt-BR" sz="1400" b="1" i="1" dirty="0">
                <a:latin typeface="Calibri" panose="020F0502020204030204" pitchFamily="34" charset="0"/>
                <a:cs typeface="Calibri" panose="020F0502020204030204" pitchFamily="34" charset="0"/>
              </a:rPr>
              <a:t>Joaquim lendo um livro</a:t>
            </a:r>
            <a:r>
              <a:rPr lang="pt-BR" sz="1400" i="1" dirty="0">
                <a:latin typeface="Calibri" panose="020F0502020204030204" pitchFamily="34" charset="0"/>
                <a:cs typeface="Calibri" panose="020F0502020204030204" pitchFamily="34" charset="0"/>
              </a:rPr>
              <a:t>, perguntou: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6899DB52-D710-BC59-05D3-9000321B4B75}"/>
              </a:ext>
            </a:extLst>
          </p:cNvPr>
          <p:cNvSpPr txBox="1"/>
          <p:nvPr/>
        </p:nvSpPr>
        <p:spPr>
          <a:xfrm>
            <a:off x="242315" y="2258617"/>
            <a:ext cx="8963223" cy="175432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pt-BR" b="1" i="1" dirty="0"/>
              <a:t>— Que livro é este, Joaquim?</a:t>
            </a:r>
            <a:endParaRPr lang="pt-BR" i="1" dirty="0"/>
          </a:p>
          <a:p>
            <a:r>
              <a:rPr lang="pt-BR" i="1" dirty="0"/>
              <a:t>— É um livro de lógica, Manoel!</a:t>
            </a:r>
          </a:p>
          <a:p>
            <a:r>
              <a:rPr lang="pt-BR" b="1" i="1" dirty="0"/>
              <a:t>— Lógica, o que é isso, Joaquim?</a:t>
            </a:r>
            <a:endParaRPr lang="pt-BR" i="1" dirty="0"/>
          </a:p>
          <a:p>
            <a:r>
              <a:rPr lang="pt-BR" i="1" dirty="0"/>
              <a:t>— É um pouco difícil de explicar, Manoel, mas vou tentar. </a:t>
            </a:r>
            <a:r>
              <a:rPr lang="pt-BR" i="1" u="sng" dirty="0"/>
              <a:t>Você tem um aquário em casa</a:t>
            </a:r>
            <a:r>
              <a:rPr lang="pt-BR" i="1" dirty="0"/>
              <a:t>?</a:t>
            </a:r>
          </a:p>
          <a:p>
            <a:r>
              <a:rPr lang="pt-BR" b="1" i="1" dirty="0"/>
              <a:t>— Não, não tenho, Joaquim!</a:t>
            </a:r>
            <a:endParaRPr lang="pt-BR" i="1" dirty="0"/>
          </a:p>
          <a:p>
            <a:r>
              <a:rPr lang="pt-BR" i="1" dirty="0"/>
              <a:t>— Ah, Manoel, </a:t>
            </a:r>
            <a:r>
              <a:rPr lang="pt-BR" i="1" u="sng" dirty="0"/>
              <a:t>então você é homossexual</a:t>
            </a:r>
            <a:r>
              <a:rPr lang="pt-BR" i="1" dirty="0"/>
              <a:t>. ...”</a:t>
            </a:r>
            <a:endParaRPr lang="pt-BR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0BFB71F5-5A74-855D-28FD-343975FD1371}"/>
              </a:ext>
            </a:extLst>
          </p:cNvPr>
          <p:cNvSpPr txBox="1"/>
          <p:nvPr/>
        </p:nvSpPr>
        <p:spPr>
          <a:xfrm>
            <a:off x="193282" y="6308253"/>
            <a:ext cx="7651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Referência do texto: </a:t>
            </a:r>
            <a:r>
              <a:rPr lang="pt-BR" dirty="0">
                <a:hlinkClick r:id="rId4"/>
              </a:rPr>
              <a:t>https://www.recantodasletras.com.br/humor/2505867</a:t>
            </a:r>
            <a:endParaRPr lang="pt-BR" dirty="0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C0F77F4B-F181-5561-A2CA-E9763BBE33AD}"/>
              </a:ext>
            </a:extLst>
          </p:cNvPr>
          <p:cNvSpPr txBox="1"/>
          <p:nvPr/>
        </p:nvSpPr>
        <p:spPr>
          <a:xfrm>
            <a:off x="1151010" y="4344703"/>
            <a:ext cx="68286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/>
              <a:t>&gt;&gt; Como assim Joaquim ?!</a:t>
            </a:r>
            <a:r>
              <a:rPr lang="pt-BR" sz="3600" dirty="0"/>
              <a:t> &lt;&lt;</a:t>
            </a:r>
          </a:p>
        </p:txBody>
      </p:sp>
    </p:spTree>
    <p:extLst>
      <p:ext uri="{BB962C8B-B14F-4D97-AF65-F5344CB8AC3E}">
        <p14:creationId xmlns:p14="http://schemas.microsoft.com/office/powerpoint/2010/main" val="39788252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19A3F3-1EC3-015A-6A89-A629298F7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template_extract/ppt/media/image1.png">
            <a:extLst>
              <a:ext uri="{FF2B5EF4-FFF2-40B4-BE49-F238E27FC236}">
                <a16:creationId xmlns:a16="http://schemas.microsoft.com/office/drawing/2014/main" id="{3E2FD771-40FC-D6C1-E325-23C47CCFC6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282" y="160020"/>
            <a:ext cx="2423160" cy="512064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C6D3439A-B2C4-394C-C3BE-B8E20508F8F0}"/>
              </a:ext>
            </a:extLst>
          </p:cNvPr>
          <p:cNvSpPr/>
          <p:nvPr/>
        </p:nvSpPr>
        <p:spPr>
          <a:xfrm>
            <a:off x="236610" y="874385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F69BF"/>
                </a:solidFill>
              </a:rPr>
              <a:t>Aula 05</a:t>
            </a:r>
            <a:endParaRPr lang="en-US" sz="13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EFA2F8F2-6AF3-1BC8-B1C0-0D847C348103}"/>
              </a:ext>
            </a:extLst>
          </p:cNvPr>
          <p:cNvSpPr/>
          <p:nvPr/>
        </p:nvSpPr>
        <p:spPr>
          <a:xfrm>
            <a:off x="242315" y="1148705"/>
            <a:ext cx="271061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tabLst>
                <a:tab pos="0" algn="l"/>
              </a:tabLst>
              <a:defRPr/>
            </a:pPr>
            <a:r>
              <a:rPr lang="en-US" sz="2400" b="1" dirty="0" err="1">
                <a:solidFill>
                  <a:srgbClr val="0B1F3A"/>
                </a:solidFill>
              </a:rPr>
              <a:t>Árvores</a:t>
            </a:r>
            <a:r>
              <a:rPr lang="en-US" sz="2400" b="1" dirty="0">
                <a:solidFill>
                  <a:srgbClr val="0B1F3A"/>
                </a:solidFill>
              </a:rPr>
              <a:t> de </a:t>
            </a:r>
            <a:r>
              <a:rPr lang="en-US" sz="2400" b="1" dirty="0" err="1">
                <a:solidFill>
                  <a:srgbClr val="0B1F3A"/>
                </a:solidFill>
              </a:rPr>
              <a:t>Decisão</a:t>
            </a:r>
            <a:endParaRPr lang="pt-BR" sz="24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2B270FEC-C309-D057-4FFD-0DC478119705}"/>
              </a:ext>
            </a:extLst>
          </p:cNvPr>
          <p:cNvSpPr/>
          <p:nvPr/>
        </p:nvSpPr>
        <p:spPr>
          <a:xfrm>
            <a:off x="658368" y="574243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</a:rPr>
              <a:t>Professor Miguél Suares</a:t>
            </a:r>
            <a:endParaRPr lang="en-US" sz="11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EF86E71A-9570-80D8-A223-FB7BAC826824}"/>
              </a:ext>
            </a:extLst>
          </p:cNvPr>
          <p:cNvSpPr/>
          <p:nvPr/>
        </p:nvSpPr>
        <p:spPr>
          <a:xfrm>
            <a:off x="658368" y="60533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850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6C8CE538-54B9-F3BC-6E0F-C9C0C2564F31}"/>
              </a:ext>
            </a:extLst>
          </p:cNvPr>
          <p:cNvSpPr txBox="1"/>
          <p:nvPr/>
        </p:nvSpPr>
        <p:spPr>
          <a:xfrm>
            <a:off x="236609" y="1746552"/>
            <a:ext cx="532529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>
                <a:latin typeface="Calibri" panose="020F0502020204030204" pitchFamily="34" charset="0"/>
                <a:cs typeface="Calibri" panose="020F0502020204030204" pitchFamily="34" charset="0"/>
              </a:rPr>
              <a:t>No exemplo anterior, após uma sequência de inferências, na verdade,</a:t>
            </a:r>
          </a:p>
          <a:p>
            <a:r>
              <a:rPr lang="pt-BR" sz="1400" dirty="0">
                <a:latin typeface="Calibri" panose="020F0502020204030204" pitchFamily="34" charset="0"/>
                <a:cs typeface="Calibri" panose="020F0502020204030204" pitchFamily="34" charset="0"/>
              </a:rPr>
              <a:t> aparentemente Joaquim </a:t>
            </a:r>
            <a:r>
              <a:rPr lang="pt-BR" sz="1400" b="1" dirty="0">
                <a:latin typeface="Calibri" panose="020F0502020204030204" pitchFamily="34" charset="0"/>
                <a:cs typeface="Calibri" panose="020F0502020204030204" pitchFamily="34" charset="0"/>
              </a:rPr>
              <a:t>tenta deduzir</a:t>
            </a:r>
            <a:r>
              <a:rPr lang="pt-BR" sz="1400" dirty="0">
                <a:latin typeface="Calibri" panose="020F0502020204030204" pitchFamily="34" charset="0"/>
                <a:cs typeface="Calibri" panose="020F0502020204030204" pitchFamily="34" charset="0"/>
              </a:rPr>
              <a:t>, dentro de sua forma dele Joaquim de compreender a realidade, se </a:t>
            </a:r>
            <a:r>
              <a:rPr lang="pt-BR" sz="1400" b="1" dirty="0">
                <a:latin typeface="Calibri" panose="020F0502020204030204" pitchFamily="34" charset="0"/>
                <a:cs typeface="Calibri" panose="020F0502020204030204" pitchFamily="34" charset="0"/>
              </a:rPr>
              <a:t>Manoel</a:t>
            </a:r>
            <a:r>
              <a:rPr lang="pt-BR" sz="1400" dirty="0">
                <a:latin typeface="Calibri" panose="020F0502020204030204" pitchFamily="34" charset="0"/>
                <a:cs typeface="Calibri" panose="020F0502020204030204" pitchFamily="34" charset="0"/>
              </a:rPr>
              <a:t> é casado ou não.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2D6B2BB5-E184-6FB3-BEF5-185CAAAE91A7}"/>
              </a:ext>
            </a:extLst>
          </p:cNvPr>
          <p:cNvSpPr txBox="1"/>
          <p:nvPr/>
        </p:nvSpPr>
        <p:spPr>
          <a:xfrm>
            <a:off x="193282" y="6308253"/>
            <a:ext cx="7651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Referência do texto: </a:t>
            </a:r>
            <a:r>
              <a:rPr lang="pt-BR" dirty="0">
                <a:hlinkClick r:id="rId4"/>
              </a:rPr>
              <a:t>https://www.recantodasletras.com.br/humor/2505867</a:t>
            </a:r>
            <a:endParaRPr lang="pt-BR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3EFD3820-311B-E694-3632-45DA183AF6B4}"/>
              </a:ext>
            </a:extLst>
          </p:cNvPr>
          <p:cNvSpPr txBox="1"/>
          <p:nvPr/>
        </p:nvSpPr>
        <p:spPr>
          <a:xfrm>
            <a:off x="6184784" y="871312"/>
            <a:ext cx="3915561" cy="511537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l">
              <a:lnSpc>
                <a:spcPts val="1688"/>
              </a:lnSpc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Tem aquário?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1688"/>
              </a:lnSpc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│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1688"/>
              </a:lnSpc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└── SIM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1688"/>
              </a:lnSpc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│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1688"/>
              </a:lnSpc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▼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1688"/>
              </a:lnSpc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Tem água?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1688"/>
              </a:lnSpc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│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1688"/>
              </a:lnSpc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└── SIM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1688"/>
              </a:lnSpc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    │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1688"/>
              </a:lnSpc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    ▼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1688"/>
              </a:lnSpc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Tem peixes?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1688"/>
              </a:lnSpc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    │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1688"/>
              </a:lnSpc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    └── SIM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1688"/>
              </a:lnSpc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         │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1688"/>
              </a:lnSpc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         ▼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1688"/>
              </a:lnSpc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    Tem filhos?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1688"/>
              </a:lnSpc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         │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1688"/>
              </a:lnSpc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         └── SIM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1688"/>
              </a:lnSpc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              │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1688"/>
              </a:lnSpc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              ▼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1688"/>
              </a:lnSpc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         É casado?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1688"/>
              </a:lnSpc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              │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1688"/>
              </a:lnSpc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              └── SIM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DE8B7170-DA00-0B33-59E0-9F358E945D68}"/>
              </a:ext>
            </a:extLst>
          </p:cNvPr>
          <p:cNvSpPr txBox="1"/>
          <p:nvPr/>
        </p:nvSpPr>
        <p:spPr>
          <a:xfrm>
            <a:off x="236609" y="2621398"/>
            <a:ext cx="4613945" cy="9233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pt-BR" dirty="0"/>
              <a:t>Joaquim observa esse único caminho e conclui </a:t>
            </a:r>
            <a:r>
              <a:rPr lang="pt-BR" b="1" dirty="0"/>
              <a:t>equivocadamente </a:t>
            </a:r>
            <a:r>
              <a:rPr lang="pt-BR" dirty="0"/>
              <a:t>que aprendeu uma “</a:t>
            </a:r>
            <a:r>
              <a:rPr lang="pt-BR" b="1" dirty="0"/>
              <a:t>regra geral</a:t>
            </a:r>
            <a:r>
              <a:rPr lang="pt-BR" dirty="0"/>
              <a:t>”.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95BD565B-07F7-7066-985B-C4076467DC27}"/>
              </a:ext>
            </a:extLst>
          </p:cNvPr>
          <p:cNvSpPr txBox="1"/>
          <p:nvPr/>
        </p:nvSpPr>
        <p:spPr>
          <a:xfrm>
            <a:off x="236609" y="3937782"/>
            <a:ext cx="4613945" cy="118481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l">
              <a:lnSpc>
                <a:spcPts val="1688"/>
              </a:lnSpc>
              <a:buNone/>
            </a:pP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Aquário = SIM  → Casado = SIM</a:t>
            </a:r>
            <a:endParaRPr lang="pt-BR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1688"/>
              </a:lnSpc>
              <a:buNone/>
            </a:pPr>
            <a:endParaRPr lang="pt-BR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1688"/>
              </a:lnSpc>
              <a:buNone/>
            </a:pP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portanto...</a:t>
            </a:r>
            <a:endParaRPr lang="pt-BR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1688"/>
              </a:lnSpc>
              <a:buNone/>
            </a:pPr>
            <a:endParaRPr lang="pt-BR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1688"/>
              </a:lnSpc>
              <a:buNone/>
            </a:pP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Aquário = NÃO  → Casado = NÃO</a:t>
            </a:r>
            <a:endParaRPr lang="pt-BR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40500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6B4831-775C-7370-E63E-1282A74CFF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E72F4359-C295-167A-0809-ABCB4E000245}"/>
              </a:ext>
            </a:extLst>
          </p:cNvPr>
          <p:cNvSpPr/>
          <p:nvPr/>
        </p:nvSpPr>
        <p:spPr>
          <a:xfrm>
            <a:off x="640710" y="1317072"/>
            <a:ext cx="10921878" cy="324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tabLst>
                <a:tab pos="0" algn="l"/>
              </a:tabLst>
              <a:defRPr/>
            </a:pPr>
            <a:r>
              <a:rPr lang="pt-BR" sz="7200" dirty="0">
                <a:solidFill>
                  <a:srgbClr val="000000"/>
                </a:solidFill>
                <a:latin typeface="Arial"/>
              </a:rPr>
              <a:t>Árvore de Decisão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E320D64-7A9C-26BB-44BE-0F8C22CDF437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DAFDE376-622D-95D3-4419-A7ED743A4F01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10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6411159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51B063-92FC-04E5-BD5C-5E9E1EB47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template_extract/ppt/media/image1.png">
            <a:extLst>
              <a:ext uri="{FF2B5EF4-FFF2-40B4-BE49-F238E27FC236}">
                <a16:creationId xmlns:a16="http://schemas.microsoft.com/office/drawing/2014/main" id="{A6A07AB4-4E1E-C778-900C-FFEC322BFA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282" y="160020"/>
            <a:ext cx="2423160" cy="512064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44592560-C985-1FD1-C2D4-F7FA2A10223F}"/>
              </a:ext>
            </a:extLst>
          </p:cNvPr>
          <p:cNvSpPr/>
          <p:nvPr/>
        </p:nvSpPr>
        <p:spPr>
          <a:xfrm>
            <a:off x="236610" y="874385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F69BF"/>
                </a:solidFill>
              </a:rPr>
              <a:t>Aula 05</a:t>
            </a:r>
            <a:endParaRPr lang="en-US" sz="13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F2A21D36-6ABC-8C46-8DBF-6F9ED615E1DF}"/>
              </a:ext>
            </a:extLst>
          </p:cNvPr>
          <p:cNvSpPr/>
          <p:nvPr/>
        </p:nvSpPr>
        <p:spPr>
          <a:xfrm>
            <a:off x="242315" y="1148705"/>
            <a:ext cx="271061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tabLst>
                <a:tab pos="0" algn="l"/>
              </a:tabLst>
              <a:defRPr/>
            </a:pPr>
            <a:r>
              <a:rPr lang="en-US" sz="2400" b="1" dirty="0" err="1">
                <a:solidFill>
                  <a:srgbClr val="0B1F3A"/>
                </a:solidFill>
              </a:rPr>
              <a:t>Árvores</a:t>
            </a:r>
            <a:r>
              <a:rPr lang="en-US" sz="2400" b="1" dirty="0">
                <a:solidFill>
                  <a:srgbClr val="0B1F3A"/>
                </a:solidFill>
              </a:rPr>
              <a:t> de </a:t>
            </a:r>
            <a:r>
              <a:rPr lang="en-US" sz="2400" b="1" dirty="0" err="1">
                <a:solidFill>
                  <a:srgbClr val="0B1F3A"/>
                </a:solidFill>
              </a:rPr>
              <a:t>Decisão</a:t>
            </a:r>
            <a:endParaRPr lang="pt-BR" sz="24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B729193B-016B-F0D8-4A2A-8D7A006D8E09}"/>
              </a:ext>
            </a:extLst>
          </p:cNvPr>
          <p:cNvSpPr/>
          <p:nvPr/>
        </p:nvSpPr>
        <p:spPr>
          <a:xfrm>
            <a:off x="658368" y="574243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</a:rPr>
              <a:t>Professor Miguél Suares</a:t>
            </a:r>
            <a:endParaRPr lang="en-US" sz="11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48CB353A-9C39-2258-D610-9CCD85357D27}"/>
              </a:ext>
            </a:extLst>
          </p:cNvPr>
          <p:cNvSpPr/>
          <p:nvPr/>
        </p:nvSpPr>
        <p:spPr>
          <a:xfrm>
            <a:off x="658368" y="60533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850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A9204B18-588C-B879-841A-CDEF1B534F9D}"/>
              </a:ext>
            </a:extLst>
          </p:cNvPr>
          <p:cNvSpPr txBox="1"/>
          <p:nvPr/>
        </p:nvSpPr>
        <p:spPr>
          <a:xfrm>
            <a:off x="236609" y="1746552"/>
            <a:ext cx="329184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>
                <a:latin typeface="Calibri" panose="020F0502020204030204" pitchFamily="34" charset="0"/>
                <a:cs typeface="Calibri" panose="020F0502020204030204" pitchFamily="34" charset="0"/>
              </a:rPr>
              <a:t>Na verdade, Joaquim estava tentando </a:t>
            </a:r>
          </a:p>
          <a:p>
            <a:r>
              <a:rPr lang="pt-BR" sz="1400" dirty="0">
                <a:latin typeface="Calibri" panose="020F0502020204030204" pitchFamily="34" charset="0"/>
                <a:cs typeface="Calibri" panose="020F0502020204030204" pitchFamily="34" charset="0"/>
              </a:rPr>
              <a:t>montar mentalmente o que chamamos de </a:t>
            </a:r>
          </a:p>
          <a:p>
            <a:r>
              <a:rPr lang="pt-BR" sz="1400" dirty="0">
                <a:latin typeface="Calibri" panose="020F0502020204030204" pitchFamily="34" charset="0"/>
                <a:cs typeface="Calibri" panose="020F0502020204030204" pitchFamily="34" charset="0"/>
              </a:rPr>
              <a:t>“Árvore de Decisão”.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F45C8B55-1B29-151A-2BA3-48F87D436EBD}"/>
              </a:ext>
            </a:extLst>
          </p:cNvPr>
          <p:cNvSpPr txBox="1"/>
          <p:nvPr/>
        </p:nvSpPr>
        <p:spPr>
          <a:xfrm>
            <a:off x="3528450" y="1520418"/>
            <a:ext cx="3400855" cy="433965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Tem aquário?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│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└── SIM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│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▼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Tem água?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│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└── SIM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    │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    ▼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Tem peixes?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    │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    └── SIM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         │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         ▼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    Tem filhos?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         │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         └── SIM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              │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              ▼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         É casado?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              │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              └── SIM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21FA38EF-78CC-C9E6-C5BE-51506994D034}"/>
              </a:ext>
            </a:extLst>
          </p:cNvPr>
          <p:cNvSpPr txBox="1"/>
          <p:nvPr/>
        </p:nvSpPr>
        <p:spPr>
          <a:xfrm>
            <a:off x="8184671" y="2161116"/>
            <a:ext cx="3186771" cy="1408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8"/>
              </a:lnSpc>
              <a:buNone/>
            </a:pPr>
            <a:r>
              <a:rPr lang="pt-BR" b="0" i="0" dirty="0">
                <a:solidFill>
                  <a:srgbClr val="37474F"/>
                </a:solidFill>
                <a:effectLst/>
                <a:highlight>
                  <a:srgbClr val="C0C0C0"/>
                </a:highlight>
                <a:latin typeface="Roboto Mono" pitchFamily="2" charset="0"/>
              </a:rPr>
              <a:t>    TEM AQUÁRIO?</a:t>
            </a:r>
            <a:endParaRPr lang="pt-BR" b="0" i="0" dirty="0">
              <a:solidFill>
                <a:srgbClr val="000000"/>
              </a:solidFill>
              <a:effectLst/>
              <a:highlight>
                <a:srgbClr val="C0C0C0"/>
              </a:highlight>
              <a:latin typeface="Roboto Mono" pitchFamily="2" charset="0"/>
            </a:endParaRPr>
          </a:p>
          <a:p>
            <a:pPr algn="l">
              <a:lnSpc>
                <a:spcPts val="1688"/>
              </a:lnSpc>
              <a:buNone/>
            </a:pP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/   \</a:t>
            </a:r>
            <a:endParaRPr lang="pt-BR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1688"/>
              </a:lnSpc>
              <a:buNone/>
            </a:pP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</a:t>
            </a:r>
            <a:r>
              <a:rPr lang="pt-BR" b="0" i="0" dirty="0">
                <a:solidFill>
                  <a:srgbClr val="37474F"/>
                </a:solidFill>
                <a:effectLst/>
                <a:highlight>
                  <a:srgbClr val="00FF00"/>
                </a:highlight>
                <a:latin typeface="Roboto Mono" pitchFamily="2" charset="0"/>
              </a:rPr>
              <a:t>SIM</a:t>
            </a: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</a:t>
            </a:r>
            <a:r>
              <a:rPr lang="pt-BR" b="0" i="0" dirty="0">
                <a:solidFill>
                  <a:srgbClr val="37474F"/>
                </a:solidFill>
                <a:effectLst/>
                <a:highlight>
                  <a:srgbClr val="FF0000"/>
                </a:highlight>
                <a:latin typeface="Roboto Mono" pitchFamily="2" charset="0"/>
              </a:rPr>
              <a:t>NÃO</a:t>
            </a:r>
            <a:endParaRPr lang="pt-BR" b="0" i="0" dirty="0">
              <a:solidFill>
                <a:srgbClr val="000000"/>
              </a:solidFill>
              <a:effectLst/>
              <a:highlight>
                <a:srgbClr val="FF0000"/>
              </a:highlight>
              <a:latin typeface="Roboto Mono" pitchFamily="2" charset="0"/>
            </a:endParaRPr>
          </a:p>
          <a:p>
            <a:pPr algn="l">
              <a:lnSpc>
                <a:spcPts val="1688"/>
              </a:lnSpc>
              <a:buNone/>
            </a:pP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/      \</a:t>
            </a:r>
            <a:endParaRPr lang="pt-BR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1688"/>
              </a:lnSpc>
              <a:buNone/>
            </a:pP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▼       ▼</a:t>
            </a:r>
            <a:endParaRPr lang="pt-BR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1688"/>
              </a:lnSpc>
              <a:buNone/>
            </a:pPr>
            <a:r>
              <a:rPr lang="pt-BR" b="0" i="0" dirty="0">
                <a:solidFill>
                  <a:srgbClr val="37474F"/>
                </a:solidFill>
                <a:effectLst/>
                <a:highlight>
                  <a:srgbClr val="FFFF00"/>
                </a:highlight>
                <a:latin typeface="Roboto Mono" pitchFamily="2" charset="0"/>
              </a:rPr>
              <a:t>É CASADO</a:t>
            </a: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</a:t>
            </a:r>
            <a:r>
              <a:rPr lang="pt-BR" b="0" i="0" dirty="0">
                <a:solidFill>
                  <a:srgbClr val="37474F"/>
                </a:solidFill>
                <a:effectLst/>
                <a:highlight>
                  <a:srgbClr val="FF7C7C"/>
                </a:highlight>
                <a:latin typeface="Roboto Mono" pitchFamily="2" charset="0"/>
              </a:rPr>
              <a:t>NÃO É CASADO</a:t>
            </a:r>
            <a:endParaRPr lang="pt-BR" dirty="0">
              <a:highlight>
                <a:srgbClr val="FF7C7C"/>
              </a:highlight>
            </a:endParaRPr>
          </a:p>
        </p:txBody>
      </p:sp>
      <p:sp>
        <p:nvSpPr>
          <p:cNvPr id="18" name="Seta: para a Direita 17">
            <a:extLst>
              <a:ext uri="{FF2B5EF4-FFF2-40B4-BE49-F238E27FC236}">
                <a16:creationId xmlns:a16="http://schemas.microsoft.com/office/drawing/2014/main" id="{B07284D3-DC76-DD45-EA21-ADAD4D0BDB5A}"/>
              </a:ext>
            </a:extLst>
          </p:cNvPr>
          <p:cNvSpPr/>
          <p:nvPr/>
        </p:nvSpPr>
        <p:spPr>
          <a:xfrm>
            <a:off x="7357145" y="2642532"/>
            <a:ext cx="629174" cy="78646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4E07851E-1518-EEC5-8A76-08F12BB7E181}"/>
              </a:ext>
            </a:extLst>
          </p:cNvPr>
          <p:cNvSpPr txBox="1"/>
          <p:nvPr/>
        </p:nvSpPr>
        <p:spPr>
          <a:xfrm>
            <a:off x="242315" y="2570999"/>
            <a:ext cx="3220562" cy="3077766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pt-BR" dirty="0"/>
              <a:t>Uma </a:t>
            </a:r>
            <a:r>
              <a:rPr lang="pt-BR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Decision</a:t>
            </a:r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pt-BR" b="1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Tree</a:t>
            </a:r>
            <a:r>
              <a:rPr lang="pt-BR" dirty="0"/>
              <a:t> é um </a:t>
            </a:r>
          </a:p>
          <a:p>
            <a:r>
              <a:rPr lang="pt-BR" dirty="0"/>
              <a:t>algoritmo de </a:t>
            </a:r>
          </a:p>
          <a:p>
            <a:r>
              <a:rPr lang="pt-BR" b="1" dirty="0"/>
              <a:t>aprendizado supervisionado,</a:t>
            </a:r>
            <a:endParaRPr lang="pt-BR" dirty="0"/>
          </a:p>
          <a:p>
            <a:r>
              <a:rPr lang="pt-BR" b="1" dirty="0"/>
              <a:t>não paramétrico</a:t>
            </a:r>
          </a:p>
          <a:p>
            <a:r>
              <a:rPr lang="pt-BR" dirty="0"/>
              <a:t>e utilizado para tarefas de </a:t>
            </a:r>
          </a:p>
          <a:p>
            <a:r>
              <a:rPr lang="pt-BR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classificação</a:t>
            </a:r>
            <a:r>
              <a:rPr lang="pt-BR" dirty="0"/>
              <a:t> e </a:t>
            </a:r>
            <a:r>
              <a:rPr lang="pt-BR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regressão</a:t>
            </a:r>
            <a:r>
              <a:rPr lang="pt-BR" dirty="0"/>
              <a:t>. </a:t>
            </a:r>
          </a:p>
          <a:p>
            <a:r>
              <a:rPr lang="pt-BR" dirty="0"/>
              <a:t>Tem </a:t>
            </a:r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estrutura hierárquica </a:t>
            </a:r>
          </a:p>
          <a:p>
            <a:r>
              <a:rPr lang="pt-B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em árvore</a:t>
            </a:r>
            <a:r>
              <a:rPr lang="pt-BR" dirty="0"/>
              <a:t>, que consiste </a:t>
            </a:r>
          </a:p>
          <a:p>
            <a:r>
              <a:rPr lang="pt-BR" dirty="0"/>
              <a:t>em </a:t>
            </a:r>
            <a:r>
              <a:rPr lang="pt-BR" b="1" dirty="0"/>
              <a:t>um nó raiz</a:t>
            </a:r>
            <a:r>
              <a:rPr lang="pt-BR" dirty="0"/>
              <a:t>, ramificações, </a:t>
            </a:r>
          </a:p>
          <a:p>
            <a:r>
              <a:rPr lang="pt-BR" b="1" dirty="0"/>
              <a:t>nós internos</a:t>
            </a:r>
            <a:r>
              <a:rPr lang="pt-BR" dirty="0"/>
              <a:t> e </a:t>
            </a:r>
            <a:r>
              <a:rPr lang="pt-BR" b="1" dirty="0"/>
              <a:t>nós de folha</a:t>
            </a:r>
            <a:r>
              <a:rPr lang="pt-BR" dirty="0"/>
              <a:t>.</a:t>
            </a:r>
          </a:p>
          <a:p>
            <a:r>
              <a:rPr lang="pt-BR" sz="1400" i="1" dirty="0"/>
              <a:t>(2026 -</a:t>
            </a:r>
            <a:r>
              <a:rPr lang="pt-BR" sz="1400" i="1" dirty="0" err="1"/>
              <a:t>Kavlakoglu</a:t>
            </a:r>
            <a:r>
              <a:rPr lang="pt-BR" sz="1400" i="1" dirty="0"/>
              <a:t> – IBM </a:t>
            </a:r>
            <a:r>
              <a:rPr lang="pt-BR" sz="1400" i="1" dirty="0" err="1"/>
              <a:t>Research</a:t>
            </a:r>
            <a:r>
              <a:rPr lang="pt-BR" sz="1400" i="1" dirty="0"/>
              <a:t> )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88B5F944-0D7C-76F5-BEFA-B7D8C7F6FE7F}"/>
              </a:ext>
            </a:extLst>
          </p:cNvPr>
          <p:cNvSpPr txBox="1"/>
          <p:nvPr/>
        </p:nvSpPr>
        <p:spPr>
          <a:xfrm>
            <a:off x="236609" y="6236315"/>
            <a:ext cx="117680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i="1" dirty="0"/>
              <a:t>IBM. KAVLAKOGLU, </a:t>
            </a:r>
            <a:r>
              <a:rPr lang="pt-BR" sz="1200" i="1" dirty="0" err="1"/>
              <a:t>Eda</a:t>
            </a:r>
            <a:r>
              <a:rPr lang="pt-BR" sz="1200" i="1" dirty="0"/>
              <a:t>. </a:t>
            </a:r>
            <a:r>
              <a:rPr lang="pt-BR" sz="1200" b="1" i="1" dirty="0"/>
              <a:t>O que é uma </a:t>
            </a:r>
            <a:r>
              <a:rPr lang="pt-BR" sz="1200" b="1" i="1" dirty="0" err="1"/>
              <a:t>Decision</a:t>
            </a:r>
            <a:r>
              <a:rPr lang="pt-BR" sz="1200" b="1" i="1" dirty="0"/>
              <a:t> </a:t>
            </a:r>
            <a:r>
              <a:rPr lang="pt-BR" sz="1200" b="1" i="1" dirty="0" err="1"/>
              <a:t>Tree</a:t>
            </a:r>
            <a:r>
              <a:rPr lang="pt-BR" sz="1200" b="1" i="1" dirty="0"/>
              <a:t>?</a:t>
            </a:r>
            <a:r>
              <a:rPr lang="pt-BR" sz="1200" i="1" dirty="0"/>
              <a:t> IBM </a:t>
            </a:r>
            <a:r>
              <a:rPr lang="pt-BR" sz="1200" i="1" dirty="0" err="1"/>
              <a:t>Think</a:t>
            </a:r>
            <a:r>
              <a:rPr lang="pt-BR" sz="1200" i="1" dirty="0"/>
              <a:t> </a:t>
            </a:r>
            <a:r>
              <a:rPr lang="pt-BR" sz="1200" i="1" dirty="0" err="1"/>
              <a:t>Topics</a:t>
            </a:r>
            <a:r>
              <a:rPr lang="pt-BR" sz="1200" i="1" dirty="0"/>
              <a:t>, 2 nov. 2021. </a:t>
            </a:r>
          </a:p>
          <a:p>
            <a:r>
              <a:rPr lang="pt-BR" sz="1200" i="1" dirty="0"/>
              <a:t>Disponível em: </a:t>
            </a:r>
            <a:r>
              <a:rPr lang="pt-BR" sz="1200" i="1" u="sng" dirty="0">
                <a:hlinkClick r:id="rId4"/>
              </a:rPr>
              <a:t>https://www.ibm.com/</a:t>
            </a:r>
            <a:r>
              <a:rPr lang="pt-BR" sz="1200" i="1" u="sng" dirty="0" err="1">
                <a:hlinkClick r:id="rId4"/>
              </a:rPr>
              <a:t>br-pt</a:t>
            </a:r>
            <a:r>
              <a:rPr lang="pt-BR" sz="1200" i="1" u="sng" dirty="0">
                <a:hlinkClick r:id="rId4"/>
              </a:rPr>
              <a:t>/</a:t>
            </a:r>
            <a:r>
              <a:rPr lang="pt-BR" sz="1200" i="1" u="sng" dirty="0" err="1">
                <a:hlinkClick r:id="rId4"/>
              </a:rPr>
              <a:t>think</a:t>
            </a:r>
            <a:r>
              <a:rPr lang="pt-BR" sz="1200" i="1" u="sng" dirty="0">
                <a:hlinkClick r:id="rId4"/>
              </a:rPr>
              <a:t>/</a:t>
            </a:r>
            <a:r>
              <a:rPr lang="pt-BR" sz="1200" i="1" u="sng" dirty="0" err="1">
                <a:hlinkClick r:id="rId4"/>
              </a:rPr>
              <a:t>topics</a:t>
            </a:r>
            <a:r>
              <a:rPr lang="pt-BR" sz="1200" i="1" u="sng" dirty="0">
                <a:hlinkClick r:id="rId4"/>
              </a:rPr>
              <a:t>/</a:t>
            </a:r>
            <a:r>
              <a:rPr lang="pt-BR" sz="1200" i="1" u="sng" dirty="0" err="1">
                <a:hlinkClick r:id="rId4"/>
              </a:rPr>
              <a:t>decision-trees</a:t>
            </a:r>
            <a:r>
              <a:rPr lang="pt-BR" sz="1200" i="1" dirty="0"/>
              <a:t>. Acesso em: 6 out. 2026.</a:t>
            </a:r>
          </a:p>
        </p:txBody>
      </p:sp>
    </p:spTree>
    <p:extLst>
      <p:ext uri="{BB962C8B-B14F-4D97-AF65-F5344CB8AC3E}">
        <p14:creationId xmlns:p14="http://schemas.microsoft.com/office/powerpoint/2010/main" val="28781314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68B5B0-E545-1759-19A5-961FD9C8C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template_extract/ppt/media/image1.png">
            <a:extLst>
              <a:ext uri="{FF2B5EF4-FFF2-40B4-BE49-F238E27FC236}">
                <a16:creationId xmlns:a16="http://schemas.microsoft.com/office/drawing/2014/main" id="{CDB2E074-D455-EEC7-7EF1-E82738526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282" y="160020"/>
            <a:ext cx="2423160" cy="512064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62D483B9-D619-5CAB-ED71-4E97F8524F45}"/>
              </a:ext>
            </a:extLst>
          </p:cNvPr>
          <p:cNvSpPr/>
          <p:nvPr/>
        </p:nvSpPr>
        <p:spPr>
          <a:xfrm>
            <a:off x="236610" y="874385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F69BF"/>
                </a:solidFill>
              </a:rPr>
              <a:t>Aula 05</a:t>
            </a:r>
            <a:endParaRPr lang="en-US" sz="13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1FD15FB1-C2D0-E15E-8C05-89253D6FFF66}"/>
              </a:ext>
            </a:extLst>
          </p:cNvPr>
          <p:cNvSpPr/>
          <p:nvPr/>
        </p:nvSpPr>
        <p:spPr>
          <a:xfrm>
            <a:off x="242315" y="1148705"/>
            <a:ext cx="271061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tabLst>
                <a:tab pos="0" algn="l"/>
              </a:tabLst>
              <a:defRPr/>
            </a:pPr>
            <a:r>
              <a:rPr lang="en-US" sz="2400" b="1" dirty="0" err="1">
                <a:solidFill>
                  <a:srgbClr val="0B1F3A"/>
                </a:solidFill>
              </a:rPr>
              <a:t>Árvores</a:t>
            </a:r>
            <a:r>
              <a:rPr lang="en-US" sz="2400" b="1" dirty="0">
                <a:solidFill>
                  <a:srgbClr val="0B1F3A"/>
                </a:solidFill>
              </a:rPr>
              <a:t> de </a:t>
            </a:r>
            <a:r>
              <a:rPr lang="en-US" sz="2400" b="1" dirty="0" err="1">
                <a:solidFill>
                  <a:srgbClr val="0B1F3A"/>
                </a:solidFill>
              </a:rPr>
              <a:t>Decisão</a:t>
            </a:r>
            <a:endParaRPr lang="pt-BR" sz="24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89F32E97-DC21-CBA8-41F4-12C4302F93D6}"/>
              </a:ext>
            </a:extLst>
          </p:cNvPr>
          <p:cNvSpPr/>
          <p:nvPr/>
        </p:nvSpPr>
        <p:spPr>
          <a:xfrm>
            <a:off x="658368" y="574243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</a:rPr>
              <a:t>Professor Miguél Suares</a:t>
            </a:r>
            <a:endParaRPr lang="en-US" sz="11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A9919872-2A9B-59CD-E31F-E39B3738361C}"/>
              </a:ext>
            </a:extLst>
          </p:cNvPr>
          <p:cNvSpPr/>
          <p:nvPr/>
        </p:nvSpPr>
        <p:spPr>
          <a:xfrm>
            <a:off x="658368" y="60533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850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42C1A6C1-76CF-A7FE-D1B1-AB3B531D1D36}"/>
              </a:ext>
            </a:extLst>
          </p:cNvPr>
          <p:cNvSpPr txBox="1"/>
          <p:nvPr/>
        </p:nvSpPr>
        <p:spPr>
          <a:xfrm>
            <a:off x="236609" y="1608548"/>
            <a:ext cx="3630343" cy="433965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Tem aquário?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│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└── SIM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│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▼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Tem água?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│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└── SIM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    │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    ▼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Tem peixes?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    │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    └── SIM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         │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         ▼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    Tem filhos?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         │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         └── SIM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              │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              ▼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         É casado?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              │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              └── SIM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B91CDEBB-1CBC-69BA-6104-FE83156CD0DA}"/>
              </a:ext>
            </a:extLst>
          </p:cNvPr>
          <p:cNvSpPr txBox="1"/>
          <p:nvPr/>
        </p:nvSpPr>
        <p:spPr>
          <a:xfrm>
            <a:off x="8700680" y="3152875"/>
            <a:ext cx="3186771" cy="1408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8"/>
              </a:lnSpc>
              <a:buNone/>
            </a:pPr>
            <a:r>
              <a:rPr lang="pt-BR" b="0" i="0" dirty="0">
                <a:solidFill>
                  <a:srgbClr val="37474F"/>
                </a:solidFill>
                <a:effectLst/>
                <a:highlight>
                  <a:srgbClr val="C0C0C0"/>
                </a:highlight>
                <a:latin typeface="Roboto Mono" pitchFamily="2" charset="0"/>
              </a:rPr>
              <a:t>    TEM AQUÁRIO?</a:t>
            </a:r>
            <a:endParaRPr lang="pt-BR" b="0" i="0" dirty="0">
              <a:solidFill>
                <a:srgbClr val="000000"/>
              </a:solidFill>
              <a:effectLst/>
              <a:highlight>
                <a:srgbClr val="C0C0C0"/>
              </a:highlight>
              <a:latin typeface="Roboto Mono" pitchFamily="2" charset="0"/>
            </a:endParaRPr>
          </a:p>
          <a:p>
            <a:pPr algn="l">
              <a:lnSpc>
                <a:spcPts val="1688"/>
              </a:lnSpc>
              <a:buNone/>
            </a:pP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/   \</a:t>
            </a:r>
            <a:endParaRPr lang="pt-BR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1688"/>
              </a:lnSpc>
              <a:buNone/>
            </a:pP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</a:t>
            </a:r>
            <a:r>
              <a:rPr lang="pt-BR" b="0" i="0" dirty="0">
                <a:solidFill>
                  <a:srgbClr val="37474F"/>
                </a:solidFill>
                <a:effectLst/>
                <a:highlight>
                  <a:srgbClr val="00FF00"/>
                </a:highlight>
                <a:latin typeface="Roboto Mono" pitchFamily="2" charset="0"/>
              </a:rPr>
              <a:t>SIM</a:t>
            </a: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</a:t>
            </a:r>
            <a:r>
              <a:rPr lang="pt-BR" b="0" i="0" dirty="0">
                <a:solidFill>
                  <a:srgbClr val="37474F"/>
                </a:solidFill>
                <a:effectLst/>
                <a:highlight>
                  <a:srgbClr val="FF0000"/>
                </a:highlight>
                <a:latin typeface="Roboto Mono" pitchFamily="2" charset="0"/>
              </a:rPr>
              <a:t>NÃO</a:t>
            </a:r>
            <a:endParaRPr lang="pt-BR" b="0" i="0" dirty="0">
              <a:solidFill>
                <a:srgbClr val="000000"/>
              </a:solidFill>
              <a:effectLst/>
              <a:highlight>
                <a:srgbClr val="FF0000"/>
              </a:highlight>
              <a:latin typeface="Roboto Mono" pitchFamily="2" charset="0"/>
            </a:endParaRPr>
          </a:p>
          <a:p>
            <a:pPr algn="l">
              <a:lnSpc>
                <a:spcPts val="1688"/>
              </a:lnSpc>
              <a:buNone/>
            </a:pP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/      \</a:t>
            </a:r>
            <a:endParaRPr lang="pt-BR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1688"/>
              </a:lnSpc>
              <a:buNone/>
            </a:pP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▼       ▼</a:t>
            </a:r>
            <a:endParaRPr lang="pt-BR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1688"/>
              </a:lnSpc>
              <a:buNone/>
            </a:pPr>
            <a:r>
              <a:rPr lang="pt-BR" b="0" i="0" dirty="0">
                <a:solidFill>
                  <a:srgbClr val="37474F"/>
                </a:solidFill>
                <a:effectLst/>
                <a:highlight>
                  <a:srgbClr val="FFFF00"/>
                </a:highlight>
                <a:latin typeface="Roboto Mono" pitchFamily="2" charset="0"/>
              </a:rPr>
              <a:t>É CASADO</a:t>
            </a: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</a:t>
            </a:r>
            <a:r>
              <a:rPr lang="pt-BR" b="0" i="0" dirty="0">
                <a:solidFill>
                  <a:srgbClr val="37474F"/>
                </a:solidFill>
                <a:effectLst/>
                <a:highlight>
                  <a:srgbClr val="FF7C7C"/>
                </a:highlight>
                <a:latin typeface="Roboto Mono" pitchFamily="2" charset="0"/>
              </a:rPr>
              <a:t>NÃO É CASADO</a:t>
            </a:r>
            <a:endParaRPr lang="pt-BR" dirty="0">
              <a:highlight>
                <a:srgbClr val="FF7C7C"/>
              </a:highlight>
            </a:endParaRPr>
          </a:p>
        </p:txBody>
      </p:sp>
      <p:sp>
        <p:nvSpPr>
          <p:cNvPr id="18" name="Seta: para a Direita 17">
            <a:extLst>
              <a:ext uri="{FF2B5EF4-FFF2-40B4-BE49-F238E27FC236}">
                <a16:creationId xmlns:a16="http://schemas.microsoft.com/office/drawing/2014/main" id="{1A6E5AF9-A2A8-AD52-45D9-37C7F6515B5F}"/>
              </a:ext>
            </a:extLst>
          </p:cNvPr>
          <p:cNvSpPr/>
          <p:nvPr/>
        </p:nvSpPr>
        <p:spPr>
          <a:xfrm>
            <a:off x="7898022" y="3363172"/>
            <a:ext cx="629174" cy="78646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DD514D81-D277-0951-B113-941C377F14E4}"/>
              </a:ext>
            </a:extLst>
          </p:cNvPr>
          <p:cNvSpPr txBox="1"/>
          <p:nvPr/>
        </p:nvSpPr>
        <p:spPr>
          <a:xfrm>
            <a:off x="236609" y="6236315"/>
            <a:ext cx="117680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i="1" dirty="0"/>
              <a:t>IBM. KAVLAKOGLU, </a:t>
            </a:r>
            <a:r>
              <a:rPr lang="pt-BR" sz="1200" i="1" dirty="0" err="1"/>
              <a:t>Eda</a:t>
            </a:r>
            <a:r>
              <a:rPr lang="pt-BR" sz="1200" i="1" dirty="0"/>
              <a:t>. </a:t>
            </a:r>
            <a:r>
              <a:rPr lang="pt-BR" sz="1200" b="1" i="1" dirty="0"/>
              <a:t>O que é uma </a:t>
            </a:r>
            <a:r>
              <a:rPr lang="pt-BR" sz="1200" b="1" i="1" dirty="0" err="1"/>
              <a:t>Decision</a:t>
            </a:r>
            <a:r>
              <a:rPr lang="pt-BR" sz="1200" b="1" i="1" dirty="0"/>
              <a:t> </a:t>
            </a:r>
            <a:r>
              <a:rPr lang="pt-BR" sz="1200" b="1" i="1" dirty="0" err="1"/>
              <a:t>Tree</a:t>
            </a:r>
            <a:r>
              <a:rPr lang="pt-BR" sz="1200" b="1" i="1" dirty="0"/>
              <a:t>?</a:t>
            </a:r>
            <a:r>
              <a:rPr lang="pt-BR" sz="1200" i="1" dirty="0"/>
              <a:t> IBM </a:t>
            </a:r>
            <a:r>
              <a:rPr lang="pt-BR" sz="1200" i="1" dirty="0" err="1"/>
              <a:t>Think</a:t>
            </a:r>
            <a:r>
              <a:rPr lang="pt-BR" sz="1200" i="1" dirty="0"/>
              <a:t> </a:t>
            </a:r>
            <a:r>
              <a:rPr lang="pt-BR" sz="1200" i="1" dirty="0" err="1"/>
              <a:t>Topics</a:t>
            </a:r>
            <a:r>
              <a:rPr lang="pt-BR" sz="1200" i="1" dirty="0"/>
              <a:t>, 2 nov. 2021. </a:t>
            </a:r>
          </a:p>
          <a:p>
            <a:r>
              <a:rPr lang="pt-BR" sz="1200" i="1" dirty="0"/>
              <a:t>Disponível em: </a:t>
            </a:r>
            <a:r>
              <a:rPr lang="pt-BR" sz="1200" i="1" u="sng" dirty="0">
                <a:hlinkClick r:id="rId4"/>
              </a:rPr>
              <a:t>https://www.ibm.com/</a:t>
            </a:r>
            <a:r>
              <a:rPr lang="pt-BR" sz="1200" i="1" u="sng" dirty="0" err="1">
                <a:hlinkClick r:id="rId4"/>
              </a:rPr>
              <a:t>br-pt</a:t>
            </a:r>
            <a:r>
              <a:rPr lang="pt-BR" sz="1200" i="1" u="sng" dirty="0">
                <a:hlinkClick r:id="rId4"/>
              </a:rPr>
              <a:t>/</a:t>
            </a:r>
            <a:r>
              <a:rPr lang="pt-BR" sz="1200" i="1" u="sng" dirty="0" err="1">
                <a:hlinkClick r:id="rId4"/>
              </a:rPr>
              <a:t>think</a:t>
            </a:r>
            <a:r>
              <a:rPr lang="pt-BR" sz="1200" i="1" u="sng" dirty="0">
                <a:hlinkClick r:id="rId4"/>
              </a:rPr>
              <a:t>/</a:t>
            </a:r>
            <a:r>
              <a:rPr lang="pt-BR" sz="1200" i="1" u="sng" dirty="0" err="1">
                <a:hlinkClick r:id="rId4"/>
              </a:rPr>
              <a:t>topics</a:t>
            </a:r>
            <a:r>
              <a:rPr lang="pt-BR" sz="1200" i="1" u="sng" dirty="0">
                <a:hlinkClick r:id="rId4"/>
              </a:rPr>
              <a:t>/</a:t>
            </a:r>
            <a:r>
              <a:rPr lang="pt-BR" sz="1200" i="1" u="sng" dirty="0" err="1">
                <a:hlinkClick r:id="rId4"/>
              </a:rPr>
              <a:t>decision-trees</a:t>
            </a:r>
            <a:r>
              <a:rPr lang="pt-BR" sz="1200" i="1" dirty="0"/>
              <a:t>. Acesso em: 6 out. 2026.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1F720441-00BE-67C4-C679-6AD1C45ED2B2}"/>
              </a:ext>
            </a:extLst>
          </p:cNvPr>
          <p:cNvSpPr txBox="1"/>
          <p:nvPr/>
        </p:nvSpPr>
        <p:spPr>
          <a:xfrm>
            <a:off x="3950208" y="1011545"/>
            <a:ext cx="3595921" cy="646331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pPr algn="ctr"/>
            <a:r>
              <a:rPr lang="pt-BR" dirty="0"/>
              <a:t>Não seria apenas um problema de</a:t>
            </a:r>
          </a:p>
          <a:p>
            <a:pPr algn="ctr"/>
            <a:r>
              <a:rPr lang="pt-BR" dirty="0"/>
              <a:t>IF THEN ELSE ?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65FDA746-9164-3D0F-DDDC-96031EAD0430}"/>
              </a:ext>
            </a:extLst>
          </p:cNvPr>
          <p:cNvSpPr txBox="1"/>
          <p:nvPr/>
        </p:nvSpPr>
        <p:spPr>
          <a:xfrm>
            <a:off x="7898022" y="1011545"/>
            <a:ext cx="3983463" cy="1754326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pt-BR" dirty="0"/>
              <a:t>O problema é que </a:t>
            </a:r>
          </a:p>
          <a:p>
            <a:pPr algn="ctr"/>
            <a:r>
              <a:rPr lang="pt-BR" b="1" dirty="0"/>
              <a:t>não sabemos se o fato de</a:t>
            </a:r>
          </a:p>
          <a:p>
            <a:pPr algn="ctr"/>
            <a:r>
              <a:rPr lang="pt-BR" b="1" dirty="0"/>
              <a:t>"ter aquário" </a:t>
            </a:r>
          </a:p>
          <a:p>
            <a:pPr algn="ctr"/>
            <a:r>
              <a:rPr lang="pt-BR" b="1" dirty="0"/>
              <a:t>realmente distingue bem </a:t>
            </a:r>
          </a:p>
          <a:p>
            <a:pPr algn="ctr"/>
            <a:r>
              <a:rPr lang="pt-BR" b="1" dirty="0"/>
              <a:t>pessoas casadas de não casadas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pic>
        <p:nvPicPr>
          <p:cNvPr id="16" name="Imagem 15">
            <a:extLst>
              <a:ext uri="{FF2B5EF4-FFF2-40B4-BE49-F238E27FC236}">
                <a16:creationId xmlns:a16="http://schemas.microsoft.com/office/drawing/2014/main" id="{4B7141F8-0736-09B5-E7A6-AC7C937305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50208" y="1543575"/>
            <a:ext cx="3864558" cy="4404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0200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5D904A-64D1-A50F-90BB-2DE28DC94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template_extract/ppt/media/image1.png">
            <a:extLst>
              <a:ext uri="{FF2B5EF4-FFF2-40B4-BE49-F238E27FC236}">
                <a16:creationId xmlns:a16="http://schemas.microsoft.com/office/drawing/2014/main" id="{0908D689-BD27-F2F3-5CF3-199A435EFD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282" y="160020"/>
            <a:ext cx="2423160" cy="512064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AC2C0421-5E96-BE46-4B3A-7A765C1EEF74}"/>
              </a:ext>
            </a:extLst>
          </p:cNvPr>
          <p:cNvSpPr/>
          <p:nvPr/>
        </p:nvSpPr>
        <p:spPr>
          <a:xfrm>
            <a:off x="236610" y="874385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F69BF"/>
                </a:solidFill>
              </a:rPr>
              <a:t>Aula 05</a:t>
            </a:r>
            <a:endParaRPr lang="en-US" sz="13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698E1393-06A5-917B-9986-F7CCBE773EB4}"/>
              </a:ext>
            </a:extLst>
          </p:cNvPr>
          <p:cNvSpPr/>
          <p:nvPr/>
        </p:nvSpPr>
        <p:spPr>
          <a:xfrm>
            <a:off x="242315" y="1148705"/>
            <a:ext cx="271061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tabLst>
                <a:tab pos="0" algn="l"/>
              </a:tabLst>
              <a:defRPr/>
            </a:pPr>
            <a:r>
              <a:rPr lang="en-US" sz="2400" b="1" dirty="0" err="1">
                <a:solidFill>
                  <a:srgbClr val="0B1F3A"/>
                </a:solidFill>
              </a:rPr>
              <a:t>Árvores</a:t>
            </a:r>
            <a:r>
              <a:rPr lang="en-US" sz="2400" b="1" dirty="0">
                <a:solidFill>
                  <a:srgbClr val="0B1F3A"/>
                </a:solidFill>
              </a:rPr>
              <a:t> de </a:t>
            </a:r>
            <a:r>
              <a:rPr lang="en-US" sz="2400" b="1" dirty="0" err="1">
                <a:solidFill>
                  <a:srgbClr val="0B1F3A"/>
                </a:solidFill>
              </a:rPr>
              <a:t>Decisão</a:t>
            </a:r>
            <a:endParaRPr lang="pt-BR" sz="24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1C4450A1-2116-42A4-0E39-A6D864E4E309}"/>
              </a:ext>
            </a:extLst>
          </p:cNvPr>
          <p:cNvSpPr/>
          <p:nvPr/>
        </p:nvSpPr>
        <p:spPr>
          <a:xfrm>
            <a:off x="658368" y="574243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</a:rPr>
              <a:t>Professor Miguél Suares</a:t>
            </a:r>
            <a:endParaRPr lang="en-US" sz="11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197B635A-A879-58A4-6A4A-E24D25BD1282}"/>
              </a:ext>
            </a:extLst>
          </p:cNvPr>
          <p:cNvSpPr/>
          <p:nvPr/>
        </p:nvSpPr>
        <p:spPr>
          <a:xfrm>
            <a:off x="658368" y="60533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850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5BA1CC29-F672-C59F-1040-F63279FE6D56}"/>
              </a:ext>
            </a:extLst>
          </p:cNvPr>
          <p:cNvSpPr txBox="1"/>
          <p:nvPr/>
        </p:nvSpPr>
        <p:spPr>
          <a:xfrm>
            <a:off x="236609" y="1608548"/>
            <a:ext cx="3630343" cy="433965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Tem aquário?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│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└── SIM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│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▼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Tem água?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│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└── SIM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    │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    ▼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Tem peixes?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    │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    └── SIM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         │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         ▼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    Tem filhos?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         │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         └── SIM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              │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              ▼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         É casado?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              │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              └── SIM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DA13970A-BF88-179F-72AE-5F0DA2F2899C}"/>
              </a:ext>
            </a:extLst>
          </p:cNvPr>
          <p:cNvSpPr txBox="1"/>
          <p:nvPr/>
        </p:nvSpPr>
        <p:spPr>
          <a:xfrm>
            <a:off x="236609" y="6236315"/>
            <a:ext cx="117680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i="1" dirty="0"/>
              <a:t>IBM. KAVLAKOGLU, </a:t>
            </a:r>
            <a:r>
              <a:rPr lang="pt-BR" sz="1200" i="1" dirty="0" err="1"/>
              <a:t>Eda</a:t>
            </a:r>
            <a:r>
              <a:rPr lang="pt-BR" sz="1200" i="1" dirty="0"/>
              <a:t>. </a:t>
            </a:r>
            <a:r>
              <a:rPr lang="pt-BR" sz="1200" b="1" i="1" dirty="0"/>
              <a:t>O que é uma </a:t>
            </a:r>
            <a:r>
              <a:rPr lang="pt-BR" sz="1200" b="1" i="1" dirty="0" err="1"/>
              <a:t>Decision</a:t>
            </a:r>
            <a:r>
              <a:rPr lang="pt-BR" sz="1200" b="1" i="1" dirty="0"/>
              <a:t> </a:t>
            </a:r>
            <a:r>
              <a:rPr lang="pt-BR" sz="1200" b="1" i="1" dirty="0" err="1"/>
              <a:t>Tree</a:t>
            </a:r>
            <a:r>
              <a:rPr lang="pt-BR" sz="1200" b="1" i="1" dirty="0"/>
              <a:t>?</a:t>
            </a:r>
            <a:r>
              <a:rPr lang="pt-BR" sz="1200" i="1" dirty="0"/>
              <a:t> IBM </a:t>
            </a:r>
            <a:r>
              <a:rPr lang="pt-BR" sz="1200" i="1" dirty="0" err="1"/>
              <a:t>Think</a:t>
            </a:r>
            <a:r>
              <a:rPr lang="pt-BR" sz="1200" i="1" dirty="0"/>
              <a:t> </a:t>
            </a:r>
            <a:r>
              <a:rPr lang="pt-BR" sz="1200" i="1" dirty="0" err="1"/>
              <a:t>Topics</a:t>
            </a:r>
            <a:r>
              <a:rPr lang="pt-BR" sz="1200" i="1" dirty="0"/>
              <a:t>, 2 nov. 2021. </a:t>
            </a:r>
          </a:p>
          <a:p>
            <a:r>
              <a:rPr lang="pt-BR" sz="1200" i="1" dirty="0"/>
              <a:t>Disponível em: </a:t>
            </a:r>
            <a:r>
              <a:rPr lang="pt-BR" sz="1200" i="1" u="sng" dirty="0">
                <a:hlinkClick r:id="rId4"/>
              </a:rPr>
              <a:t>https://www.ibm.com/</a:t>
            </a:r>
            <a:r>
              <a:rPr lang="pt-BR" sz="1200" i="1" u="sng" dirty="0" err="1">
                <a:hlinkClick r:id="rId4"/>
              </a:rPr>
              <a:t>br-pt</a:t>
            </a:r>
            <a:r>
              <a:rPr lang="pt-BR" sz="1200" i="1" u="sng" dirty="0">
                <a:hlinkClick r:id="rId4"/>
              </a:rPr>
              <a:t>/</a:t>
            </a:r>
            <a:r>
              <a:rPr lang="pt-BR" sz="1200" i="1" u="sng" dirty="0" err="1">
                <a:hlinkClick r:id="rId4"/>
              </a:rPr>
              <a:t>think</a:t>
            </a:r>
            <a:r>
              <a:rPr lang="pt-BR" sz="1200" i="1" u="sng" dirty="0">
                <a:hlinkClick r:id="rId4"/>
              </a:rPr>
              <a:t>/</a:t>
            </a:r>
            <a:r>
              <a:rPr lang="pt-BR" sz="1200" i="1" u="sng" dirty="0" err="1">
                <a:hlinkClick r:id="rId4"/>
              </a:rPr>
              <a:t>topics</a:t>
            </a:r>
            <a:r>
              <a:rPr lang="pt-BR" sz="1200" i="1" u="sng" dirty="0">
                <a:hlinkClick r:id="rId4"/>
              </a:rPr>
              <a:t>/</a:t>
            </a:r>
            <a:r>
              <a:rPr lang="pt-BR" sz="1200" i="1" u="sng" dirty="0" err="1">
                <a:hlinkClick r:id="rId4"/>
              </a:rPr>
              <a:t>decision-trees</a:t>
            </a:r>
            <a:r>
              <a:rPr lang="pt-BR" sz="1200" i="1" dirty="0"/>
              <a:t>. Acesso em: 6 out. 2026.</a:t>
            </a:r>
          </a:p>
        </p:txBody>
      </p:sp>
      <p:graphicFrame>
        <p:nvGraphicFramePr>
          <p:cNvPr id="9" name="Tabela 8">
            <a:extLst>
              <a:ext uri="{FF2B5EF4-FFF2-40B4-BE49-F238E27FC236}">
                <a16:creationId xmlns:a16="http://schemas.microsoft.com/office/drawing/2014/main" id="{2C2C385C-9FAF-CBC6-DB35-F4DCD9202F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7135152"/>
              </p:ext>
            </p:extLst>
          </p:nvPr>
        </p:nvGraphicFramePr>
        <p:xfrm>
          <a:off x="4068659" y="1885910"/>
          <a:ext cx="7041858" cy="4023360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1560354">
                  <a:extLst>
                    <a:ext uri="{9D8B030D-6E8A-4147-A177-3AD203B41FA5}">
                      <a16:colId xmlns:a16="http://schemas.microsoft.com/office/drawing/2014/main" val="2228238485"/>
                    </a:ext>
                  </a:extLst>
                </a:gridCol>
                <a:gridCol w="2608976">
                  <a:extLst>
                    <a:ext uri="{9D8B030D-6E8A-4147-A177-3AD203B41FA5}">
                      <a16:colId xmlns:a16="http://schemas.microsoft.com/office/drawing/2014/main" val="1989440652"/>
                    </a:ext>
                  </a:extLst>
                </a:gridCol>
                <a:gridCol w="2872528">
                  <a:extLst>
                    <a:ext uri="{9D8B030D-6E8A-4147-A177-3AD203B41FA5}">
                      <a16:colId xmlns:a16="http://schemas.microsoft.com/office/drawing/2014/main" val="3198608754"/>
                    </a:ext>
                  </a:extLst>
                </a:gridCol>
              </a:tblGrid>
              <a:tr h="3346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b="1" dirty="0"/>
                        <a:t>Pessoa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b="1" dirty="0"/>
                        <a:t>(X) Tem aquário?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b="1" dirty="0"/>
                        <a:t>(Y) Casado?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38157698"/>
                  </a:ext>
                </a:extLst>
              </a:tr>
              <a:tr h="3346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dirty="0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dirty="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2791837"/>
                  </a:ext>
                </a:extLst>
              </a:tr>
              <a:tr h="3346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dirty="0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dirty="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4729674"/>
                  </a:ext>
                </a:extLst>
              </a:tr>
              <a:tr h="3346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dirty="0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dirty="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769423"/>
                  </a:ext>
                </a:extLst>
              </a:tr>
              <a:tr h="3346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dirty="0"/>
                        <a:t>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dirty="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dirty="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1879148"/>
                  </a:ext>
                </a:extLst>
              </a:tr>
              <a:tr h="3346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dirty="0"/>
                        <a:t>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dirty="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dirty="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500466"/>
                  </a:ext>
                </a:extLst>
              </a:tr>
              <a:tr h="3346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dirty="0"/>
                        <a:t>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dirty="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dirty="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2217073"/>
                  </a:ext>
                </a:extLst>
              </a:tr>
              <a:tr h="3346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dirty="0"/>
                        <a:t>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dirty="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dirty="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5841799"/>
                  </a:ext>
                </a:extLst>
              </a:tr>
              <a:tr h="3346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dirty="0"/>
                        <a:t>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dirty="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dirty="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1030487"/>
                  </a:ext>
                </a:extLst>
              </a:tr>
              <a:tr h="3346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dirty="0"/>
                        <a:t>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dirty="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dirty="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6995698"/>
                  </a:ext>
                </a:extLst>
              </a:tr>
              <a:tr h="3346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dirty="0"/>
                        <a:t>J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dirty="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dirty="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9410979"/>
                  </a:ext>
                </a:extLst>
              </a:tr>
            </a:tbl>
          </a:graphicData>
        </a:graphic>
      </p:graphicFrame>
      <p:sp>
        <p:nvSpPr>
          <p:cNvPr id="10" name="CaixaDeTexto 9">
            <a:extLst>
              <a:ext uri="{FF2B5EF4-FFF2-40B4-BE49-F238E27FC236}">
                <a16:creationId xmlns:a16="http://schemas.microsoft.com/office/drawing/2014/main" id="{69CE183F-F927-A5C2-A4E4-4E3ACC874199}"/>
              </a:ext>
            </a:extLst>
          </p:cNvPr>
          <p:cNvSpPr txBox="1"/>
          <p:nvPr/>
        </p:nvSpPr>
        <p:spPr>
          <a:xfrm>
            <a:off x="4068659" y="1493441"/>
            <a:ext cx="4572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Joaquim encontrou e classificou 10 pessoas</a:t>
            </a:r>
          </a:p>
        </p:txBody>
      </p:sp>
    </p:spTree>
    <p:extLst>
      <p:ext uri="{BB962C8B-B14F-4D97-AF65-F5344CB8AC3E}">
        <p14:creationId xmlns:p14="http://schemas.microsoft.com/office/powerpoint/2010/main" val="28169663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921E20-4C24-0331-2CC5-3560596F9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template_extract/ppt/media/image1.png">
            <a:extLst>
              <a:ext uri="{FF2B5EF4-FFF2-40B4-BE49-F238E27FC236}">
                <a16:creationId xmlns:a16="http://schemas.microsoft.com/office/drawing/2014/main" id="{E223102D-908E-0448-56F3-DB03CFA4A5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282" y="160020"/>
            <a:ext cx="2423160" cy="512064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020C15EF-9F73-4B7D-6E1F-2BB04E9C7627}"/>
              </a:ext>
            </a:extLst>
          </p:cNvPr>
          <p:cNvSpPr/>
          <p:nvPr/>
        </p:nvSpPr>
        <p:spPr>
          <a:xfrm>
            <a:off x="236610" y="874385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F69BF"/>
                </a:solidFill>
              </a:rPr>
              <a:t>Aula 05</a:t>
            </a:r>
            <a:endParaRPr lang="en-US" sz="13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B00257AF-6AED-92DA-9F3E-3039D7B280B4}"/>
              </a:ext>
            </a:extLst>
          </p:cNvPr>
          <p:cNvSpPr/>
          <p:nvPr/>
        </p:nvSpPr>
        <p:spPr>
          <a:xfrm>
            <a:off x="242315" y="1148705"/>
            <a:ext cx="271061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tabLst>
                <a:tab pos="0" algn="l"/>
              </a:tabLst>
              <a:defRPr/>
            </a:pPr>
            <a:r>
              <a:rPr lang="en-US" sz="2400" b="1" dirty="0" err="1">
                <a:solidFill>
                  <a:srgbClr val="0B1F3A"/>
                </a:solidFill>
              </a:rPr>
              <a:t>Árvores</a:t>
            </a:r>
            <a:r>
              <a:rPr lang="en-US" sz="2400" b="1" dirty="0">
                <a:solidFill>
                  <a:srgbClr val="0B1F3A"/>
                </a:solidFill>
              </a:rPr>
              <a:t> de </a:t>
            </a:r>
            <a:r>
              <a:rPr lang="en-US" sz="2400" b="1" dirty="0" err="1">
                <a:solidFill>
                  <a:srgbClr val="0B1F3A"/>
                </a:solidFill>
              </a:rPr>
              <a:t>Decisão</a:t>
            </a:r>
            <a:r>
              <a:rPr lang="en-US" sz="2400" b="1" dirty="0">
                <a:solidFill>
                  <a:srgbClr val="0B1F3A"/>
                </a:solidFill>
              </a:rPr>
              <a:t> </a:t>
            </a:r>
            <a:endParaRPr lang="pt-BR" sz="24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BBC4C88E-1086-9E2C-8EA3-74AF63E86E44}"/>
              </a:ext>
            </a:extLst>
          </p:cNvPr>
          <p:cNvSpPr/>
          <p:nvPr/>
        </p:nvSpPr>
        <p:spPr>
          <a:xfrm>
            <a:off x="658368" y="574243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</a:rPr>
              <a:t>Professor Miguél Suares</a:t>
            </a:r>
            <a:endParaRPr lang="en-US" sz="11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09867A71-7C63-A1E2-BE3B-F2BC983C7142}"/>
              </a:ext>
            </a:extLst>
          </p:cNvPr>
          <p:cNvSpPr/>
          <p:nvPr/>
        </p:nvSpPr>
        <p:spPr>
          <a:xfrm>
            <a:off x="658368" y="60533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850" dirty="0"/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2F72FE6C-44E0-4EF1-48E0-CD1A2152E667}"/>
              </a:ext>
            </a:extLst>
          </p:cNvPr>
          <p:cNvSpPr txBox="1"/>
          <p:nvPr/>
        </p:nvSpPr>
        <p:spPr>
          <a:xfrm>
            <a:off x="236609" y="6236315"/>
            <a:ext cx="117680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i="1" dirty="0"/>
              <a:t>IBM. KAVLAKOGLU, </a:t>
            </a:r>
            <a:r>
              <a:rPr lang="pt-BR" sz="1200" i="1" dirty="0" err="1"/>
              <a:t>Eda</a:t>
            </a:r>
            <a:r>
              <a:rPr lang="pt-BR" sz="1200" i="1" dirty="0"/>
              <a:t>. </a:t>
            </a:r>
            <a:r>
              <a:rPr lang="pt-BR" sz="1200" b="1" i="1" dirty="0"/>
              <a:t>O que é uma </a:t>
            </a:r>
            <a:r>
              <a:rPr lang="pt-BR" sz="1200" b="1" i="1" dirty="0" err="1"/>
              <a:t>Decision</a:t>
            </a:r>
            <a:r>
              <a:rPr lang="pt-BR" sz="1200" b="1" i="1" dirty="0"/>
              <a:t> </a:t>
            </a:r>
            <a:r>
              <a:rPr lang="pt-BR" sz="1200" b="1" i="1" dirty="0" err="1"/>
              <a:t>Tree</a:t>
            </a:r>
            <a:r>
              <a:rPr lang="pt-BR" sz="1200" b="1" i="1" dirty="0"/>
              <a:t>?</a:t>
            </a:r>
            <a:r>
              <a:rPr lang="pt-BR" sz="1200" i="1" dirty="0"/>
              <a:t> IBM </a:t>
            </a:r>
            <a:r>
              <a:rPr lang="pt-BR" sz="1200" i="1" dirty="0" err="1"/>
              <a:t>Think</a:t>
            </a:r>
            <a:r>
              <a:rPr lang="pt-BR" sz="1200" i="1" dirty="0"/>
              <a:t> </a:t>
            </a:r>
            <a:r>
              <a:rPr lang="pt-BR" sz="1200" i="1" dirty="0" err="1"/>
              <a:t>Topics</a:t>
            </a:r>
            <a:r>
              <a:rPr lang="pt-BR" sz="1200" i="1" dirty="0"/>
              <a:t>, 2 nov. 2021. </a:t>
            </a:r>
          </a:p>
          <a:p>
            <a:r>
              <a:rPr lang="pt-BR" sz="1200" i="1" dirty="0"/>
              <a:t>Disponível em: </a:t>
            </a:r>
            <a:r>
              <a:rPr lang="pt-BR" sz="1200" i="1" u="sng" dirty="0">
                <a:hlinkClick r:id="rId4"/>
              </a:rPr>
              <a:t>https://www.ibm.com/</a:t>
            </a:r>
            <a:r>
              <a:rPr lang="pt-BR" sz="1200" i="1" u="sng" dirty="0" err="1">
                <a:hlinkClick r:id="rId4"/>
              </a:rPr>
              <a:t>br-pt</a:t>
            </a:r>
            <a:r>
              <a:rPr lang="pt-BR" sz="1200" i="1" u="sng" dirty="0">
                <a:hlinkClick r:id="rId4"/>
              </a:rPr>
              <a:t>/</a:t>
            </a:r>
            <a:r>
              <a:rPr lang="pt-BR" sz="1200" i="1" u="sng" dirty="0" err="1">
                <a:hlinkClick r:id="rId4"/>
              </a:rPr>
              <a:t>think</a:t>
            </a:r>
            <a:r>
              <a:rPr lang="pt-BR" sz="1200" i="1" u="sng" dirty="0">
                <a:hlinkClick r:id="rId4"/>
              </a:rPr>
              <a:t>/</a:t>
            </a:r>
            <a:r>
              <a:rPr lang="pt-BR" sz="1200" i="1" u="sng" dirty="0" err="1">
                <a:hlinkClick r:id="rId4"/>
              </a:rPr>
              <a:t>topics</a:t>
            </a:r>
            <a:r>
              <a:rPr lang="pt-BR" sz="1200" i="1" u="sng" dirty="0">
                <a:hlinkClick r:id="rId4"/>
              </a:rPr>
              <a:t>/</a:t>
            </a:r>
            <a:r>
              <a:rPr lang="pt-BR" sz="1200" i="1" u="sng" dirty="0" err="1">
                <a:hlinkClick r:id="rId4"/>
              </a:rPr>
              <a:t>decision-trees</a:t>
            </a:r>
            <a:r>
              <a:rPr lang="pt-BR" sz="1200" i="1" dirty="0"/>
              <a:t>. Acesso em: 6 out. 2026.</a:t>
            </a:r>
          </a:p>
        </p:txBody>
      </p:sp>
      <p:graphicFrame>
        <p:nvGraphicFramePr>
          <p:cNvPr id="9" name="Tabela 8">
            <a:extLst>
              <a:ext uri="{FF2B5EF4-FFF2-40B4-BE49-F238E27FC236}">
                <a16:creationId xmlns:a16="http://schemas.microsoft.com/office/drawing/2014/main" id="{471F2EA1-4D83-3C96-19E5-C622596CBB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4727901"/>
              </p:ext>
            </p:extLst>
          </p:nvPr>
        </p:nvGraphicFramePr>
        <p:xfrm>
          <a:off x="193282" y="2070316"/>
          <a:ext cx="7041858" cy="3681348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1560354">
                  <a:extLst>
                    <a:ext uri="{9D8B030D-6E8A-4147-A177-3AD203B41FA5}">
                      <a16:colId xmlns:a16="http://schemas.microsoft.com/office/drawing/2014/main" val="2228238485"/>
                    </a:ext>
                  </a:extLst>
                </a:gridCol>
                <a:gridCol w="2608976">
                  <a:extLst>
                    <a:ext uri="{9D8B030D-6E8A-4147-A177-3AD203B41FA5}">
                      <a16:colId xmlns:a16="http://schemas.microsoft.com/office/drawing/2014/main" val="1989440652"/>
                    </a:ext>
                  </a:extLst>
                </a:gridCol>
                <a:gridCol w="2872528">
                  <a:extLst>
                    <a:ext uri="{9D8B030D-6E8A-4147-A177-3AD203B41FA5}">
                      <a16:colId xmlns:a16="http://schemas.microsoft.com/office/drawing/2014/main" val="3198608754"/>
                    </a:ext>
                  </a:extLst>
                </a:gridCol>
              </a:tblGrid>
              <a:tr h="3346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1" dirty="0"/>
                        <a:t>Pessoa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1" dirty="0"/>
                        <a:t>(X) Tem aquário?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1" dirty="0"/>
                        <a:t>(Y) Casado?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38157698"/>
                  </a:ext>
                </a:extLst>
              </a:tr>
              <a:tr h="3346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2791837"/>
                  </a:ext>
                </a:extLst>
              </a:tr>
              <a:tr h="3346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4729674"/>
                  </a:ext>
                </a:extLst>
              </a:tr>
              <a:tr h="3346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769423"/>
                  </a:ext>
                </a:extLst>
              </a:tr>
              <a:tr h="3346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/>
                        <a:t>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1879148"/>
                  </a:ext>
                </a:extLst>
              </a:tr>
              <a:tr h="3346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/>
                        <a:t>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500466"/>
                  </a:ext>
                </a:extLst>
              </a:tr>
              <a:tr h="3346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/>
                        <a:t>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2217073"/>
                  </a:ext>
                </a:extLst>
              </a:tr>
              <a:tr h="3346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/>
                        <a:t>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5841799"/>
                  </a:ext>
                </a:extLst>
              </a:tr>
              <a:tr h="3346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/>
                        <a:t>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1030487"/>
                  </a:ext>
                </a:extLst>
              </a:tr>
              <a:tr h="3346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/>
                        <a:t>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6995698"/>
                  </a:ext>
                </a:extLst>
              </a:tr>
              <a:tr h="3346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/>
                        <a:t>J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dirty="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9410979"/>
                  </a:ext>
                </a:extLst>
              </a:tr>
            </a:tbl>
          </a:graphicData>
        </a:graphic>
      </p:graphicFrame>
      <p:sp>
        <p:nvSpPr>
          <p:cNvPr id="10" name="CaixaDeTexto 9">
            <a:extLst>
              <a:ext uri="{FF2B5EF4-FFF2-40B4-BE49-F238E27FC236}">
                <a16:creationId xmlns:a16="http://schemas.microsoft.com/office/drawing/2014/main" id="{8641EBF6-6C6A-ABB2-7EA5-AFCF52E70F37}"/>
              </a:ext>
            </a:extLst>
          </p:cNvPr>
          <p:cNvSpPr txBox="1"/>
          <p:nvPr/>
        </p:nvSpPr>
        <p:spPr>
          <a:xfrm>
            <a:off x="193282" y="1677847"/>
            <a:ext cx="4572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Joaquim encontrou e classificou 10 pessoas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DEE6DD3F-B094-E563-E4FF-8F7B8F776058}"/>
              </a:ext>
            </a:extLst>
          </p:cNvPr>
          <p:cNvSpPr txBox="1"/>
          <p:nvPr/>
        </p:nvSpPr>
        <p:spPr>
          <a:xfrm>
            <a:off x="7600498" y="4736001"/>
            <a:ext cx="3690077" cy="156966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pt-BR" sz="1200" dirty="0">
                <a:solidFill>
                  <a:srgbClr val="37474F"/>
                </a:solidFill>
                <a:highlight>
                  <a:srgbClr val="00FF00"/>
                </a:highlight>
                <a:latin typeface="Roboto Mono" pitchFamily="2" charset="0"/>
              </a:rPr>
              <a:t>🟢 – Casado</a:t>
            </a:r>
          </a:p>
          <a:p>
            <a:r>
              <a:rPr lang="pt-BR" sz="1200" dirty="0">
                <a:solidFill>
                  <a:srgbClr val="37474F"/>
                </a:solidFill>
                <a:highlight>
                  <a:srgbClr val="FF7474"/>
                </a:highlight>
                <a:latin typeface="Roboto Mono" pitchFamily="2" charset="0"/>
              </a:rPr>
              <a:t>🔴 – Solteiro</a:t>
            </a:r>
          </a:p>
          <a:p>
            <a:endParaRPr lang="pt-BR" sz="1200" dirty="0">
              <a:solidFill>
                <a:srgbClr val="37474F"/>
              </a:solidFill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</a:t>
            </a:r>
            <a:r>
              <a:rPr lang="pt-BR" sz="1200" b="0" i="0" dirty="0">
                <a:solidFill>
                  <a:srgbClr val="37474F"/>
                </a:solidFill>
                <a:effectLst/>
                <a:highlight>
                  <a:srgbClr val="C0C0C0"/>
                </a:highlight>
                <a:latin typeface="Roboto Mono" pitchFamily="2" charset="0"/>
              </a:rPr>
              <a:t>TEM AQUÁRIO?</a:t>
            </a:r>
            <a:endParaRPr lang="pt-BR" sz="1200" b="0" i="0" dirty="0">
              <a:solidFill>
                <a:srgbClr val="000000"/>
              </a:solidFill>
              <a:effectLst/>
              <a:highlight>
                <a:srgbClr val="C0C0C0"/>
              </a:highlight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/             \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SIM               NÃO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│                 │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highlight>
                  <a:srgbClr val="00FF00"/>
                </a:highlight>
                <a:latin typeface="Roboto Mono" pitchFamily="2" charset="0"/>
              </a:rPr>
              <a:t>🟢 🟢 🟢 🟢 🔴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</a:t>
            </a:r>
            <a:r>
              <a:rPr lang="pt-BR" sz="1200" b="0" i="0" dirty="0">
                <a:solidFill>
                  <a:srgbClr val="37474F"/>
                </a:solidFill>
                <a:effectLst/>
                <a:highlight>
                  <a:srgbClr val="FF7474"/>
                </a:highlight>
                <a:latin typeface="Roboto Mono" pitchFamily="2" charset="0"/>
              </a:rPr>
              <a:t>🟢 🔴 🔴 🔴 🔴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3736A89A-2E85-364A-69F3-16C58E8A4C0D}"/>
              </a:ext>
            </a:extLst>
          </p:cNvPr>
          <p:cNvSpPr txBox="1"/>
          <p:nvPr/>
        </p:nvSpPr>
        <p:spPr>
          <a:xfrm>
            <a:off x="7877334" y="2398158"/>
            <a:ext cx="3186771" cy="14083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l">
              <a:lnSpc>
                <a:spcPts val="1688"/>
              </a:lnSpc>
              <a:buNone/>
            </a:pPr>
            <a:r>
              <a:rPr lang="pt-BR" b="0" i="0" dirty="0">
                <a:solidFill>
                  <a:srgbClr val="37474F"/>
                </a:solidFill>
                <a:effectLst/>
                <a:highlight>
                  <a:srgbClr val="C0C0C0"/>
                </a:highlight>
                <a:latin typeface="Roboto Mono" pitchFamily="2" charset="0"/>
              </a:rPr>
              <a:t>    TEM AQUÁRIO?</a:t>
            </a:r>
            <a:endParaRPr lang="pt-BR" b="0" i="0" dirty="0">
              <a:solidFill>
                <a:srgbClr val="000000"/>
              </a:solidFill>
              <a:effectLst/>
              <a:highlight>
                <a:srgbClr val="C0C0C0"/>
              </a:highlight>
              <a:latin typeface="Roboto Mono" pitchFamily="2" charset="0"/>
            </a:endParaRPr>
          </a:p>
          <a:p>
            <a:pPr algn="l">
              <a:lnSpc>
                <a:spcPts val="1688"/>
              </a:lnSpc>
              <a:buNone/>
            </a:pP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/   \</a:t>
            </a:r>
            <a:endParaRPr lang="pt-BR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1688"/>
              </a:lnSpc>
              <a:buNone/>
            </a:pP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</a:t>
            </a:r>
            <a:r>
              <a:rPr lang="pt-BR" b="0" i="0" dirty="0">
                <a:solidFill>
                  <a:srgbClr val="37474F"/>
                </a:solidFill>
                <a:effectLst/>
                <a:highlight>
                  <a:srgbClr val="00FF00"/>
                </a:highlight>
                <a:latin typeface="Roboto Mono" pitchFamily="2" charset="0"/>
              </a:rPr>
              <a:t>SIM</a:t>
            </a: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</a:t>
            </a:r>
            <a:r>
              <a:rPr lang="pt-BR" b="0" i="0" dirty="0">
                <a:solidFill>
                  <a:srgbClr val="37474F"/>
                </a:solidFill>
                <a:effectLst/>
                <a:highlight>
                  <a:srgbClr val="FF0000"/>
                </a:highlight>
                <a:latin typeface="Roboto Mono" pitchFamily="2" charset="0"/>
              </a:rPr>
              <a:t>NÃO</a:t>
            </a:r>
            <a:endParaRPr lang="pt-BR" b="0" i="0" dirty="0">
              <a:solidFill>
                <a:srgbClr val="000000"/>
              </a:solidFill>
              <a:effectLst/>
              <a:highlight>
                <a:srgbClr val="FF0000"/>
              </a:highlight>
              <a:latin typeface="Roboto Mono" pitchFamily="2" charset="0"/>
            </a:endParaRPr>
          </a:p>
          <a:p>
            <a:pPr algn="l">
              <a:lnSpc>
                <a:spcPts val="1688"/>
              </a:lnSpc>
              <a:buNone/>
            </a:pP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/      \</a:t>
            </a:r>
            <a:endParaRPr lang="pt-BR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1688"/>
              </a:lnSpc>
              <a:buNone/>
            </a:pP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▼       ▼</a:t>
            </a:r>
            <a:endParaRPr lang="pt-BR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1688"/>
              </a:lnSpc>
              <a:buNone/>
            </a:pPr>
            <a:r>
              <a:rPr lang="pt-BR" b="0" i="0" dirty="0">
                <a:solidFill>
                  <a:srgbClr val="37474F"/>
                </a:solidFill>
                <a:effectLst/>
                <a:highlight>
                  <a:srgbClr val="00FF00"/>
                </a:highlight>
                <a:latin typeface="Roboto Mono" pitchFamily="2" charset="0"/>
              </a:rPr>
              <a:t>É CASADO</a:t>
            </a: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</a:t>
            </a:r>
            <a:r>
              <a:rPr lang="pt-BR" b="0" i="0" dirty="0">
                <a:solidFill>
                  <a:srgbClr val="37474F"/>
                </a:solidFill>
                <a:effectLst/>
                <a:highlight>
                  <a:srgbClr val="FF7C7C"/>
                </a:highlight>
                <a:latin typeface="Roboto Mono" pitchFamily="2" charset="0"/>
              </a:rPr>
              <a:t>NÃO É CASADO</a:t>
            </a:r>
            <a:endParaRPr lang="pt-BR" dirty="0">
              <a:highlight>
                <a:srgbClr val="FF7C7C"/>
              </a:highlight>
            </a:endParaRP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B29F4C44-E6A2-20BE-152F-982887D314F9}"/>
              </a:ext>
            </a:extLst>
          </p:cNvPr>
          <p:cNvSpPr txBox="1"/>
          <p:nvPr/>
        </p:nvSpPr>
        <p:spPr>
          <a:xfrm>
            <a:off x="8455953" y="1937333"/>
            <a:ext cx="1515543" cy="369332"/>
          </a:xfrm>
          <a:prstGeom prst="rect">
            <a:avLst/>
          </a:prstGeom>
          <a:solidFill>
            <a:srgbClr val="FF7474"/>
          </a:solidFill>
        </p:spPr>
        <p:txBody>
          <a:bodyPr wrap="none" rtlCol="0">
            <a:spAutoFit/>
          </a:bodyPr>
          <a:lstStyle/>
          <a:p>
            <a:r>
              <a:rPr lang="pt-BR" dirty="0"/>
              <a:t>ESPECTATIVA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709E497B-2DD3-712F-EF64-78F99B3161E2}"/>
              </a:ext>
            </a:extLst>
          </p:cNvPr>
          <p:cNvSpPr txBox="1"/>
          <p:nvPr/>
        </p:nvSpPr>
        <p:spPr>
          <a:xfrm>
            <a:off x="8605363" y="4251350"/>
            <a:ext cx="1366133" cy="369332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r>
              <a:rPr lang="pt-BR" dirty="0"/>
              <a:t>REALIDADE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F892C4C0-8030-27C0-99DD-DBE5AA6E0116}"/>
              </a:ext>
            </a:extLst>
          </p:cNvPr>
          <p:cNvSpPr txBox="1"/>
          <p:nvPr/>
        </p:nvSpPr>
        <p:spPr>
          <a:xfrm>
            <a:off x="5620902" y="702193"/>
            <a:ext cx="4350594" cy="923330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pPr algn="ctr"/>
            <a:r>
              <a:rPr lang="pt-BR" dirty="0"/>
              <a:t>"A pergunta </a:t>
            </a:r>
          </a:p>
          <a:p>
            <a:pPr algn="ctr"/>
            <a:r>
              <a:rPr lang="pt-BR" dirty="0"/>
              <a:t>'</a:t>
            </a:r>
            <a:r>
              <a:rPr lang="pt-BR" b="1" dirty="0"/>
              <a:t>Tem aquário?</a:t>
            </a:r>
            <a:r>
              <a:rPr lang="pt-BR" dirty="0"/>
              <a:t>’ </a:t>
            </a:r>
          </a:p>
          <a:p>
            <a:pPr algn="ctr"/>
            <a:r>
              <a:rPr lang="pt-BR" dirty="0"/>
              <a:t>consegue separar bem as duas classes?"</a:t>
            </a:r>
          </a:p>
        </p:txBody>
      </p:sp>
    </p:spTree>
    <p:extLst>
      <p:ext uri="{BB962C8B-B14F-4D97-AF65-F5344CB8AC3E}">
        <p14:creationId xmlns:p14="http://schemas.microsoft.com/office/powerpoint/2010/main" val="19467273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B202AA-2C79-7071-8ABF-16C084951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template_extract/ppt/media/image1.png">
            <a:extLst>
              <a:ext uri="{FF2B5EF4-FFF2-40B4-BE49-F238E27FC236}">
                <a16:creationId xmlns:a16="http://schemas.microsoft.com/office/drawing/2014/main" id="{FB1F0C9F-C479-1D8A-9F03-237F881EE5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282" y="160020"/>
            <a:ext cx="2423160" cy="512064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9311902C-B321-970B-EA34-259E0C9F46B7}"/>
              </a:ext>
            </a:extLst>
          </p:cNvPr>
          <p:cNvSpPr/>
          <p:nvPr/>
        </p:nvSpPr>
        <p:spPr>
          <a:xfrm>
            <a:off x="236610" y="874385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F69BF"/>
                </a:solidFill>
              </a:rPr>
              <a:t>Aula 05</a:t>
            </a:r>
            <a:endParaRPr lang="en-US" sz="13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D3C62EF2-2EA4-2CC5-12E0-69B93C43C889}"/>
              </a:ext>
            </a:extLst>
          </p:cNvPr>
          <p:cNvSpPr/>
          <p:nvPr/>
        </p:nvSpPr>
        <p:spPr>
          <a:xfrm>
            <a:off x="242315" y="1148705"/>
            <a:ext cx="369007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tabLst>
                <a:tab pos="0" algn="l"/>
              </a:tabLst>
              <a:defRPr/>
            </a:pPr>
            <a:r>
              <a:rPr lang="en-US" sz="2400" b="1" dirty="0" err="1">
                <a:solidFill>
                  <a:srgbClr val="0B1F3A"/>
                </a:solidFill>
              </a:rPr>
              <a:t>Árvores</a:t>
            </a:r>
            <a:r>
              <a:rPr lang="en-US" sz="2400" b="1" dirty="0">
                <a:solidFill>
                  <a:srgbClr val="0B1F3A"/>
                </a:solidFill>
              </a:rPr>
              <a:t> de </a:t>
            </a:r>
            <a:r>
              <a:rPr lang="en-US" sz="2400" b="1" dirty="0" err="1">
                <a:solidFill>
                  <a:srgbClr val="0B1F3A"/>
                </a:solidFill>
              </a:rPr>
              <a:t>Decisão</a:t>
            </a:r>
            <a:r>
              <a:rPr lang="en-US" sz="2400" b="1" dirty="0">
                <a:solidFill>
                  <a:srgbClr val="0B1F3A"/>
                </a:solidFill>
              </a:rPr>
              <a:t> - </a:t>
            </a:r>
            <a:r>
              <a:rPr lang="en-US" sz="2400" b="1" dirty="0" err="1">
                <a:solidFill>
                  <a:srgbClr val="0B1F3A"/>
                </a:solidFill>
              </a:rPr>
              <a:t>Nós</a:t>
            </a:r>
            <a:r>
              <a:rPr lang="en-US" sz="2400" b="1" dirty="0">
                <a:solidFill>
                  <a:srgbClr val="0B1F3A"/>
                </a:solidFill>
              </a:rPr>
              <a:t> </a:t>
            </a:r>
            <a:endParaRPr lang="pt-BR" sz="24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8D58504D-D4B0-5D9F-F73B-6FCCD71A920D}"/>
              </a:ext>
            </a:extLst>
          </p:cNvPr>
          <p:cNvSpPr/>
          <p:nvPr/>
        </p:nvSpPr>
        <p:spPr>
          <a:xfrm>
            <a:off x="658368" y="574243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</a:rPr>
              <a:t>Professor Miguél Suares</a:t>
            </a:r>
            <a:endParaRPr lang="en-US" sz="11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40E3A36C-D51C-BA58-CA20-6D57BD4EC766}"/>
              </a:ext>
            </a:extLst>
          </p:cNvPr>
          <p:cNvSpPr/>
          <p:nvPr/>
        </p:nvSpPr>
        <p:spPr>
          <a:xfrm>
            <a:off x="658368" y="60533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850" dirty="0"/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74E4EEAE-AFEE-E97B-D103-8D8DD25C4E2C}"/>
              </a:ext>
            </a:extLst>
          </p:cNvPr>
          <p:cNvSpPr txBox="1"/>
          <p:nvPr/>
        </p:nvSpPr>
        <p:spPr>
          <a:xfrm>
            <a:off x="236609" y="6236315"/>
            <a:ext cx="117680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i="1" dirty="0"/>
              <a:t>IBM. KAVLAKOGLU, </a:t>
            </a:r>
            <a:r>
              <a:rPr lang="pt-BR" sz="1200" i="1" dirty="0" err="1"/>
              <a:t>Eda</a:t>
            </a:r>
            <a:r>
              <a:rPr lang="pt-BR" sz="1200" i="1" dirty="0"/>
              <a:t>. </a:t>
            </a:r>
            <a:r>
              <a:rPr lang="pt-BR" sz="1200" b="1" i="1" dirty="0"/>
              <a:t>O que é uma </a:t>
            </a:r>
            <a:r>
              <a:rPr lang="pt-BR" sz="1200" b="1" i="1" dirty="0" err="1"/>
              <a:t>Decision</a:t>
            </a:r>
            <a:r>
              <a:rPr lang="pt-BR" sz="1200" b="1" i="1" dirty="0"/>
              <a:t> </a:t>
            </a:r>
            <a:r>
              <a:rPr lang="pt-BR" sz="1200" b="1" i="1" dirty="0" err="1"/>
              <a:t>Tree</a:t>
            </a:r>
            <a:r>
              <a:rPr lang="pt-BR" sz="1200" b="1" i="1" dirty="0"/>
              <a:t>?</a:t>
            </a:r>
            <a:r>
              <a:rPr lang="pt-BR" sz="1200" i="1" dirty="0"/>
              <a:t> IBM </a:t>
            </a:r>
            <a:r>
              <a:rPr lang="pt-BR" sz="1200" i="1" dirty="0" err="1"/>
              <a:t>Think</a:t>
            </a:r>
            <a:r>
              <a:rPr lang="pt-BR" sz="1200" i="1" dirty="0"/>
              <a:t> </a:t>
            </a:r>
            <a:r>
              <a:rPr lang="pt-BR" sz="1200" i="1" dirty="0" err="1"/>
              <a:t>Topics</a:t>
            </a:r>
            <a:r>
              <a:rPr lang="pt-BR" sz="1200" i="1" dirty="0"/>
              <a:t>, 2 nov. 2021. </a:t>
            </a:r>
          </a:p>
          <a:p>
            <a:r>
              <a:rPr lang="pt-BR" sz="1200" i="1" dirty="0"/>
              <a:t>Disponível em: </a:t>
            </a:r>
            <a:r>
              <a:rPr lang="pt-BR" sz="1200" i="1" u="sng" dirty="0">
                <a:hlinkClick r:id="rId4"/>
              </a:rPr>
              <a:t>https://www.ibm.com/</a:t>
            </a:r>
            <a:r>
              <a:rPr lang="pt-BR" sz="1200" i="1" u="sng" dirty="0" err="1">
                <a:hlinkClick r:id="rId4"/>
              </a:rPr>
              <a:t>br-pt</a:t>
            </a:r>
            <a:r>
              <a:rPr lang="pt-BR" sz="1200" i="1" u="sng" dirty="0">
                <a:hlinkClick r:id="rId4"/>
              </a:rPr>
              <a:t>/</a:t>
            </a:r>
            <a:r>
              <a:rPr lang="pt-BR" sz="1200" i="1" u="sng" dirty="0" err="1">
                <a:hlinkClick r:id="rId4"/>
              </a:rPr>
              <a:t>think</a:t>
            </a:r>
            <a:r>
              <a:rPr lang="pt-BR" sz="1200" i="1" u="sng" dirty="0">
                <a:hlinkClick r:id="rId4"/>
              </a:rPr>
              <a:t>/</a:t>
            </a:r>
            <a:r>
              <a:rPr lang="pt-BR" sz="1200" i="1" u="sng" dirty="0" err="1">
                <a:hlinkClick r:id="rId4"/>
              </a:rPr>
              <a:t>topics</a:t>
            </a:r>
            <a:r>
              <a:rPr lang="pt-BR" sz="1200" i="1" u="sng" dirty="0">
                <a:hlinkClick r:id="rId4"/>
              </a:rPr>
              <a:t>/</a:t>
            </a:r>
            <a:r>
              <a:rPr lang="pt-BR" sz="1200" i="1" u="sng" dirty="0" err="1">
                <a:hlinkClick r:id="rId4"/>
              </a:rPr>
              <a:t>decision-trees</a:t>
            </a:r>
            <a:r>
              <a:rPr lang="pt-BR" sz="1200" i="1" dirty="0"/>
              <a:t>. Acesso em: 6 out. 2026.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9C3191DB-914F-5F12-CEA3-2BC46AAEFF6A}"/>
              </a:ext>
            </a:extLst>
          </p:cNvPr>
          <p:cNvSpPr txBox="1"/>
          <p:nvPr/>
        </p:nvSpPr>
        <p:spPr>
          <a:xfrm>
            <a:off x="100740" y="1898028"/>
            <a:ext cx="3690077" cy="212365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pt-BR" sz="1200" dirty="0">
                <a:solidFill>
                  <a:srgbClr val="37474F"/>
                </a:solidFill>
                <a:highlight>
                  <a:srgbClr val="00FF00"/>
                </a:highlight>
                <a:latin typeface="Roboto Mono" pitchFamily="2" charset="0"/>
              </a:rPr>
              <a:t>🟢 – Casado</a:t>
            </a:r>
          </a:p>
          <a:p>
            <a:r>
              <a:rPr lang="pt-BR" sz="1200" dirty="0">
                <a:solidFill>
                  <a:srgbClr val="37474F"/>
                </a:solidFill>
                <a:highlight>
                  <a:srgbClr val="FF7474"/>
                </a:highlight>
                <a:latin typeface="Roboto Mono" pitchFamily="2" charset="0"/>
              </a:rPr>
              <a:t>🔴 – Solteiro</a:t>
            </a:r>
          </a:p>
          <a:p>
            <a:endParaRPr lang="pt-BR" sz="1200" dirty="0">
              <a:solidFill>
                <a:srgbClr val="37474F"/>
              </a:solidFill>
              <a:highlight>
                <a:srgbClr val="FF7474"/>
              </a:highlight>
              <a:latin typeface="Roboto Mono" pitchFamily="2" charset="0"/>
            </a:endParaRPr>
          </a:p>
          <a:p>
            <a:r>
              <a:rPr lang="pt-BR" sz="1200" dirty="0">
                <a:solidFill>
                  <a:srgbClr val="37474F"/>
                </a:solidFill>
                <a:latin typeface="Roboto Mono" pitchFamily="2" charset="0"/>
              </a:rPr>
              <a:t>           </a:t>
            </a:r>
            <a:r>
              <a:rPr lang="pt-BR" sz="1200" b="1" dirty="0">
                <a:solidFill>
                  <a:srgbClr val="37474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  <a:latin typeface="Roboto Mono" pitchFamily="2" charset="0"/>
              </a:rPr>
              <a:t>TOTAL PESSOAS</a:t>
            </a:r>
          </a:p>
          <a:p>
            <a:r>
              <a:rPr lang="pt-BR" sz="1200" b="1" dirty="0">
                <a:solidFill>
                  <a:srgbClr val="37474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Roboto Mono" pitchFamily="2" charset="0"/>
              </a:rPr>
              <a:t>                |</a:t>
            </a:r>
            <a:endParaRPr lang="pt-BR" sz="1200" dirty="0">
              <a:solidFill>
                <a:srgbClr val="37474F"/>
              </a:solidFill>
              <a:latin typeface="Roboto Mono" pitchFamily="2" charset="0"/>
            </a:endParaRPr>
          </a:p>
          <a:p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</a:t>
            </a:r>
            <a:r>
              <a:rPr lang="pt-BR" sz="1200" b="0" i="0" dirty="0">
                <a:solidFill>
                  <a:srgbClr val="37474F"/>
                </a:solidFill>
                <a:effectLst/>
                <a:highlight>
                  <a:srgbClr val="C0C0C0"/>
                </a:highlight>
                <a:latin typeface="Roboto Mono" pitchFamily="2" charset="0"/>
              </a:rPr>
              <a:t>TEM AQUÁRIO?</a:t>
            </a:r>
            <a:endParaRPr lang="pt-BR" sz="1200" b="0" i="0" dirty="0">
              <a:solidFill>
                <a:srgbClr val="000000"/>
              </a:solidFill>
              <a:effectLst/>
              <a:highlight>
                <a:srgbClr val="C0C0C0"/>
              </a:highlight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/             \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SIM               NÃO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│                 │</a:t>
            </a:r>
          </a:p>
          <a:p>
            <a:r>
              <a:rPr lang="pt-BR" sz="1200" dirty="0">
                <a:solidFill>
                  <a:srgbClr val="37474F"/>
                </a:solidFill>
                <a:latin typeface="Roboto Mono" pitchFamily="2" charset="0"/>
              </a:rPr>
              <a:t>     </a:t>
            </a:r>
            <a:r>
              <a:rPr lang="pt-BR" sz="1200" b="1" dirty="0">
                <a:solidFill>
                  <a:srgbClr val="37474F"/>
                </a:solidFill>
                <a:highlight>
                  <a:srgbClr val="FFFF00"/>
                </a:highlight>
                <a:latin typeface="Roboto Mono" pitchFamily="2" charset="0"/>
              </a:rPr>
              <a:t>GRUPO1</a:t>
            </a:r>
            <a:r>
              <a:rPr lang="pt-BR" sz="1200" dirty="0">
                <a:solidFill>
                  <a:srgbClr val="37474F"/>
                </a:solidFill>
                <a:latin typeface="Roboto Mono" pitchFamily="2" charset="0"/>
              </a:rPr>
              <a:t>             </a:t>
            </a:r>
            <a:r>
              <a:rPr lang="pt-BR" sz="1200" b="1" dirty="0">
                <a:solidFill>
                  <a:srgbClr val="37474F"/>
                </a:solidFill>
                <a:highlight>
                  <a:srgbClr val="FFFF00"/>
                </a:highlight>
                <a:latin typeface="Roboto Mono" pitchFamily="2" charset="0"/>
              </a:rPr>
              <a:t>GRUPO2</a:t>
            </a:r>
            <a:endParaRPr lang="pt-BR" sz="1200" b="1" i="0" dirty="0">
              <a:solidFill>
                <a:srgbClr val="000000"/>
              </a:solidFill>
              <a:effectLst/>
              <a:highlight>
                <a:srgbClr val="FFFF00"/>
              </a:highlight>
              <a:latin typeface="Roboto Mono" pitchFamily="2" charset="0"/>
            </a:endParaRPr>
          </a:p>
          <a:p>
            <a:pPr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highlight>
                  <a:srgbClr val="00FF00"/>
                </a:highlight>
                <a:latin typeface="Roboto Mono" pitchFamily="2" charset="0"/>
              </a:rPr>
              <a:t>🟢 🟢 🟢 🟢 🔴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</a:t>
            </a:r>
            <a:r>
              <a:rPr lang="pt-BR" sz="1200" b="0" i="0" dirty="0">
                <a:solidFill>
                  <a:srgbClr val="37474F"/>
                </a:solidFill>
                <a:effectLst/>
                <a:highlight>
                  <a:srgbClr val="FF7474"/>
                </a:highlight>
                <a:latin typeface="Roboto Mono" pitchFamily="2" charset="0"/>
              </a:rPr>
              <a:t>🟢 🔴 🔴 🔴 🔴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FBC62AAB-7AB6-8F11-F5D9-50AA4DD5FBB2}"/>
              </a:ext>
            </a:extLst>
          </p:cNvPr>
          <p:cNvSpPr txBox="1"/>
          <p:nvPr/>
        </p:nvSpPr>
        <p:spPr>
          <a:xfrm>
            <a:off x="5353646" y="1898028"/>
            <a:ext cx="3690077" cy="212365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pt-BR" sz="1200" dirty="0">
                <a:solidFill>
                  <a:srgbClr val="37474F"/>
                </a:solidFill>
                <a:highlight>
                  <a:srgbClr val="00FF00"/>
                </a:highlight>
                <a:latin typeface="Roboto Mono" pitchFamily="2" charset="0"/>
              </a:rPr>
              <a:t>🟢 – Casado</a:t>
            </a:r>
          </a:p>
          <a:p>
            <a:r>
              <a:rPr lang="pt-BR" sz="1200" dirty="0">
                <a:solidFill>
                  <a:srgbClr val="37474F"/>
                </a:solidFill>
                <a:highlight>
                  <a:srgbClr val="FF7474"/>
                </a:highlight>
                <a:latin typeface="Roboto Mono" pitchFamily="2" charset="0"/>
              </a:rPr>
              <a:t>🔴 – Solteiro</a:t>
            </a:r>
          </a:p>
          <a:p>
            <a:endParaRPr lang="pt-BR" sz="1200" dirty="0">
              <a:solidFill>
                <a:srgbClr val="37474F"/>
              </a:solidFill>
              <a:highlight>
                <a:srgbClr val="FF7474"/>
              </a:highlight>
              <a:latin typeface="Roboto Mono" pitchFamily="2" charset="0"/>
            </a:endParaRPr>
          </a:p>
          <a:p>
            <a:r>
              <a:rPr lang="pt-BR" sz="1200" dirty="0">
                <a:solidFill>
                  <a:srgbClr val="37474F"/>
                </a:solidFill>
                <a:latin typeface="Roboto Mono" pitchFamily="2" charset="0"/>
              </a:rPr>
              <a:t>           </a:t>
            </a:r>
            <a:r>
              <a:rPr lang="pt-BR" sz="1200" b="1" dirty="0">
                <a:solidFill>
                  <a:srgbClr val="37474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  <a:latin typeface="Roboto Mono" pitchFamily="2" charset="0"/>
              </a:rPr>
              <a:t>TOTAL PESSOAS -&gt; NÓ </a:t>
            </a:r>
            <a:r>
              <a:rPr lang="pt-BR" sz="1200" b="1" u="sng" dirty="0">
                <a:solidFill>
                  <a:srgbClr val="37474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  <a:latin typeface="Roboto Mono" pitchFamily="2" charset="0"/>
              </a:rPr>
              <a:t>RAIZ</a:t>
            </a:r>
          </a:p>
          <a:p>
            <a:r>
              <a:rPr lang="pt-BR" sz="1200" b="1" dirty="0">
                <a:solidFill>
                  <a:srgbClr val="37474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Roboto Mono" pitchFamily="2" charset="0"/>
              </a:rPr>
              <a:t>                |</a:t>
            </a:r>
            <a:endParaRPr lang="pt-BR" sz="1200" dirty="0">
              <a:solidFill>
                <a:srgbClr val="37474F"/>
              </a:solidFill>
              <a:latin typeface="Roboto Mono" pitchFamily="2" charset="0"/>
            </a:endParaRPr>
          </a:p>
          <a:p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</a:t>
            </a:r>
            <a:r>
              <a:rPr lang="pt-BR" sz="1200" b="0" i="0" dirty="0">
                <a:solidFill>
                  <a:srgbClr val="37474F"/>
                </a:solidFill>
                <a:effectLst/>
                <a:highlight>
                  <a:srgbClr val="C0C0C0"/>
                </a:highlight>
                <a:latin typeface="Roboto Mono" pitchFamily="2" charset="0"/>
              </a:rPr>
              <a:t>TEM AQUÁRIO?</a:t>
            </a:r>
            <a:endParaRPr lang="pt-BR" sz="1200" b="0" i="0" dirty="0">
              <a:solidFill>
                <a:srgbClr val="000000"/>
              </a:solidFill>
              <a:effectLst/>
              <a:highlight>
                <a:srgbClr val="C0C0C0"/>
              </a:highlight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/             \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SIM               NÃO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│                 │</a:t>
            </a:r>
          </a:p>
          <a:p>
            <a:r>
              <a:rPr lang="pt-BR" sz="1200" dirty="0">
                <a:solidFill>
                  <a:srgbClr val="37474F"/>
                </a:solidFill>
                <a:latin typeface="Roboto Mono" pitchFamily="2" charset="0"/>
              </a:rPr>
              <a:t>  </a:t>
            </a:r>
            <a:r>
              <a:rPr lang="pt-BR" sz="1200" b="1" dirty="0">
                <a:solidFill>
                  <a:srgbClr val="37474F"/>
                </a:solidFill>
                <a:highlight>
                  <a:srgbClr val="FFFF00"/>
                </a:highlight>
                <a:latin typeface="Roboto Mono" pitchFamily="2" charset="0"/>
              </a:rPr>
              <a:t>GRUPO1 -&gt; </a:t>
            </a:r>
            <a:r>
              <a:rPr lang="pt-BR" sz="1200" b="1" u="sng" dirty="0">
                <a:solidFill>
                  <a:srgbClr val="37474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  <a:latin typeface="Roboto Mono" pitchFamily="2" charset="0"/>
              </a:rPr>
              <a:t>NÓ1</a:t>
            </a:r>
            <a:r>
              <a:rPr lang="pt-BR" sz="1200" dirty="0">
                <a:solidFill>
                  <a:srgbClr val="37474F"/>
                </a:solidFill>
                <a:latin typeface="Roboto Mono" pitchFamily="2" charset="0"/>
              </a:rPr>
              <a:t>         </a:t>
            </a:r>
            <a:r>
              <a:rPr lang="pt-BR" sz="1200" b="1" dirty="0">
                <a:solidFill>
                  <a:srgbClr val="37474F"/>
                </a:solidFill>
                <a:highlight>
                  <a:srgbClr val="FFFF00"/>
                </a:highlight>
                <a:latin typeface="Roboto Mono" pitchFamily="2" charset="0"/>
              </a:rPr>
              <a:t>GRUPO2 -&gt; </a:t>
            </a:r>
            <a:r>
              <a:rPr lang="pt-BR" sz="1200" b="1" u="sng" dirty="0">
                <a:solidFill>
                  <a:srgbClr val="37474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  <a:latin typeface="Roboto Mono" pitchFamily="2" charset="0"/>
              </a:rPr>
              <a:t>NÓ2</a:t>
            </a:r>
            <a:endParaRPr lang="pt-BR" sz="1200" b="1" i="0" u="sng" dirty="0">
              <a:solidFill>
                <a:srgbClr val="0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ighlight>
                <a:srgbClr val="FFFF00"/>
              </a:highlight>
              <a:latin typeface="Roboto Mono" pitchFamily="2" charset="0"/>
            </a:endParaRPr>
          </a:p>
          <a:p>
            <a:pPr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highlight>
                  <a:srgbClr val="00FF00"/>
                </a:highlight>
                <a:latin typeface="Roboto Mono" pitchFamily="2" charset="0"/>
              </a:rPr>
              <a:t>🟢 🟢 🟢 🟢 🔴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</a:t>
            </a:r>
            <a:r>
              <a:rPr lang="pt-BR" sz="1200" b="0" i="0" dirty="0">
                <a:solidFill>
                  <a:srgbClr val="37474F"/>
                </a:solidFill>
                <a:effectLst/>
                <a:highlight>
                  <a:srgbClr val="FF7474"/>
                </a:highlight>
                <a:latin typeface="Roboto Mono" pitchFamily="2" charset="0"/>
              </a:rPr>
              <a:t>🟢 🔴 🔴 🔴 🔴</a:t>
            </a:r>
          </a:p>
        </p:txBody>
      </p:sp>
      <p:sp>
        <p:nvSpPr>
          <p:cNvPr id="12" name="Seta: para a Direita 11">
            <a:extLst>
              <a:ext uri="{FF2B5EF4-FFF2-40B4-BE49-F238E27FC236}">
                <a16:creationId xmlns:a16="http://schemas.microsoft.com/office/drawing/2014/main" id="{0B77C31D-9157-9813-889E-C284CB2F738F}"/>
              </a:ext>
            </a:extLst>
          </p:cNvPr>
          <p:cNvSpPr/>
          <p:nvPr/>
        </p:nvSpPr>
        <p:spPr>
          <a:xfrm>
            <a:off x="4018327" y="2533475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Text 1">
            <a:extLst>
              <a:ext uri="{FF2B5EF4-FFF2-40B4-BE49-F238E27FC236}">
                <a16:creationId xmlns:a16="http://schemas.microsoft.com/office/drawing/2014/main" id="{565B18CB-6321-F3EF-3BE8-84EB5E34E9C5}"/>
              </a:ext>
            </a:extLst>
          </p:cNvPr>
          <p:cNvSpPr/>
          <p:nvPr/>
        </p:nvSpPr>
        <p:spPr>
          <a:xfrm>
            <a:off x="148652" y="4258945"/>
            <a:ext cx="10955687" cy="9752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Arial" panose="020B0604020202020204" pitchFamily="34" charset="0"/>
              <a:buChar char="•"/>
              <a:tabLst>
                <a:tab pos="0" algn="l"/>
              </a:tabLst>
              <a:defRPr/>
            </a:pPr>
            <a:endParaRPr lang="en-US" sz="1600" b="1" dirty="0">
              <a:solidFill>
                <a:srgbClr val="0B1F3A"/>
              </a:solidFill>
            </a:endParaRPr>
          </a:p>
          <a:p>
            <a:pPr>
              <a:tabLst>
                <a:tab pos="0" algn="l"/>
              </a:tabLst>
              <a:defRPr/>
            </a:pPr>
            <a:endParaRPr lang="en-US" sz="1600" b="1" dirty="0">
              <a:solidFill>
                <a:srgbClr val="0B1F3A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  <a:tabLst>
                <a:tab pos="0" algn="l"/>
              </a:tabLst>
              <a:defRPr/>
            </a:pPr>
            <a:r>
              <a:rPr lang="en-US" sz="1600" b="1" dirty="0" err="1">
                <a:solidFill>
                  <a:srgbClr val="0B1F3A"/>
                </a:solidFill>
              </a:rPr>
              <a:t>Nó</a:t>
            </a:r>
            <a:r>
              <a:rPr lang="en-US" sz="1600" b="1" dirty="0">
                <a:solidFill>
                  <a:srgbClr val="0B1F3A"/>
                </a:solidFill>
              </a:rPr>
              <a:t> Raiz -&gt; </a:t>
            </a:r>
            <a:r>
              <a:rPr lang="en-US" sz="1600" dirty="0" err="1">
                <a:solidFill>
                  <a:srgbClr val="0B1F3A"/>
                </a:solidFill>
              </a:rPr>
              <a:t>representa</a:t>
            </a:r>
            <a:r>
              <a:rPr lang="en-US" sz="1600" dirty="0">
                <a:solidFill>
                  <a:srgbClr val="0B1F3A"/>
                </a:solidFill>
              </a:rPr>
              <a:t> o </a:t>
            </a:r>
            <a:r>
              <a:rPr lang="en-US" sz="1600" dirty="0" err="1">
                <a:solidFill>
                  <a:srgbClr val="0B1F3A"/>
                </a:solidFill>
              </a:rPr>
              <a:t>grupo</a:t>
            </a:r>
            <a:r>
              <a:rPr lang="en-US" sz="1600" dirty="0">
                <a:solidFill>
                  <a:srgbClr val="0B1F3A"/>
                </a:solidFill>
              </a:rPr>
              <a:t> de </a:t>
            </a:r>
            <a:r>
              <a:rPr lang="en-US" sz="1600" dirty="0" err="1">
                <a:solidFill>
                  <a:srgbClr val="0B1F3A"/>
                </a:solidFill>
              </a:rPr>
              <a:t>pessoas</a:t>
            </a:r>
            <a:r>
              <a:rPr lang="en-US" sz="1600" dirty="0">
                <a:solidFill>
                  <a:srgbClr val="0B1F3A"/>
                </a:solidFill>
              </a:rPr>
              <a:t> (entradas) original;</a:t>
            </a:r>
          </a:p>
          <a:p>
            <a:pPr marL="285750" indent="-285750">
              <a:buFont typeface="Arial" panose="020B0604020202020204" pitchFamily="34" charset="0"/>
              <a:buChar char="•"/>
              <a:tabLst>
                <a:tab pos="0" algn="l"/>
              </a:tabLst>
              <a:defRPr/>
            </a:pPr>
            <a:r>
              <a:rPr lang="en-US" sz="1600" b="1" dirty="0" err="1">
                <a:solidFill>
                  <a:srgbClr val="0B1F3A"/>
                </a:solidFill>
              </a:rPr>
              <a:t>Nós</a:t>
            </a:r>
            <a:r>
              <a:rPr lang="en-US" sz="1600" b="1" dirty="0">
                <a:solidFill>
                  <a:srgbClr val="0B1F3A"/>
                </a:solidFill>
              </a:rPr>
              <a:t> </a:t>
            </a:r>
            <a:r>
              <a:rPr lang="en-US" sz="1600" b="1" dirty="0" err="1">
                <a:solidFill>
                  <a:srgbClr val="0B1F3A"/>
                </a:solidFill>
              </a:rPr>
              <a:t>intermediário</a:t>
            </a:r>
            <a:r>
              <a:rPr lang="en-US" sz="1600" b="1" dirty="0">
                <a:solidFill>
                  <a:srgbClr val="0B1F3A"/>
                </a:solidFill>
              </a:rPr>
              <a:t> -&gt; </a:t>
            </a:r>
            <a:r>
              <a:rPr lang="en-US" sz="1600" dirty="0" err="1">
                <a:solidFill>
                  <a:srgbClr val="0B1F3A"/>
                </a:solidFill>
              </a:rPr>
              <a:t>representam</a:t>
            </a:r>
            <a:r>
              <a:rPr lang="en-US" sz="1600" dirty="0">
                <a:solidFill>
                  <a:srgbClr val="0B1F3A"/>
                </a:solidFill>
              </a:rPr>
              <a:t> o </a:t>
            </a:r>
            <a:r>
              <a:rPr lang="en-US" sz="1600" dirty="0" err="1">
                <a:solidFill>
                  <a:srgbClr val="0B1F3A"/>
                </a:solidFill>
              </a:rPr>
              <a:t>grupos</a:t>
            </a:r>
            <a:r>
              <a:rPr lang="en-US" sz="1600" dirty="0">
                <a:solidFill>
                  <a:srgbClr val="0B1F3A"/>
                </a:solidFill>
              </a:rPr>
              <a:t> que </a:t>
            </a:r>
            <a:r>
              <a:rPr lang="en-US" sz="1600" dirty="0" err="1">
                <a:solidFill>
                  <a:srgbClr val="0B1F3A"/>
                </a:solidFill>
              </a:rPr>
              <a:t>já</a:t>
            </a:r>
            <a:r>
              <a:rPr lang="en-US" sz="1600" dirty="0">
                <a:solidFill>
                  <a:srgbClr val="0B1F3A"/>
                </a:solidFill>
              </a:rPr>
              <a:t> </a:t>
            </a:r>
            <a:r>
              <a:rPr lang="en-US" sz="1600" dirty="0" err="1">
                <a:solidFill>
                  <a:srgbClr val="0B1F3A"/>
                </a:solidFill>
              </a:rPr>
              <a:t>sofreram</a:t>
            </a:r>
            <a:r>
              <a:rPr lang="en-US" sz="1600" dirty="0">
                <a:solidFill>
                  <a:srgbClr val="0B1F3A"/>
                </a:solidFill>
              </a:rPr>
              <a:t> </a:t>
            </a:r>
            <a:r>
              <a:rPr lang="en-US" sz="1600" dirty="0" err="1">
                <a:solidFill>
                  <a:srgbClr val="0B1F3A"/>
                </a:solidFill>
              </a:rPr>
              <a:t>classificações</a:t>
            </a:r>
            <a:r>
              <a:rPr lang="en-US" sz="1600" dirty="0">
                <a:solidFill>
                  <a:srgbClr val="0B1F3A"/>
                </a:solidFill>
              </a:rPr>
              <a:t> </a:t>
            </a:r>
            <a:r>
              <a:rPr lang="en-US" sz="1600" dirty="0" err="1">
                <a:solidFill>
                  <a:srgbClr val="0B1F3A"/>
                </a:solidFill>
              </a:rPr>
              <a:t>na</a:t>
            </a:r>
            <a:r>
              <a:rPr lang="en-US" sz="1600" dirty="0">
                <a:solidFill>
                  <a:srgbClr val="0B1F3A"/>
                </a:solidFill>
              </a:rPr>
              <a:t> </a:t>
            </a:r>
            <a:r>
              <a:rPr lang="en-US" sz="1600" dirty="0" err="1">
                <a:solidFill>
                  <a:srgbClr val="0B1F3A"/>
                </a:solidFill>
              </a:rPr>
              <a:t>árvore</a:t>
            </a:r>
            <a:r>
              <a:rPr lang="en-US" sz="1600" dirty="0">
                <a:solidFill>
                  <a:srgbClr val="0B1F3A"/>
                </a:solidFill>
              </a:rPr>
              <a:t>;</a:t>
            </a:r>
          </a:p>
          <a:p>
            <a:pPr marL="285750" indent="-285750">
              <a:buFont typeface="Arial" panose="020B0604020202020204" pitchFamily="34" charset="0"/>
              <a:buChar char="•"/>
              <a:tabLst>
                <a:tab pos="0" algn="l"/>
              </a:tabLst>
              <a:defRPr/>
            </a:pPr>
            <a:r>
              <a:rPr lang="en-US" sz="1600" b="1" dirty="0" err="1">
                <a:solidFill>
                  <a:srgbClr val="0B1F3A"/>
                </a:solidFill>
              </a:rPr>
              <a:t>Nós</a:t>
            </a:r>
            <a:r>
              <a:rPr lang="en-US" sz="1600" b="1" dirty="0">
                <a:solidFill>
                  <a:srgbClr val="0B1F3A"/>
                </a:solidFill>
              </a:rPr>
              <a:t> Folha -&gt;</a:t>
            </a:r>
            <a:r>
              <a:rPr lang="en-US" sz="1600" dirty="0">
                <a:solidFill>
                  <a:srgbClr val="0B1F3A"/>
                </a:solidFill>
              </a:rPr>
              <a:t> </a:t>
            </a:r>
            <a:r>
              <a:rPr lang="en-US" sz="1600" dirty="0" err="1">
                <a:solidFill>
                  <a:srgbClr val="0B1F3A"/>
                </a:solidFill>
              </a:rPr>
              <a:t>representam</a:t>
            </a:r>
            <a:r>
              <a:rPr lang="en-US" sz="1600" dirty="0">
                <a:solidFill>
                  <a:srgbClr val="0B1F3A"/>
                </a:solidFill>
              </a:rPr>
              <a:t> o </a:t>
            </a:r>
            <a:r>
              <a:rPr lang="en-US" sz="1600" dirty="0" err="1">
                <a:solidFill>
                  <a:srgbClr val="0B1F3A"/>
                </a:solidFill>
              </a:rPr>
              <a:t>grupos</a:t>
            </a:r>
            <a:r>
              <a:rPr lang="en-US" sz="1600" dirty="0">
                <a:solidFill>
                  <a:srgbClr val="0B1F3A"/>
                </a:solidFill>
              </a:rPr>
              <a:t> </a:t>
            </a:r>
            <a:r>
              <a:rPr lang="en-US" sz="1600" dirty="0" err="1">
                <a:solidFill>
                  <a:srgbClr val="0B1F3A"/>
                </a:solidFill>
              </a:rPr>
              <a:t>classificado</a:t>
            </a:r>
            <a:r>
              <a:rPr lang="en-US" sz="1600" dirty="0">
                <a:solidFill>
                  <a:srgbClr val="0B1F3A"/>
                </a:solidFill>
              </a:rPr>
              <a:t> no final da </a:t>
            </a:r>
            <a:r>
              <a:rPr lang="en-US" sz="1600" dirty="0" err="1">
                <a:solidFill>
                  <a:srgbClr val="0B1F3A"/>
                </a:solidFill>
              </a:rPr>
              <a:t>árvore</a:t>
            </a:r>
            <a:r>
              <a:rPr lang="en-US" sz="1600" dirty="0">
                <a:solidFill>
                  <a:srgbClr val="0B1F3A"/>
                </a:solidFill>
              </a:rPr>
              <a:t>;</a:t>
            </a:r>
            <a:endParaRPr lang="en-US" sz="1600" b="1" dirty="0">
              <a:solidFill>
                <a:srgbClr val="0B1F3A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  <a:tabLst>
                <a:tab pos="0" algn="l"/>
              </a:tabLst>
              <a:defRPr/>
            </a:pPr>
            <a:endParaRPr lang="en-US" sz="1600" dirty="0">
              <a:solidFill>
                <a:srgbClr val="0B1F3A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  <a:tabLst>
                <a:tab pos="0" algn="l"/>
              </a:tabLst>
              <a:defRPr/>
            </a:pPr>
            <a:endParaRPr lang="pt-BR" sz="1600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133204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0805E-DEC5-5041-AEB0-433EC8CC8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8B68B243-9567-6C02-5C7F-1B79A1918652}"/>
              </a:ext>
            </a:extLst>
          </p:cNvPr>
          <p:cNvSpPr/>
          <p:nvPr/>
        </p:nvSpPr>
        <p:spPr>
          <a:xfrm>
            <a:off x="640710" y="1317072"/>
            <a:ext cx="10921878" cy="324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tabLst>
                <a:tab pos="0" algn="l"/>
              </a:tabLst>
              <a:defRPr/>
            </a:pPr>
            <a:r>
              <a:rPr lang="pt-BR" sz="7200" dirty="0">
                <a:solidFill>
                  <a:srgbClr val="000000"/>
                </a:solidFill>
                <a:latin typeface="Arial"/>
              </a:rPr>
              <a:t>GINI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2731D0A-185C-F932-67A4-8AD71C074CCB}"/>
              </a:ext>
            </a:extLst>
          </p:cNvPr>
          <p:cNvSpPr/>
          <p:nvPr/>
        </p:nvSpPr>
        <p:spPr>
          <a:xfrm>
            <a:off x="475488" y="6547104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1656168-94A5-D730-CE5B-1A86474EA437}"/>
              </a:ext>
            </a:extLst>
          </p:cNvPr>
          <p:cNvSpPr/>
          <p:nvPr/>
        </p:nvSpPr>
        <p:spPr>
          <a:xfrm>
            <a:off x="11448288" y="6519672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7085"/>
                </a:solidFill>
              </a:rPr>
              <a:t>10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6755060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11BFEA-060C-6B89-9941-AA593EF9A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template_extract/ppt/media/image1.png">
            <a:extLst>
              <a:ext uri="{FF2B5EF4-FFF2-40B4-BE49-F238E27FC236}">
                <a16:creationId xmlns:a16="http://schemas.microsoft.com/office/drawing/2014/main" id="{ED36E243-7BF8-3F24-A5EC-2894F908BA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282" y="160020"/>
            <a:ext cx="2423160" cy="512064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892DF96E-B429-6F95-19CB-7A726E165799}"/>
              </a:ext>
            </a:extLst>
          </p:cNvPr>
          <p:cNvSpPr/>
          <p:nvPr/>
        </p:nvSpPr>
        <p:spPr>
          <a:xfrm>
            <a:off x="236610" y="874385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F69BF"/>
                </a:solidFill>
              </a:rPr>
              <a:t>Aula 05</a:t>
            </a:r>
            <a:endParaRPr lang="en-US" sz="13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C6F78EEB-D8B8-72AC-826E-5D2A4B57A24B}"/>
              </a:ext>
            </a:extLst>
          </p:cNvPr>
          <p:cNvSpPr/>
          <p:nvPr/>
        </p:nvSpPr>
        <p:spPr>
          <a:xfrm>
            <a:off x="242315" y="1148705"/>
            <a:ext cx="271061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tabLst>
                <a:tab pos="0" algn="l"/>
              </a:tabLst>
              <a:defRPr/>
            </a:pPr>
            <a:r>
              <a:rPr lang="en-US" sz="2400" b="1" dirty="0" err="1">
                <a:solidFill>
                  <a:srgbClr val="0B1F3A"/>
                </a:solidFill>
              </a:rPr>
              <a:t>Árvores</a:t>
            </a:r>
            <a:r>
              <a:rPr lang="en-US" sz="2400" b="1" dirty="0">
                <a:solidFill>
                  <a:srgbClr val="0B1F3A"/>
                </a:solidFill>
              </a:rPr>
              <a:t> de </a:t>
            </a:r>
            <a:r>
              <a:rPr lang="en-US" sz="2400" b="1" dirty="0" err="1">
                <a:solidFill>
                  <a:srgbClr val="0B1F3A"/>
                </a:solidFill>
              </a:rPr>
              <a:t>Decisão</a:t>
            </a:r>
            <a:r>
              <a:rPr lang="en-US" sz="2400" b="1" dirty="0">
                <a:solidFill>
                  <a:srgbClr val="0B1F3A"/>
                </a:solidFill>
              </a:rPr>
              <a:t> </a:t>
            </a:r>
            <a:endParaRPr lang="pt-BR" sz="24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C1387520-85F2-87AF-3306-4E147749F2BA}"/>
              </a:ext>
            </a:extLst>
          </p:cNvPr>
          <p:cNvSpPr/>
          <p:nvPr/>
        </p:nvSpPr>
        <p:spPr>
          <a:xfrm>
            <a:off x="658368" y="574243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</a:rPr>
              <a:t>Professor Miguél Suares</a:t>
            </a:r>
            <a:endParaRPr lang="en-US" sz="11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C5B3653E-86FE-ADA0-411D-BCB900184E80}"/>
              </a:ext>
            </a:extLst>
          </p:cNvPr>
          <p:cNvSpPr/>
          <p:nvPr/>
        </p:nvSpPr>
        <p:spPr>
          <a:xfrm>
            <a:off x="658368" y="60533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850" dirty="0"/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162FF15E-56C3-4F02-2324-00D63C71A2E0}"/>
              </a:ext>
            </a:extLst>
          </p:cNvPr>
          <p:cNvSpPr txBox="1"/>
          <p:nvPr/>
        </p:nvSpPr>
        <p:spPr>
          <a:xfrm>
            <a:off x="236609" y="6236315"/>
            <a:ext cx="117680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i="1" dirty="0"/>
              <a:t>IBM. KAVLAKOGLU, </a:t>
            </a:r>
            <a:r>
              <a:rPr lang="pt-BR" sz="1200" i="1" dirty="0" err="1"/>
              <a:t>Eda</a:t>
            </a:r>
            <a:r>
              <a:rPr lang="pt-BR" sz="1200" i="1" dirty="0"/>
              <a:t>. </a:t>
            </a:r>
            <a:r>
              <a:rPr lang="pt-BR" sz="1200" b="1" i="1" dirty="0"/>
              <a:t>O que é uma </a:t>
            </a:r>
            <a:r>
              <a:rPr lang="pt-BR" sz="1200" b="1" i="1" dirty="0" err="1"/>
              <a:t>Decision</a:t>
            </a:r>
            <a:r>
              <a:rPr lang="pt-BR" sz="1200" b="1" i="1" dirty="0"/>
              <a:t> </a:t>
            </a:r>
            <a:r>
              <a:rPr lang="pt-BR" sz="1200" b="1" i="1" dirty="0" err="1"/>
              <a:t>Tree</a:t>
            </a:r>
            <a:r>
              <a:rPr lang="pt-BR" sz="1200" b="1" i="1" dirty="0"/>
              <a:t>?</a:t>
            </a:r>
            <a:r>
              <a:rPr lang="pt-BR" sz="1200" i="1" dirty="0"/>
              <a:t> IBM </a:t>
            </a:r>
            <a:r>
              <a:rPr lang="pt-BR" sz="1200" i="1" dirty="0" err="1"/>
              <a:t>Think</a:t>
            </a:r>
            <a:r>
              <a:rPr lang="pt-BR" sz="1200" i="1" dirty="0"/>
              <a:t> </a:t>
            </a:r>
            <a:r>
              <a:rPr lang="pt-BR" sz="1200" i="1" dirty="0" err="1"/>
              <a:t>Topics</a:t>
            </a:r>
            <a:r>
              <a:rPr lang="pt-BR" sz="1200" i="1" dirty="0"/>
              <a:t>, 2 nov. 2021. </a:t>
            </a:r>
          </a:p>
          <a:p>
            <a:r>
              <a:rPr lang="pt-BR" sz="1200" i="1" dirty="0"/>
              <a:t>Disponível em: </a:t>
            </a:r>
            <a:r>
              <a:rPr lang="pt-BR" sz="1200" i="1" u="sng" dirty="0">
                <a:hlinkClick r:id="rId4"/>
              </a:rPr>
              <a:t>https://www.ibm.com/</a:t>
            </a:r>
            <a:r>
              <a:rPr lang="pt-BR" sz="1200" i="1" u="sng" dirty="0" err="1">
                <a:hlinkClick r:id="rId4"/>
              </a:rPr>
              <a:t>br-pt</a:t>
            </a:r>
            <a:r>
              <a:rPr lang="pt-BR" sz="1200" i="1" u="sng" dirty="0">
                <a:hlinkClick r:id="rId4"/>
              </a:rPr>
              <a:t>/</a:t>
            </a:r>
            <a:r>
              <a:rPr lang="pt-BR" sz="1200" i="1" u="sng" dirty="0" err="1">
                <a:hlinkClick r:id="rId4"/>
              </a:rPr>
              <a:t>think</a:t>
            </a:r>
            <a:r>
              <a:rPr lang="pt-BR" sz="1200" i="1" u="sng" dirty="0">
                <a:hlinkClick r:id="rId4"/>
              </a:rPr>
              <a:t>/</a:t>
            </a:r>
            <a:r>
              <a:rPr lang="pt-BR" sz="1200" i="1" u="sng" dirty="0" err="1">
                <a:hlinkClick r:id="rId4"/>
              </a:rPr>
              <a:t>topics</a:t>
            </a:r>
            <a:r>
              <a:rPr lang="pt-BR" sz="1200" i="1" u="sng" dirty="0">
                <a:hlinkClick r:id="rId4"/>
              </a:rPr>
              <a:t>/</a:t>
            </a:r>
            <a:r>
              <a:rPr lang="pt-BR" sz="1200" i="1" u="sng" dirty="0" err="1">
                <a:hlinkClick r:id="rId4"/>
              </a:rPr>
              <a:t>decision-trees</a:t>
            </a:r>
            <a:r>
              <a:rPr lang="pt-BR" sz="1200" i="1" dirty="0"/>
              <a:t>. Acesso em: 6 out. 2026.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B6CC4D66-6241-62CE-9C71-47A8A4660A85}"/>
              </a:ext>
            </a:extLst>
          </p:cNvPr>
          <p:cNvSpPr txBox="1"/>
          <p:nvPr/>
        </p:nvSpPr>
        <p:spPr>
          <a:xfrm>
            <a:off x="193282" y="1677847"/>
            <a:ext cx="4572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Joaquim encontrou e classificou 10 pessoas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DAC17D30-6ABA-FE37-AFE1-5C0CA96CA739}"/>
              </a:ext>
            </a:extLst>
          </p:cNvPr>
          <p:cNvSpPr txBox="1"/>
          <p:nvPr/>
        </p:nvSpPr>
        <p:spPr>
          <a:xfrm>
            <a:off x="7877334" y="2398158"/>
            <a:ext cx="3186771" cy="14083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l">
              <a:lnSpc>
                <a:spcPts val="1688"/>
              </a:lnSpc>
              <a:buNone/>
            </a:pPr>
            <a:r>
              <a:rPr lang="pt-BR" b="0" i="0" dirty="0">
                <a:solidFill>
                  <a:srgbClr val="37474F"/>
                </a:solidFill>
                <a:effectLst/>
                <a:highlight>
                  <a:srgbClr val="C0C0C0"/>
                </a:highlight>
                <a:latin typeface="Roboto Mono" pitchFamily="2" charset="0"/>
              </a:rPr>
              <a:t>    TEM AQUÁRIO?</a:t>
            </a:r>
            <a:endParaRPr lang="pt-BR" b="0" i="0" dirty="0">
              <a:solidFill>
                <a:srgbClr val="000000"/>
              </a:solidFill>
              <a:effectLst/>
              <a:highlight>
                <a:srgbClr val="C0C0C0"/>
              </a:highlight>
              <a:latin typeface="Roboto Mono" pitchFamily="2" charset="0"/>
            </a:endParaRPr>
          </a:p>
          <a:p>
            <a:pPr algn="l">
              <a:lnSpc>
                <a:spcPts val="1688"/>
              </a:lnSpc>
              <a:buNone/>
            </a:pP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/   \</a:t>
            </a:r>
            <a:endParaRPr lang="pt-BR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1688"/>
              </a:lnSpc>
              <a:buNone/>
            </a:pP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</a:t>
            </a:r>
            <a:r>
              <a:rPr lang="pt-BR" b="0" i="0" dirty="0">
                <a:solidFill>
                  <a:srgbClr val="37474F"/>
                </a:solidFill>
                <a:effectLst/>
                <a:highlight>
                  <a:srgbClr val="00FF00"/>
                </a:highlight>
                <a:latin typeface="Roboto Mono" pitchFamily="2" charset="0"/>
              </a:rPr>
              <a:t>SIM</a:t>
            </a: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</a:t>
            </a:r>
            <a:r>
              <a:rPr lang="pt-BR" b="0" i="0" dirty="0">
                <a:solidFill>
                  <a:srgbClr val="37474F"/>
                </a:solidFill>
                <a:effectLst/>
                <a:highlight>
                  <a:srgbClr val="FF0000"/>
                </a:highlight>
                <a:latin typeface="Roboto Mono" pitchFamily="2" charset="0"/>
              </a:rPr>
              <a:t>NÃO</a:t>
            </a:r>
            <a:endParaRPr lang="pt-BR" b="0" i="0" dirty="0">
              <a:solidFill>
                <a:srgbClr val="000000"/>
              </a:solidFill>
              <a:effectLst/>
              <a:highlight>
                <a:srgbClr val="FF0000"/>
              </a:highlight>
              <a:latin typeface="Roboto Mono" pitchFamily="2" charset="0"/>
            </a:endParaRPr>
          </a:p>
          <a:p>
            <a:pPr algn="l">
              <a:lnSpc>
                <a:spcPts val="1688"/>
              </a:lnSpc>
              <a:buNone/>
            </a:pP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/      \</a:t>
            </a:r>
            <a:endParaRPr lang="pt-BR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1688"/>
              </a:lnSpc>
              <a:buNone/>
            </a:pP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▼       ▼</a:t>
            </a:r>
            <a:endParaRPr lang="pt-BR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1688"/>
              </a:lnSpc>
              <a:buNone/>
            </a:pPr>
            <a:r>
              <a:rPr lang="pt-BR" b="0" i="0" dirty="0">
                <a:solidFill>
                  <a:srgbClr val="37474F"/>
                </a:solidFill>
                <a:effectLst/>
                <a:highlight>
                  <a:srgbClr val="00FF00"/>
                </a:highlight>
                <a:latin typeface="Roboto Mono" pitchFamily="2" charset="0"/>
              </a:rPr>
              <a:t>É CASADO</a:t>
            </a: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</a:t>
            </a:r>
            <a:r>
              <a:rPr lang="pt-BR" b="0" i="0" dirty="0">
                <a:solidFill>
                  <a:srgbClr val="37474F"/>
                </a:solidFill>
                <a:effectLst/>
                <a:highlight>
                  <a:srgbClr val="FF7C7C"/>
                </a:highlight>
                <a:latin typeface="Roboto Mono" pitchFamily="2" charset="0"/>
              </a:rPr>
              <a:t>NÃO É CASADO</a:t>
            </a:r>
            <a:endParaRPr lang="pt-BR" dirty="0">
              <a:highlight>
                <a:srgbClr val="FF7C7C"/>
              </a:highlight>
            </a:endParaRP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73584F17-ACBB-9CED-77D7-FBD2E5E7B5BD}"/>
              </a:ext>
            </a:extLst>
          </p:cNvPr>
          <p:cNvSpPr txBox="1"/>
          <p:nvPr/>
        </p:nvSpPr>
        <p:spPr>
          <a:xfrm>
            <a:off x="8455953" y="1937333"/>
            <a:ext cx="1515543" cy="369332"/>
          </a:xfrm>
          <a:prstGeom prst="rect">
            <a:avLst/>
          </a:prstGeom>
          <a:solidFill>
            <a:srgbClr val="FF7474"/>
          </a:solidFill>
        </p:spPr>
        <p:txBody>
          <a:bodyPr wrap="none" rtlCol="0">
            <a:spAutoFit/>
          </a:bodyPr>
          <a:lstStyle/>
          <a:p>
            <a:r>
              <a:rPr lang="pt-BR" dirty="0"/>
              <a:t>ESPECTATIVA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3F0918AD-3185-4A31-57B6-4D0D2A62CD51}"/>
              </a:ext>
            </a:extLst>
          </p:cNvPr>
          <p:cNvSpPr txBox="1"/>
          <p:nvPr/>
        </p:nvSpPr>
        <p:spPr>
          <a:xfrm>
            <a:off x="8605363" y="4251350"/>
            <a:ext cx="1366133" cy="369332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r>
              <a:rPr lang="pt-BR" dirty="0"/>
              <a:t>REALIDADE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B88BEBC3-B68A-2780-69E4-814C78D03DF3}"/>
              </a:ext>
            </a:extLst>
          </p:cNvPr>
          <p:cNvSpPr txBox="1"/>
          <p:nvPr/>
        </p:nvSpPr>
        <p:spPr>
          <a:xfrm>
            <a:off x="5620902" y="702193"/>
            <a:ext cx="4350594" cy="923330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pPr algn="ctr"/>
            <a:r>
              <a:rPr lang="pt-BR" dirty="0"/>
              <a:t>"A pergunta </a:t>
            </a:r>
          </a:p>
          <a:p>
            <a:pPr algn="ctr"/>
            <a:r>
              <a:rPr lang="pt-BR" dirty="0"/>
              <a:t>'</a:t>
            </a:r>
            <a:r>
              <a:rPr lang="pt-BR" b="1" dirty="0"/>
              <a:t>Tem aliança?</a:t>
            </a:r>
            <a:r>
              <a:rPr lang="pt-BR" dirty="0"/>
              <a:t>’ </a:t>
            </a:r>
          </a:p>
          <a:p>
            <a:pPr algn="ctr"/>
            <a:r>
              <a:rPr lang="pt-BR" dirty="0"/>
              <a:t>consegue separar bem as duas classes?"</a:t>
            </a:r>
          </a:p>
        </p:txBody>
      </p:sp>
      <p:graphicFrame>
        <p:nvGraphicFramePr>
          <p:cNvPr id="5" name="Tabela 4">
            <a:extLst>
              <a:ext uri="{FF2B5EF4-FFF2-40B4-BE49-F238E27FC236}">
                <a16:creationId xmlns:a16="http://schemas.microsoft.com/office/drawing/2014/main" id="{04A8F652-18DF-0621-C452-BE5E74E284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2356793"/>
              </p:ext>
            </p:extLst>
          </p:nvPr>
        </p:nvGraphicFramePr>
        <p:xfrm>
          <a:off x="838200" y="1989614"/>
          <a:ext cx="6225330" cy="3352800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1245066">
                  <a:extLst>
                    <a:ext uri="{9D8B030D-6E8A-4147-A177-3AD203B41FA5}">
                      <a16:colId xmlns:a16="http://schemas.microsoft.com/office/drawing/2014/main" val="2200803114"/>
                    </a:ext>
                  </a:extLst>
                </a:gridCol>
                <a:gridCol w="1245066">
                  <a:extLst>
                    <a:ext uri="{9D8B030D-6E8A-4147-A177-3AD203B41FA5}">
                      <a16:colId xmlns:a16="http://schemas.microsoft.com/office/drawing/2014/main" val="2254309218"/>
                    </a:ext>
                  </a:extLst>
                </a:gridCol>
                <a:gridCol w="1245066">
                  <a:extLst>
                    <a:ext uri="{9D8B030D-6E8A-4147-A177-3AD203B41FA5}">
                      <a16:colId xmlns:a16="http://schemas.microsoft.com/office/drawing/2014/main" val="2331909233"/>
                    </a:ext>
                  </a:extLst>
                </a:gridCol>
                <a:gridCol w="1245066">
                  <a:extLst>
                    <a:ext uri="{9D8B030D-6E8A-4147-A177-3AD203B41FA5}">
                      <a16:colId xmlns:a16="http://schemas.microsoft.com/office/drawing/2014/main" val="2108727524"/>
                    </a:ext>
                  </a:extLst>
                </a:gridCol>
                <a:gridCol w="1245066">
                  <a:extLst>
                    <a:ext uri="{9D8B030D-6E8A-4147-A177-3AD203B41FA5}">
                      <a16:colId xmlns:a16="http://schemas.microsoft.com/office/drawing/2014/main" val="35356833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1" dirty="0"/>
                        <a:t>Pessoa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1" dirty="0"/>
                        <a:t>Aquário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1" dirty="0"/>
                        <a:t>Filhos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1" dirty="0"/>
                        <a:t>Aliança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1" dirty="0"/>
                        <a:t>Casado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418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77788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35245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80659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30308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0430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75611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41593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44350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76481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J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1306641"/>
                  </a:ext>
                </a:extLst>
              </a:tr>
            </a:tbl>
          </a:graphicData>
        </a:graphic>
      </p:graphicFrame>
      <p:pic>
        <p:nvPicPr>
          <p:cNvPr id="11" name="Imagem 10">
            <a:extLst>
              <a:ext uri="{FF2B5EF4-FFF2-40B4-BE49-F238E27FC236}">
                <a16:creationId xmlns:a16="http://schemas.microsoft.com/office/drawing/2014/main" id="{A5732B08-4AFF-0320-B88F-7BCA5C5E6C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7334" y="4700458"/>
            <a:ext cx="3291840" cy="1931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43535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4DB31E-7375-CE1C-B9FA-2D3AC8C03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template_extract/ppt/media/image1.png">
            <a:extLst>
              <a:ext uri="{FF2B5EF4-FFF2-40B4-BE49-F238E27FC236}">
                <a16:creationId xmlns:a16="http://schemas.microsoft.com/office/drawing/2014/main" id="{3FD34A99-D8EC-0042-0088-318ACC40C1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282" y="160020"/>
            <a:ext cx="2423160" cy="512064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220BDBB6-D6AA-0211-FE10-031990F0A999}"/>
              </a:ext>
            </a:extLst>
          </p:cNvPr>
          <p:cNvSpPr/>
          <p:nvPr/>
        </p:nvSpPr>
        <p:spPr>
          <a:xfrm>
            <a:off x="236610" y="874385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F69BF"/>
                </a:solidFill>
              </a:rPr>
              <a:t>Aula 05</a:t>
            </a:r>
            <a:endParaRPr lang="en-US" sz="13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9B8BEF5D-5E33-91CD-2EF0-99252FF29034}"/>
              </a:ext>
            </a:extLst>
          </p:cNvPr>
          <p:cNvSpPr/>
          <p:nvPr/>
        </p:nvSpPr>
        <p:spPr>
          <a:xfrm>
            <a:off x="242315" y="1148705"/>
            <a:ext cx="643532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tabLst>
                <a:tab pos="0" algn="l"/>
              </a:tabLst>
              <a:defRPr/>
            </a:pPr>
            <a:r>
              <a:rPr lang="en-US" sz="2400" b="1" dirty="0" err="1">
                <a:solidFill>
                  <a:srgbClr val="0B1F3A"/>
                </a:solidFill>
              </a:rPr>
              <a:t>Árvores</a:t>
            </a:r>
            <a:r>
              <a:rPr lang="en-US" sz="2400" b="1" dirty="0">
                <a:solidFill>
                  <a:srgbClr val="0B1F3A"/>
                </a:solidFill>
              </a:rPr>
              <a:t> de </a:t>
            </a:r>
            <a:r>
              <a:rPr lang="en-US" sz="2400" b="1" dirty="0" err="1">
                <a:solidFill>
                  <a:srgbClr val="0B1F3A"/>
                </a:solidFill>
              </a:rPr>
              <a:t>Decisão</a:t>
            </a:r>
            <a:r>
              <a:rPr lang="en-US" sz="2400" b="1" dirty="0">
                <a:solidFill>
                  <a:srgbClr val="0B1F3A"/>
                </a:solidFill>
              </a:rPr>
              <a:t> – Pureza das Classes</a:t>
            </a:r>
            <a:endParaRPr lang="pt-BR" sz="24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9161100D-3439-A939-FF06-BEE234B16E00}"/>
              </a:ext>
            </a:extLst>
          </p:cNvPr>
          <p:cNvSpPr/>
          <p:nvPr/>
        </p:nvSpPr>
        <p:spPr>
          <a:xfrm>
            <a:off x="658368" y="574243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</a:rPr>
              <a:t>Professor Miguél Suares</a:t>
            </a:r>
            <a:endParaRPr lang="en-US" sz="11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68E7E365-B0C7-FCDE-A6FA-E57E2C001F37}"/>
              </a:ext>
            </a:extLst>
          </p:cNvPr>
          <p:cNvSpPr/>
          <p:nvPr/>
        </p:nvSpPr>
        <p:spPr>
          <a:xfrm>
            <a:off x="658368" y="60533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850" dirty="0"/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7F1A074D-AF22-5F31-D4A2-36E0DFBE20F5}"/>
              </a:ext>
            </a:extLst>
          </p:cNvPr>
          <p:cNvSpPr txBox="1"/>
          <p:nvPr/>
        </p:nvSpPr>
        <p:spPr>
          <a:xfrm>
            <a:off x="236609" y="6236315"/>
            <a:ext cx="117680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i="1" dirty="0"/>
              <a:t>IBM. KAVLAKOGLU, </a:t>
            </a:r>
            <a:r>
              <a:rPr lang="pt-BR" sz="1200" i="1" dirty="0" err="1"/>
              <a:t>Eda</a:t>
            </a:r>
            <a:r>
              <a:rPr lang="pt-BR" sz="1200" i="1" dirty="0"/>
              <a:t>. </a:t>
            </a:r>
            <a:r>
              <a:rPr lang="pt-BR" sz="1200" b="1" i="1" dirty="0"/>
              <a:t>O que é uma </a:t>
            </a:r>
            <a:r>
              <a:rPr lang="pt-BR" sz="1200" b="1" i="1" dirty="0" err="1"/>
              <a:t>Decision</a:t>
            </a:r>
            <a:r>
              <a:rPr lang="pt-BR" sz="1200" b="1" i="1" dirty="0"/>
              <a:t> </a:t>
            </a:r>
            <a:r>
              <a:rPr lang="pt-BR" sz="1200" b="1" i="1" dirty="0" err="1"/>
              <a:t>Tree</a:t>
            </a:r>
            <a:r>
              <a:rPr lang="pt-BR" sz="1200" b="1" i="1" dirty="0"/>
              <a:t>?</a:t>
            </a:r>
            <a:r>
              <a:rPr lang="pt-BR" sz="1200" i="1" dirty="0"/>
              <a:t> IBM </a:t>
            </a:r>
            <a:r>
              <a:rPr lang="pt-BR" sz="1200" i="1" dirty="0" err="1"/>
              <a:t>Think</a:t>
            </a:r>
            <a:r>
              <a:rPr lang="pt-BR" sz="1200" i="1" dirty="0"/>
              <a:t> </a:t>
            </a:r>
            <a:r>
              <a:rPr lang="pt-BR" sz="1200" i="1" dirty="0" err="1"/>
              <a:t>Topics</a:t>
            </a:r>
            <a:r>
              <a:rPr lang="pt-BR" sz="1200" i="1" dirty="0"/>
              <a:t>, 2 nov. 2021. </a:t>
            </a:r>
          </a:p>
          <a:p>
            <a:r>
              <a:rPr lang="pt-BR" sz="1200" i="1" dirty="0"/>
              <a:t>Disponível em: </a:t>
            </a:r>
            <a:r>
              <a:rPr lang="pt-BR" sz="1200" i="1" u="sng" dirty="0">
                <a:hlinkClick r:id="rId4"/>
              </a:rPr>
              <a:t>https://www.ibm.com/</a:t>
            </a:r>
            <a:r>
              <a:rPr lang="pt-BR" sz="1200" i="1" u="sng" dirty="0" err="1">
                <a:hlinkClick r:id="rId4"/>
              </a:rPr>
              <a:t>br-pt</a:t>
            </a:r>
            <a:r>
              <a:rPr lang="pt-BR" sz="1200" i="1" u="sng" dirty="0">
                <a:hlinkClick r:id="rId4"/>
              </a:rPr>
              <a:t>/</a:t>
            </a:r>
            <a:r>
              <a:rPr lang="pt-BR" sz="1200" i="1" u="sng" dirty="0" err="1">
                <a:hlinkClick r:id="rId4"/>
              </a:rPr>
              <a:t>think</a:t>
            </a:r>
            <a:r>
              <a:rPr lang="pt-BR" sz="1200" i="1" u="sng" dirty="0">
                <a:hlinkClick r:id="rId4"/>
              </a:rPr>
              <a:t>/</a:t>
            </a:r>
            <a:r>
              <a:rPr lang="pt-BR" sz="1200" i="1" u="sng" dirty="0" err="1">
                <a:hlinkClick r:id="rId4"/>
              </a:rPr>
              <a:t>topics</a:t>
            </a:r>
            <a:r>
              <a:rPr lang="pt-BR" sz="1200" i="1" u="sng" dirty="0">
                <a:hlinkClick r:id="rId4"/>
              </a:rPr>
              <a:t>/</a:t>
            </a:r>
            <a:r>
              <a:rPr lang="pt-BR" sz="1200" i="1" u="sng" dirty="0" err="1">
                <a:hlinkClick r:id="rId4"/>
              </a:rPr>
              <a:t>decision-trees</a:t>
            </a:r>
            <a:r>
              <a:rPr lang="pt-BR" sz="1200" i="1" dirty="0"/>
              <a:t>. Acesso em: 6 out. 2026.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6EAE2979-1CE6-9293-7C68-0A5A582C46BC}"/>
              </a:ext>
            </a:extLst>
          </p:cNvPr>
          <p:cNvSpPr txBox="1"/>
          <p:nvPr/>
        </p:nvSpPr>
        <p:spPr>
          <a:xfrm>
            <a:off x="5353646" y="1898028"/>
            <a:ext cx="3690077" cy="212365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pt-BR" sz="1200" dirty="0">
                <a:solidFill>
                  <a:srgbClr val="37474F"/>
                </a:solidFill>
                <a:highlight>
                  <a:srgbClr val="00FF00"/>
                </a:highlight>
                <a:latin typeface="Roboto Mono" pitchFamily="2" charset="0"/>
              </a:rPr>
              <a:t>🟢 – Casado</a:t>
            </a:r>
          </a:p>
          <a:p>
            <a:r>
              <a:rPr lang="pt-BR" sz="1200" dirty="0">
                <a:solidFill>
                  <a:srgbClr val="37474F"/>
                </a:solidFill>
                <a:highlight>
                  <a:srgbClr val="FF7474"/>
                </a:highlight>
                <a:latin typeface="Roboto Mono" pitchFamily="2" charset="0"/>
              </a:rPr>
              <a:t>🔴 – Solteiro</a:t>
            </a:r>
          </a:p>
          <a:p>
            <a:endParaRPr lang="pt-BR" sz="1200" dirty="0">
              <a:solidFill>
                <a:srgbClr val="37474F"/>
              </a:solidFill>
              <a:highlight>
                <a:srgbClr val="FF7474"/>
              </a:highlight>
              <a:latin typeface="Roboto Mono" pitchFamily="2" charset="0"/>
            </a:endParaRPr>
          </a:p>
          <a:p>
            <a:r>
              <a:rPr lang="pt-BR" sz="1200" dirty="0">
                <a:solidFill>
                  <a:srgbClr val="37474F"/>
                </a:solidFill>
                <a:latin typeface="Roboto Mono" pitchFamily="2" charset="0"/>
              </a:rPr>
              <a:t>           </a:t>
            </a:r>
            <a:r>
              <a:rPr lang="pt-BR" sz="1200" b="1" dirty="0">
                <a:solidFill>
                  <a:srgbClr val="37474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  <a:latin typeface="Roboto Mono" pitchFamily="2" charset="0"/>
              </a:rPr>
              <a:t>TOTAL PESSOAS -&gt; NÓ </a:t>
            </a:r>
            <a:r>
              <a:rPr lang="pt-BR" sz="1200" b="1" u="sng" dirty="0">
                <a:solidFill>
                  <a:srgbClr val="37474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  <a:latin typeface="Roboto Mono" pitchFamily="2" charset="0"/>
              </a:rPr>
              <a:t>RAIZ</a:t>
            </a:r>
          </a:p>
          <a:p>
            <a:r>
              <a:rPr lang="pt-BR" sz="1200" b="1" dirty="0">
                <a:solidFill>
                  <a:srgbClr val="37474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Roboto Mono" pitchFamily="2" charset="0"/>
              </a:rPr>
              <a:t>                |</a:t>
            </a:r>
            <a:endParaRPr lang="pt-BR" sz="1200" dirty="0">
              <a:solidFill>
                <a:srgbClr val="37474F"/>
              </a:solidFill>
              <a:latin typeface="Roboto Mono" pitchFamily="2" charset="0"/>
            </a:endParaRPr>
          </a:p>
          <a:p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</a:t>
            </a:r>
            <a:r>
              <a:rPr lang="pt-BR" sz="1200" b="0" i="0" dirty="0">
                <a:solidFill>
                  <a:srgbClr val="37474F"/>
                </a:solidFill>
                <a:effectLst/>
                <a:highlight>
                  <a:srgbClr val="C0C0C0"/>
                </a:highlight>
                <a:latin typeface="Roboto Mono" pitchFamily="2" charset="0"/>
              </a:rPr>
              <a:t>USA ALIANÇA?</a:t>
            </a:r>
            <a:endParaRPr lang="pt-BR" sz="1200" b="0" i="0" dirty="0">
              <a:solidFill>
                <a:srgbClr val="000000"/>
              </a:solidFill>
              <a:effectLst/>
              <a:highlight>
                <a:srgbClr val="C0C0C0"/>
              </a:highlight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/             \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SIM               NÃO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│                 │</a:t>
            </a:r>
          </a:p>
          <a:p>
            <a:r>
              <a:rPr lang="pt-BR" sz="1200" dirty="0">
                <a:solidFill>
                  <a:srgbClr val="37474F"/>
                </a:solidFill>
                <a:latin typeface="Roboto Mono" pitchFamily="2" charset="0"/>
              </a:rPr>
              <a:t>  </a:t>
            </a:r>
            <a:r>
              <a:rPr lang="pt-BR" sz="1200" b="1" dirty="0">
                <a:solidFill>
                  <a:srgbClr val="37474F"/>
                </a:solidFill>
                <a:highlight>
                  <a:srgbClr val="FFFF00"/>
                </a:highlight>
                <a:latin typeface="Roboto Mono" pitchFamily="2" charset="0"/>
              </a:rPr>
              <a:t>GRUPO1 -&gt; </a:t>
            </a:r>
            <a:r>
              <a:rPr lang="pt-BR" sz="1200" b="1" u="sng" dirty="0">
                <a:solidFill>
                  <a:srgbClr val="37474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  <a:latin typeface="Roboto Mono" pitchFamily="2" charset="0"/>
              </a:rPr>
              <a:t>NÓ1</a:t>
            </a:r>
            <a:r>
              <a:rPr lang="pt-BR" sz="1200" dirty="0">
                <a:solidFill>
                  <a:srgbClr val="37474F"/>
                </a:solidFill>
                <a:latin typeface="Roboto Mono" pitchFamily="2" charset="0"/>
              </a:rPr>
              <a:t>         </a:t>
            </a:r>
            <a:r>
              <a:rPr lang="pt-BR" sz="1200" b="1" dirty="0">
                <a:solidFill>
                  <a:srgbClr val="37474F"/>
                </a:solidFill>
                <a:highlight>
                  <a:srgbClr val="FFFF00"/>
                </a:highlight>
                <a:latin typeface="Roboto Mono" pitchFamily="2" charset="0"/>
              </a:rPr>
              <a:t>GRUPO2 -&gt; </a:t>
            </a:r>
            <a:r>
              <a:rPr lang="pt-BR" sz="1200" b="1" u="sng" dirty="0">
                <a:solidFill>
                  <a:srgbClr val="37474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  <a:latin typeface="Roboto Mono" pitchFamily="2" charset="0"/>
              </a:rPr>
              <a:t>NÓ2</a:t>
            </a:r>
            <a:endParaRPr lang="pt-BR" sz="1200" b="1" i="0" u="sng" dirty="0">
              <a:solidFill>
                <a:srgbClr val="0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ighlight>
                <a:srgbClr val="FFFF00"/>
              </a:highlight>
              <a:latin typeface="Roboto Mono" pitchFamily="2" charset="0"/>
            </a:endParaRPr>
          </a:p>
          <a:p>
            <a:pPr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highlight>
                  <a:srgbClr val="00FF00"/>
                </a:highlight>
                <a:latin typeface="Roboto Mono" pitchFamily="2" charset="0"/>
              </a:rPr>
              <a:t>🟢 🟢 🟢 🟢 </a:t>
            </a:r>
            <a:r>
              <a:rPr lang="pt-BR" sz="1200" dirty="0">
                <a:solidFill>
                  <a:srgbClr val="37474F"/>
                </a:solidFill>
                <a:highlight>
                  <a:srgbClr val="00FF00"/>
                </a:highlight>
                <a:latin typeface="Roboto Mono" pitchFamily="2" charset="0"/>
              </a:rPr>
              <a:t>🟢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</a:t>
            </a:r>
            <a:r>
              <a:rPr lang="pt-BR" sz="1200" dirty="0">
                <a:solidFill>
                  <a:srgbClr val="37474F"/>
                </a:solidFill>
                <a:highlight>
                  <a:srgbClr val="FF7474"/>
                </a:highlight>
                <a:latin typeface="Roboto Mono" pitchFamily="2" charset="0"/>
              </a:rPr>
              <a:t>🔴</a:t>
            </a:r>
            <a:r>
              <a:rPr lang="pt-BR" sz="1200" b="0" i="0" dirty="0">
                <a:solidFill>
                  <a:srgbClr val="37474F"/>
                </a:solidFill>
                <a:effectLst/>
                <a:highlight>
                  <a:srgbClr val="FF7474"/>
                </a:highlight>
                <a:latin typeface="Roboto Mono" pitchFamily="2" charset="0"/>
              </a:rPr>
              <a:t> 🔴 🔴 🔴 🔴</a:t>
            </a:r>
          </a:p>
        </p:txBody>
      </p:sp>
      <p:sp>
        <p:nvSpPr>
          <p:cNvPr id="13" name="Text 1">
            <a:extLst>
              <a:ext uri="{FF2B5EF4-FFF2-40B4-BE49-F238E27FC236}">
                <a16:creationId xmlns:a16="http://schemas.microsoft.com/office/drawing/2014/main" id="{40CC0689-3BEC-0C11-9AE5-7AF5C760CFCE}"/>
              </a:ext>
            </a:extLst>
          </p:cNvPr>
          <p:cNvSpPr/>
          <p:nvPr/>
        </p:nvSpPr>
        <p:spPr>
          <a:xfrm>
            <a:off x="148652" y="4258945"/>
            <a:ext cx="10955687" cy="9752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Arial" panose="020B0604020202020204" pitchFamily="34" charset="0"/>
              <a:buChar char="•"/>
              <a:tabLst>
                <a:tab pos="0" algn="l"/>
              </a:tabLst>
              <a:defRPr/>
            </a:pPr>
            <a:endParaRPr lang="en-US" sz="1600" b="1" dirty="0">
              <a:solidFill>
                <a:srgbClr val="0B1F3A"/>
              </a:solidFill>
            </a:endParaRPr>
          </a:p>
          <a:p>
            <a:pPr>
              <a:tabLst>
                <a:tab pos="0" algn="l"/>
              </a:tabLst>
              <a:defRPr/>
            </a:pPr>
            <a:endParaRPr lang="en-US" sz="1600" b="1" dirty="0">
              <a:solidFill>
                <a:srgbClr val="0B1F3A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  <a:defRPr/>
            </a:pPr>
            <a:r>
              <a:rPr lang="en-US" sz="1600" dirty="0">
                <a:solidFill>
                  <a:srgbClr val="0B1F3A"/>
                </a:solidFill>
              </a:rPr>
              <a:t>A </a:t>
            </a:r>
            <a:r>
              <a:rPr lang="en-US" sz="1600" dirty="0" err="1">
                <a:solidFill>
                  <a:srgbClr val="0B1F3A"/>
                </a:solidFill>
              </a:rPr>
              <a:t>pergunta</a:t>
            </a:r>
            <a:r>
              <a:rPr lang="en-US" sz="1600" dirty="0">
                <a:solidFill>
                  <a:srgbClr val="0B1F3A"/>
                </a:solidFill>
              </a:rPr>
              <a:t>  “Tem </a:t>
            </a:r>
            <a:r>
              <a:rPr lang="en-US" sz="1600" dirty="0" err="1">
                <a:solidFill>
                  <a:srgbClr val="0B1F3A"/>
                </a:solidFill>
              </a:rPr>
              <a:t>Aquário</a:t>
            </a:r>
            <a:r>
              <a:rPr lang="en-US" sz="1600" dirty="0">
                <a:solidFill>
                  <a:srgbClr val="0B1F3A"/>
                </a:solidFill>
              </a:rPr>
              <a:t>” </a:t>
            </a:r>
            <a:r>
              <a:rPr lang="en-US" sz="1600" dirty="0" err="1">
                <a:solidFill>
                  <a:srgbClr val="0B1F3A"/>
                </a:solidFill>
              </a:rPr>
              <a:t>gera</a:t>
            </a:r>
            <a:r>
              <a:rPr lang="en-US" sz="1600" dirty="0">
                <a:solidFill>
                  <a:srgbClr val="0B1F3A"/>
                </a:solidFill>
              </a:rPr>
              <a:t> </a:t>
            </a:r>
            <a:r>
              <a:rPr lang="en-US" sz="1600" dirty="0" err="1">
                <a:solidFill>
                  <a:srgbClr val="0B1F3A"/>
                </a:solidFill>
              </a:rPr>
              <a:t>dois</a:t>
            </a:r>
            <a:r>
              <a:rPr lang="en-US" sz="1600" dirty="0">
                <a:solidFill>
                  <a:srgbClr val="0B1F3A"/>
                </a:solidFill>
              </a:rPr>
              <a:t> </a:t>
            </a:r>
            <a:r>
              <a:rPr lang="en-US" sz="1600" dirty="0" err="1">
                <a:solidFill>
                  <a:srgbClr val="0B1F3A"/>
                </a:solidFill>
              </a:rPr>
              <a:t>nós</a:t>
            </a:r>
            <a:r>
              <a:rPr lang="en-US" sz="1600" dirty="0">
                <a:solidFill>
                  <a:srgbClr val="0B1F3A"/>
                </a:solidFill>
              </a:rPr>
              <a:t> “COM MISTURA” (TEM PELO MENOS 2 ESTRATOS (CLASSES) NO MESMO NÓ);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  <a:defRPr/>
            </a:pPr>
            <a:r>
              <a:rPr lang="en-US" sz="1600" dirty="0">
                <a:solidFill>
                  <a:srgbClr val="0B1F3A"/>
                </a:solidFill>
              </a:rPr>
              <a:t>A </a:t>
            </a:r>
            <a:r>
              <a:rPr lang="en-US" sz="1600" dirty="0" err="1">
                <a:solidFill>
                  <a:srgbClr val="0B1F3A"/>
                </a:solidFill>
              </a:rPr>
              <a:t>pergunta</a:t>
            </a:r>
            <a:r>
              <a:rPr lang="en-US" sz="1600" dirty="0">
                <a:solidFill>
                  <a:srgbClr val="0B1F3A"/>
                </a:solidFill>
              </a:rPr>
              <a:t>  “USA ALIANÇA” </a:t>
            </a:r>
            <a:r>
              <a:rPr lang="en-US" sz="1600" dirty="0" err="1">
                <a:solidFill>
                  <a:srgbClr val="0B1F3A"/>
                </a:solidFill>
              </a:rPr>
              <a:t>gera</a:t>
            </a:r>
            <a:r>
              <a:rPr lang="en-US" sz="1600" dirty="0">
                <a:solidFill>
                  <a:srgbClr val="0B1F3A"/>
                </a:solidFill>
              </a:rPr>
              <a:t> </a:t>
            </a:r>
            <a:r>
              <a:rPr lang="en-US" sz="1600" dirty="0" err="1">
                <a:solidFill>
                  <a:srgbClr val="0B1F3A"/>
                </a:solidFill>
              </a:rPr>
              <a:t>dois</a:t>
            </a:r>
            <a:r>
              <a:rPr lang="en-US" sz="1600" dirty="0">
                <a:solidFill>
                  <a:srgbClr val="0B1F3A"/>
                </a:solidFill>
              </a:rPr>
              <a:t> </a:t>
            </a:r>
            <a:r>
              <a:rPr lang="en-US" sz="1600" dirty="0" err="1">
                <a:solidFill>
                  <a:srgbClr val="0B1F3A"/>
                </a:solidFill>
              </a:rPr>
              <a:t>nós</a:t>
            </a:r>
            <a:r>
              <a:rPr lang="en-US" sz="1600" dirty="0">
                <a:solidFill>
                  <a:srgbClr val="0B1F3A"/>
                </a:solidFill>
              </a:rPr>
              <a:t> “PUROS” (TEM 1 ESTRATO (CLASSE) NO NÓ);</a:t>
            </a:r>
          </a:p>
          <a:p>
            <a:pPr marL="285750" indent="-285750">
              <a:buFont typeface="Arial" panose="020B0604020202020204" pitchFamily="34" charset="0"/>
              <a:buChar char="•"/>
              <a:tabLst>
                <a:tab pos="0" algn="l"/>
              </a:tabLst>
              <a:defRPr/>
            </a:pPr>
            <a:endParaRPr lang="en-US" sz="1600" dirty="0">
              <a:solidFill>
                <a:srgbClr val="0B1F3A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  <a:tabLst>
                <a:tab pos="0" algn="l"/>
              </a:tabLst>
              <a:defRPr/>
            </a:pPr>
            <a:endParaRPr lang="pt-BR" sz="16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788D643B-2C3A-B680-92E1-89E49AA1481C}"/>
              </a:ext>
            </a:extLst>
          </p:cNvPr>
          <p:cNvSpPr txBox="1"/>
          <p:nvPr/>
        </p:nvSpPr>
        <p:spPr>
          <a:xfrm>
            <a:off x="220371" y="1881164"/>
            <a:ext cx="3690077" cy="212365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pt-BR" sz="1200" dirty="0">
                <a:solidFill>
                  <a:srgbClr val="37474F"/>
                </a:solidFill>
                <a:highlight>
                  <a:srgbClr val="00FF00"/>
                </a:highlight>
                <a:latin typeface="Roboto Mono" pitchFamily="2" charset="0"/>
              </a:rPr>
              <a:t>🟢 – Casado</a:t>
            </a:r>
          </a:p>
          <a:p>
            <a:r>
              <a:rPr lang="pt-BR" sz="1200" dirty="0">
                <a:solidFill>
                  <a:srgbClr val="37474F"/>
                </a:solidFill>
                <a:highlight>
                  <a:srgbClr val="FF7474"/>
                </a:highlight>
                <a:latin typeface="Roboto Mono" pitchFamily="2" charset="0"/>
              </a:rPr>
              <a:t>🔴 – Solteiro</a:t>
            </a:r>
          </a:p>
          <a:p>
            <a:endParaRPr lang="pt-BR" sz="1200" dirty="0">
              <a:solidFill>
                <a:srgbClr val="37474F"/>
              </a:solidFill>
              <a:highlight>
                <a:srgbClr val="FF7474"/>
              </a:highlight>
              <a:latin typeface="Roboto Mono" pitchFamily="2" charset="0"/>
            </a:endParaRPr>
          </a:p>
          <a:p>
            <a:r>
              <a:rPr lang="pt-BR" sz="1200" dirty="0">
                <a:solidFill>
                  <a:srgbClr val="37474F"/>
                </a:solidFill>
                <a:latin typeface="Roboto Mono" pitchFamily="2" charset="0"/>
              </a:rPr>
              <a:t>           </a:t>
            </a:r>
            <a:r>
              <a:rPr lang="pt-BR" sz="1200" b="1" dirty="0">
                <a:solidFill>
                  <a:srgbClr val="37474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  <a:latin typeface="Roboto Mono" pitchFamily="2" charset="0"/>
              </a:rPr>
              <a:t>TOTAL PESSOAS -&gt; NÓ </a:t>
            </a:r>
            <a:r>
              <a:rPr lang="pt-BR" sz="1200" b="1" u="sng" dirty="0">
                <a:solidFill>
                  <a:srgbClr val="37474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  <a:latin typeface="Roboto Mono" pitchFamily="2" charset="0"/>
              </a:rPr>
              <a:t>RAIZ</a:t>
            </a:r>
          </a:p>
          <a:p>
            <a:r>
              <a:rPr lang="pt-BR" sz="1200" b="1" dirty="0">
                <a:solidFill>
                  <a:srgbClr val="37474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Roboto Mono" pitchFamily="2" charset="0"/>
              </a:rPr>
              <a:t>                |</a:t>
            </a:r>
            <a:endParaRPr lang="pt-BR" sz="1200" dirty="0">
              <a:solidFill>
                <a:srgbClr val="37474F"/>
              </a:solidFill>
              <a:latin typeface="Roboto Mono" pitchFamily="2" charset="0"/>
            </a:endParaRPr>
          </a:p>
          <a:p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</a:t>
            </a:r>
            <a:r>
              <a:rPr lang="pt-BR" sz="1200" b="0" i="0" dirty="0">
                <a:solidFill>
                  <a:srgbClr val="37474F"/>
                </a:solidFill>
                <a:effectLst/>
                <a:highlight>
                  <a:srgbClr val="C0C0C0"/>
                </a:highlight>
                <a:latin typeface="Roboto Mono" pitchFamily="2" charset="0"/>
              </a:rPr>
              <a:t>TEM AQUÁRIO?</a:t>
            </a:r>
            <a:endParaRPr lang="pt-BR" sz="1200" b="0" i="0" dirty="0">
              <a:solidFill>
                <a:srgbClr val="000000"/>
              </a:solidFill>
              <a:effectLst/>
              <a:highlight>
                <a:srgbClr val="C0C0C0"/>
              </a:highlight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/             \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SIM               NÃO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│                 │</a:t>
            </a:r>
          </a:p>
          <a:p>
            <a:r>
              <a:rPr lang="pt-BR" sz="1200" dirty="0">
                <a:solidFill>
                  <a:srgbClr val="37474F"/>
                </a:solidFill>
                <a:latin typeface="Roboto Mono" pitchFamily="2" charset="0"/>
              </a:rPr>
              <a:t>  </a:t>
            </a:r>
            <a:r>
              <a:rPr lang="pt-BR" sz="1200" b="1" dirty="0">
                <a:solidFill>
                  <a:srgbClr val="37474F"/>
                </a:solidFill>
                <a:highlight>
                  <a:srgbClr val="FFFF00"/>
                </a:highlight>
                <a:latin typeface="Roboto Mono" pitchFamily="2" charset="0"/>
              </a:rPr>
              <a:t>GRUPO1 -&gt; </a:t>
            </a:r>
            <a:r>
              <a:rPr lang="pt-BR" sz="1200" b="1" u="sng" dirty="0">
                <a:solidFill>
                  <a:srgbClr val="37474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  <a:latin typeface="Roboto Mono" pitchFamily="2" charset="0"/>
              </a:rPr>
              <a:t>NÓ1</a:t>
            </a:r>
            <a:r>
              <a:rPr lang="pt-BR" sz="1200" dirty="0">
                <a:solidFill>
                  <a:srgbClr val="37474F"/>
                </a:solidFill>
                <a:latin typeface="Roboto Mono" pitchFamily="2" charset="0"/>
              </a:rPr>
              <a:t>         </a:t>
            </a:r>
            <a:r>
              <a:rPr lang="pt-BR" sz="1200" b="1" dirty="0">
                <a:solidFill>
                  <a:srgbClr val="37474F"/>
                </a:solidFill>
                <a:highlight>
                  <a:srgbClr val="FFFF00"/>
                </a:highlight>
                <a:latin typeface="Roboto Mono" pitchFamily="2" charset="0"/>
              </a:rPr>
              <a:t>GRUPO2 -&gt; </a:t>
            </a:r>
            <a:r>
              <a:rPr lang="pt-BR" sz="1200" b="1" u="sng" dirty="0">
                <a:solidFill>
                  <a:srgbClr val="37474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  <a:latin typeface="Roboto Mono" pitchFamily="2" charset="0"/>
              </a:rPr>
              <a:t>NÓ2</a:t>
            </a:r>
            <a:endParaRPr lang="pt-BR" sz="1200" b="1" i="0" u="sng" dirty="0">
              <a:solidFill>
                <a:srgbClr val="0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ighlight>
                <a:srgbClr val="FFFF00"/>
              </a:highlight>
              <a:latin typeface="Roboto Mono" pitchFamily="2" charset="0"/>
            </a:endParaRPr>
          </a:p>
          <a:p>
            <a:pPr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highlight>
                  <a:srgbClr val="00FF00"/>
                </a:highlight>
                <a:latin typeface="Roboto Mono" pitchFamily="2" charset="0"/>
              </a:rPr>
              <a:t>🟢 🟢 🟢 🟢 🔴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</a:t>
            </a:r>
            <a:r>
              <a:rPr lang="pt-BR" sz="1200" b="0" i="0" dirty="0">
                <a:solidFill>
                  <a:srgbClr val="37474F"/>
                </a:solidFill>
                <a:effectLst/>
                <a:highlight>
                  <a:srgbClr val="FF7474"/>
                </a:highlight>
                <a:latin typeface="Roboto Mono" pitchFamily="2" charset="0"/>
              </a:rPr>
              <a:t>🟢 🔴 🔴 🔴 🔴</a:t>
            </a:r>
          </a:p>
        </p:txBody>
      </p:sp>
    </p:spTree>
    <p:extLst>
      <p:ext uri="{BB962C8B-B14F-4D97-AF65-F5344CB8AC3E}">
        <p14:creationId xmlns:p14="http://schemas.microsoft.com/office/powerpoint/2010/main" val="15227607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09A7DA1-0D28-F7DA-9FF5-C6EE774B0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template_extract/ppt/media/image1.png">
            <a:extLst>
              <a:ext uri="{FF2B5EF4-FFF2-40B4-BE49-F238E27FC236}">
                <a16:creationId xmlns:a16="http://schemas.microsoft.com/office/drawing/2014/main" id="{05FB47FF-A03B-40EA-53FF-354A9E448B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282" y="160020"/>
            <a:ext cx="2423160" cy="512064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964757FE-704D-F670-F230-30A6A655855B}"/>
              </a:ext>
            </a:extLst>
          </p:cNvPr>
          <p:cNvSpPr/>
          <p:nvPr/>
        </p:nvSpPr>
        <p:spPr>
          <a:xfrm>
            <a:off x="236610" y="874385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F69BF"/>
                </a:solidFill>
              </a:rPr>
              <a:t>Aula 05</a:t>
            </a:r>
            <a:endParaRPr lang="en-US" sz="13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F79AF347-5156-EA3D-AB38-2CC2EBAFA19A}"/>
              </a:ext>
            </a:extLst>
          </p:cNvPr>
          <p:cNvSpPr/>
          <p:nvPr/>
        </p:nvSpPr>
        <p:spPr>
          <a:xfrm>
            <a:off x="242315" y="1148705"/>
            <a:ext cx="76768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tabLst>
                <a:tab pos="0" algn="l"/>
              </a:tabLst>
              <a:defRPr/>
            </a:pPr>
            <a:r>
              <a:rPr lang="en-US" sz="2400" b="1" dirty="0" err="1">
                <a:solidFill>
                  <a:srgbClr val="0B1F3A"/>
                </a:solidFill>
              </a:rPr>
              <a:t>Árvores</a:t>
            </a:r>
            <a:r>
              <a:rPr lang="en-US" sz="2400" b="1" dirty="0">
                <a:solidFill>
                  <a:srgbClr val="0B1F3A"/>
                </a:solidFill>
              </a:rPr>
              <a:t> de </a:t>
            </a:r>
            <a:r>
              <a:rPr lang="en-US" sz="2400" b="1" dirty="0" err="1">
                <a:solidFill>
                  <a:srgbClr val="0B1F3A"/>
                </a:solidFill>
              </a:rPr>
              <a:t>Decisão</a:t>
            </a:r>
            <a:r>
              <a:rPr lang="en-US" sz="2400" b="1" dirty="0">
                <a:solidFill>
                  <a:srgbClr val="0B1F3A"/>
                </a:solidFill>
              </a:rPr>
              <a:t> – Pureza das Classes - GINI</a:t>
            </a:r>
            <a:endParaRPr lang="pt-BR" sz="24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5BF28047-9778-260C-74B6-C411852BDAB2}"/>
              </a:ext>
            </a:extLst>
          </p:cNvPr>
          <p:cNvSpPr/>
          <p:nvPr/>
        </p:nvSpPr>
        <p:spPr>
          <a:xfrm>
            <a:off x="658368" y="574243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</a:rPr>
              <a:t>Professor Miguél Suares</a:t>
            </a:r>
            <a:endParaRPr lang="en-US" sz="11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647B2B71-F3D0-FBB6-ECF1-4D6D694CFAF3}"/>
              </a:ext>
            </a:extLst>
          </p:cNvPr>
          <p:cNvSpPr/>
          <p:nvPr/>
        </p:nvSpPr>
        <p:spPr>
          <a:xfrm>
            <a:off x="658368" y="60533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850" dirty="0"/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2011E1B0-0D7E-0A97-0C5E-F608D7C7E785}"/>
              </a:ext>
            </a:extLst>
          </p:cNvPr>
          <p:cNvSpPr txBox="1"/>
          <p:nvPr/>
        </p:nvSpPr>
        <p:spPr>
          <a:xfrm>
            <a:off x="236609" y="6236315"/>
            <a:ext cx="117680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i="1" dirty="0"/>
              <a:t>IBM. KAVLAKOGLU, </a:t>
            </a:r>
            <a:r>
              <a:rPr lang="pt-BR" sz="1200" i="1" dirty="0" err="1"/>
              <a:t>Eda</a:t>
            </a:r>
            <a:r>
              <a:rPr lang="pt-BR" sz="1200" i="1" dirty="0"/>
              <a:t>. </a:t>
            </a:r>
            <a:r>
              <a:rPr lang="pt-BR" sz="1200" b="1" i="1" dirty="0"/>
              <a:t>O que é uma </a:t>
            </a:r>
            <a:r>
              <a:rPr lang="pt-BR" sz="1200" b="1" i="1" dirty="0" err="1"/>
              <a:t>Decision</a:t>
            </a:r>
            <a:r>
              <a:rPr lang="pt-BR" sz="1200" b="1" i="1" dirty="0"/>
              <a:t> </a:t>
            </a:r>
            <a:r>
              <a:rPr lang="pt-BR" sz="1200" b="1" i="1" dirty="0" err="1"/>
              <a:t>Tree</a:t>
            </a:r>
            <a:r>
              <a:rPr lang="pt-BR" sz="1200" b="1" i="1" dirty="0"/>
              <a:t>?</a:t>
            </a:r>
            <a:r>
              <a:rPr lang="pt-BR" sz="1200" i="1" dirty="0"/>
              <a:t> IBM </a:t>
            </a:r>
            <a:r>
              <a:rPr lang="pt-BR" sz="1200" i="1" dirty="0" err="1"/>
              <a:t>Think</a:t>
            </a:r>
            <a:r>
              <a:rPr lang="pt-BR" sz="1200" i="1" dirty="0"/>
              <a:t> </a:t>
            </a:r>
            <a:r>
              <a:rPr lang="pt-BR" sz="1200" i="1" dirty="0" err="1"/>
              <a:t>Topics</a:t>
            </a:r>
            <a:r>
              <a:rPr lang="pt-BR" sz="1200" i="1" dirty="0"/>
              <a:t>, 2 nov. 2021. </a:t>
            </a:r>
          </a:p>
          <a:p>
            <a:r>
              <a:rPr lang="pt-BR" sz="1200" i="1" dirty="0"/>
              <a:t>Disponível em: </a:t>
            </a:r>
            <a:r>
              <a:rPr lang="pt-BR" sz="1200" i="1" u="sng" dirty="0">
                <a:hlinkClick r:id="rId4"/>
              </a:rPr>
              <a:t>https://www.ibm.com/</a:t>
            </a:r>
            <a:r>
              <a:rPr lang="pt-BR" sz="1200" i="1" u="sng" dirty="0" err="1">
                <a:hlinkClick r:id="rId4"/>
              </a:rPr>
              <a:t>br-pt</a:t>
            </a:r>
            <a:r>
              <a:rPr lang="pt-BR" sz="1200" i="1" u="sng" dirty="0">
                <a:hlinkClick r:id="rId4"/>
              </a:rPr>
              <a:t>/</a:t>
            </a:r>
            <a:r>
              <a:rPr lang="pt-BR" sz="1200" i="1" u="sng" dirty="0" err="1">
                <a:hlinkClick r:id="rId4"/>
              </a:rPr>
              <a:t>think</a:t>
            </a:r>
            <a:r>
              <a:rPr lang="pt-BR" sz="1200" i="1" u="sng" dirty="0">
                <a:hlinkClick r:id="rId4"/>
              </a:rPr>
              <a:t>/</a:t>
            </a:r>
            <a:r>
              <a:rPr lang="pt-BR" sz="1200" i="1" u="sng" dirty="0" err="1">
                <a:hlinkClick r:id="rId4"/>
              </a:rPr>
              <a:t>topics</a:t>
            </a:r>
            <a:r>
              <a:rPr lang="pt-BR" sz="1200" i="1" u="sng" dirty="0">
                <a:hlinkClick r:id="rId4"/>
              </a:rPr>
              <a:t>/</a:t>
            </a:r>
            <a:r>
              <a:rPr lang="pt-BR" sz="1200" i="1" u="sng" dirty="0" err="1">
                <a:hlinkClick r:id="rId4"/>
              </a:rPr>
              <a:t>decision-trees</a:t>
            </a:r>
            <a:r>
              <a:rPr lang="pt-BR" sz="1200" i="1" dirty="0"/>
              <a:t>. Acesso em: 6 out. 2026.</a:t>
            </a:r>
          </a:p>
        </p:txBody>
      </p:sp>
      <p:sp>
        <p:nvSpPr>
          <p:cNvPr id="13" name="Text 1">
            <a:extLst>
              <a:ext uri="{FF2B5EF4-FFF2-40B4-BE49-F238E27FC236}">
                <a16:creationId xmlns:a16="http://schemas.microsoft.com/office/drawing/2014/main" id="{71E9CDAD-A57D-8B9C-0673-512D26012C63}"/>
              </a:ext>
            </a:extLst>
          </p:cNvPr>
          <p:cNvSpPr/>
          <p:nvPr/>
        </p:nvSpPr>
        <p:spPr>
          <a:xfrm>
            <a:off x="148652" y="4258945"/>
            <a:ext cx="10955687" cy="9752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Arial" panose="020B0604020202020204" pitchFamily="34" charset="0"/>
              <a:buChar char="•"/>
              <a:tabLst>
                <a:tab pos="0" algn="l"/>
              </a:tabLst>
              <a:defRPr/>
            </a:pPr>
            <a:endParaRPr lang="en-US" sz="1600" b="1" dirty="0">
              <a:solidFill>
                <a:srgbClr val="0B1F3A"/>
              </a:solidFill>
            </a:endParaRPr>
          </a:p>
          <a:p>
            <a:pPr>
              <a:tabLst>
                <a:tab pos="0" algn="l"/>
              </a:tabLst>
              <a:defRPr/>
            </a:pPr>
            <a:endParaRPr lang="en-US" sz="1600" b="1" dirty="0">
              <a:solidFill>
                <a:srgbClr val="0B1F3A"/>
              </a:solidFill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  <a:defRPr/>
            </a:pPr>
            <a:r>
              <a:rPr lang="en-US" sz="1600" dirty="0">
                <a:solidFill>
                  <a:srgbClr val="0B1F3A"/>
                </a:solidFill>
              </a:rPr>
              <a:t>A </a:t>
            </a:r>
            <a:r>
              <a:rPr lang="en-US" sz="1600" dirty="0" err="1">
                <a:solidFill>
                  <a:srgbClr val="0B1F3A"/>
                </a:solidFill>
              </a:rPr>
              <a:t>pergunta</a:t>
            </a:r>
            <a:r>
              <a:rPr lang="en-US" sz="1600" dirty="0">
                <a:solidFill>
                  <a:srgbClr val="0B1F3A"/>
                </a:solidFill>
              </a:rPr>
              <a:t>  “Tem </a:t>
            </a:r>
            <a:r>
              <a:rPr lang="en-US" sz="1600" dirty="0" err="1">
                <a:solidFill>
                  <a:srgbClr val="0B1F3A"/>
                </a:solidFill>
              </a:rPr>
              <a:t>Aquário</a:t>
            </a:r>
            <a:r>
              <a:rPr lang="en-US" sz="1600" dirty="0">
                <a:solidFill>
                  <a:srgbClr val="0B1F3A"/>
                </a:solidFill>
              </a:rPr>
              <a:t>” </a:t>
            </a:r>
            <a:r>
              <a:rPr lang="en-US" sz="1600" dirty="0" err="1">
                <a:solidFill>
                  <a:srgbClr val="0B1F3A"/>
                </a:solidFill>
              </a:rPr>
              <a:t>gera</a:t>
            </a:r>
            <a:r>
              <a:rPr lang="en-US" sz="1600" dirty="0">
                <a:solidFill>
                  <a:srgbClr val="0B1F3A"/>
                </a:solidFill>
              </a:rPr>
              <a:t> </a:t>
            </a:r>
            <a:r>
              <a:rPr lang="en-US" sz="1600" dirty="0" err="1">
                <a:solidFill>
                  <a:srgbClr val="0B1F3A"/>
                </a:solidFill>
              </a:rPr>
              <a:t>dois</a:t>
            </a:r>
            <a:r>
              <a:rPr lang="en-US" sz="1600" dirty="0">
                <a:solidFill>
                  <a:srgbClr val="0B1F3A"/>
                </a:solidFill>
              </a:rPr>
              <a:t> </a:t>
            </a:r>
            <a:r>
              <a:rPr lang="en-US" sz="1600" dirty="0" err="1">
                <a:solidFill>
                  <a:srgbClr val="0B1F3A"/>
                </a:solidFill>
              </a:rPr>
              <a:t>nós</a:t>
            </a:r>
            <a:r>
              <a:rPr lang="en-US" sz="1600" dirty="0">
                <a:solidFill>
                  <a:srgbClr val="0B1F3A"/>
                </a:solidFill>
              </a:rPr>
              <a:t> “COM MISTURA” (TEM PELO MENOS 2 ESTRATOS (CLASSES) NO MESMO NÓ);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  <a:defRPr/>
            </a:pPr>
            <a:r>
              <a:rPr lang="en-US" sz="1600" dirty="0">
                <a:solidFill>
                  <a:srgbClr val="0B1F3A"/>
                </a:solidFill>
              </a:rPr>
              <a:t>A </a:t>
            </a:r>
            <a:r>
              <a:rPr lang="en-US" sz="1600" dirty="0" err="1">
                <a:solidFill>
                  <a:srgbClr val="0B1F3A"/>
                </a:solidFill>
              </a:rPr>
              <a:t>pergunta</a:t>
            </a:r>
            <a:r>
              <a:rPr lang="en-US" sz="1600" dirty="0">
                <a:solidFill>
                  <a:srgbClr val="0B1F3A"/>
                </a:solidFill>
              </a:rPr>
              <a:t>  “USA ALIANÇA” </a:t>
            </a:r>
            <a:r>
              <a:rPr lang="en-US" sz="1600" dirty="0" err="1">
                <a:solidFill>
                  <a:srgbClr val="0B1F3A"/>
                </a:solidFill>
              </a:rPr>
              <a:t>gera</a:t>
            </a:r>
            <a:r>
              <a:rPr lang="en-US" sz="1600" dirty="0">
                <a:solidFill>
                  <a:srgbClr val="0B1F3A"/>
                </a:solidFill>
              </a:rPr>
              <a:t> </a:t>
            </a:r>
            <a:r>
              <a:rPr lang="en-US" sz="1600" dirty="0" err="1">
                <a:solidFill>
                  <a:srgbClr val="0B1F3A"/>
                </a:solidFill>
              </a:rPr>
              <a:t>dois</a:t>
            </a:r>
            <a:r>
              <a:rPr lang="en-US" sz="1600" dirty="0">
                <a:solidFill>
                  <a:srgbClr val="0B1F3A"/>
                </a:solidFill>
              </a:rPr>
              <a:t> </a:t>
            </a:r>
            <a:r>
              <a:rPr lang="en-US" sz="1600" dirty="0" err="1">
                <a:solidFill>
                  <a:srgbClr val="0B1F3A"/>
                </a:solidFill>
              </a:rPr>
              <a:t>nós</a:t>
            </a:r>
            <a:r>
              <a:rPr lang="en-US" sz="1600" dirty="0">
                <a:solidFill>
                  <a:srgbClr val="0B1F3A"/>
                </a:solidFill>
              </a:rPr>
              <a:t> “PUROS” (TEM 1 ESTRATO (CLASSE) NO NÓ);</a:t>
            </a:r>
          </a:p>
          <a:p>
            <a:pPr marL="285750" indent="-285750">
              <a:buFont typeface="Arial" panose="020B0604020202020204" pitchFamily="34" charset="0"/>
              <a:buChar char="•"/>
              <a:tabLst>
                <a:tab pos="0" algn="l"/>
              </a:tabLst>
              <a:defRPr/>
            </a:pPr>
            <a:endParaRPr lang="en-US" sz="1600" dirty="0">
              <a:solidFill>
                <a:srgbClr val="0B1F3A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  <a:tabLst>
                <a:tab pos="0" algn="l"/>
              </a:tabLst>
              <a:defRPr/>
            </a:pPr>
            <a:endParaRPr lang="pt-BR" sz="16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E047E7D7-058A-1405-4685-2AA9E5ED52C9}"/>
              </a:ext>
            </a:extLst>
          </p:cNvPr>
          <p:cNvSpPr txBox="1"/>
          <p:nvPr/>
        </p:nvSpPr>
        <p:spPr>
          <a:xfrm>
            <a:off x="193282" y="1808072"/>
            <a:ext cx="47048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O Valor Gini mede justamente essa impureza.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1605B060-4FF6-D7E2-753E-01C90F42FC53}"/>
                  </a:ext>
                </a:extLst>
              </p:cNvPr>
              <p:cNvSpPr txBox="1"/>
              <p:nvPr/>
            </p:nvSpPr>
            <p:spPr>
              <a:xfrm>
                <a:off x="377505" y="2415255"/>
                <a:ext cx="2374084" cy="67076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pt-BR" i="0" smtClean="0">
                          <a:latin typeface="Cambria Math" panose="02040503050406030204" pitchFamily="18" charset="0"/>
                        </a:rPr>
                        <m:t>Valor</m:t>
                      </m:r>
                      <m:r>
                        <m:rPr>
                          <m:nor/>
                        </m:rPr>
                        <a:rPr lang="pt-BR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pt-BR" i="0" smtClean="0">
                          <a:latin typeface="Cambria Math" panose="02040503050406030204" pitchFamily="18" charset="0"/>
                        </a:rPr>
                        <m:t>Gini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=1−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1605B060-4FF6-D7E2-753E-01C90F42FC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505" y="2415255"/>
                <a:ext cx="2374084" cy="67076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CaixaDeTexto 11">
            <a:extLst>
              <a:ext uri="{FF2B5EF4-FFF2-40B4-BE49-F238E27FC236}">
                <a16:creationId xmlns:a16="http://schemas.microsoft.com/office/drawing/2014/main" id="{9275FACE-06C7-E6F3-3864-2A03EDA1A244}"/>
              </a:ext>
            </a:extLst>
          </p:cNvPr>
          <p:cNvSpPr txBox="1"/>
          <p:nvPr/>
        </p:nvSpPr>
        <p:spPr>
          <a:xfrm>
            <a:off x="377505" y="3055161"/>
            <a:ext cx="2827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Ou , mais detalhadamente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A01A26C7-2985-588E-D9C8-7A13515A2B44}"/>
                  </a:ext>
                </a:extLst>
              </p:cNvPr>
              <p:cNvSpPr txBox="1"/>
              <p:nvPr/>
            </p:nvSpPr>
            <p:spPr>
              <a:xfrm>
                <a:off x="377683" y="3595467"/>
                <a:ext cx="4547975" cy="3372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pt-BR" i="0" smtClean="0">
                          <a:latin typeface="Cambria Math" panose="02040503050406030204" pitchFamily="18" charset="0"/>
                        </a:rPr>
                        <m:t>Valor</m:t>
                      </m:r>
                      <m:r>
                        <m:rPr>
                          <m:nor/>
                        </m:rPr>
                        <a:rPr lang="pt-BR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pt-BR" i="0" smtClean="0">
                          <a:latin typeface="Cambria Math" panose="02040503050406030204" pitchFamily="18" charset="0"/>
                        </a:rPr>
                        <m:t>Gini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1−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pt-BR" i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  <m:r>
                                <m:rPr>
                                  <m:nor/>
                                </m:rPr>
                                <a:rPr lang="pt-BR" i="0">
                                  <a:latin typeface="Cambria Math" panose="02040503050406030204" pitchFamily="18" charset="0"/>
                                </a:rPr>
                                <m:t>casado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pt-BR" i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  <m:r>
                                <m:rPr>
                                  <m:nor/>
                                </m:rPr>
                                <a:rPr lang="pt-BR" i="0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  <m:r>
                                <m:rPr>
                                  <m:nor/>
                                </m:rPr>
                                <a:rPr lang="pt-BR" i="0">
                                  <a:latin typeface="Cambria Math" panose="02040503050406030204" pitchFamily="18" charset="0"/>
                                </a:rPr>
                                <m:t>ã</m:t>
                              </m:r>
                              <m:r>
                                <m:rPr>
                                  <m:nor/>
                                </m:rPr>
                                <a:rPr lang="pt-BR" i="0">
                                  <a:latin typeface="Cambria Math" panose="02040503050406030204" pitchFamily="18" charset="0"/>
                                </a:rPr>
                                <m:t>o</m:t>
                              </m:r>
                              <m:r>
                                <m:rPr>
                                  <m:nor/>
                                </m:rPr>
                                <a:rPr lang="pt-BR" i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pt-BR" i="0">
                                  <a:latin typeface="Cambria Math" panose="02040503050406030204" pitchFamily="18" charset="0"/>
                                </a:rPr>
                                <m:t>casado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A01A26C7-2985-588E-D9C8-7A13515A2B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683" y="3595467"/>
                <a:ext cx="4547975" cy="337272"/>
              </a:xfrm>
              <a:prstGeom prst="rect">
                <a:avLst/>
              </a:prstGeom>
              <a:blipFill>
                <a:blip r:embed="rId6"/>
                <a:stretch>
                  <a:fillRect l="-938" b="-2363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437758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54726-6F76-DAEE-F3AC-C8004A6EB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template_extract/ppt/media/image1.png">
            <a:extLst>
              <a:ext uri="{FF2B5EF4-FFF2-40B4-BE49-F238E27FC236}">
                <a16:creationId xmlns:a16="http://schemas.microsoft.com/office/drawing/2014/main" id="{3BB3E887-82CC-8BD9-2B41-84F9E529C0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282" y="160020"/>
            <a:ext cx="2423160" cy="512064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CDE37298-6104-8E75-65D5-B5044A3F24B0}"/>
              </a:ext>
            </a:extLst>
          </p:cNvPr>
          <p:cNvSpPr/>
          <p:nvPr/>
        </p:nvSpPr>
        <p:spPr>
          <a:xfrm>
            <a:off x="236610" y="874385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F69BF"/>
                </a:solidFill>
              </a:rPr>
              <a:t>Aula 05</a:t>
            </a:r>
            <a:endParaRPr lang="en-US" sz="13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7FBAEFA8-D420-8AB2-C739-C86BC575562A}"/>
              </a:ext>
            </a:extLst>
          </p:cNvPr>
          <p:cNvSpPr/>
          <p:nvPr/>
        </p:nvSpPr>
        <p:spPr>
          <a:xfrm>
            <a:off x="242315" y="1148705"/>
            <a:ext cx="271061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tabLst>
                <a:tab pos="0" algn="l"/>
              </a:tabLst>
              <a:defRPr/>
            </a:pPr>
            <a:r>
              <a:rPr lang="en-US" sz="2400" b="1" dirty="0" err="1">
                <a:solidFill>
                  <a:srgbClr val="0B1F3A"/>
                </a:solidFill>
              </a:rPr>
              <a:t>Árvores</a:t>
            </a:r>
            <a:r>
              <a:rPr lang="en-US" sz="2400" b="1" dirty="0">
                <a:solidFill>
                  <a:srgbClr val="0B1F3A"/>
                </a:solidFill>
              </a:rPr>
              <a:t> de </a:t>
            </a:r>
            <a:r>
              <a:rPr lang="en-US" sz="2400" b="1" dirty="0" err="1">
                <a:solidFill>
                  <a:srgbClr val="0B1F3A"/>
                </a:solidFill>
              </a:rPr>
              <a:t>Decisão</a:t>
            </a:r>
            <a:r>
              <a:rPr lang="en-US" sz="2400" b="1" dirty="0">
                <a:solidFill>
                  <a:srgbClr val="0B1F3A"/>
                </a:solidFill>
              </a:rPr>
              <a:t> </a:t>
            </a:r>
            <a:endParaRPr lang="pt-BR" sz="24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E9B0A39A-DEE7-DC05-1200-D335367F97A8}"/>
              </a:ext>
            </a:extLst>
          </p:cNvPr>
          <p:cNvSpPr/>
          <p:nvPr/>
        </p:nvSpPr>
        <p:spPr>
          <a:xfrm>
            <a:off x="658368" y="574243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</a:rPr>
              <a:t>Professor Miguél Suares</a:t>
            </a:r>
            <a:endParaRPr lang="en-US" sz="11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FE7DA3AF-DCB5-465B-2391-868DA157581D}"/>
              </a:ext>
            </a:extLst>
          </p:cNvPr>
          <p:cNvSpPr/>
          <p:nvPr/>
        </p:nvSpPr>
        <p:spPr>
          <a:xfrm>
            <a:off x="658368" y="60533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850" dirty="0"/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CEA68767-6DFB-2963-3617-E434CD17CF69}"/>
              </a:ext>
            </a:extLst>
          </p:cNvPr>
          <p:cNvSpPr txBox="1"/>
          <p:nvPr/>
        </p:nvSpPr>
        <p:spPr>
          <a:xfrm>
            <a:off x="236609" y="6236315"/>
            <a:ext cx="117680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i="1" dirty="0"/>
              <a:t>IBM. KAVLAKOGLU, </a:t>
            </a:r>
            <a:r>
              <a:rPr lang="pt-BR" sz="1200" i="1" dirty="0" err="1"/>
              <a:t>Eda</a:t>
            </a:r>
            <a:r>
              <a:rPr lang="pt-BR" sz="1200" i="1" dirty="0"/>
              <a:t>. </a:t>
            </a:r>
            <a:r>
              <a:rPr lang="pt-BR" sz="1200" b="1" i="1" dirty="0"/>
              <a:t>O que é uma </a:t>
            </a:r>
            <a:r>
              <a:rPr lang="pt-BR" sz="1200" b="1" i="1" dirty="0" err="1"/>
              <a:t>Decision</a:t>
            </a:r>
            <a:r>
              <a:rPr lang="pt-BR" sz="1200" b="1" i="1" dirty="0"/>
              <a:t> </a:t>
            </a:r>
            <a:r>
              <a:rPr lang="pt-BR" sz="1200" b="1" i="1" dirty="0" err="1"/>
              <a:t>Tree</a:t>
            </a:r>
            <a:r>
              <a:rPr lang="pt-BR" sz="1200" b="1" i="1" dirty="0"/>
              <a:t>?</a:t>
            </a:r>
            <a:r>
              <a:rPr lang="pt-BR" sz="1200" i="1" dirty="0"/>
              <a:t> IBM </a:t>
            </a:r>
            <a:r>
              <a:rPr lang="pt-BR" sz="1200" i="1" dirty="0" err="1"/>
              <a:t>Think</a:t>
            </a:r>
            <a:r>
              <a:rPr lang="pt-BR" sz="1200" i="1" dirty="0"/>
              <a:t> </a:t>
            </a:r>
            <a:r>
              <a:rPr lang="pt-BR" sz="1200" i="1" dirty="0" err="1"/>
              <a:t>Topics</a:t>
            </a:r>
            <a:r>
              <a:rPr lang="pt-BR" sz="1200" i="1" dirty="0"/>
              <a:t>, 2 nov. 2021. </a:t>
            </a:r>
          </a:p>
          <a:p>
            <a:r>
              <a:rPr lang="pt-BR" sz="1200" i="1" dirty="0"/>
              <a:t>Disponível em: </a:t>
            </a:r>
            <a:r>
              <a:rPr lang="pt-BR" sz="1200" i="1" u="sng" dirty="0">
                <a:hlinkClick r:id="rId4"/>
              </a:rPr>
              <a:t>https://www.ibm.com/</a:t>
            </a:r>
            <a:r>
              <a:rPr lang="pt-BR" sz="1200" i="1" u="sng" dirty="0" err="1">
                <a:hlinkClick r:id="rId4"/>
              </a:rPr>
              <a:t>br-pt</a:t>
            </a:r>
            <a:r>
              <a:rPr lang="pt-BR" sz="1200" i="1" u="sng" dirty="0">
                <a:hlinkClick r:id="rId4"/>
              </a:rPr>
              <a:t>/</a:t>
            </a:r>
            <a:r>
              <a:rPr lang="pt-BR" sz="1200" i="1" u="sng" dirty="0" err="1">
                <a:hlinkClick r:id="rId4"/>
              </a:rPr>
              <a:t>think</a:t>
            </a:r>
            <a:r>
              <a:rPr lang="pt-BR" sz="1200" i="1" u="sng" dirty="0">
                <a:hlinkClick r:id="rId4"/>
              </a:rPr>
              <a:t>/</a:t>
            </a:r>
            <a:r>
              <a:rPr lang="pt-BR" sz="1200" i="1" u="sng" dirty="0" err="1">
                <a:hlinkClick r:id="rId4"/>
              </a:rPr>
              <a:t>topics</a:t>
            </a:r>
            <a:r>
              <a:rPr lang="pt-BR" sz="1200" i="1" u="sng" dirty="0">
                <a:hlinkClick r:id="rId4"/>
              </a:rPr>
              <a:t>/</a:t>
            </a:r>
            <a:r>
              <a:rPr lang="pt-BR" sz="1200" i="1" u="sng" dirty="0" err="1">
                <a:hlinkClick r:id="rId4"/>
              </a:rPr>
              <a:t>decision-trees</a:t>
            </a:r>
            <a:r>
              <a:rPr lang="pt-BR" sz="1200" i="1" dirty="0"/>
              <a:t>. Acesso em: 6 out. 2026.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75D3BD28-9C99-1B81-E022-F6DB5E55D0DF}"/>
              </a:ext>
            </a:extLst>
          </p:cNvPr>
          <p:cNvSpPr txBox="1"/>
          <p:nvPr/>
        </p:nvSpPr>
        <p:spPr>
          <a:xfrm>
            <a:off x="193282" y="1677847"/>
            <a:ext cx="4572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Joaquim encontrou e classificou 10 pessoas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6E52C055-ECAD-669D-F823-200FC8435FCD}"/>
              </a:ext>
            </a:extLst>
          </p:cNvPr>
          <p:cNvSpPr txBox="1"/>
          <p:nvPr/>
        </p:nvSpPr>
        <p:spPr>
          <a:xfrm>
            <a:off x="7600498" y="4736001"/>
            <a:ext cx="3690077" cy="166199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pt-BR" sz="1200" dirty="0">
                <a:solidFill>
                  <a:srgbClr val="37474F"/>
                </a:solidFill>
                <a:highlight>
                  <a:srgbClr val="00FF00"/>
                </a:highlight>
                <a:latin typeface="Roboto Mono" pitchFamily="2" charset="0"/>
              </a:rPr>
              <a:t>🟢 – Casado</a:t>
            </a:r>
          </a:p>
          <a:p>
            <a:r>
              <a:rPr lang="pt-BR" sz="1200" dirty="0">
                <a:solidFill>
                  <a:srgbClr val="37474F"/>
                </a:solidFill>
                <a:highlight>
                  <a:srgbClr val="FF7474"/>
                </a:highlight>
                <a:latin typeface="Roboto Mono" pitchFamily="2" charset="0"/>
              </a:rPr>
              <a:t>🔴 – Solteiro</a:t>
            </a:r>
          </a:p>
          <a:p>
            <a:endParaRPr lang="pt-BR" sz="1200" dirty="0">
              <a:solidFill>
                <a:srgbClr val="37474F"/>
              </a:solidFill>
              <a:latin typeface="Roboto Mono" pitchFamily="2" charset="0"/>
            </a:endParaRPr>
          </a:p>
          <a:p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</a:t>
            </a:r>
            <a:r>
              <a:rPr lang="pt-BR" dirty="0">
                <a:highlight>
                  <a:srgbClr val="D6DCE5"/>
                </a:highlight>
              </a:rPr>
              <a:t>USA ALIANÇA?</a:t>
            </a: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/             \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SIM               NÃO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│                 │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highlight>
                  <a:srgbClr val="00FF00"/>
                </a:highlight>
                <a:latin typeface="Roboto Mono" pitchFamily="2" charset="0"/>
              </a:rPr>
              <a:t>🟢 🟢 🟢 🟢 </a:t>
            </a:r>
            <a:r>
              <a:rPr lang="pt-BR" sz="1200" dirty="0">
                <a:solidFill>
                  <a:srgbClr val="37474F"/>
                </a:solidFill>
                <a:highlight>
                  <a:srgbClr val="00FF00"/>
                </a:highlight>
                <a:latin typeface="Roboto Mono" pitchFamily="2" charset="0"/>
              </a:rPr>
              <a:t>🟢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</a:t>
            </a:r>
            <a:r>
              <a:rPr lang="pt-BR" sz="1200" dirty="0">
                <a:solidFill>
                  <a:srgbClr val="37474F"/>
                </a:solidFill>
                <a:highlight>
                  <a:srgbClr val="FF7474"/>
                </a:highlight>
                <a:latin typeface="Roboto Mono" pitchFamily="2" charset="0"/>
              </a:rPr>
              <a:t>🔴</a:t>
            </a:r>
            <a:r>
              <a:rPr lang="pt-BR" sz="1200" b="0" i="0" dirty="0">
                <a:solidFill>
                  <a:srgbClr val="37474F"/>
                </a:solidFill>
                <a:effectLst/>
                <a:highlight>
                  <a:srgbClr val="FF7474"/>
                </a:highlight>
                <a:latin typeface="Roboto Mono" pitchFamily="2" charset="0"/>
              </a:rPr>
              <a:t> 🔴 🔴 🔴 🔴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7689EA6D-13E1-04EF-4F5F-7C69CD067937}"/>
              </a:ext>
            </a:extLst>
          </p:cNvPr>
          <p:cNvSpPr txBox="1"/>
          <p:nvPr/>
        </p:nvSpPr>
        <p:spPr>
          <a:xfrm>
            <a:off x="7844651" y="4247744"/>
            <a:ext cx="2482197" cy="369332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r>
              <a:rPr lang="pt-BR" dirty="0"/>
              <a:t>Pergunta TEM ALIANÇA</a:t>
            </a:r>
          </a:p>
        </p:txBody>
      </p:sp>
      <p:graphicFrame>
        <p:nvGraphicFramePr>
          <p:cNvPr id="5" name="Tabela 4">
            <a:extLst>
              <a:ext uri="{FF2B5EF4-FFF2-40B4-BE49-F238E27FC236}">
                <a16:creationId xmlns:a16="http://schemas.microsoft.com/office/drawing/2014/main" id="{7922D002-8773-7EF6-3F23-59A14BCA15CA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1989614"/>
          <a:ext cx="6225330" cy="3352800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1245066">
                  <a:extLst>
                    <a:ext uri="{9D8B030D-6E8A-4147-A177-3AD203B41FA5}">
                      <a16:colId xmlns:a16="http://schemas.microsoft.com/office/drawing/2014/main" val="2200803114"/>
                    </a:ext>
                  </a:extLst>
                </a:gridCol>
                <a:gridCol w="1245066">
                  <a:extLst>
                    <a:ext uri="{9D8B030D-6E8A-4147-A177-3AD203B41FA5}">
                      <a16:colId xmlns:a16="http://schemas.microsoft.com/office/drawing/2014/main" val="2254309218"/>
                    </a:ext>
                  </a:extLst>
                </a:gridCol>
                <a:gridCol w="1245066">
                  <a:extLst>
                    <a:ext uri="{9D8B030D-6E8A-4147-A177-3AD203B41FA5}">
                      <a16:colId xmlns:a16="http://schemas.microsoft.com/office/drawing/2014/main" val="2331909233"/>
                    </a:ext>
                  </a:extLst>
                </a:gridCol>
                <a:gridCol w="1245066">
                  <a:extLst>
                    <a:ext uri="{9D8B030D-6E8A-4147-A177-3AD203B41FA5}">
                      <a16:colId xmlns:a16="http://schemas.microsoft.com/office/drawing/2014/main" val="2108727524"/>
                    </a:ext>
                  </a:extLst>
                </a:gridCol>
                <a:gridCol w="1245066">
                  <a:extLst>
                    <a:ext uri="{9D8B030D-6E8A-4147-A177-3AD203B41FA5}">
                      <a16:colId xmlns:a16="http://schemas.microsoft.com/office/drawing/2014/main" val="35356833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1" dirty="0"/>
                        <a:t>Pessoa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1" dirty="0"/>
                        <a:t>Aquário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1" dirty="0"/>
                        <a:t>Filhos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1" dirty="0"/>
                        <a:t>Aliança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400" b="1" dirty="0"/>
                        <a:t>Casado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418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77788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35245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80659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30308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0430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75611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41593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44350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Sim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76481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J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1400" dirty="0"/>
                        <a:t>Não</a:t>
                      </a:r>
                    </a:p>
                  </a:txBody>
                  <a:tcPr anchor="ctr">
                    <a:solidFill>
                      <a:srgbClr val="FF747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1306641"/>
                  </a:ext>
                </a:extLst>
              </a:tr>
            </a:tbl>
          </a:graphicData>
        </a:graphic>
      </p:graphicFrame>
      <p:sp>
        <p:nvSpPr>
          <p:cNvPr id="6" name="CaixaDeTexto 5">
            <a:extLst>
              <a:ext uri="{FF2B5EF4-FFF2-40B4-BE49-F238E27FC236}">
                <a16:creationId xmlns:a16="http://schemas.microsoft.com/office/drawing/2014/main" id="{05663042-9A57-58FE-0E87-5D5986ECE382}"/>
              </a:ext>
            </a:extLst>
          </p:cNvPr>
          <p:cNvSpPr txBox="1"/>
          <p:nvPr/>
        </p:nvSpPr>
        <p:spPr>
          <a:xfrm>
            <a:off x="7443390" y="1698005"/>
            <a:ext cx="3690077" cy="212365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pt-BR" sz="1200" dirty="0">
                <a:solidFill>
                  <a:srgbClr val="37474F"/>
                </a:solidFill>
                <a:highlight>
                  <a:srgbClr val="00FF00"/>
                </a:highlight>
                <a:latin typeface="Roboto Mono" pitchFamily="2" charset="0"/>
              </a:rPr>
              <a:t>🟢 – Casado</a:t>
            </a:r>
          </a:p>
          <a:p>
            <a:r>
              <a:rPr lang="pt-BR" sz="1200" dirty="0">
                <a:solidFill>
                  <a:srgbClr val="37474F"/>
                </a:solidFill>
                <a:highlight>
                  <a:srgbClr val="FF7474"/>
                </a:highlight>
                <a:latin typeface="Roboto Mono" pitchFamily="2" charset="0"/>
              </a:rPr>
              <a:t>🔴 – Solteiro</a:t>
            </a:r>
          </a:p>
          <a:p>
            <a:endParaRPr lang="pt-BR" sz="1200" dirty="0">
              <a:solidFill>
                <a:srgbClr val="37474F"/>
              </a:solidFill>
              <a:highlight>
                <a:srgbClr val="FF7474"/>
              </a:highlight>
              <a:latin typeface="Roboto Mono" pitchFamily="2" charset="0"/>
            </a:endParaRPr>
          </a:p>
          <a:p>
            <a:r>
              <a:rPr lang="pt-BR" sz="1200" dirty="0">
                <a:solidFill>
                  <a:srgbClr val="37474F"/>
                </a:solidFill>
                <a:latin typeface="Roboto Mono" pitchFamily="2" charset="0"/>
              </a:rPr>
              <a:t>           </a:t>
            </a:r>
            <a:r>
              <a:rPr lang="pt-BR" sz="1200" b="1" dirty="0">
                <a:solidFill>
                  <a:srgbClr val="37474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  <a:latin typeface="Roboto Mono" pitchFamily="2" charset="0"/>
              </a:rPr>
              <a:t>TOTAL PESSOAS -&gt; NÓ </a:t>
            </a:r>
            <a:r>
              <a:rPr lang="pt-BR" sz="1200" b="1" u="sng" dirty="0">
                <a:solidFill>
                  <a:srgbClr val="37474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  <a:latin typeface="Roboto Mono" pitchFamily="2" charset="0"/>
              </a:rPr>
              <a:t>RAIZ</a:t>
            </a:r>
          </a:p>
          <a:p>
            <a:r>
              <a:rPr lang="pt-BR" sz="1200" b="1" dirty="0">
                <a:solidFill>
                  <a:srgbClr val="37474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Roboto Mono" pitchFamily="2" charset="0"/>
              </a:rPr>
              <a:t>                |</a:t>
            </a:r>
            <a:endParaRPr lang="pt-BR" sz="1200" dirty="0">
              <a:solidFill>
                <a:srgbClr val="37474F"/>
              </a:solidFill>
              <a:latin typeface="Roboto Mono" pitchFamily="2" charset="0"/>
            </a:endParaRPr>
          </a:p>
          <a:p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</a:t>
            </a:r>
            <a:r>
              <a:rPr lang="pt-BR" sz="1200" b="0" i="0" dirty="0">
                <a:solidFill>
                  <a:srgbClr val="37474F"/>
                </a:solidFill>
                <a:effectLst/>
                <a:highlight>
                  <a:srgbClr val="C0C0C0"/>
                </a:highlight>
                <a:latin typeface="Roboto Mono" pitchFamily="2" charset="0"/>
              </a:rPr>
              <a:t>TEM AQUÁRIO?</a:t>
            </a:r>
            <a:endParaRPr lang="pt-BR" sz="1200" b="0" i="0" dirty="0">
              <a:solidFill>
                <a:srgbClr val="000000"/>
              </a:solidFill>
              <a:effectLst/>
              <a:highlight>
                <a:srgbClr val="C0C0C0"/>
              </a:highlight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/             \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SIM               NÃO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│                 │</a:t>
            </a:r>
          </a:p>
          <a:p>
            <a:r>
              <a:rPr lang="pt-BR" sz="1200" dirty="0">
                <a:solidFill>
                  <a:srgbClr val="37474F"/>
                </a:solidFill>
                <a:latin typeface="Roboto Mono" pitchFamily="2" charset="0"/>
              </a:rPr>
              <a:t>  </a:t>
            </a:r>
            <a:r>
              <a:rPr lang="pt-BR" sz="1200" b="1" dirty="0">
                <a:solidFill>
                  <a:srgbClr val="37474F"/>
                </a:solidFill>
                <a:highlight>
                  <a:srgbClr val="FFFF00"/>
                </a:highlight>
                <a:latin typeface="Roboto Mono" pitchFamily="2" charset="0"/>
              </a:rPr>
              <a:t>GRUPO1 -&gt; </a:t>
            </a:r>
            <a:r>
              <a:rPr lang="pt-BR" sz="1200" b="1" u="sng" dirty="0">
                <a:solidFill>
                  <a:srgbClr val="37474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  <a:latin typeface="Roboto Mono" pitchFamily="2" charset="0"/>
              </a:rPr>
              <a:t>NÓ1</a:t>
            </a:r>
            <a:r>
              <a:rPr lang="pt-BR" sz="1200" dirty="0">
                <a:solidFill>
                  <a:srgbClr val="37474F"/>
                </a:solidFill>
                <a:latin typeface="Roboto Mono" pitchFamily="2" charset="0"/>
              </a:rPr>
              <a:t>         </a:t>
            </a:r>
            <a:r>
              <a:rPr lang="pt-BR" sz="1200" b="1" dirty="0">
                <a:solidFill>
                  <a:srgbClr val="37474F"/>
                </a:solidFill>
                <a:highlight>
                  <a:srgbClr val="FFFF00"/>
                </a:highlight>
                <a:latin typeface="Roboto Mono" pitchFamily="2" charset="0"/>
              </a:rPr>
              <a:t>GRUPO2 -&gt; </a:t>
            </a:r>
            <a:r>
              <a:rPr lang="pt-BR" sz="1200" b="1" u="sng" dirty="0">
                <a:solidFill>
                  <a:srgbClr val="37474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  <a:latin typeface="Roboto Mono" pitchFamily="2" charset="0"/>
              </a:rPr>
              <a:t>NÓ2</a:t>
            </a:r>
            <a:endParaRPr lang="pt-BR" sz="1200" b="1" i="0" u="sng" dirty="0">
              <a:solidFill>
                <a:srgbClr val="0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ighlight>
                <a:srgbClr val="FFFF00"/>
              </a:highlight>
              <a:latin typeface="Roboto Mono" pitchFamily="2" charset="0"/>
            </a:endParaRPr>
          </a:p>
          <a:p>
            <a:pPr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highlight>
                  <a:srgbClr val="00FF00"/>
                </a:highlight>
                <a:latin typeface="Roboto Mono" pitchFamily="2" charset="0"/>
              </a:rPr>
              <a:t>🟢 🟢 🟢 🟢 🔴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</a:t>
            </a:r>
            <a:r>
              <a:rPr lang="pt-BR" sz="1200" b="0" i="0" dirty="0">
                <a:solidFill>
                  <a:srgbClr val="37474F"/>
                </a:solidFill>
                <a:effectLst/>
                <a:highlight>
                  <a:srgbClr val="FF7474"/>
                </a:highlight>
                <a:latin typeface="Roboto Mono" pitchFamily="2" charset="0"/>
              </a:rPr>
              <a:t>🟢 🔴 🔴 🔴 🔴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9679771E-035F-37DA-B904-DE71FFA6F92D}"/>
              </a:ext>
            </a:extLst>
          </p:cNvPr>
          <p:cNvSpPr txBox="1"/>
          <p:nvPr/>
        </p:nvSpPr>
        <p:spPr>
          <a:xfrm>
            <a:off x="7997051" y="1170379"/>
            <a:ext cx="2564688" cy="369332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r>
              <a:rPr lang="pt-BR" dirty="0"/>
              <a:t>Pergunta TEM AQUÁRIO</a:t>
            </a:r>
          </a:p>
        </p:txBody>
      </p:sp>
    </p:spTree>
    <p:extLst>
      <p:ext uri="{BB962C8B-B14F-4D97-AF65-F5344CB8AC3E}">
        <p14:creationId xmlns:p14="http://schemas.microsoft.com/office/powerpoint/2010/main" val="25314573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5F6D48-E3B3-4E85-1316-3BB9BF96E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template_extract/ppt/media/image1.png">
            <a:extLst>
              <a:ext uri="{FF2B5EF4-FFF2-40B4-BE49-F238E27FC236}">
                <a16:creationId xmlns:a16="http://schemas.microsoft.com/office/drawing/2014/main" id="{A1B6EFA4-B465-5D38-D542-F37519F887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282" y="160020"/>
            <a:ext cx="2423160" cy="512064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772354FA-3855-44B9-74C4-59186BA9D755}"/>
              </a:ext>
            </a:extLst>
          </p:cNvPr>
          <p:cNvSpPr/>
          <p:nvPr/>
        </p:nvSpPr>
        <p:spPr>
          <a:xfrm>
            <a:off x="236610" y="874385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F69BF"/>
                </a:solidFill>
              </a:rPr>
              <a:t>Aula 05</a:t>
            </a:r>
            <a:endParaRPr lang="en-US" sz="13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9CD34309-6567-5E14-F642-1AD15604FB8E}"/>
              </a:ext>
            </a:extLst>
          </p:cNvPr>
          <p:cNvSpPr/>
          <p:nvPr/>
        </p:nvSpPr>
        <p:spPr>
          <a:xfrm>
            <a:off x="242315" y="1148705"/>
            <a:ext cx="643532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tabLst>
                <a:tab pos="0" algn="l"/>
              </a:tabLst>
              <a:defRPr/>
            </a:pPr>
            <a:r>
              <a:rPr lang="en-US" sz="2400" b="1" dirty="0" err="1">
                <a:solidFill>
                  <a:srgbClr val="0B1F3A"/>
                </a:solidFill>
              </a:rPr>
              <a:t>Árvores</a:t>
            </a:r>
            <a:r>
              <a:rPr lang="en-US" sz="2400" b="1" dirty="0">
                <a:solidFill>
                  <a:srgbClr val="0B1F3A"/>
                </a:solidFill>
              </a:rPr>
              <a:t> de </a:t>
            </a:r>
            <a:r>
              <a:rPr lang="en-US" sz="2400" b="1" dirty="0" err="1">
                <a:solidFill>
                  <a:srgbClr val="0B1F3A"/>
                </a:solidFill>
              </a:rPr>
              <a:t>Decisão</a:t>
            </a:r>
            <a:r>
              <a:rPr lang="en-US" sz="2400" b="1" dirty="0">
                <a:solidFill>
                  <a:srgbClr val="0B1F3A"/>
                </a:solidFill>
              </a:rPr>
              <a:t> – Pureza das Classes</a:t>
            </a:r>
            <a:endParaRPr lang="pt-BR" sz="24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0B81A7E7-897F-9CB4-3ABF-6287D82D7BDD}"/>
              </a:ext>
            </a:extLst>
          </p:cNvPr>
          <p:cNvSpPr/>
          <p:nvPr/>
        </p:nvSpPr>
        <p:spPr>
          <a:xfrm>
            <a:off x="658368" y="574243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</a:rPr>
              <a:t>Professor Miguél Suares</a:t>
            </a:r>
            <a:endParaRPr lang="en-US" sz="11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586AE06D-3FB7-0395-CEB2-4089C1753C2C}"/>
              </a:ext>
            </a:extLst>
          </p:cNvPr>
          <p:cNvSpPr/>
          <p:nvPr/>
        </p:nvSpPr>
        <p:spPr>
          <a:xfrm>
            <a:off x="658368" y="60533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850" dirty="0"/>
          </a:p>
        </p:txBody>
      </p:sp>
      <p:sp>
        <p:nvSpPr>
          <p:cNvPr id="43" name="Retângulo 42">
            <a:extLst>
              <a:ext uri="{FF2B5EF4-FFF2-40B4-BE49-F238E27FC236}">
                <a16:creationId xmlns:a16="http://schemas.microsoft.com/office/drawing/2014/main" id="{EC65CF51-98ED-D065-9662-F5523C0B961D}"/>
              </a:ext>
            </a:extLst>
          </p:cNvPr>
          <p:cNvSpPr/>
          <p:nvPr/>
        </p:nvSpPr>
        <p:spPr>
          <a:xfrm>
            <a:off x="135516" y="2548285"/>
            <a:ext cx="5113656" cy="3071743"/>
          </a:xfrm>
          <a:prstGeom prst="rect">
            <a:avLst/>
          </a:prstGeom>
          <a:solidFill>
            <a:srgbClr val="00FF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02F9CEEF-0F33-D735-6C6F-32F8804A79A6}"/>
              </a:ext>
            </a:extLst>
          </p:cNvPr>
          <p:cNvSpPr txBox="1"/>
          <p:nvPr/>
        </p:nvSpPr>
        <p:spPr>
          <a:xfrm>
            <a:off x="236609" y="6236315"/>
            <a:ext cx="117680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i="1" dirty="0"/>
              <a:t>IBM. KAVLAKOGLU, </a:t>
            </a:r>
            <a:r>
              <a:rPr lang="pt-BR" sz="1200" i="1" dirty="0" err="1"/>
              <a:t>Eda</a:t>
            </a:r>
            <a:r>
              <a:rPr lang="pt-BR" sz="1200" i="1" dirty="0"/>
              <a:t>. </a:t>
            </a:r>
            <a:r>
              <a:rPr lang="pt-BR" sz="1200" b="1" i="1" dirty="0"/>
              <a:t>O que é uma </a:t>
            </a:r>
            <a:r>
              <a:rPr lang="pt-BR" sz="1200" b="1" i="1" dirty="0" err="1"/>
              <a:t>Decision</a:t>
            </a:r>
            <a:r>
              <a:rPr lang="pt-BR" sz="1200" b="1" i="1" dirty="0"/>
              <a:t> </a:t>
            </a:r>
            <a:r>
              <a:rPr lang="pt-BR" sz="1200" b="1" i="1" dirty="0" err="1"/>
              <a:t>Tree</a:t>
            </a:r>
            <a:r>
              <a:rPr lang="pt-BR" sz="1200" b="1" i="1" dirty="0"/>
              <a:t>?</a:t>
            </a:r>
            <a:r>
              <a:rPr lang="pt-BR" sz="1200" i="1" dirty="0"/>
              <a:t> IBM </a:t>
            </a:r>
            <a:r>
              <a:rPr lang="pt-BR" sz="1200" i="1" dirty="0" err="1"/>
              <a:t>Think</a:t>
            </a:r>
            <a:r>
              <a:rPr lang="pt-BR" sz="1200" i="1" dirty="0"/>
              <a:t> </a:t>
            </a:r>
            <a:r>
              <a:rPr lang="pt-BR" sz="1200" i="1" dirty="0" err="1"/>
              <a:t>Topics</a:t>
            </a:r>
            <a:r>
              <a:rPr lang="pt-BR" sz="1200" i="1" dirty="0"/>
              <a:t>, 2 nov. 2021. </a:t>
            </a:r>
          </a:p>
          <a:p>
            <a:r>
              <a:rPr lang="pt-BR" sz="1200" i="1" dirty="0"/>
              <a:t>Disponível em: </a:t>
            </a:r>
            <a:r>
              <a:rPr lang="pt-BR" sz="1200" i="1" u="sng" dirty="0">
                <a:hlinkClick r:id="rId4"/>
              </a:rPr>
              <a:t>https://www.ibm.com/</a:t>
            </a:r>
            <a:r>
              <a:rPr lang="pt-BR" sz="1200" i="1" u="sng" dirty="0" err="1">
                <a:hlinkClick r:id="rId4"/>
              </a:rPr>
              <a:t>br-pt</a:t>
            </a:r>
            <a:r>
              <a:rPr lang="pt-BR" sz="1200" i="1" u="sng" dirty="0">
                <a:hlinkClick r:id="rId4"/>
              </a:rPr>
              <a:t>/</a:t>
            </a:r>
            <a:r>
              <a:rPr lang="pt-BR" sz="1200" i="1" u="sng" dirty="0" err="1">
                <a:hlinkClick r:id="rId4"/>
              </a:rPr>
              <a:t>think</a:t>
            </a:r>
            <a:r>
              <a:rPr lang="pt-BR" sz="1200" i="1" u="sng" dirty="0">
                <a:hlinkClick r:id="rId4"/>
              </a:rPr>
              <a:t>/</a:t>
            </a:r>
            <a:r>
              <a:rPr lang="pt-BR" sz="1200" i="1" u="sng" dirty="0" err="1">
                <a:hlinkClick r:id="rId4"/>
              </a:rPr>
              <a:t>topics</a:t>
            </a:r>
            <a:r>
              <a:rPr lang="pt-BR" sz="1200" i="1" u="sng" dirty="0">
                <a:hlinkClick r:id="rId4"/>
              </a:rPr>
              <a:t>/</a:t>
            </a:r>
            <a:r>
              <a:rPr lang="pt-BR" sz="1200" i="1" u="sng" dirty="0" err="1">
                <a:hlinkClick r:id="rId4"/>
              </a:rPr>
              <a:t>decision-trees</a:t>
            </a:r>
            <a:r>
              <a:rPr lang="pt-BR" sz="1200" i="1" dirty="0"/>
              <a:t>. Acesso em: 6 out. 2026.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66E6CBE1-B819-4B36-0B8A-A0C73EBB186E}"/>
              </a:ext>
            </a:extLst>
          </p:cNvPr>
          <p:cNvSpPr txBox="1"/>
          <p:nvPr/>
        </p:nvSpPr>
        <p:spPr>
          <a:xfrm>
            <a:off x="6648923" y="1379475"/>
            <a:ext cx="3690077" cy="212365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pt-BR" sz="1200" dirty="0">
                <a:solidFill>
                  <a:srgbClr val="37474F"/>
                </a:solidFill>
                <a:highlight>
                  <a:srgbClr val="00FF00"/>
                </a:highlight>
                <a:latin typeface="Roboto Mono" pitchFamily="2" charset="0"/>
              </a:rPr>
              <a:t>🟢 – Casado</a:t>
            </a:r>
          </a:p>
          <a:p>
            <a:r>
              <a:rPr lang="pt-BR" sz="1200" dirty="0">
                <a:solidFill>
                  <a:srgbClr val="37474F"/>
                </a:solidFill>
                <a:highlight>
                  <a:srgbClr val="FF7474"/>
                </a:highlight>
                <a:latin typeface="Roboto Mono" pitchFamily="2" charset="0"/>
              </a:rPr>
              <a:t>🔴 – Solteiro</a:t>
            </a:r>
          </a:p>
          <a:p>
            <a:endParaRPr lang="pt-BR" sz="1200" dirty="0">
              <a:solidFill>
                <a:srgbClr val="37474F"/>
              </a:solidFill>
              <a:highlight>
                <a:srgbClr val="FF7474"/>
              </a:highlight>
              <a:latin typeface="Roboto Mono" pitchFamily="2" charset="0"/>
            </a:endParaRPr>
          </a:p>
          <a:p>
            <a:r>
              <a:rPr lang="pt-BR" sz="1200" dirty="0">
                <a:solidFill>
                  <a:srgbClr val="37474F"/>
                </a:solidFill>
                <a:latin typeface="Roboto Mono" pitchFamily="2" charset="0"/>
              </a:rPr>
              <a:t>           </a:t>
            </a:r>
            <a:r>
              <a:rPr lang="pt-BR" sz="1200" b="1" dirty="0">
                <a:solidFill>
                  <a:srgbClr val="37474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  <a:latin typeface="Roboto Mono" pitchFamily="2" charset="0"/>
              </a:rPr>
              <a:t>TOTAL PESSOAS -&gt; NÓ </a:t>
            </a:r>
            <a:r>
              <a:rPr lang="pt-BR" sz="1200" b="1" u="sng" dirty="0">
                <a:solidFill>
                  <a:srgbClr val="37474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  <a:latin typeface="Roboto Mono" pitchFamily="2" charset="0"/>
              </a:rPr>
              <a:t>RAIZ</a:t>
            </a:r>
          </a:p>
          <a:p>
            <a:r>
              <a:rPr lang="pt-BR" sz="1200" b="1" dirty="0">
                <a:solidFill>
                  <a:srgbClr val="37474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Roboto Mono" pitchFamily="2" charset="0"/>
              </a:rPr>
              <a:t>                |</a:t>
            </a:r>
            <a:endParaRPr lang="pt-BR" sz="1200" dirty="0">
              <a:solidFill>
                <a:srgbClr val="37474F"/>
              </a:solidFill>
              <a:latin typeface="Roboto Mono" pitchFamily="2" charset="0"/>
            </a:endParaRPr>
          </a:p>
          <a:p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</a:t>
            </a:r>
            <a:r>
              <a:rPr lang="pt-BR" sz="1200" b="0" i="0" dirty="0">
                <a:solidFill>
                  <a:srgbClr val="37474F"/>
                </a:solidFill>
                <a:effectLst/>
                <a:highlight>
                  <a:srgbClr val="C0C0C0"/>
                </a:highlight>
                <a:latin typeface="Roboto Mono" pitchFamily="2" charset="0"/>
              </a:rPr>
              <a:t>TEM AQUÁRIO?</a:t>
            </a:r>
            <a:endParaRPr lang="pt-BR" sz="1200" b="0" i="0" dirty="0">
              <a:solidFill>
                <a:srgbClr val="000000"/>
              </a:solidFill>
              <a:effectLst/>
              <a:highlight>
                <a:srgbClr val="C0C0C0"/>
              </a:highlight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/             \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SIM               NÃO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│                 │</a:t>
            </a:r>
          </a:p>
          <a:p>
            <a:r>
              <a:rPr lang="pt-BR" sz="1200" dirty="0">
                <a:solidFill>
                  <a:srgbClr val="37474F"/>
                </a:solidFill>
                <a:latin typeface="Roboto Mono" pitchFamily="2" charset="0"/>
              </a:rPr>
              <a:t>  </a:t>
            </a:r>
            <a:r>
              <a:rPr lang="pt-BR" sz="1200" b="1" dirty="0">
                <a:solidFill>
                  <a:srgbClr val="37474F"/>
                </a:solidFill>
                <a:highlight>
                  <a:srgbClr val="FFFF00"/>
                </a:highlight>
                <a:latin typeface="Roboto Mono" pitchFamily="2" charset="0"/>
              </a:rPr>
              <a:t>GRUPO1 -&gt; </a:t>
            </a:r>
            <a:r>
              <a:rPr lang="pt-BR" sz="1200" b="1" u="sng" dirty="0">
                <a:solidFill>
                  <a:srgbClr val="37474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  <a:latin typeface="Roboto Mono" pitchFamily="2" charset="0"/>
              </a:rPr>
              <a:t>NÓ1</a:t>
            </a:r>
            <a:r>
              <a:rPr lang="pt-BR" sz="1200" dirty="0">
                <a:solidFill>
                  <a:srgbClr val="37474F"/>
                </a:solidFill>
                <a:latin typeface="Roboto Mono" pitchFamily="2" charset="0"/>
              </a:rPr>
              <a:t>         </a:t>
            </a:r>
            <a:r>
              <a:rPr lang="pt-BR" sz="1200" b="1" dirty="0">
                <a:solidFill>
                  <a:srgbClr val="37474F"/>
                </a:solidFill>
                <a:highlight>
                  <a:srgbClr val="FFFF00"/>
                </a:highlight>
                <a:latin typeface="Roboto Mono" pitchFamily="2" charset="0"/>
              </a:rPr>
              <a:t>GRUPO2 -&gt; </a:t>
            </a:r>
            <a:r>
              <a:rPr lang="pt-BR" sz="1200" b="1" u="sng" dirty="0">
                <a:solidFill>
                  <a:srgbClr val="37474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  <a:latin typeface="Roboto Mono" pitchFamily="2" charset="0"/>
              </a:rPr>
              <a:t>NÓ2</a:t>
            </a:r>
            <a:endParaRPr lang="pt-BR" sz="1200" b="1" i="0" u="sng" dirty="0">
              <a:solidFill>
                <a:srgbClr val="0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ighlight>
                <a:srgbClr val="FFFF00"/>
              </a:highlight>
              <a:latin typeface="Roboto Mono" pitchFamily="2" charset="0"/>
            </a:endParaRPr>
          </a:p>
          <a:p>
            <a:pPr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highlight>
                  <a:srgbClr val="00FF00"/>
                </a:highlight>
                <a:latin typeface="Roboto Mono" pitchFamily="2" charset="0"/>
              </a:rPr>
              <a:t>🟢 🟢 🟢 🟢 🔴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</a:t>
            </a:r>
            <a:r>
              <a:rPr lang="pt-BR" sz="1200" b="0" i="0" dirty="0">
                <a:solidFill>
                  <a:srgbClr val="37474F"/>
                </a:solidFill>
                <a:effectLst/>
                <a:highlight>
                  <a:srgbClr val="FF7474"/>
                </a:highlight>
                <a:latin typeface="Roboto Mono" pitchFamily="2" charset="0"/>
              </a:rPr>
              <a:t>🟢 🔴 🔴 🔴 🔴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CaixaDeTexto 37">
                <a:extLst>
                  <a:ext uri="{FF2B5EF4-FFF2-40B4-BE49-F238E27FC236}">
                    <a16:creationId xmlns:a16="http://schemas.microsoft.com/office/drawing/2014/main" id="{C45FA370-2BC7-38F4-6114-D8F58F5FE052}"/>
                  </a:ext>
                </a:extLst>
              </p:cNvPr>
              <p:cNvSpPr txBox="1"/>
              <p:nvPr/>
            </p:nvSpPr>
            <p:spPr>
              <a:xfrm>
                <a:off x="162435" y="3564719"/>
                <a:ext cx="2079544" cy="51943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pt-BR" i="0">
                              <a:latin typeface="Cambria Math" panose="02040503050406030204" pitchFamily="18" charset="0"/>
                            </a:rPr>
                            <m:t>casado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=0,8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38" name="CaixaDeTexto 37">
                <a:extLst>
                  <a:ext uri="{FF2B5EF4-FFF2-40B4-BE49-F238E27FC236}">
                    <a16:creationId xmlns:a16="http://schemas.microsoft.com/office/drawing/2014/main" id="{C45FA370-2BC7-38F4-6114-D8F58F5FE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435" y="3564719"/>
                <a:ext cx="2079544" cy="51943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CaixaDeTexto 38">
                <a:extLst>
                  <a:ext uri="{FF2B5EF4-FFF2-40B4-BE49-F238E27FC236}">
                    <a16:creationId xmlns:a16="http://schemas.microsoft.com/office/drawing/2014/main" id="{5F72138B-D74F-65D5-4B7D-72E8B038561A}"/>
                  </a:ext>
                </a:extLst>
              </p:cNvPr>
              <p:cNvSpPr txBox="1"/>
              <p:nvPr/>
            </p:nvSpPr>
            <p:spPr>
              <a:xfrm>
                <a:off x="2692344" y="3516857"/>
                <a:ext cx="2493118" cy="5204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pt-BR" i="0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m:rPr>
                              <m:nor/>
                            </m:rPr>
                            <a:rPr lang="pt-BR" i="0">
                              <a:latin typeface="Cambria Math" panose="02040503050406030204" pitchFamily="18" charset="0"/>
                            </a:rPr>
                            <m:t>ã</m:t>
                          </m:r>
                          <m:r>
                            <m:rPr>
                              <m:nor/>
                            </m:rPr>
                            <a:rPr lang="pt-BR" i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m:rPr>
                              <m:nor/>
                            </m:rPr>
                            <a:rPr lang="pt-BR" i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pt-BR" i="0">
                              <a:latin typeface="Cambria Math" panose="02040503050406030204" pitchFamily="18" charset="0"/>
                            </a:rPr>
                            <m:t>casado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=0,2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39" name="CaixaDeTexto 38">
                <a:extLst>
                  <a:ext uri="{FF2B5EF4-FFF2-40B4-BE49-F238E27FC236}">
                    <a16:creationId xmlns:a16="http://schemas.microsoft.com/office/drawing/2014/main" id="{5F72138B-D74F-65D5-4B7D-72E8B03856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2344" y="3516857"/>
                <a:ext cx="2493118" cy="52046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CaixaDeTexto 39">
                <a:extLst>
                  <a:ext uri="{FF2B5EF4-FFF2-40B4-BE49-F238E27FC236}">
                    <a16:creationId xmlns:a16="http://schemas.microsoft.com/office/drawing/2014/main" id="{35E5447D-80DA-D537-C25E-306A4DFA4E82}"/>
                  </a:ext>
                </a:extLst>
              </p:cNvPr>
              <p:cNvSpPr txBox="1"/>
              <p:nvPr/>
            </p:nvSpPr>
            <p:spPr>
              <a:xfrm>
                <a:off x="181977" y="4128644"/>
                <a:ext cx="247663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𝐺𝑖𝑛𝑖</m:t>
                      </m:r>
                      <m:r>
                        <a:rPr lang="pt-BR" i="1" smtClean="0">
                          <a:latin typeface="Cambria Math" panose="02040503050406030204" pitchFamily="18" charset="0"/>
                        </a:rPr>
                        <m:t>=1−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0,8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0,2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40" name="CaixaDeTexto 39">
                <a:extLst>
                  <a:ext uri="{FF2B5EF4-FFF2-40B4-BE49-F238E27FC236}">
                    <a16:creationId xmlns:a16="http://schemas.microsoft.com/office/drawing/2014/main" id="{35E5447D-80DA-D537-C25E-306A4DFA4E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977" y="4128644"/>
                <a:ext cx="2476639" cy="276999"/>
              </a:xfrm>
              <a:prstGeom prst="rect">
                <a:avLst/>
              </a:prstGeom>
              <a:blipFill>
                <a:blip r:embed="rId7"/>
                <a:stretch>
                  <a:fillRect l="-1970" b="-652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CaixaDeTexto 40">
                <a:extLst>
                  <a:ext uri="{FF2B5EF4-FFF2-40B4-BE49-F238E27FC236}">
                    <a16:creationId xmlns:a16="http://schemas.microsoft.com/office/drawing/2014/main" id="{F342CBEC-944D-D9DC-7C9F-270D7D6763B4}"/>
                  </a:ext>
                </a:extLst>
              </p:cNvPr>
              <p:cNvSpPr txBox="1"/>
              <p:nvPr/>
            </p:nvSpPr>
            <p:spPr>
              <a:xfrm>
                <a:off x="209066" y="4457320"/>
                <a:ext cx="251844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𝐺𝑖𝑛𝑖</m:t>
                      </m:r>
                      <m:r>
                        <a:rPr lang="pt-BR" i="1" smtClean="0">
                          <a:latin typeface="Cambria Math" panose="02040503050406030204" pitchFamily="18" charset="0"/>
                        </a:rPr>
                        <m:t>=1−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0,64+0,04</m:t>
                          </m: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41" name="CaixaDeTexto 40">
                <a:extLst>
                  <a:ext uri="{FF2B5EF4-FFF2-40B4-BE49-F238E27FC236}">
                    <a16:creationId xmlns:a16="http://schemas.microsoft.com/office/drawing/2014/main" id="{F342CBEC-944D-D9DC-7C9F-270D7D6763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066" y="4457320"/>
                <a:ext cx="2518446" cy="276999"/>
              </a:xfrm>
              <a:prstGeom prst="rect">
                <a:avLst/>
              </a:prstGeom>
              <a:blipFill>
                <a:blip r:embed="rId8"/>
                <a:stretch>
                  <a:fillRect l="-1937" b="-652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CaixaDeTexto 41">
                <a:extLst>
                  <a:ext uri="{FF2B5EF4-FFF2-40B4-BE49-F238E27FC236}">
                    <a16:creationId xmlns:a16="http://schemas.microsoft.com/office/drawing/2014/main" id="{199B2742-FC0E-036E-D2F9-CF5630896CF4}"/>
                  </a:ext>
                </a:extLst>
              </p:cNvPr>
              <p:cNvSpPr txBox="1"/>
              <p:nvPr/>
            </p:nvSpPr>
            <p:spPr>
              <a:xfrm>
                <a:off x="181977" y="4811565"/>
                <a:ext cx="1322092" cy="343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orderBox>
                        <m:borderBox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borderBox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𝐺𝑖𝑛𝑖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=0,32</m:t>
                          </m:r>
                        </m:e>
                      </m:borderBox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42" name="CaixaDeTexto 41">
                <a:extLst>
                  <a:ext uri="{FF2B5EF4-FFF2-40B4-BE49-F238E27FC236}">
                    <a16:creationId xmlns:a16="http://schemas.microsoft.com/office/drawing/2014/main" id="{199B2742-FC0E-036E-D2F9-CF5630896C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977" y="4811565"/>
                <a:ext cx="1322092" cy="343299"/>
              </a:xfrm>
              <a:prstGeom prst="rect">
                <a:avLst/>
              </a:prstGeom>
              <a:blipFill>
                <a:blip r:embed="rId9"/>
                <a:stretch>
                  <a:fillRect l="-4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CaixaDeTexto 43">
            <a:extLst>
              <a:ext uri="{FF2B5EF4-FFF2-40B4-BE49-F238E27FC236}">
                <a16:creationId xmlns:a16="http://schemas.microsoft.com/office/drawing/2014/main" id="{A2A31E48-3B58-0503-A23C-7FA40D0208F2}"/>
              </a:ext>
            </a:extLst>
          </p:cNvPr>
          <p:cNvSpPr txBox="1"/>
          <p:nvPr/>
        </p:nvSpPr>
        <p:spPr>
          <a:xfrm>
            <a:off x="236609" y="2664120"/>
            <a:ext cx="1991251" cy="369332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pt-BR" dirty="0"/>
              <a:t>Nó1 – </a:t>
            </a:r>
            <a:r>
              <a:rPr lang="pt-BR" dirty="0" err="1"/>
              <a:t>Aquario</a:t>
            </a:r>
            <a:r>
              <a:rPr lang="pt-BR" dirty="0"/>
              <a:t> SIM</a:t>
            </a:r>
          </a:p>
        </p:txBody>
      </p:sp>
      <p:sp>
        <p:nvSpPr>
          <p:cNvPr id="45" name="Retângulo 44">
            <a:extLst>
              <a:ext uri="{FF2B5EF4-FFF2-40B4-BE49-F238E27FC236}">
                <a16:creationId xmlns:a16="http://schemas.microsoft.com/office/drawing/2014/main" id="{473582DD-0A3C-7A23-155F-E8F403D26C83}"/>
              </a:ext>
            </a:extLst>
          </p:cNvPr>
          <p:cNvSpPr/>
          <p:nvPr/>
        </p:nvSpPr>
        <p:spPr>
          <a:xfrm>
            <a:off x="6841735" y="3626237"/>
            <a:ext cx="5113656" cy="3071743"/>
          </a:xfrm>
          <a:prstGeom prst="rect">
            <a:avLst/>
          </a:prstGeom>
          <a:solidFill>
            <a:srgbClr val="FF7474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6" name="CaixaDeTexto 45">
                <a:extLst>
                  <a:ext uri="{FF2B5EF4-FFF2-40B4-BE49-F238E27FC236}">
                    <a16:creationId xmlns:a16="http://schemas.microsoft.com/office/drawing/2014/main" id="{94774197-4C13-7637-A526-D0687577694D}"/>
                  </a:ext>
                </a:extLst>
              </p:cNvPr>
              <p:cNvSpPr txBox="1"/>
              <p:nvPr/>
            </p:nvSpPr>
            <p:spPr>
              <a:xfrm>
                <a:off x="6868654" y="4642671"/>
                <a:ext cx="2079544" cy="5204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pt-BR" i="0">
                              <a:latin typeface="Cambria Math" panose="02040503050406030204" pitchFamily="18" charset="0"/>
                            </a:rPr>
                            <m:t>casado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=0,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46" name="CaixaDeTexto 45">
                <a:extLst>
                  <a:ext uri="{FF2B5EF4-FFF2-40B4-BE49-F238E27FC236}">
                    <a16:creationId xmlns:a16="http://schemas.microsoft.com/office/drawing/2014/main" id="{94774197-4C13-7637-A526-D068757769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68654" y="4642671"/>
                <a:ext cx="2079544" cy="52046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CaixaDeTexto 46">
                <a:extLst>
                  <a:ext uri="{FF2B5EF4-FFF2-40B4-BE49-F238E27FC236}">
                    <a16:creationId xmlns:a16="http://schemas.microsoft.com/office/drawing/2014/main" id="{343392B5-89AB-ECD2-E13A-147F4A53A4DF}"/>
                  </a:ext>
                </a:extLst>
              </p:cNvPr>
              <p:cNvSpPr txBox="1"/>
              <p:nvPr/>
            </p:nvSpPr>
            <p:spPr>
              <a:xfrm>
                <a:off x="9398563" y="4594809"/>
                <a:ext cx="2411366" cy="3922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pt-BR" i="0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m:rPr>
                            <m:nor/>
                          </m:rPr>
                          <a:rPr lang="pt-BR" i="0">
                            <a:latin typeface="Cambria Math" panose="02040503050406030204" pitchFamily="18" charset="0"/>
                          </a:rPr>
                          <m:t>ã</m:t>
                        </m:r>
                        <m:r>
                          <m:rPr>
                            <m:nor/>
                          </m:rPr>
                          <a:rPr lang="pt-BR" i="0">
                            <a:latin typeface="Cambria Math" panose="02040503050406030204" pitchFamily="18" charset="0"/>
                          </a:rPr>
                          <m:t>o</m:t>
                        </m:r>
                        <m:r>
                          <m:rPr>
                            <m:nor/>
                          </m:rPr>
                          <a:rPr lang="pt-BR" i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pt-BR" i="0">
                            <a:latin typeface="Cambria Math" panose="02040503050406030204" pitchFamily="18" charset="0"/>
                          </a:rPr>
                          <m:t>casado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pt-BR" i="1">
                        <a:latin typeface="Cambria Math" panose="02040503050406030204" pitchFamily="18" charset="0"/>
                      </a:rPr>
                      <m:t>=0,</m:t>
                    </m:r>
                  </m:oMath>
                </a14:m>
                <a:r>
                  <a:rPr lang="pt-BR" dirty="0"/>
                  <a:t>8</a:t>
                </a:r>
              </a:p>
            </p:txBody>
          </p:sp>
        </mc:Choice>
        <mc:Fallback>
          <p:sp>
            <p:nvSpPr>
              <p:cNvPr id="47" name="CaixaDeTexto 46">
                <a:extLst>
                  <a:ext uri="{FF2B5EF4-FFF2-40B4-BE49-F238E27FC236}">
                    <a16:creationId xmlns:a16="http://schemas.microsoft.com/office/drawing/2014/main" id="{343392B5-89AB-ECD2-E13A-147F4A53A4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8563" y="4594809"/>
                <a:ext cx="2411366" cy="392287"/>
              </a:xfrm>
              <a:prstGeom prst="rect">
                <a:avLst/>
              </a:prstGeom>
              <a:blipFill>
                <a:blip r:embed="rId11"/>
                <a:stretch>
                  <a:fillRect l="-3544" t="-3125" r="-5063" b="-2343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CaixaDeTexto 47">
                <a:extLst>
                  <a:ext uri="{FF2B5EF4-FFF2-40B4-BE49-F238E27FC236}">
                    <a16:creationId xmlns:a16="http://schemas.microsoft.com/office/drawing/2014/main" id="{C42D6029-3A86-A10B-70B1-93728571B54F}"/>
                  </a:ext>
                </a:extLst>
              </p:cNvPr>
              <p:cNvSpPr txBox="1"/>
              <p:nvPr/>
            </p:nvSpPr>
            <p:spPr>
              <a:xfrm>
                <a:off x="6888196" y="5206596"/>
                <a:ext cx="247664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𝐺𝑖𝑛𝑖</m:t>
                      </m:r>
                      <m:r>
                        <a:rPr lang="pt-BR" i="1" smtClean="0">
                          <a:latin typeface="Cambria Math" panose="02040503050406030204" pitchFamily="18" charset="0"/>
                        </a:rPr>
                        <m:t>=1−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0,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0,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48" name="CaixaDeTexto 47">
                <a:extLst>
                  <a:ext uri="{FF2B5EF4-FFF2-40B4-BE49-F238E27FC236}">
                    <a16:creationId xmlns:a16="http://schemas.microsoft.com/office/drawing/2014/main" id="{C42D6029-3A86-A10B-70B1-93728571B5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8196" y="5206596"/>
                <a:ext cx="2476640" cy="276999"/>
              </a:xfrm>
              <a:prstGeom prst="rect">
                <a:avLst/>
              </a:prstGeom>
              <a:blipFill>
                <a:blip r:embed="rId12"/>
                <a:stretch>
                  <a:fillRect l="-1970" t="-2174" b="-652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CaixaDeTexto 48">
                <a:extLst>
                  <a:ext uri="{FF2B5EF4-FFF2-40B4-BE49-F238E27FC236}">
                    <a16:creationId xmlns:a16="http://schemas.microsoft.com/office/drawing/2014/main" id="{2FE259D9-19EA-8680-B050-0AB81FA82156}"/>
                  </a:ext>
                </a:extLst>
              </p:cNvPr>
              <p:cNvSpPr txBox="1"/>
              <p:nvPr/>
            </p:nvSpPr>
            <p:spPr>
              <a:xfrm>
                <a:off x="6915285" y="5535272"/>
                <a:ext cx="239020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𝐺𝑖𝑛𝑖</m:t>
                      </m:r>
                      <m:r>
                        <a:rPr lang="pt-BR" i="1" smtClean="0">
                          <a:latin typeface="Cambria Math" panose="02040503050406030204" pitchFamily="18" charset="0"/>
                        </a:rPr>
                        <m:t>=1−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+0,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64</m:t>
                          </m: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49" name="CaixaDeTexto 48">
                <a:extLst>
                  <a:ext uri="{FF2B5EF4-FFF2-40B4-BE49-F238E27FC236}">
                    <a16:creationId xmlns:a16="http://schemas.microsoft.com/office/drawing/2014/main" id="{2FE259D9-19EA-8680-B050-0AB81FA821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5285" y="5535272"/>
                <a:ext cx="2390206" cy="276999"/>
              </a:xfrm>
              <a:prstGeom prst="rect">
                <a:avLst/>
              </a:prstGeom>
              <a:blipFill>
                <a:blip r:embed="rId13"/>
                <a:stretch>
                  <a:fillRect l="-2041" b="-8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" name="CaixaDeTexto 49">
                <a:extLst>
                  <a:ext uri="{FF2B5EF4-FFF2-40B4-BE49-F238E27FC236}">
                    <a16:creationId xmlns:a16="http://schemas.microsoft.com/office/drawing/2014/main" id="{FFFF3AEE-015E-349F-7E74-E546FD5500C8}"/>
                  </a:ext>
                </a:extLst>
              </p:cNvPr>
              <p:cNvSpPr txBox="1"/>
              <p:nvPr/>
            </p:nvSpPr>
            <p:spPr>
              <a:xfrm>
                <a:off x="6888196" y="5889517"/>
                <a:ext cx="1322092" cy="343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orderBox>
                        <m:borderBox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borderBox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𝐺𝑖𝑛𝑖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=0,32</m:t>
                          </m:r>
                        </m:e>
                      </m:borderBox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50" name="CaixaDeTexto 49">
                <a:extLst>
                  <a:ext uri="{FF2B5EF4-FFF2-40B4-BE49-F238E27FC236}">
                    <a16:creationId xmlns:a16="http://schemas.microsoft.com/office/drawing/2014/main" id="{FFFF3AEE-015E-349F-7E74-E546FD5500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8196" y="5889517"/>
                <a:ext cx="1322092" cy="343299"/>
              </a:xfrm>
              <a:prstGeom prst="rect">
                <a:avLst/>
              </a:prstGeom>
              <a:blipFill>
                <a:blip r:embed="rId14"/>
                <a:stretch>
                  <a:fillRect l="-4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CaixaDeTexto 50">
            <a:extLst>
              <a:ext uri="{FF2B5EF4-FFF2-40B4-BE49-F238E27FC236}">
                <a16:creationId xmlns:a16="http://schemas.microsoft.com/office/drawing/2014/main" id="{7D2DF0B4-2572-C0D5-5F89-01EB3DA03AA4}"/>
              </a:ext>
            </a:extLst>
          </p:cNvPr>
          <p:cNvSpPr txBox="1"/>
          <p:nvPr/>
        </p:nvSpPr>
        <p:spPr>
          <a:xfrm>
            <a:off x="6942828" y="3742072"/>
            <a:ext cx="2082814" cy="369332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pt-BR" dirty="0"/>
              <a:t>Nó2 – </a:t>
            </a:r>
            <a:r>
              <a:rPr lang="pt-BR" dirty="0" err="1"/>
              <a:t>Aquario</a:t>
            </a:r>
            <a:r>
              <a:rPr lang="pt-BR" dirty="0"/>
              <a:t> NÃO</a:t>
            </a:r>
          </a:p>
        </p:txBody>
      </p:sp>
    </p:spTree>
    <p:extLst>
      <p:ext uri="{BB962C8B-B14F-4D97-AF65-F5344CB8AC3E}">
        <p14:creationId xmlns:p14="http://schemas.microsoft.com/office/powerpoint/2010/main" val="11793609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FEB7C2-5B95-8B87-4CC2-C0005157F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template_extract/ppt/media/image1.png">
            <a:extLst>
              <a:ext uri="{FF2B5EF4-FFF2-40B4-BE49-F238E27FC236}">
                <a16:creationId xmlns:a16="http://schemas.microsoft.com/office/drawing/2014/main" id="{9DC811F5-B53C-499B-C744-2048E3DC4C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282" y="160020"/>
            <a:ext cx="2423160" cy="512064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C97C388D-A92A-B5B7-ED49-D29C294FC1BA}"/>
              </a:ext>
            </a:extLst>
          </p:cNvPr>
          <p:cNvSpPr/>
          <p:nvPr/>
        </p:nvSpPr>
        <p:spPr>
          <a:xfrm>
            <a:off x="236610" y="874385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F69BF"/>
                </a:solidFill>
              </a:rPr>
              <a:t>Aula 05</a:t>
            </a:r>
            <a:endParaRPr lang="en-US" sz="13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47B355F0-8AFE-611A-F617-1F542A3751ED}"/>
              </a:ext>
            </a:extLst>
          </p:cNvPr>
          <p:cNvSpPr/>
          <p:nvPr/>
        </p:nvSpPr>
        <p:spPr>
          <a:xfrm>
            <a:off x="242315" y="1148705"/>
            <a:ext cx="643532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tabLst>
                <a:tab pos="0" algn="l"/>
              </a:tabLst>
              <a:defRPr/>
            </a:pPr>
            <a:r>
              <a:rPr lang="en-US" sz="2400" b="1" dirty="0" err="1">
                <a:solidFill>
                  <a:srgbClr val="0B1F3A"/>
                </a:solidFill>
              </a:rPr>
              <a:t>Árvores</a:t>
            </a:r>
            <a:r>
              <a:rPr lang="en-US" sz="2400" b="1" dirty="0">
                <a:solidFill>
                  <a:srgbClr val="0B1F3A"/>
                </a:solidFill>
              </a:rPr>
              <a:t> de </a:t>
            </a:r>
            <a:r>
              <a:rPr lang="en-US" sz="2400" b="1" dirty="0" err="1">
                <a:solidFill>
                  <a:srgbClr val="0B1F3A"/>
                </a:solidFill>
              </a:rPr>
              <a:t>Decisão</a:t>
            </a:r>
            <a:r>
              <a:rPr lang="en-US" sz="2400" b="1" dirty="0">
                <a:solidFill>
                  <a:srgbClr val="0B1F3A"/>
                </a:solidFill>
              </a:rPr>
              <a:t> – Pureza das Classes</a:t>
            </a:r>
            <a:endParaRPr lang="pt-BR" sz="24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06204B6B-2ABF-5359-2816-D62C3F6A12BD}"/>
              </a:ext>
            </a:extLst>
          </p:cNvPr>
          <p:cNvSpPr/>
          <p:nvPr/>
        </p:nvSpPr>
        <p:spPr>
          <a:xfrm>
            <a:off x="658368" y="574243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</a:rPr>
              <a:t>Professor Miguél Suares</a:t>
            </a:r>
            <a:endParaRPr lang="en-US" sz="11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A7B766EF-06F2-770D-221E-7B994D25E9C0}"/>
              </a:ext>
            </a:extLst>
          </p:cNvPr>
          <p:cNvSpPr/>
          <p:nvPr/>
        </p:nvSpPr>
        <p:spPr>
          <a:xfrm>
            <a:off x="658368" y="60533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850" dirty="0"/>
          </a:p>
        </p:txBody>
      </p:sp>
      <p:sp>
        <p:nvSpPr>
          <p:cNvPr id="43" name="Retângulo 42">
            <a:extLst>
              <a:ext uri="{FF2B5EF4-FFF2-40B4-BE49-F238E27FC236}">
                <a16:creationId xmlns:a16="http://schemas.microsoft.com/office/drawing/2014/main" id="{B3113ACF-389F-1AB2-106D-A900133473E9}"/>
              </a:ext>
            </a:extLst>
          </p:cNvPr>
          <p:cNvSpPr/>
          <p:nvPr/>
        </p:nvSpPr>
        <p:spPr>
          <a:xfrm>
            <a:off x="135516" y="2548285"/>
            <a:ext cx="5113656" cy="3071743"/>
          </a:xfrm>
          <a:prstGeom prst="rect">
            <a:avLst/>
          </a:prstGeom>
          <a:solidFill>
            <a:srgbClr val="00FF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1115A5A4-0201-C6A8-75CB-888B322C7713}"/>
              </a:ext>
            </a:extLst>
          </p:cNvPr>
          <p:cNvSpPr txBox="1"/>
          <p:nvPr/>
        </p:nvSpPr>
        <p:spPr>
          <a:xfrm>
            <a:off x="236609" y="6236315"/>
            <a:ext cx="117680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i="1" dirty="0"/>
              <a:t>IBM. KAVLAKOGLU, </a:t>
            </a:r>
            <a:r>
              <a:rPr lang="pt-BR" sz="1200" i="1" dirty="0" err="1"/>
              <a:t>Eda</a:t>
            </a:r>
            <a:r>
              <a:rPr lang="pt-BR" sz="1200" i="1" dirty="0"/>
              <a:t>. </a:t>
            </a:r>
            <a:r>
              <a:rPr lang="pt-BR" sz="1200" b="1" i="1" dirty="0"/>
              <a:t>O que é uma </a:t>
            </a:r>
            <a:r>
              <a:rPr lang="pt-BR" sz="1200" b="1" i="1" dirty="0" err="1"/>
              <a:t>Decision</a:t>
            </a:r>
            <a:r>
              <a:rPr lang="pt-BR" sz="1200" b="1" i="1" dirty="0"/>
              <a:t> </a:t>
            </a:r>
            <a:r>
              <a:rPr lang="pt-BR" sz="1200" b="1" i="1" dirty="0" err="1"/>
              <a:t>Tree</a:t>
            </a:r>
            <a:r>
              <a:rPr lang="pt-BR" sz="1200" b="1" i="1" dirty="0"/>
              <a:t>?</a:t>
            </a:r>
            <a:r>
              <a:rPr lang="pt-BR" sz="1200" i="1" dirty="0"/>
              <a:t> IBM </a:t>
            </a:r>
            <a:r>
              <a:rPr lang="pt-BR" sz="1200" i="1" dirty="0" err="1"/>
              <a:t>Think</a:t>
            </a:r>
            <a:r>
              <a:rPr lang="pt-BR" sz="1200" i="1" dirty="0"/>
              <a:t> </a:t>
            </a:r>
            <a:r>
              <a:rPr lang="pt-BR" sz="1200" i="1" dirty="0" err="1"/>
              <a:t>Topics</a:t>
            </a:r>
            <a:r>
              <a:rPr lang="pt-BR" sz="1200" i="1" dirty="0"/>
              <a:t>, 2 nov. 2021. </a:t>
            </a:r>
          </a:p>
          <a:p>
            <a:r>
              <a:rPr lang="pt-BR" sz="1200" i="1" dirty="0"/>
              <a:t>Disponível em: </a:t>
            </a:r>
            <a:r>
              <a:rPr lang="pt-BR" sz="1200" i="1" u="sng" dirty="0">
                <a:hlinkClick r:id="rId4"/>
              </a:rPr>
              <a:t>https://www.ibm.com/</a:t>
            </a:r>
            <a:r>
              <a:rPr lang="pt-BR" sz="1200" i="1" u="sng" dirty="0" err="1">
                <a:hlinkClick r:id="rId4"/>
              </a:rPr>
              <a:t>br-pt</a:t>
            </a:r>
            <a:r>
              <a:rPr lang="pt-BR" sz="1200" i="1" u="sng" dirty="0">
                <a:hlinkClick r:id="rId4"/>
              </a:rPr>
              <a:t>/</a:t>
            </a:r>
            <a:r>
              <a:rPr lang="pt-BR" sz="1200" i="1" u="sng" dirty="0" err="1">
                <a:hlinkClick r:id="rId4"/>
              </a:rPr>
              <a:t>think</a:t>
            </a:r>
            <a:r>
              <a:rPr lang="pt-BR" sz="1200" i="1" u="sng" dirty="0">
                <a:hlinkClick r:id="rId4"/>
              </a:rPr>
              <a:t>/</a:t>
            </a:r>
            <a:r>
              <a:rPr lang="pt-BR" sz="1200" i="1" u="sng" dirty="0" err="1">
                <a:hlinkClick r:id="rId4"/>
              </a:rPr>
              <a:t>topics</a:t>
            </a:r>
            <a:r>
              <a:rPr lang="pt-BR" sz="1200" i="1" u="sng" dirty="0">
                <a:hlinkClick r:id="rId4"/>
              </a:rPr>
              <a:t>/</a:t>
            </a:r>
            <a:r>
              <a:rPr lang="pt-BR" sz="1200" i="1" u="sng" dirty="0" err="1">
                <a:hlinkClick r:id="rId4"/>
              </a:rPr>
              <a:t>decision-trees</a:t>
            </a:r>
            <a:r>
              <a:rPr lang="pt-BR" sz="1200" i="1" dirty="0"/>
              <a:t>. Acesso em: 6 out. 2026.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CaixaDeTexto 37">
                <a:extLst>
                  <a:ext uri="{FF2B5EF4-FFF2-40B4-BE49-F238E27FC236}">
                    <a16:creationId xmlns:a16="http://schemas.microsoft.com/office/drawing/2014/main" id="{D6A6AC51-0DAE-50EA-1BFB-934154F3D159}"/>
                  </a:ext>
                </a:extLst>
              </p:cNvPr>
              <p:cNvSpPr txBox="1"/>
              <p:nvPr/>
            </p:nvSpPr>
            <p:spPr>
              <a:xfrm>
                <a:off x="162435" y="3564719"/>
                <a:ext cx="2079544" cy="5260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pt-BR" i="0">
                              <a:latin typeface="Cambria Math" panose="02040503050406030204" pitchFamily="18" charset="0"/>
                            </a:rPr>
                            <m:t>casado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38" name="CaixaDeTexto 37">
                <a:extLst>
                  <a:ext uri="{FF2B5EF4-FFF2-40B4-BE49-F238E27FC236}">
                    <a16:creationId xmlns:a16="http://schemas.microsoft.com/office/drawing/2014/main" id="{D6A6AC51-0DAE-50EA-1BFB-934154F3D1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435" y="3564719"/>
                <a:ext cx="2079544" cy="52604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CaixaDeTexto 38">
                <a:extLst>
                  <a:ext uri="{FF2B5EF4-FFF2-40B4-BE49-F238E27FC236}">
                    <a16:creationId xmlns:a16="http://schemas.microsoft.com/office/drawing/2014/main" id="{BE1246E8-38A9-982B-F312-13C372722B1E}"/>
                  </a:ext>
                </a:extLst>
              </p:cNvPr>
              <p:cNvSpPr txBox="1"/>
              <p:nvPr/>
            </p:nvSpPr>
            <p:spPr>
              <a:xfrm>
                <a:off x="2692344" y="3516857"/>
                <a:ext cx="2493118" cy="5204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pt-BR" i="0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m:rPr>
                              <m:nor/>
                            </m:rPr>
                            <a:rPr lang="pt-BR" i="0">
                              <a:latin typeface="Cambria Math" panose="02040503050406030204" pitchFamily="18" charset="0"/>
                            </a:rPr>
                            <m:t>ã</m:t>
                          </m:r>
                          <m:r>
                            <m:rPr>
                              <m:nor/>
                            </m:rPr>
                            <a:rPr lang="pt-BR" i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m:rPr>
                              <m:nor/>
                            </m:rPr>
                            <a:rPr lang="pt-BR" i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pt-BR" i="0">
                              <a:latin typeface="Cambria Math" panose="02040503050406030204" pitchFamily="18" charset="0"/>
                            </a:rPr>
                            <m:t>casado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=0,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39" name="CaixaDeTexto 38">
                <a:extLst>
                  <a:ext uri="{FF2B5EF4-FFF2-40B4-BE49-F238E27FC236}">
                    <a16:creationId xmlns:a16="http://schemas.microsoft.com/office/drawing/2014/main" id="{BE1246E8-38A9-982B-F312-13C372722B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2344" y="3516857"/>
                <a:ext cx="2493118" cy="52046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CaixaDeTexto 39">
                <a:extLst>
                  <a:ext uri="{FF2B5EF4-FFF2-40B4-BE49-F238E27FC236}">
                    <a16:creationId xmlns:a16="http://schemas.microsoft.com/office/drawing/2014/main" id="{BB45A626-7ED9-C6DE-4770-5A795A1EC101}"/>
                  </a:ext>
                </a:extLst>
              </p:cNvPr>
              <p:cNvSpPr txBox="1"/>
              <p:nvPr/>
            </p:nvSpPr>
            <p:spPr>
              <a:xfrm>
                <a:off x="181977" y="4128644"/>
                <a:ext cx="247664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𝐺𝑖𝑛𝑖</m:t>
                      </m:r>
                      <m:r>
                        <a:rPr lang="pt-BR" i="1" smtClean="0">
                          <a:latin typeface="Cambria Math" panose="02040503050406030204" pitchFamily="18" charset="0"/>
                        </a:rPr>
                        <m:t>=1−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0,0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40" name="CaixaDeTexto 39">
                <a:extLst>
                  <a:ext uri="{FF2B5EF4-FFF2-40B4-BE49-F238E27FC236}">
                    <a16:creationId xmlns:a16="http://schemas.microsoft.com/office/drawing/2014/main" id="{BB45A626-7ED9-C6DE-4770-5A795A1EC1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977" y="4128644"/>
                <a:ext cx="2476640" cy="276999"/>
              </a:xfrm>
              <a:prstGeom prst="rect">
                <a:avLst/>
              </a:prstGeom>
              <a:blipFill>
                <a:blip r:embed="rId7"/>
                <a:stretch>
                  <a:fillRect l="-1970" b="-652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CaixaDeTexto 40">
                <a:extLst>
                  <a:ext uri="{FF2B5EF4-FFF2-40B4-BE49-F238E27FC236}">
                    <a16:creationId xmlns:a16="http://schemas.microsoft.com/office/drawing/2014/main" id="{DB67662E-8FE4-A92F-08A2-FE8948F55C6F}"/>
                  </a:ext>
                </a:extLst>
              </p:cNvPr>
              <p:cNvSpPr txBox="1"/>
              <p:nvPr/>
            </p:nvSpPr>
            <p:spPr>
              <a:xfrm>
                <a:off x="209066" y="4457320"/>
                <a:ext cx="190930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𝐺𝑖𝑛𝑖</m:t>
                      </m:r>
                      <m:r>
                        <a:rPr lang="pt-BR" i="1" smtClean="0">
                          <a:latin typeface="Cambria Math" panose="02040503050406030204" pitchFamily="18" charset="0"/>
                        </a:rPr>
                        <m:t>=1−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41" name="CaixaDeTexto 40">
                <a:extLst>
                  <a:ext uri="{FF2B5EF4-FFF2-40B4-BE49-F238E27FC236}">
                    <a16:creationId xmlns:a16="http://schemas.microsoft.com/office/drawing/2014/main" id="{DB67662E-8FE4-A92F-08A2-FE8948F55C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066" y="4457320"/>
                <a:ext cx="1909304" cy="276999"/>
              </a:xfrm>
              <a:prstGeom prst="rect">
                <a:avLst/>
              </a:prstGeom>
              <a:blipFill>
                <a:blip r:embed="rId8"/>
                <a:stretch>
                  <a:fillRect l="-2866" b="-652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CaixaDeTexto 41">
                <a:extLst>
                  <a:ext uri="{FF2B5EF4-FFF2-40B4-BE49-F238E27FC236}">
                    <a16:creationId xmlns:a16="http://schemas.microsoft.com/office/drawing/2014/main" id="{668ACA54-B55C-C1F9-58FE-5999C7C3D3CE}"/>
                  </a:ext>
                </a:extLst>
              </p:cNvPr>
              <p:cNvSpPr txBox="1"/>
              <p:nvPr/>
            </p:nvSpPr>
            <p:spPr>
              <a:xfrm>
                <a:off x="165016" y="5094564"/>
                <a:ext cx="1193852" cy="343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orderBox>
                        <m:borderBox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borderBox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𝐺𝑖𝑛𝑖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=0,0</m:t>
                          </m:r>
                        </m:e>
                      </m:borderBox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42" name="CaixaDeTexto 41">
                <a:extLst>
                  <a:ext uri="{FF2B5EF4-FFF2-40B4-BE49-F238E27FC236}">
                    <a16:creationId xmlns:a16="http://schemas.microsoft.com/office/drawing/2014/main" id="{668ACA54-B55C-C1F9-58FE-5999C7C3D3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016" y="5094564"/>
                <a:ext cx="1193852" cy="343299"/>
              </a:xfrm>
              <a:prstGeom prst="rect">
                <a:avLst/>
              </a:prstGeom>
              <a:blipFill>
                <a:blip r:embed="rId9"/>
                <a:stretch>
                  <a:fillRect l="-510" r="-51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CaixaDeTexto 43">
            <a:extLst>
              <a:ext uri="{FF2B5EF4-FFF2-40B4-BE49-F238E27FC236}">
                <a16:creationId xmlns:a16="http://schemas.microsoft.com/office/drawing/2014/main" id="{6B01E3A4-EE93-C26A-40C0-57D190ABC195}"/>
              </a:ext>
            </a:extLst>
          </p:cNvPr>
          <p:cNvSpPr txBox="1"/>
          <p:nvPr/>
        </p:nvSpPr>
        <p:spPr>
          <a:xfrm>
            <a:off x="236609" y="2664120"/>
            <a:ext cx="1959447" cy="369332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pt-BR" dirty="0"/>
              <a:t>Nó1 – Aliança SIM</a:t>
            </a:r>
          </a:p>
        </p:txBody>
      </p:sp>
      <p:sp>
        <p:nvSpPr>
          <p:cNvPr id="45" name="Retângulo 44">
            <a:extLst>
              <a:ext uri="{FF2B5EF4-FFF2-40B4-BE49-F238E27FC236}">
                <a16:creationId xmlns:a16="http://schemas.microsoft.com/office/drawing/2014/main" id="{C20ECB42-436D-20AE-5658-3A1DC68D5214}"/>
              </a:ext>
            </a:extLst>
          </p:cNvPr>
          <p:cNvSpPr/>
          <p:nvPr/>
        </p:nvSpPr>
        <p:spPr>
          <a:xfrm>
            <a:off x="6841735" y="3626237"/>
            <a:ext cx="5113656" cy="3071743"/>
          </a:xfrm>
          <a:prstGeom prst="rect">
            <a:avLst/>
          </a:prstGeom>
          <a:solidFill>
            <a:srgbClr val="FF7474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6" name="CaixaDeTexto 45">
                <a:extLst>
                  <a:ext uri="{FF2B5EF4-FFF2-40B4-BE49-F238E27FC236}">
                    <a16:creationId xmlns:a16="http://schemas.microsoft.com/office/drawing/2014/main" id="{A55D8EF9-04AA-9B8D-A1B7-A7735FFE395C}"/>
                  </a:ext>
                </a:extLst>
              </p:cNvPr>
              <p:cNvSpPr txBox="1"/>
              <p:nvPr/>
            </p:nvSpPr>
            <p:spPr>
              <a:xfrm>
                <a:off x="6868654" y="4642671"/>
                <a:ext cx="1951303" cy="5204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pt-BR" i="0">
                              <a:latin typeface="Cambria Math" panose="02040503050406030204" pitchFamily="18" charset="0"/>
                            </a:rPr>
                            <m:t>casado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46" name="CaixaDeTexto 45">
                <a:extLst>
                  <a:ext uri="{FF2B5EF4-FFF2-40B4-BE49-F238E27FC236}">
                    <a16:creationId xmlns:a16="http://schemas.microsoft.com/office/drawing/2014/main" id="{A55D8EF9-04AA-9B8D-A1B7-A7735FFE39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68654" y="4642671"/>
                <a:ext cx="1951303" cy="52046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CaixaDeTexto 46">
                <a:extLst>
                  <a:ext uri="{FF2B5EF4-FFF2-40B4-BE49-F238E27FC236}">
                    <a16:creationId xmlns:a16="http://schemas.microsoft.com/office/drawing/2014/main" id="{53207401-F05E-B8B9-CE40-5CFF4F388926}"/>
                  </a:ext>
                </a:extLst>
              </p:cNvPr>
              <p:cNvSpPr txBox="1"/>
              <p:nvPr/>
            </p:nvSpPr>
            <p:spPr>
              <a:xfrm>
                <a:off x="9398563" y="4594809"/>
                <a:ext cx="2493118" cy="5260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pt-BR" i="0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m:rPr>
                              <m:nor/>
                            </m:rPr>
                            <a:rPr lang="pt-BR" i="0">
                              <a:latin typeface="Cambria Math" panose="02040503050406030204" pitchFamily="18" charset="0"/>
                            </a:rPr>
                            <m:t>ã</m:t>
                          </m:r>
                          <m:r>
                            <m:rPr>
                              <m:nor/>
                            </m:rPr>
                            <a:rPr lang="pt-BR" i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m:rPr>
                              <m:nor/>
                            </m:rPr>
                            <a:rPr lang="pt-BR" i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pt-BR" i="0">
                              <a:latin typeface="Cambria Math" panose="02040503050406030204" pitchFamily="18" charset="0"/>
                            </a:rPr>
                            <m:t>casado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47" name="CaixaDeTexto 46">
                <a:extLst>
                  <a:ext uri="{FF2B5EF4-FFF2-40B4-BE49-F238E27FC236}">
                    <a16:creationId xmlns:a16="http://schemas.microsoft.com/office/drawing/2014/main" id="{53207401-F05E-B8B9-CE40-5CFF4F3889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8563" y="4594809"/>
                <a:ext cx="2493118" cy="52604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CaixaDeTexto 47">
                <a:extLst>
                  <a:ext uri="{FF2B5EF4-FFF2-40B4-BE49-F238E27FC236}">
                    <a16:creationId xmlns:a16="http://schemas.microsoft.com/office/drawing/2014/main" id="{88BE5EE2-5FF1-0B04-0DD1-F019119C9516}"/>
                  </a:ext>
                </a:extLst>
              </p:cNvPr>
              <p:cNvSpPr txBox="1"/>
              <p:nvPr/>
            </p:nvSpPr>
            <p:spPr>
              <a:xfrm>
                <a:off x="6888196" y="5206596"/>
                <a:ext cx="247664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𝐺𝑖𝑛𝑖</m:t>
                      </m:r>
                      <m:r>
                        <a:rPr lang="pt-BR" i="1" smtClean="0">
                          <a:latin typeface="Cambria Math" panose="02040503050406030204" pitchFamily="18" charset="0"/>
                        </a:rPr>
                        <m:t>=1−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,0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48" name="CaixaDeTexto 47">
                <a:extLst>
                  <a:ext uri="{FF2B5EF4-FFF2-40B4-BE49-F238E27FC236}">
                    <a16:creationId xmlns:a16="http://schemas.microsoft.com/office/drawing/2014/main" id="{88BE5EE2-5FF1-0B04-0DD1-F019119C95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8196" y="5206596"/>
                <a:ext cx="2476640" cy="276999"/>
              </a:xfrm>
              <a:prstGeom prst="rect">
                <a:avLst/>
              </a:prstGeom>
              <a:blipFill>
                <a:blip r:embed="rId12"/>
                <a:stretch>
                  <a:fillRect l="-1970" t="-2174" b="-652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CaixaDeTexto 48">
                <a:extLst>
                  <a:ext uri="{FF2B5EF4-FFF2-40B4-BE49-F238E27FC236}">
                    <a16:creationId xmlns:a16="http://schemas.microsoft.com/office/drawing/2014/main" id="{C59BCBAB-24BB-45EA-1586-C7F30666BB8D}"/>
                  </a:ext>
                </a:extLst>
              </p:cNvPr>
              <p:cNvSpPr txBox="1"/>
              <p:nvPr/>
            </p:nvSpPr>
            <p:spPr>
              <a:xfrm>
                <a:off x="6915285" y="5535272"/>
                <a:ext cx="190930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𝐺𝑖𝑛𝑖</m:t>
                      </m:r>
                      <m:r>
                        <a:rPr lang="pt-BR" i="1" smtClean="0">
                          <a:latin typeface="Cambria Math" panose="02040503050406030204" pitchFamily="18" charset="0"/>
                        </a:rPr>
                        <m:t>=1−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49" name="CaixaDeTexto 48">
                <a:extLst>
                  <a:ext uri="{FF2B5EF4-FFF2-40B4-BE49-F238E27FC236}">
                    <a16:creationId xmlns:a16="http://schemas.microsoft.com/office/drawing/2014/main" id="{C59BCBAB-24BB-45EA-1586-C7F30666BB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5285" y="5535272"/>
                <a:ext cx="1909304" cy="276999"/>
              </a:xfrm>
              <a:prstGeom prst="rect">
                <a:avLst/>
              </a:prstGeom>
              <a:blipFill>
                <a:blip r:embed="rId13"/>
                <a:stretch>
                  <a:fillRect l="-2866" b="-8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" name="CaixaDeTexto 49">
                <a:extLst>
                  <a:ext uri="{FF2B5EF4-FFF2-40B4-BE49-F238E27FC236}">
                    <a16:creationId xmlns:a16="http://schemas.microsoft.com/office/drawing/2014/main" id="{6B9B7701-179C-CF68-51A4-21A6E611C162}"/>
                  </a:ext>
                </a:extLst>
              </p:cNvPr>
              <p:cNvSpPr txBox="1"/>
              <p:nvPr/>
            </p:nvSpPr>
            <p:spPr>
              <a:xfrm>
                <a:off x="6888196" y="6199910"/>
                <a:ext cx="1193852" cy="343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orderBox>
                        <m:borderBox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borderBox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𝐺𝑖𝑛𝑖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=0,0</m:t>
                          </m:r>
                        </m:e>
                      </m:borderBox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50" name="CaixaDeTexto 49">
                <a:extLst>
                  <a:ext uri="{FF2B5EF4-FFF2-40B4-BE49-F238E27FC236}">
                    <a16:creationId xmlns:a16="http://schemas.microsoft.com/office/drawing/2014/main" id="{6B9B7701-179C-CF68-51A4-21A6E611C1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8196" y="6199910"/>
                <a:ext cx="1193852" cy="343299"/>
              </a:xfrm>
              <a:prstGeom prst="rect">
                <a:avLst/>
              </a:prstGeom>
              <a:blipFill>
                <a:blip r:embed="rId14"/>
                <a:stretch>
                  <a:fillRect l="-51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CaixaDeTexto 50">
            <a:extLst>
              <a:ext uri="{FF2B5EF4-FFF2-40B4-BE49-F238E27FC236}">
                <a16:creationId xmlns:a16="http://schemas.microsoft.com/office/drawing/2014/main" id="{77A11364-B4EA-5337-7932-243C8424D877}"/>
              </a:ext>
            </a:extLst>
          </p:cNvPr>
          <p:cNvSpPr txBox="1"/>
          <p:nvPr/>
        </p:nvSpPr>
        <p:spPr>
          <a:xfrm>
            <a:off x="6942828" y="3742072"/>
            <a:ext cx="2051011" cy="369332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pt-BR" dirty="0"/>
              <a:t>Nó2 – Aliança NÃO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A859CA34-D1C1-0B47-7FAF-B70A47BB7757}"/>
              </a:ext>
            </a:extLst>
          </p:cNvPr>
          <p:cNvSpPr txBox="1"/>
          <p:nvPr/>
        </p:nvSpPr>
        <p:spPr>
          <a:xfrm>
            <a:off x="7308280" y="1166112"/>
            <a:ext cx="3690077" cy="212365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pt-BR" sz="1200" dirty="0">
                <a:solidFill>
                  <a:srgbClr val="37474F"/>
                </a:solidFill>
                <a:highlight>
                  <a:srgbClr val="00FF00"/>
                </a:highlight>
                <a:latin typeface="Roboto Mono" pitchFamily="2" charset="0"/>
              </a:rPr>
              <a:t>🟢 – Casado</a:t>
            </a:r>
          </a:p>
          <a:p>
            <a:r>
              <a:rPr lang="pt-BR" sz="1200" dirty="0">
                <a:solidFill>
                  <a:srgbClr val="37474F"/>
                </a:solidFill>
                <a:highlight>
                  <a:srgbClr val="FF7474"/>
                </a:highlight>
                <a:latin typeface="Roboto Mono" pitchFamily="2" charset="0"/>
              </a:rPr>
              <a:t>🔴 – Solteiro</a:t>
            </a:r>
          </a:p>
          <a:p>
            <a:endParaRPr lang="pt-BR" sz="1200" dirty="0">
              <a:solidFill>
                <a:srgbClr val="37474F"/>
              </a:solidFill>
              <a:highlight>
                <a:srgbClr val="FF7474"/>
              </a:highlight>
              <a:latin typeface="Roboto Mono" pitchFamily="2" charset="0"/>
            </a:endParaRPr>
          </a:p>
          <a:p>
            <a:r>
              <a:rPr lang="pt-BR" sz="1200" dirty="0">
                <a:solidFill>
                  <a:srgbClr val="37474F"/>
                </a:solidFill>
                <a:latin typeface="Roboto Mono" pitchFamily="2" charset="0"/>
              </a:rPr>
              <a:t>           </a:t>
            </a:r>
            <a:r>
              <a:rPr lang="pt-BR" sz="1200" b="1" dirty="0">
                <a:solidFill>
                  <a:srgbClr val="37474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  <a:latin typeface="Roboto Mono" pitchFamily="2" charset="0"/>
              </a:rPr>
              <a:t>TOTAL PESSOAS -&gt; NÓ </a:t>
            </a:r>
            <a:r>
              <a:rPr lang="pt-BR" sz="1200" b="1" u="sng" dirty="0">
                <a:solidFill>
                  <a:srgbClr val="37474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  <a:latin typeface="Roboto Mono" pitchFamily="2" charset="0"/>
              </a:rPr>
              <a:t>RAIZ</a:t>
            </a:r>
          </a:p>
          <a:p>
            <a:r>
              <a:rPr lang="pt-BR" sz="1200" b="1" dirty="0">
                <a:solidFill>
                  <a:srgbClr val="37474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Roboto Mono" pitchFamily="2" charset="0"/>
              </a:rPr>
              <a:t>                |</a:t>
            </a:r>
            <a:endParaRPr lang="pt-BR" sz="1200" dirty="0">
              <a:solidFill>
                <a:srgbClr val="37474F"/>
              </a:solidFill>
              <a:latin typeface="Roboto Mono" pitchFamily="2" charset="0"/>
            </a:endParaRPr>
          </a:p>
          <a:p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  </a:t>
            </a:r>
            <a:r>
              <a:rPr lang="pt-BR" sz="1200" b="0" i="0" dirty="0">
                <a:solidFill>
                  <a:srgbClr val="37474F"/>
                </a:solidFill>
                <a:effectLst/>
                <a:highlight>
                  <a:srgbClr val="C0C0C0"/>
                </a:highlight>
                <a:latin typeface="Roboto Mono" pitchFamily="2" charset="0"/>
              </a:rPr>
              <a:t>USA ALIANÇA?</a:t>
            </a:r>
            <a:endParaRPr lang="pt-BR" sz="1200" b="0" i="0" dirty="0">
              <a:solidFill>
                <a:srgbClr val="000000"/>
              </a:solidFill>
              <a:effectLst/>
              <a:highlight>
                <a:srgbClr val="C0C0C0"/>
              </a:highlight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  /             \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SIM               NÃO</a:t>
            </a:r>
            <a:endParaRPr lang="pt-BR" sz="12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│                 │</a:t>
            </a:r>
          </a:p>
          <a:p>
            <a:r>
              <a:rPr lang="pt-BR" sz="1200" dirty="0">
                <a:solidFill>
                  <a:srgbClr val="37474F"/>
                </a:solidFill>
                <a:latin typeface="Roboto Mono" pitchFamily="2" charset="0"/>
              </a:rPr>
              <a:t>  </a:t>
            </a:r>
            <a:r>
              <a:rPr lang="pt-BR" sz="1200" b="1" dirty="0">
                <a:solidFill>
                  <a:srgbClr val="37474F"/>
                </a:solidFill>
                <a:highlight>
                  <a:srgbClr val="FFFF00"/>
                </a:highlight>
                <a:latin typeface="Roboto Mono" pitchFamily="2" charset="0"/>
              </a:rPr>
              <a:t>GRUPO1 -&gt; </a:t>
            </a:r>
            <a:r>
              <a:rPr lang="pt-BR" sz="1200" b="1" u="sng" dirty="0">
                <a:solidFill>
                  <a:srgbClr val="37474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  <a:latin typeface="Roboto Mono" pitchFamily="2" charset="0"/>
              </a:rPr>
              <a:t>NÓ1</a:t>
            </a:r>
            <a:r>
              <a:rPr lang="pt-BR" sz="1200" dirty="0">
                <a:solidFill>
                  <a:srgbClr val="37474F"/>
                </a:solidFill>
                <a:latin typeface="Roboto Mono" pitchFamily="2" charset="0"/>
              </a:rPr>
              <a:t>         </a:t>
            </a:r>
            <a:r>
              <a:rPr lang="pt-BR" sz="1200" b="1" dirty="0">
                <a:solidFill>
                  <a:srgbClr val="37474F"/>
                </a:solidFill>
                <a:highlight>
                  <a:srgbClr val="FFFF00"/>
                </a:highlight>
                <a:latin typeface="Roboto Mono" pitchFamily="2" charset="0"/>
              </a:rPr>
              <a:t>GRUPO2 -&gt; </a:t>
            </a:r>
            <a:r>
              <a:rPr lang="pt-BR" sz="1200" b="1" u="sng" dirty="0">
                <a:solidFill>
                  <a:srgbClr val="37474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  <a:latin typeface="Roboto Mono" pitchFamily="2" charset="0"/>
              </a:rPr>
              <a:t>NÓ2</a:t>
            </a:r>
            <a:endParaRPr lang="pt-BR" sz="1200" b="1" i="0" u="sng" dirty="0">
              <a:solidFill>
                <a:srgbClr val="0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ighlight>
                <a:srgbClr val="FFFF00"/>
              </a:highlight>
              <a:latin typeface="Roboto Mono" pitchFamily="2" charset="0"/>
            </a:endParaRPr>
          </a:p>
          <a:p>
            <a:pPr>
              <a:buNone/>
            </a:pPr>
            <a:r>
              <a:rPr lang="pt-BR" sz="1200" b="0" i="0" dirty="0">
                <a:solidFill>
                  <a:srgbClr val="37474F"/>
                </a:solidFill>
                <a:effectLst/>
                <a:highlight>
                  <a:srgbClr val="00FF00"/>
                </a:highlight>
                <a:latin typeface="Roboto Mono" pitchFamily="2" charset="0"/>
              </a:rPr>
              <a:t>🟢 🟢 🟢 🟢 </a:t>
            </a:r>
            <a:r>
              <a:rPr lang="pt-BR" sz="1200" dirty="0">
                <a:solidFill>
                  <a:srgbClr val="37474F"/>
                </a:solidFill>
                <a:highlight>
                  <a:srgbClr val="00FF00"/>
                </a:highlight>
                <a:latin typeface="Roboto Mono" pitchFamily="2" charset="0"/>
              </a:rPr>
              <a:t>🟢</a:t>
            </a:r>
            <a:r>
              <a:rPr lang="pt-BR" sz="12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   </a:t>
            </a:r>
            <a:r>
              <a:rPr lang="pt-BR" sz="1200" dirty="0">
                <a:solidFill>
                  <a:srgbClr val="37474F"/>
                </a:solidFill>
                <a:highlight>
                  <a:srgbClr val="FF7474"/>
                </a:highlight>
                <a:latin typeface="Roboto Mono" pitchFamily="2" charset="0"/>
              </a:rPr>
              <a:t>🔴</a:t>
            </a:r>
            <a:r>
              <a:rPr lang="pt-BR" sz="1200" b="0" i="0" dirty="0">
                <a:solidFill>
                  <a:srgbClr val="37474F"/>
                </a:solidFill>
                <a:effectLst/>
                <a:highlight>
                  <a:srgbClr val="FF7474"/>
                </a:highlight>
                <a:latin typeface="Roboto Mono" pitchFamily="2" charset="0"/>
              </a:rPr>
              <a:t> 🔴 🔴 🔴 🔴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CE297399-9095-C263-ED00-D3333BB97A7E}"/>
                  </a:ext>
                </a:extLst>
              </p:cNvPr>
              <p:cNvSpPr txBox="1"/>
              <p:nvPr/>
            </p:nvSpPr>
            <p:spPr>
              <a:xfrm>
                <a:off x="161848" y="4771153"/>
                <a:ext cx="168167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𝐺𝑖𝑛𝑖</m:t>
                      </m:r>
                      <m:r>
                        <a:rPr lang="pt-BR" i="1" smtClean="0">
                          <a:latin typeface="Cambria Math" panose="02040503050406030204" pitchFamily="18" charset="0"/>
                        </a:rPr>
                        <m:t>=1−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1,0</m:t>
                          </m: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CE297399-9095-C263-ED00-D3333BB97A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848" y="4771153"/>
                <a:ext cx="1681679" cy="276999"/>
              </a:xfrm>
              <a:prstGeom prst="rect">
                <a:avLst/>
              </a:prstGeom>
              <a:blipFill>
                <a:blip r:embed="rId15"/>
                <a:stretch>
                  <a:fillRect l="-3273" b="-8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id="{098A86A5-EF26-E0C5-834C-0A304F13C02B}"/>
                  </a:ext>
                </a:extLst>
              </p:cNvPr>
              <p:cNvSpPr txBox="1"/>
              <p:nvPr/>
            </p:nvSpPr>
            <p:spPr>
              <a:xfrm>
                <a:off x="6933461" y="5830285"/>
                <a:ext cx="168167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𝐺𝑖𝑛𝑖</m:t>
                      </m:r>
                      <m:r>
                        <a:rPr lang="pt-BR" i="1" smtClean="0">
                          <a:latin typeface="Cambria Math" panose="02040503050406030204" pitchFamily="18" charset="0"/>
                        </a:rPr>
                        <m:t>=1−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1,0</m:t>
                          </m: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id="{098A86A5-EF26-E0C5-834C-0A304F13C0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3461" y="5830285"/>
                <a:ext cx="1681679" cy="276999"/>
              </a:xfrm>
              <a:prstGeom prst="rect">
                <a:avLst/>
              </a:prstGeom>
              <a:blipFill>
                <a:blip r:embed="rId16"/>
                <a:stretch>
                  <a:fillRect l="-3261" b="-652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73880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A797DC-8723-6A21-D7CE-859377FB7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template_extract/ppt/media/image1.png">
            <a:extLst>
              <a:ext uri="{FF2B5EF4-FFF2-40B4-BE49-F238E27FC236}">
                <a16:creationId xmlns:a16="http://schemas.microsoft.com/office/drawing/2014/main" id="{A9158BB4-D40B-8CEF-7349-133903AD7B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282" y="160020"/>
            <a:ext cx="2423160" cy="512064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7F691613-F285-EFFA-2E50-219F39AD9E52}"/>
              </a:ext>
            </a:extLst>
          </p:cNvPr>
          <p:cNvSpPr/>
          <p:nvPr/>
        </p:nvSpPr>
        <p:spPr>
          <a:xfrm>
            <a:off x="236610" y="874385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F69BF"/>
                </a:solidFill>
              </a:rPr>
              <a:t>Aula 05</a:t>
            </a:r>
            <a:endParaRPr lang="en-US" sz="13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983BE746-F2D3-78F0-4EB9-0298B2796EF9}"/>
              </a:ext>
            </a:extLst>
          </p:cNvPr>
          <p:cNvSpPr/>
          <p:nvPr/>
        </p:nvSpPr>
        <p:spPr>
          <a:xfrm>
            <a:off x="242315" y="1148705"/>
            <a:ext cx="76768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tabLst>
                <a:tab pos="0" algn="l"/>
              </a:tabLst>
              <a:defRPr/>
            </a:pPr>
            <a:r>
              <a:rPr lang="en-US" sz="2400" b="1" dirty="0" err="1">
                <a:solidFill>
                  <a:srgbClr val="0B1F3A"/>
                </a:solidFill>
              </a:rPr>
              <a:t>Árvores</a:t>
            </a:r>
            <a:r>
              <a:rPr lang="en-US" sz="2400" b="1" dirty="0">
                <a:solidFill>
                  <a:srgbClr val="0B1F3A"/>
                </a:solidFill>
              </a:rPr>
              <a:t> de </a:t>
            </a:r>
            <a:r>
              <a:rPr lang="en-US" sz="2400" b="1" dirty="0" err="1">
                <a:solidFill>
                  <a:srgbClr val="0B1F3A"/>
                </a:solidFill>
              </a:rPr>
              <a:t>Decisão</a:t>
            </a:r>
            <a:r>
              <a:rPr lang="en-US" sz="2400" b="1" dirty="0">
                <a:solidFill>
                  <a:srgbClr val="0B1F3A"/>
                </a:solidFill>
              </a:rPr>
              <a:t> – Pureza das Classes - GINI</a:t>
            </a:r>
            <a:endParaRPr lang="pt-BR" sz="24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491B4231-D90D-CC80-0A85-E7B1FF417825}"/>
              </a:ext>
            </a:extLst>
          </p:cNvPr>
          <p:cNvSpPr/>
          <p:nvPr/>
        </p:nvSpPr>
        <p:spPr>
          <a:xfrm>
            <a:off x="658368" y="574243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</a:rPr>
              <a:t>Professor Miguél Suares</a:t>
            </a:r>
            <a:endParaRPr lang="en-US" sz="11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25A37263-61F9-D56F-5249-AF06244F6BE5}"/>
              </a:ext>
            </a:extLst>
          </p:cNvPr>
          <p:cNvSpPr/>
          <p:nvPr/>
        </p:nvSpPr>
        <p:spPr>
          <a:xfrm>
            <a:off x="658368" y="60533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850" dirty="0"/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1CB6A56A-1EE3-7A9B-D46D-791AB209060A}"/>
              </a:ext>
            </a:extLst>
          </p:cNvPr>
          <p:cNvSpPr txBox="1"/>
          <p:nvPr/>
        </p:nvSpPr>
        <p:spPr>
          <a:xfrm>
            <a:off x="236609" y="6236315"/>
            <a:ext cx="117680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i="1" dirty="0"/>
              <a:t>IBM. KAVLAKOGLU, </a:t>
            </a:r>
            <a:r>
              <a:rPr lang="pt-BR" sz="1200" i="1" dirty="0" err="1"/>
              <a:t>Eda</a:t>
            </a:r>
            <a:r>
              <a:rPr lang="pt-BR" sz="1200" i="1" dirty="0"/>
              <a:t>. </a:t>
            </a:r>
            <a:r>
              <a:rPr lang="pt-BR" sz="1200" b="1" i="1" dirty="0"/>
              <a:t>O que é uma </a:t>
            </a:r>
            <a:r>
              <a:rPr lang="pt-BR" sz="1200" b="1" i="1" dirty="0" err="1"/>
              <a:t>Decision</a:t>
            </a:r>
            <a:r>
              <a:rPr lang="pt-BR" sz="1200" b="1" i="1" dirty="0"/>
              <a:t> </a:t>
            </a:r>
            <a:r>
              <a:rPr lang="pt-BR" sz="1200" b="1" i="1" dirty="0" err="1"/>
              <a:t>Tree</a:t>
            </a:r>
            <a:r>
              <a:rPr lang="pt-BR" sz="1200" b="1" i="1" dirty="0"/>
              <a:t>?</a:t>
            </a:r>
            <a:r>
              <a:rPr lang="pt-BR" sz="1200" i="1" dirty="0"/>
              <a:t> IBM </a:t>
            </a:r>
            <a:r>
              <a:rPr lang="pt-BR" sz="1200" i="1" dirty="0" err="1"/>
              <a:t>Think</a:t>
            </a:r>
            <a:r>
              <a:rPr lang="pt-BR" sz="1200" i="1" dirty="0"/>
              <a:t> </a:t>
            </a:r>
            <a:r>
              <a:rPr lang="pt-BR" sz="1200" i="1" dirty="0" err="1"/>
              <a:t>Topics</a:t>
            </a:r>
            <a:r>
              <a:rPr lang="pt-BR" sz="1200" i="1" dirty="0"/>
              <a:t>, 2 nov. 2021. </a:t>
            </a:r>
          </a:p>
          <a:p>
            <a:r>
              <a:rPr lang="pt-BR" sz="1200" i="1" dirty="0"/>
              <a:t>Disponível em: </a:t>
            </a:r>
            <a:r>
              <a:rPr lang="pt-BR" sz="1200" i="1" u="sng" dirty="0">
                <a:hlinkClick r:id="rId4"/>
              </a:rPr>
              <a:t>https://www.ibm.com/</a:t>
            </a:r>
            <a:r>
              <a:rPr lang="pt-BR" sz="1200" i="1" u="sng" dirty="0" err="1">
                <a:hlinkClick r:id="rId4"/>
              </a:rPr>
              <a:t>br-pt</a:t>
            </a:r>
            <a:r>
              <a:rPr lang="pt-BR" sz="1200" i="1" u="sng" dirty="0">
                <a:hlinkClick r:id="rId4"/>
              </a:rPr>
              <a:t>/</a:t>
            </a:r>
            <a:r>
              <a:rPr lang="pt-BR" sz="1200" i="1" u="sng" dirty="0" err="1">
                <a:hlinkClick r:id="rId4"/>
              </a:rPr>
              <a:t>think</a:t>
            </a:r>
            <a:r>
              <a:rPr lang="pt-BR" sz="1200" i="1" u="sng" dirty="0">
                <a:hlinkClick r:id="rId4"/>
              </a:rPr>
              <a:t>/</a:t>
            </a:r>
            <a:r>
              <a:rPr lang="pt-BR" sz="1200" i="1" u="sng" dirty="0" err="1">
                <a:hlinkClick r:id="rId4"/>
              </a:rPr>
              <a:t>topics</a:t>
            </a:r>
            <a:r>
              <a:rPr lang="pt-BR" sz="1200" i="1" u="sng" dirty="0">
                <a:hlinkClick r:id="rId4"/>
              </a:rPr>
              <a:t>/</a:t>
            </a:r>
            <a:r>
              <a:rPr lang="pt-BR" sz="1200" i="1" u="sng" dirty="0" err="1">
                <a:hlinkClick r:id="rId4"/>
              </a:rPr>
              <a:t>decision-trees</a:t>
            </a:r>
            <a:r>
              <a:rPr lang="pt-BR" sz="1200" i="1" dirty="0"/>
              <a:t>. Acesso em: 6 out. 2026.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B86C33AD-7590-8EEF-615B-5D12DC3BB748}"/>
              </a:ext>
            </a:extLst>
          </p:cNvPr>
          <p:cNvSpPr txBox="1"/>
          <p:nvPr/>
        </p:nvSpPr>
        <p:spPr>
          <a:xfrm>
            <a:off x="193282" y="1808072"/>
            <a:ext cx="47048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O Valor Gini mede justamente essa impureza.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FDAD0296-9309-C294-47B7-8B1301B2DFFB}"/>
                  </a:ext>
                </a:extLst>
              </p:cNvPr>
              <p:cNvSpPr txBox="1"/>
              <p:nvPr/>
            </p:nvSpPr>
            <p:spPr>
              <a:xfrm>
                <a:off x="244721" y="2464558"/>
                <a:ext cx="4547975" cy="3372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pt-BR" i="0" smtClean="0">
                          <a:latin typeface="Cambria Math" panose="02040503050406030204" pitchFamily="18" charset="0"/>
                        </a:rPr>
                        <m:t>Valor</m:t>
                      </m:r>
                      <m:r>
                        <m:rPr>
                          <m:nor/>
                        </m:rPr>
                        <a:rPr lang="pt-BR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pt-BR" i="0" smtClean="0">
                          <a:latin typeface="Cambria Math" panose="02040503050406030204" pitchFamily="18" charset="0"/>
                        </a:rPr>
                        <m:t>Gini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1−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pt-BR" i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  <m:r>
                                <m:rPr>
                                  <m:nor/>
                                </m:rPr>
                                <a:rPr lang="pt-BR" i="0">
                                  <a:latin typeface="Cambria Math" panose="02040503050406030204" pitchFamily="18" charset="0"/>
                                </a:rPr>
                                <m:t>casado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pt-BR" i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  <m:r>
                                <m:rPr>
                                  <m:nor/>
                                </m:rPr>
                                <a:rPr lang="pt-BR" i="0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  <m:r>
                                <m:rPr>
                                  <m:nor/>
                                </m:rPr>
                                <a:rPr lang="pt-BR" i="0">
                                  <a:latin typeface="Cambria Math" panose="02040503050406030204" pitchFamily="18" charset="0"/>
                                </a:rPr>
                                <m:t>ã</m:t>
                              </m:r>
                              <m:r>
                                <m:rPr>
                                  <m:nor/>
                                </m:rPr>
                                <a:rPr lang="pt-BR" i="0">
                                  <a:latin typeface="Cambria Math" panose="02040503050406030204" pitchFamily="18" charset="0"/>
                                </a:rPr>
                                <m:t>o</m:t>
                              </m:r>
                              <m:r>
                                <m:rPr>
                                  <m:nor/>
                                </m:rPr>
                                <a:rPr lang="pt-BR" i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pt-BR" i="0">
                                  <a:latin typeface="Cambria Math" panose="02040503050406030204" pitchFamily="18" charset="0"/>
                                </a:rPr>
                                <m:t>casado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FDAD0296-9309-C294-47B7-8B1301B2D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721" y="2464558"/>
                <a:ext cx="4547975" cy="337272"/>
              </a:xfrm>
              <a:prstGeom prst="rect">
                <a:avLst/>
              </a:prstGeom>
              <a:blipFill>
                <a:blip r:embed="rId5"/>
                <a:stretch>
                  <a:fillRect l="-938" b="-2142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aixaDeTexto 4">
            <a:extLst>
              <a:ext uri="{FF2B5EF4-FFF2-40B4-BE49-F238E27FC236}">
                <a16:creationId xmlns:a16="http://schemas.microsoft.com/office/drawing/2014/main" id="{2CAFA153-0365-8AD5-6CFB-9A84ED3B49F0}"/>
              </a:ext>
            </a:extLst>
          </p:cNvPr>
          <p:cNvSpPr txBox="1"/>
          <p:nvPr/>
        </p:nvSpPr>
        <p:spPr>
          <a:xfrm>
            <a:off x="197183" y="2949251"/>
            <a:ext cx="728994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Conclusão: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“Quanto maior o GINI, mais impuro é o nó”;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“Quando o GINI chega a 0,5, você tem o máximo de mistura no Nó !”;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“GINI ZERO representa NÓ PURO”;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791093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7D6D96-6732-E5E9-E368-81744D93A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template_extract/ppt/media/image1.png">
            <a:extLst>
              <a:ext uri="{FF2B5EF4-FFF2-40B4-BE49-F238E27FC236}">
                <a16:creationId xmlns:a16="http://schemas.microsoft.com/office/drawing/2014/main" id="{DAF089E4-633A-0063-A173-51DDC44FDC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282" y="160020"/>
            <a:ext cx="2423160" cy="512064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1CFD8BAD-470B-DE0B-5C1E-271466109CBF}"/>
              </a:ext>
            </a:extLst>
          </p:cNvPr>
          <p:cNvSpPr/>
          <p:nvPr/>
        </p:nvSpPr>
        <p:spPr>
          <a:xfrm>
            <a:off x="236610" y="874385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F69BF"/>
                </a:solidFill>
              </a:rPr>
              <a:t>Aula 05</a:t>
            </a:r>
            <a:endParaRPr lang="en-US" sz="13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5E1D4B22-1A4C-4A62-D715-7AE7F68F71AB}"/>
              </a:ext>
            </a:extLst>
          </p:cNvPr>
          <p:cNvSpPr/>
          <p:nvPr/>
        </p:nvSpPr>
        <p:spPr>
          <a:xfrm>
            <a:off x="3354631" y="160020"/>
            <a:ext cx="802084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tabLst>
                <a:tab pos="0" algn="l"/>
              </a:tabLst>
              <a:defRPr/>
            </a:pPr>
            <a:r>
              <a:rPr lang="en-US" sz="2400" b="1" dirty="0" err="1">
                <a:solidFill>
                  <a:srgbClr val="0B1F3A"/>
                </a:solidFill>
              </a:rPr>
              <a:t>Árvores</a:t>
            </a:r>
            <a:r>
              <a:rPr lang="en-US" sz="2400" b="1" dirty="0">
                <a:solidFill>
                  <a:srgbClr val="0B1F3A"/>
                </a:solidFill>
              </a:rPr>
              <a:t> de </a:t>
            </a:r>
            <a:r>
              <a:rPr lang="en-US" sz="2400" b="1" dirty="0" err="1">
                <a:solidFill>
                  <a:srgbClr val="0B1F3A"/>
                </a:solidFill>
              </a:rPr>
              <a:t>Decisão</a:t>
            </a:r>
            <a:r>
              <a:rPr lang="en-US" sz="2400" b="1" dirty="0">
                <a:solidFill>
                  <a:srgbClr val="0B1F3A"/>
                </a:solidFill>
              </a:rPr>
              <a:t> – </a:t>
            </a:r>
            <a:r>
              <a:rPr lang="en-US" sz="2400" b="1" dirty="0" err="1">
                <a:solidFill>
                  <a:srgbClr val="0B1F3A"/>
                </a:solidFill>
              </a:rPr>
              <a:t>Profundidade</a:t>
            </a:r>
            <a:r>
              <a:rPr lang="en-US" sz="2400" b="1" dirty="0">
                <a:solidFill>
                  <a:srgbClr val="0B1F3A"/>
                </a:solidFill>
              </a:rPr>
              <a:t> da </a:t>
            </a:r>
            <a:r>
              <a:rPr lang="en-US" sz="2400" b="1" dirty="0" err="1">
                <a:solidFill>
                  <a:srgbClr val="0B1F3A"/>
                </a:solidFill>
              </a:rPr>
              <a:t>Árvore</a:t>
            </a:r>
            <a:endParaRPr lang="pt-BR" sz="24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E5B987AE-A1EB-3292-C89D-C3AFCE8FACAD}"/>
              </a:ext>
            </a:extLst>
          </p:cNvPr>
          <p:cNvSpPr/>
          <p:nvPr/>
        </p:nvSpPr>
        <p:spPr>
          <a:xfrm>
            <a:off x="658368" y="574243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</a:rPr>
              <a:t>Professor Miguél Suares</a:t>
            </a:r>
            <a:endParaRPr lang="en-US" sz="11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B8E967C1-352D-DE24-866D-84C63E3963BD}"/>
              </a:ext>
            </a:extLst>
          </p:cNvPr>
          <p:cNvSpPr/>
          <p:nvPr/>
        </p:nvSpPr>
        <p:spPr>
          <a:xfrm>
            <a:off x="658368" y="60533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850" dirty="0"/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F715B637-BFE8-B5BE-1209-AE7F3AE7CDE3}"/>
              </a:ext>
            </a:extLst>
          </p:cNvPr>
          <p:cNvSpPr txBox="1"/>
          <p:nvPr/>
        </p:nvSpPr>
        <p:spPr>
          <a:xfrm>
            <a:off x="236609" y="6236315"/>
            <a:ext cx="117680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i="1" dirty="0"/>
              <a:t>IBM. KAVLAKOGLU, </a:t>
            </a:r>
            <a:r>
              <a:rPr lang="pt-BR" sz="1200" i="1" dirty="0" err="1"/>
              <a:t>Eda</a:t>
            </a:r>
            <a:r>
              <a:rPr lang="pt-BR" sz="1200" i="1" dirty="0"/>
              <a:t>. </a:t>
            </a:r>
            <a:r>
              <a:rPr lang="pt-BR" sz="1200" b="1" i="1" dirty="0"/>
              <a:t>O que é uma </a:t>
            </a:r>
            <a:r>
              <a:rPr lang="pt-BR" sz="1200" b="1" i="1" dirty="0" err="1"/>
              <a:t>Decision</a:t>
            </a:r>
            <a:r>
              <a:rPr lang="pt-BR" sz="1200" b="1" i="1" dirty="0"/>
              <a:t> </a:t>
            </a:r>
            <a:r>
              <a:rPr lang="pt-BR" sz="1200" b="1" i="1" dirty="0" err="1"/>
              <a:t>Tree</a:t>
            </a:r>
            <a:r>
              <a:rPr lang="pt-BR" sz="1200" b="1" i="1" dirty="0"/>
              <a:t>?</a:t>
            </a:r>
            <a:r>
              <a:rPr lang="pt-BR" sz="1200" i="1" dirty="0"/>
              <a:t> IBM </a:t>
            </a:r>
            <a:r>
              <a:rPr lang="pt-BR" sz="1200" i="1" dirty="0" err="1"/>
              <a:t>Think</a:t>
            </a:r>
            <a:r>
              <a:rPr lang="pt-BR" sz="1200" i="1" dirty="0"/>
              <a:t> </a:t>
            </a:r>
            <a:r>
              <a:rPr lang="pt-BR" sz="1200" i="1" dirty="0" err="1"/>
              <a:t>Topics</a:t>
            </a:r>
            <a:r>
              <a:rPr lang="pt-BR" sz="1200" i="1" dirty="0"/>
              <a:t>, 2 nov. 2021. </a:t>
            </a:r>
          </a:p>
          <a:p>
            <a:r>
              <a:rPr lang="pt-BR" sz="1200" i="1" dirty="0"/>
              <a:t>Disponível em: </a:t>
            </a:r>
            <a:r>
              <a:rPr lang="pt-BR" sz="1200" i="1" u="sng" dirty="0">
                <a:hlinkClick r:id="rId4"/>
              </a:rPr>
              <a:t>https://www.ibm.com/</a:t>
            </a:r>
            <a:r>
              <a:rPr lang="pt-BR" sz="1200" i="1" u="sng" dirty="0" err="1">
                <a:hlinkClick r:id="rId4"/>
              </a:rPr>
              <a:t>br-pt</a:t>
            </a:r>
            <a:r>
              <a:rPr lang="pt-BR" sz="1200" i="1" u="sng" dirty="0">
                <a:hlinkClick r:id="rId4"/>
              </a:rPr>
              <a:t>/</a:t>
            </a:r>
            <a:r>
              <a:rPr lang="pt-BR" sz="1200" i="1" u="sng" dirty="0" err="1">
                <a:hlinkClick r:id="rId4"/>
              </a:rPr>
              <a:t>think</a:t>
            </a:r>
            <a:r>
              <a:rPr lang="pt-BR" sz="1200" i="1" u="sng" dirty="0">
                <a:hlinkClick r:id="rId4"/>
              </a:rPr>
              <a:t>/</a:t>
            </a:r>
            <a:r>
              <a:rPr lang="pt-BR" sz="1200" i="1" u="sng" dirty="0" err="1">
                <a:hlinkClick r:id="rId4"/>
              </a:rPr>
              <a:t>topics</a:t>
            </a:r>
            <a:r>
              <a:rPr lang="pt-BR" sz="1200" i="1" u="sng" dirty="0">
                <a:hlinkClick r:id="rId4"/>
              </a:rPr>
              <a:t>/</a:t>
            </a:r>
            <a:r>
              <a:rPr lang="pt-BR" sz="1200" i="1" u="sng" dirty="0" err="1">
                <a:hlinkClick r:id="rId4"/>
              </a:rPr>
              <a:t>decision-trees</a:t>
            </a:r>
            <a:r>
              <a:rPr lang="pt-BR" sz="1200" i="1" dirty="0"/>
              <a:t>. Acesso em: 6 out. 2026.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39017956-DEB3-C822-658F-39C5B710405C}"/>
              </a:ext>
            </a:extLst>
          </p:cNvPr>
          <p:cNvSpPr txBox="1"/>
          <p:nvPr/>
        </p:nvSpPr>
        <p:spPr>
          <a:xfrm>
            <a:off x="658368" y="1610686"/>
            <a:ext cx="66951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A Profundidade da Árvore é </a:t>
            </a:r>
            <a:r>
              <a:rPr lang="pt-BR" b="1" dirty="0"/>
              <a:t>número máximo de divisões (níveis)</a:t>
            </a:r>
            <a:r>
              <a:rPr lang="pt-BR" dirty="0"/>
              <a:t> </a:t>
            </a:r>
          </a:p>
          <a:p>
            <a:r>
              <a:rPr lang="pt-BR" dirty="0"/>
              <a:t>que a árvore pode fazer desde a raiz até a folha mais distante.</a:t>
            </a:r>
          </a:p>
        </p:txBody>
      </p:sp>
      <p:pic>
        <p:nvPicPr>
          <p:cNvPr id="6146" name="Picture 2" descr="Modelo de uma Decision Tree">
            <a:extLst>
              <a:ext uri="{FF2B5EF4-FFF2-40B4-BE49-F238E27FC236}">
                <a16:creationId xmlns:a16="http://schemas.microsoft.com/office/drawing/2014/main" id="{67C7D03D-BA1E-772A-7A2B-9FA3D00264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087" y="2315717"/>
            <a:ext cx="5554590" cy="31244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F49BE67F-A631-A93A-6F2D-932D5C1E44B0}"/>
              </a:ext>
            </a:extLst>
          </p:cNvPr>
          <p:cNvSpPr txBox="1"/>
          <p:nvPr/>
        </p:nvSpPr>
        <p:spPr>
          <a:xfrm>
            <a:off x="4173018" y="2378928"/>
            <a:ext cx="1748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Nó Raiz ou Nó 0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8A743F98-9A9C-BE44-1076-2194DD400ACB}"/>
              </a:ext>
            </a:extLst>
          </p:cNvPr>
          <p:cNvSpPr txBox="1"/>
          <p:nvPr/>
        </p:nvSpPr>
        <p:spPr>
          <a:xfrm>
            <a:off x="5375305" y="3692668"/>
            <a:ext cx="2089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Nós Intermediários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B5D0652B-6483-B2FB-698B-1C6117FD46C1}"/>
              </a:ext>
            </a:extLst>
          </p:cNvPr>
          <p:cNvSpPr txBox="1"/>
          <p:nvPr/>
        </p:nvSpPr>
        <p:spPr>
          <a:xfrm>
            <a:off x="5921958" y="4821742"/>
            <a:ext cx="1300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Nós Folhas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4D827A74-BDE4-1BD3-DF7A-37669232BEB7}"/>
              </a:ext>
            </a:extLst>
          </p:cNvPr>
          <p:cNvSpPr txBox="1"/>
          <p:nvPr/>
        </p:nvSpPr>
        <p:spPr>
          <a:xfrm>
            <a:off x="7939043" y="2257017"/>
            <a:ext cx="3387209" cy="646331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pPr algn="ctr"/>
            <a:r>
              <a:rPr lang="pt-BR" dirty="0"/>
              <a:t>A pergunta certa pode </a:t>
            </a:r>
          </a:p>
          <a:p>
            <a:pPr algn="ctr"/>
            <a:r>
              <a:rPr lang="pt-BR" dirty="0"/>
              <a:t>mudar a profundidade da Árvore</a:t>
            </a:r>
          </a:p>
        </p:txBody>
      </p:sp>
    </p:spTree>
    <p:extLst>
      <p:ext uri="{BB962C8B-B14F-4D97-AF65-F5344CB8AC3E}">
        <p14:creationId xmlns:p14="http://schemas.microsoft.com/office/powerpoint/2010/main" val="27910035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8EDC45-C6EE-B97E-D556-764A9B832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template_extract/ppt/media/image1.png">
            <a:extLst>
              <a:ext uri="{FF2B5EF4-FFF2-40B4-BE49-F238E27FC236}">
                <a16:creationId xmlns:a16="http://schemas.microsoft.com/office/drawing/2014/main" id="{2A66E39C-C53E-4399-63F2-9068514ED1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282" y="160020"/>
            <a:ext cx="2423160" cy="512064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6C57E110-A700-1E37-6C5D-F2A1B573F6F9}"/>
              </a:ext>
            </a:extLst>
          </p:cNvPr>
          <p:cNvSpPr/>
          <p:nvPr/>
        </p:nvSpPr>
        <p:spPr>
          <a:xfrm>
            <a:off x="236610" y="874385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F69BF"/>
                </a:solidFill>
              </a:rPr>
              <a:t>Aula 05</a:t>
            </a:r>
            <a:endParaRPr lang="en-US" sz="13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39EFA27E-966D-D9A2-5C8E-EA219E966858}"/>
              </a:ext>
            </a:extLst>
          </p:cNvPr>
          <p:cNvSpPr/>
          <p:nvPr/>
        </p:nvSpPr>
        <p:spPr>
          <a:xfrm>
            <a:off x="3354631" y="160020"/>
            <a:ext cx="802084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tabLst>
                <a:tab pos="0" algn="l"/>
              </a:tabLst>
              <a:defRPr/>
            </a:pPr>
            <a:r>
              <a:rPr lang="en-US" sz="2400" b="1" dirty="0" err="1">
                <a:solidFill>
                  <a:srgbClr val="0B1F3A"/>
                </a:solidFill>
              </a:rPr>
              <a:t>Árvores</a:t>
            </a:r>
            <a:r>
              <a:rPr lang="en-US" sz="2400" b="1" dirty="0">
                <a:solidFill>
                  <a:srgbClr val="0B1F3A"/>
                </a:solidFill>
              </a:rPr>
              <a:t> de </a:t>
            </a:r>
            <a:r>
              <a:rPr lang="en-US" sz="2400" b="1" dirty="0" err="1">
                <a:solidFill>
                  <a:srgbClr val="0B1F3A"/>
                </a:solidFill>
              </a:rPr>
              <a:t>Decisão</a:t>
            </a:r>
            <a:r>
              <a:rPr lang="en-US" sz="2400" b="1" dirty="0">
                <a:solidFill>
                  <a:srgbClr val="0B1F3A"/>
                </a:solidFill>
              </a:rPr>
              <a:t> – </a:t>
            </a:r>
            <a:r>
              <a:rPr lang="en-US" sz="2400" b="1" dirty="0" err="1">
                <a:solidFill>
                  <a:srgbClr val="0B1F3A"/>
                </a:solidFill>
              </a:rPr>
              <a:t>Profundidade</a:t>
            </a:r>
            <a:r>
              <a:rPr lang="en-US" sz="2400" b="1" dirty="0">
                <a:solidFill>
                  <a:srgbClr val="0B1F3A"/>
                </a:solidFill>
              </a:rPr>
              <a:t> da </a:t>
            </a:r>
            <a:r>
              <a:rPr lang="en-US" sz="2400" b="1" dirty="0" err="1">
                <a:solidFill>
                  <a:srgbClr val="0B1F3A"/>
                </a:solidFill>
              </a:rPr>
              <a:t>Árvore</a:t>
            </a:r>
            <a:endParaRPr lang="pt-BR" sz="24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1B8A9C7E-C39D-4D7D-7D08-C8A2A3AD823F}"/>
              </a:ext>
            </a:extLst>
          </p:cNvPr>
          <p:cNvSpPr/>
          <p:nvPr/>
        </p:nvSpPr>
        <p:spPr>
          <a:xfrm>
            <a:off x="658368" y="574243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</a:rPr>
              <a:t>Professor Miguél Suares</a:t>
            </a:r>
            <a:endParaRPr lang="en-US" sz="11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C91F9213-AB45-4CCF-CC30-A3330A258142}"/>
              </a:ext>
            </a:extLst>
          </p:cNvPr>
          <p:cNvSpPr/>
          <p:nvPr/>
        </p:nvSpPr>
        <p:spPr>
          <a:xfrm>
            <a:off x="658368" y="60533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850" dirty="0"/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F8102F42-C45D-D6D3-1719-F86C3BB5DE5B}"/>
              </a:ext>
            </a:extLst>
          </p:cNvPr>
          <p:cNvSpPr txBox="1"/>
          <p:nvPr/>
        </p:nvSpPr>
        <p:spPr>
          <a:xfrm>
            <a:off x="236609" y="6236315"/>
            <a:ext cx="117680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i="1" dirty="0"/>
              <a:t>IBM. KAVLAKOGLU, </a:t>
            </a:r>
            <a:r>
              <a:rPr lang="pt-BR" sz="1200" i="1" dirty="0" err="1"/>
              <a:t>Eda</a:t>
            </a:r>
            <a:r>
              <a:rPr lang="pt-BR" sz="1200" i="1" dirty="0"/>
              <a:t>. </a:t>
            </a:r>
            <a:r>
              <a:rPr lang="pt-BR" sz="1200" b="1" i="1" dirty="0"/>
              <a:t>O que é uma </a:t>
            </a:r>
            <a:r>
              <a:rPr lang="pt-BR" sz="1200" b="1" i="1" dirty="0" err="1"/>
              <a:t>Decision</a:t>
            </a:r>
            <a:r>
              <a:rPr lang="pt-BR" sz="1200" b="1" i="1" dirty="0"/>
              <a:t> </a:t>
            </a:r>
            <a:r>
              <a:rPr lang="pt-BR" sz="1200" b="1" i="1" dirty="0" err="1"/>
              <a:t>Tree</a:t>
            </a:r>
            <a:r>
              <a:rPr lang="pt-BR" sz="1200" b="1" i="1" dirty="0"/>
              <a:t>?</a:t>
            </a:r>
            <a:r>
              <a:rPr lang="pt-BR" sz="1200" i="1" dirty="0"/>
              <a:t> IBM </a:t>
            </a:r>
            <a:r>
              <a:rPr lang="pt-BR" sz="1200" i="1" dirty="0" err="1"/>
              <a:t>Think</a:t>
            </a:r>
            <a:r>
              <a:rPr lang="pt-BR" sz="1200" i="1" dirty="0"/>
              <a:t> </a:t>
            </a:r>
            <a:r>
              <a:rPr lang="pt-BR" sz="1200" i="1" dirty="0" err="1"/>
              <a:t>Topics</a:t>
            </a:r>
            <a:r>
              <a:rPr lang="pt-BR" sz="1200" i="1" dirty="0"/>
              <a:t>, 2 nov. 2021. </a:t>
            </a:r>
          </a:p>
          <a:p>
            <a:r>
              <a:rPr lang="pt-BR" sz="1200" i="1" dirty="0"/>
              <a:t>Disponível em: </a:t>
            </a:r>
            <a:r>
              <a:rPr lang="pt-BR" sz="1200" i="1" u="sng" dirty="0">
                <a:hlinkClick r:id="rId4"/>
              </a:rPr>
              <a:t>https://www.ibm.com/</a:t>
            </a:r>
            <a:r>
              <a:rPr lang="pt-BR" sz="1200" i="1" u="sng" dirty="0" err="1">
                <a:hlinkClick r:id="rId4"/>
              </a:rPr>
              <a:t>br-pt</a:t>
            </a:r>
            <a:r>
              <a:rPr lang="pt-BR" sz="1200" i="1" u="sng" dirty="0">
                <a:hlinkClick r:id="rId4"/>
              </a:rPr>
              <a:t>/</a:t>
            </a:r>
            <a:r>
              <a:rPr lang="pt-BR" sz="1200" i="1" u="sng" dirty="0" err="1">
                <a:hlinkClick r:id="rId4"/>
              </a:rPr>
              <a:t>think</a:t>
            </a:r>
            <a:r>
              <a:rPr lang="pt-BR" sz="1200" i="1" u="sng" dirty="0">
                <a:hlinkClick r:id="rId4"/>
              </a:rPr>
              <a:t>/</a:t>
            </a:r>
            <a:r>
              <a:rPr lang="pt-BR" sz="1200" i="1" u="sng" dirty="0" err="1">
                <a:hlinkClick r:id="rId4"/>
              </a:rPr>
              <a:t>topics</a:t>
            </a:r>
            <a:r>
              <a:rPr lang="pt-BR" sz="1200" i="1" u="sng" dirty="0">
                <a:hlinkClick r:id="rId4"/>
              </a:rPr>
              <a:t>/</a:t>
            </a:r>
            <a:r>
              <a:rPr lang="pt-BR" sz="1200" i="1" u="sng" dirty="0" err="1">
                <a:hlinkClick r:id="rId4"/>
              </a:rPr>
              <a:t>decision-trees</a:t>
            </a:r>
            <a:r>
              <a:rPr lang="pt-BR" sz="1200" i="1" dirty="0"/>
              <a:t>. Acesso em: 6 out. 2026.</a:t>
            </a:r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B13B216C-F32A-31BA-A213-5D00F760AD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354" y="1621155"/>
            <a:ext cx="10267950" cy="5076825"/>
          </a:xfrm>
          <a:prstGeom prst="rect">
            <a:avLst/>
          </a:prstGeom>
        </p:spPr>
      </p:pic>
      <p:sp>
        <p:nvSpPr>
          <p:cNvPr id="13" name="CaixaDeTexto 12">
            <a:extLst>
              <a:ext uri="{FF2B5EF4-FFF2-40B4-BE49-F238E27FC236}">
                <a16:creationId xmlns:a16="http://schemas.microsoft.com/office/drawing/2014/main" id="{AFC51991-77A9-4AE6-11E8-44F9F97C29A2}"/>
              </a:ext>
            </a:extLst>
          </p:cNvPr>
          <p:cNvSpPr txBox="1"/>
          <p:nvPr/>
        </p:nvSpPr>
        <p:spPr>
          <a:xfrm>
            <a:off x="2065410" y="745287"/>
            <a:ext cx="4733540" cy="646331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pt-BR" dirty="0"/>
              <a:t>Entradas:  X1(Aliança), X2(Aquário), X3(Filhos)</a:t>
            </a:r>
          </a:p>
          <a:p>
            <a:r>
              <a:rPr lang="pt-BR" dirty="0"/>
              <a:t>Saída:         Y(Casado)</a:t>
            </a:r>
          </a:p>
        </p:txBody>
      </p:sp>
    </p:spTree>
    <p:extLst>
      <p:ext uri="{BB962C8B-B14F-4D97-AF65-F5344CB8AC3E}">
        <p14:creationId xmlns:p14="http://schemas.microsoft.com/office/powerpoint/2010/main" val="19440278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521586-B52B-B39C-A090-18B96C1B7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template_extract/ppt/media/image1.png">
            <a:extLst>
              <a:ext uri="{FF2B5EF4-FFF2-40B4-BE49-F238E27FC236}">
                <a16:creationId xmlns:a16="http://schemas.microsoft.com/office/drawing/2014/main" id="{DA9C1463-FC5F-E57B-704B-1D0F4DC76D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282" y="160020"/>
            <a:ext cx="2423160" cy="512064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D72B1C55-158C-1D02-AFF4-3F23AB069634}"/>
              </a:ext>
            </a:extLst>
          </p:cNvPr>
          <p:cNvSpPr/>
          <p:nvPr/>
        </p:nvSpPr>
        <p:spPr>
          <a:xfrm>
            <a:off x="236610" y="874385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F69BF"/>
                </a:solidFill>
              </a:rPr>
              <a:t>Aula 05</a:t>
            </a:r>
            <a:endParaRPr lang="en-US" sz="13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A066ABCE-0878-15F5-E562-75C3BD97F9EE}"/>
              </a:ext>
            </a:extLst>
          </p:cNvPr>
          <p:cNvSpPr/>
          <p:nvPr/>
        </p:nvSpPr>
        <p:spPr>
          <a:xfrm>
            <a:off x="3354631" y="160020"/>
            <a:ext cx="802084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tabLst>
                <a:tab pos="0" algn="l"/>
              </a:tabLst>
              <a:defRPr/>
            </a:pPr>
            <a:r>
              <a:rPr lang="en-US" sz="2400" b="1" dirty="0" err="1">
                <a:solidFill>
                  <a:srgbClr val="0B1F3A"/>
                </a:solidFill>
              </a:rPr>
              <a:t>Árvores</a:t>
            </a:r>
            <a:r>
              <a:rPr lang="en-US" sz="2400" b="1" dirty="0">
                <a:solidFill>
                  <a:srgbClr val="0B1F3A"/>
                </a:solidFill>
              </a:rPr>
              <a:t> de </a:t>
            </a:r>
            <a:r>
              <a:rPr lang="en-US" sz="2400" b="1" dirty="0" err="1">
                <a:solidFill>
                  <a:srgbClr val="0B1F3A"/>
                </a:solidFill>
              </a:rPr>
              <a:t>Decisão</a:t>
            </a:r>
            <a:r>
              <a:rPr lang="en-US" sz="2400" b="1" dirty="0">
                <a:solidFill>
                  <a:srgbClr val="0B1F3A"/>
                </a:solidFill>
              </a:rPr>
              <a:t> – </a:t>
            </a:r>
            <a:r>
              <a:rPr lang="en-US" sz="2400" b="1" dirty="0" err="1">
                <a:solidFill>
                  <a:srgbClr val="0B1F3A"/>
                </a:solidFill>
              </a:rPr>
              <a:t>Profundidade</a:t>
            </a:r>
            <a:r>
              <a:rPr lang="en-US" sz="2400" b="1" dirty="0">
                <a:solidFill>
                  <a:srgbClr val="0B1F3A"/>
                </a:solidFill>
              </a:rPr>
              <a:t> da </a:t>
            </a:r>
            <a:r>
              <a:rPr lang="en-US" sz="2400" b="1" dirty="0" err="1">
                <a:solidFill>
                  <a:srgbClr val="0B1F3A"/>
                </a:solidFill>
              </a:rPr>
              <a:t>Árvore</a:t>
            </a:r>
            <a:endParaRPr lang="pt-BR" sz="24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6B1EB797-DB4C-2155-3D4D-A3FFB83F40C7}"/>
              </a:ext>
            </a:extLst>
          </p:cNvPr>
          <p:cNvSpPr/>
          <p:nvPr/>
        </p:nvSpPr>
        <p:spPr>
          <a:xfrm>
            <a:off x="658368" y="574243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</a:rPr>
              <a:t>Professor Miguél Suares</a:t>
            </a:r>
            <a:endParaRPr lang="en-US" sz="11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4A6A56D4-CCE6-F018-6923-FB526C849AAE}"/>
              </a:ext>
            </a:extLst>
          </p:cNvPr>
          <p:cNvSpPr/>
          <p:nvPr/>
        </p:nvSpPr>
        <p:spPr>
          <a:xfrm>
            <a:off x="658368" y="60533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850" dirty="0"/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2E3A5CF5-D215-848E-D762-2A70C3E2163A}"/>
              </a:ext>
            </a:extLst>
          </p:cNvPr>
          <p:cNvSpPr txBox="1"/>
          <p:nvPr/>
        </p:nvSpPr>
        <p:spPr>
          <a:xfrm>
            <a:off x="236609" y="6236315"/>
            <a:ext cx="117680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i="1" dirty="0"/>
              <a:t>IBM. KAVLAKOGLU, </a:t>
            </a:r>
            <a:r>
              <a:rPr lang="pt-BR" sz="1200" i="1" dirty="0" err="1"/>
              <a:t>Eda</a:t>
            </a:r>
            <a:r>
              <a:rPr lang="pt-BR" sz="1200" i="1" dirty="0"/>
              <a:t>. </a:t>
            </a:r>
            <a:r>
              <a:rPr lang="pt-BR" sz="1200" b="1" i="1" dirty="0"/>
              <a:t>O que é uma </a:t>
            </a:r>
            <a:r>
              <a:rPr lang="pt-BR" sz="1200" b="1" i="1" dirty="0" err="1"/>
              <a:t>Decision</a:t>
            </a:r>
            <a:r>
              <a:rPr lang="pt-BR" sz="1200" b="1" i="1" dirty="0"/>
              <a:t> </a:t>
            </a:r>
            <a:r>
              <a:rPr lang="pt-BR" sz="1200" b="1" i="1" dirty="0" err="1"/>
              <a:t>Tree</a:t>
            </a:r>
            <a:r>
              <a:rPr lang="pt-BR" sz="1200" b="1" i="1" dirty="0"/>
              <a:t>?</a:t>
            </a:r>
            <a:r>
              <a:rPr lang="pt-BR" sz="1200" i="1" dirty="0"/>
              <a:t> IBM </a:t>
            </a:r>
            <a:r>
              <a:rPr lang="pt-BR" sz="1200" i="1" dirty="0" err="1"/>
              <a:t>Think</a:t>
            </a:r>
            <a:r>
              <a:rPr lang="pt-BR" sz="1200" i="1" dirty="0"/>
              <a:t> </a:t>
            </a:r>
            <a:r>
              <a:rPr lang="pt-BR" sz="1200" i="1" dirty="0" err="1"/>
              <a:t>Topics</a:t>
            </a:r>
            <a:r>
              <a:rPr lang="pt-BR" sz="1200" i="1" dirty="0"/>
              <a:t>, 2 nov. 2021. </a:t>
            </a:r>
          </a:p>
          <a:p>
            <a:r>
              <a:rPr lang="pt-BR" sz="1200" i="1" dirty="0"/>
              <a:t>Disponível em: </a:t>
            </a:r>
            <a:r>
              <a:rPr lang="pt-BR" sz="1200" i="1" u="sng" dirty="0">
                <a:hlinkClick r:id="rId4"/>
              </a:rPr>
              <a:t>https://www.ibm.com/</a:t>
            </a:r>
            <a:r>
              <a:rPr lang="pt-BR" sz="1200" i="1" u="sng" dirty="0" err="1">
                <a:hlinkClick r:id="rId4"/>
              </a:rPr>
              <a:t>br-pt</a:t>
            </a:r>
            <a:r>
              <a:rPr lang="pt-BR" sz="1200" i="1" u="sng" dirty="0">
                <a:hlinkClick r:id="rId4"/>
              </a:rPr>
              <a:t>/</a:t>
            </a:r>
            <a:r>
              <a:rPr lang="pt-BR" sz="1200" i="1" u="sng" dirty="0" err="1">
                <a:hlinkClick r:id="rId4"/>
              </a:rPr>
              <a:t>think</a:t>
            </a:r>
            <a:r>
              <a:rPr lang="pt-BR" sz="1200" i="1" u="sng" dirty="0">
                <a:hlinkClick r:id="rId4"/>
              </a:rPr>
              <a:t>/</a:t>
            </a:r>
            <a:r>
              <a:rPr lang="pt-BR" sz="1200" i="1" u="sng" dirty="0" err="1">
                <a:hlinkClick r:id="rId4"/>
              </a:rPr>
              <a:t>topics</a:t>
            </a:r>
            <a:r>
              <a:rPr lang="pt-BR" sz="1200" i="1" u="sng" dirty="0">
                <a:hlinkClick r:id="rId4"/>
              </a:rPr>
              <a:t>/</a:t>
            </a:r>
            <a:r>
              <a:rPr lang="pt-BR" sz="1200" i="1" u="sng" dirty="0" err="1">
                <a:hlinkClick r:id="rId4"/>
              </a:rPr>
              <a:t>decision-trees</a:t>
            </a:r>
            <a:r>
              <a:rPr lang="pt-BR" sz="1200" i="1" dirty="0"/>
              <a:t>. Acesso em: 6 out. 2026.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1694C4D0-02F4-51A0-ABEC-8634CFD5AEB2}"/>
              </a:ext>
            </a:extLst>
          </p:cNvPr>
          <p:cNvSpPr txBox="1"/>
          <p:nvPr/>
        </p:nvSpPr>
        <p:spPr>
          <a:xfrm>
            <a:off x="472510" y="1219337"/>
            <a:ext cx="20424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Árvores em Python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9D14145C-AC40-FD3C-CEC8-4903C14C1D75}"/>
              </a:ext>
            </a:extLst>
          </p:cNvPr>
          <p:cNvSpPr txBox="1"/>
          <p:nvPr/>
        </p:nvSpPr>
        <p:spPr>
          <a:xfrm>
            <a:off x="193282" y="1675138"/>
            <a:ext cx="6625205" cy="138499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pt-BR" sz="1400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import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pandas </a:t>
            </a:r>
            <a:r>
              <a:rPr lang="pt-BR" sz="14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as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4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pd</a:t>
            </a:r>
            <a:endParaRPr lang="pt-BR" sz="14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400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import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4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matplotlib.pyplot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4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as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4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plt</a:t>
            </a:r>
            <a:endParaRPr lang="pt-BR" sz="14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endParaRPr lang="pt-BR" sz="14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400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from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4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sklearn.tree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400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import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4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DecisionTreeClassifier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4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plot_tree</a:t>
            </a:r>
            <a:endParaRPr lang="pt-BR" sz="14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400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from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4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sklearn.model_selection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400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import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4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train_test_split</a:t>
            </a:r>
            <a:endParaRPr lang="pt-BR" sz="14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400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from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4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sklearn.metrics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400" b="0" i="0" dirty="0" err="1">
                <a:solidFill>
                  <a:srgbClr val="3F51B5"/>
                </a:solidFill>
                <a:effectLst/>
                <a:latin typeface="Roboto Mono" pitchFamily="2" charset="0"/>
              </a:rPr>
              <a:t>import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4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accuracy_score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4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confusion_matrix</a:t>
            </a:r>
            <a:endParaRPr lang="pt-BR" sz="14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09C7DE39-E839-F72A-D60E-16F641E0B0AD}"/>
              </a:ext>
            </a:extLst>
          </p:cNvPr>
          <p:cNvSpPr txBox="1"/>
          <p:nvPr/>
        </p:nvSpPr>
        <p:spPr>
          <a:xfrm>
            <a:off x="193282" y="3138929"/>
            <a:ext cx="6094602" cy="22467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dados </a:t>
            </a:r>
            <a:r>
              <a:rPr lang="pt-BR" sz="14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4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pd.DataFrame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({</a:t>
            </a:r>
            <a:endParaRPr lang="pt-BR" sz="14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4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"Pessoa"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 [</a:t>
            </a:r>
            <a:r>
              <a:rPr lang="pt-BR" sz="14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"A"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4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"B"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4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"C"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4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"D"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4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"E"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4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"F"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4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"G"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4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"H"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4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"I"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4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"J"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],</a:t>
            </a:r>
            <a:endParaRPr lang="pt-BR" sz="14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4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"</a:t>
            </a:r>
            <a:r>
              <a:rPr lang="pt-BR" sz="14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Aquario</a:t>
            </a:r>
            <a:r>
              <a:rPr lang="pt-BR" sz="14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[</a:t>
            </a:r>
            <a:r>
              <a:rPr lang="pt-BR" sz="14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4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4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4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4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4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0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4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0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4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0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4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0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4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0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],</a:t>
            </a:r>
            <a:endParaRPr lang="pt-BR" sz="14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4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"Filhos"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 [</a:t>
            </a:r>
            <a:r>
              <a:rPr lang="pt-BR" sz="14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4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4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0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4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4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0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4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4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0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4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0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4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4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0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],</a:t>
            </a:r>
            <a:endParaRPr lang="pt-BR" sz="14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4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"</a:t>
            </a:r>
            <a:r>
              <a:rPr lang="pt-BR" sz="14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Alianca</a:t>
            </a:r>
            <a:r>
              <a:rPr lang="pt-BR" sz="14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[</a:t>
            </a:r>
            <a:r>
              <a:rPr lang="pt-BR" sz="14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4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4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4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4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0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4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4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0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4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0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4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0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4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0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],</a:t>
            </a:r>
            <a:endParaRPr lang="pt-BR" sz="14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4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"Casado"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 [</a:t>
            </a:r>
            <a:r>
              <a:rPr lang="pt-BR" sz="14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4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4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4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4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0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4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4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0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4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0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4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0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4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0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</a:t>
            </a:r>
            <a:endParaRPr lang="pt-BR" sz="14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})</a:t>
            </a:r>
            <a:endParaRPr lang="pt-BR" sz="14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endParaRPr lang="pt-BR" sz="14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dados</a:t>
            </a:r>
            <a:endParaRPr lang="pt-BR" sz="14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D89F6C43-D8D1-0B93-6873-2338523AEF28}"/>
              </a:ext>
            </a:extLst>
          </p:cNvPr>
          <p:cNvSpPr txBox="1"/>
          <p:nvPr/>
        </p:nvSpPr>
        <p:spPr>
          <a:xfrm>
            <a:off x="7015294" y="1282495"/>
            <a:ext cx="4804793" cy="525144"/>
          </a:xfrm>
          <a:prstGeom prst="rect">
            <a:avLst/>
          </a:prstGeom>
          <a:solidFill>
            <a:srgbClr val="B6ECFF"/>
          </a:solidFill>
        </p:spPr>
        <p:txBody>
          <a:bodyPr wrap="square">
            <a:spAutoFit/>
          </a:bodyPr>
          <a:lstStyle/>
          <a:p>
            <a:pPr algn="l">
              <a:lnSpc>
                <a:spcPts val="1125"/>
              </a:lnSpc>
              <a:buNone/>
            </a:pPr>
            <a:r>
              <a:rPr lang="pt-BR" sz="1400" b="0" i="0" dirty="0">
                <a:solidFill>
                  <a:schemeClr val="accent6">
                    <a:lumMod val="50000"/>
                  </a:schemeClr>
                </a:solidFill>
                <a:effectLst/>
                <a:latin typeface="Roboto Mono" pitchFamily="2" charset="0"/>
              </a:rPr>
              <a:t># Entrada (grupos de dados de </a:t>
            </a:r>
            <a:r>
              <a:rPr lang="pt-BR" sz="1400" b="0" i="0" dirty="0" err="1">
                <a:solidFill>
                  <a:schemeClr val="accent6">
                    <a:lumMod val="50000"/>
                  </a:schemeClr>
                </a:solidFill>
                <a:effectLst/>
                <a:latin typeface="Roboto Mono" pitchFamily="2" charset="0"/>
              </a:rPr>
              <a:t>etrada</a:t>
            </a:r>
            <a:r>
              <a:rPr lang="pt-BR" sz="1400" b="0" i="0" dirty="0">
                <a:solidFill>
                  <a:schemeClr val="accent6">
                    <a:lumMod val="50000"/>
                  </a:schemeClr>
                </a:solidFill>
                <a:effectLst/>
                <a:latin typeface="Roboto Mono" pitchFamily="2" charset="0"/>
              </a:rPr>
              <a:t>)</a:t>
            </a:r>
          </a:p>
          <a:p>
            <a:pPr algn="l">
              <a:lnSpc>
                <a:spcPts val="1125"/>
              </a:lnSpc>
              <a:buNone/>
            </a:pPr>
            <a:endParaRPr lang="pt-BR" sz="1400" b="0" i="0" dirty="0">
              <a:solidFill>
                <a:srgbClr val="37474F"/>
              </a:solidFill>
              <a:effectLst/>
              <a:latin typeface="Roboto Mono" pitchFamily="2" charset="0"/>
            </a:endParaRPr>
          </a:p>
          <a:p>
            <a:pPr algn="l">
              <a:lnSpc>
                <a:spcPts val="1125"/>
              </a:lnSpc>
              <a:buNone/>
            </a:pPr>
            <a:r>
              <a:rPr lang="pt-BR" sz="1400" b="1" i="0" dirty="0">
                <a:solidFill>
                  <a:srgbClr val="37474F"/>
                </a:solidFill>
                <a:effectLst/>
                <a:latin typeface="Roboto Mono" pitchFamily="2" charset="0"/>
              </a:rPr>
              <a:t>X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4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dados[[</a:t>
            </a:r>
            <a:r>
              <a:rPr lang="pt-BR" sz="14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</a:t>
            </a:r>
            <a:r>
              <a:rPr lang="pt-BR" sz="14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Aquario</a:t>
            </a:r>
            <a:r>
              <a:rPr lang="pt-BR" sz="14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4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"Filhos"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4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</a:t>
            </a:r>
            <a:r>
              <a:rPr lang="pt-BR" sz="14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Alianca</a:t>
            </a:r>
            <a:r>
              <a:rPr lang="pt-BR" sz="14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]]</a:t>
            </a:r>
            <a:endParaRPr lang="pt-BR" sz="14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1F8FB0B5-F3B3-E595-486D-77D3EE4F071C}"/>
              </a:ext>
            </a:extLst>
          </p:cNvPr>
          <p:cNvSpPr txBox="1"/>
          <p:nvPr/>
        </p:nvSpPr>
        <p:spPr>
          <a:xfrm>
            <a:off x="7015294" y="2013644"/>
            <a:ext cx="3771186" cy="1477328"/>
          </a:xfrm>
          <a:prstGeom prst="rect">
            <a:avLst/>
          </a:prstGeom>
          <a:solidFill>
            <a:srgbClr val="B6ECFF"/>
          </a:solidFill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pt-BR" b="0" i="0" dirty="0">
                <a:solidFill>
                  <a:schemeClr val="accent6">
                    <a:lumMod val="50000"/>
                  </a:schemeClr>
                </a:solidFill>
                <a:effectLst/>
                <a:latin typeface="Roboto Mono" pitchFamily="2" charset="0"/>
              </a:rPr>
              <a:t># Saída </a:t>
            </a:r>
          </a:p>
          <a:p>
            <a:pPr algn="l">
              <a:buNone/>
            </a:pPr>
            <a:r>
              <a:rPr lang="pt-BR" dirty="0">
                <a:solidFill>
                  <a:schemeClr val="accent6">
                    <a:lumMod val="50000"/>
                  </a:schemeClr>
                </a:solidFill>
                <a:latin typeface="Roboto Mono" pitchFamily="2" charset="0"/>
              </a:rPr>
              <a:t># </a:t>
            </a:r>
            <a:r>
              <a:rPr lang="pt-BR" b="0" i="0" dirty="0">
                <a:solidFill>
                  <a:schemeClr val="accent6">
                    <a:lumMod val="50000"/>
                  </a:schemeClr>
                </a:solidFill>
                <a:effectLst/>
                <a:latin typeface="Roboto Mono" pitchFamily="2" charset="0"/>
              </a:rPr>
              <a:t>Classificar dados </a:t>
            </a:r>
          </a:p>
          <a:p>
            <a:pPr algn="l">
              <a:buNone/>
            </a:pPr>
            <a:r>
              <a:rPr lang="pt-BR" b="0" i="0" dirty="0">
                <a:solidFill>
                  <a:schemeClr val="accent6">
                    <a:lumMod val="50000"/>
                  </a:schemeClr>
                </a:solidFill>
                <a:effectLst/>
                <a:latin typeface="Roboto Mono" pitchFamily="2" charset="0"/>
              </a:rPr>
              <a:t># nessa saída</a:t>
            </a:r>
          </a:p>
          <a:p>
            <a:pPr algn="l">
              <a:buNone/>
            </a:pPr>
            <a:endParaRPr lang="pt-BR" b="0" i="0" dirty="0">
              <a:solidFill>
                <a:srgbClr val="37474F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b="1" i="0" dirty="0">
                <a:solidFill>
                  <a:srgbClr val="37474F"/>
                </a:solidFill>
                <a:effectLst/>
                <a:latin typeface="Roboto Mono" pitchFamily="2" charset="0"/>
              </a:rPr>
              <a:t>y</a:t>
            </a: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dados[</a:t>
            </a:r>
            <a:r>
              <a:rPr lang="pt-BR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"Casado"</a:t>
            </a: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</a:t>
            </a:r>
            <a:endParaRPr lang="pt-BR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82F0BDA3-1321-39EA-E5F1-614C1FF7A5E4}"/>
              </a:ext>
            </a:extLst>
          </p:cNvPr>
          <p:cNvSpPr txBox="1"/>
          <p:nvPr/>
        </p:nvSpPr>
        <p:spPr>
          <a:xfrm>
            <a:off x="7015294" y="3847407"/>
            <a:ext cx="4804793" cy="2246769"/>
          </a:xfrm>
          <a:prstGeom prst="rect">
            <a:avLst/>
          </a:prstGeom>
          <a:solidFill>
            <a:srgbClr val="FFC000"/>
          </a:solidFill>
        </p:spPr>
        <p:txBody>
          <a:bodyPr wrap="square">
            <a:spAutoFit/>
          </a:bodyPr>
          <a:lstStyle/>
          <a:p>
            <a:r>
              <a:rPr lang="pt-BR" sz="1400" dirty="0">
                <a:solidFill>
                  <a:srgbClr val="37474F"/>
                </a:solidFill>
                <a:latin typeface="Roboto Mono" pitchFamily="2" charset="0"/>
              </a:rPr>
              <a:t>#Separar 70% para treino e 30% para teste</a:t>
            </a:r>
          </a:p>
          <a:p>
            <a:pPr algn="l">
              <a:buNone/>
            </a:pPr>
            <a:endParaRPr lang="pt-BR" sz="1400" b="0" i="0" dirty="0">
              <a:solidFill>
                <a:srgbClr val="37474F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4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X_treino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4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X_teste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4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y_treino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sz="14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y_teste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4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400" b="1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train_test_split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endParaRPr lang="pt-BR" sz="14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</a:t>
            </a:r>
            <a:r>
              <a:rPr lang="pt-BR" sz="1400" b="1" i="0" dirty="0">
                <a:solidFill>
                  <a:srgbClr val="37474F"/>
                </a:solidFill>
                <a:effectLst/>
                <a:latin typeface="Roboto Mono" pitchFamily="2" charset="0"/>
              </a:rPr>
              <a:t>X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</a:t>
            </a:r>
            <a:endParaRPr lang="pt-BR" sz="14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</a:t>
            </a:r>
            <a:r>
              <a:rPr lang="pt-BR" sz="1400" b="1" i="0" dirty="0">
                <a:solidFill>
                  <a:srgbClr val="37474F"/>
                </a:solidFill>
                <a:effectLst/>
                <a:latin typeface="Roboto Mono" pitchFamily="2" charset="0"/>
              </a:rPr>
              <a:t>y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</a:t>
            </a:r>
            <a:endParaRPr lang="pt-BR" sz="14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400" b="0" i="0" dirty="0">
                <a:solidFill>
                  <a:srgbClr val="0097A7"/>
                </a:solidFill>
                <a:effectLst/>
                <a:latin typeface="Roboto Mono" pitchFamily="2" charset="0"/>
              </a:rPr>
              <a:t>    </a:t>
            </a:r>
            <a:r>
              <a:rPr lang="pt-BR" sz="14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test_size</a:t>
            </a:r>
            <a:r>
              <a:rPr lang="pt-BR" sz="14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4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0.30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</a:t>
            </a:r>
            <a:endParaRPr lang="pt-BR" sz="14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400" b="0" i="0" dirty="0">
                <a:solidFill>
                  <a:srgbClr val="0097A7"/>
                </a:solidFill>
                <a:effectLst/>
                <a:latin typeface="Roboto Mono" pitchFamily="2" charset="0"/>
              </a:rPr>
              <a:t>    </a:t>
            </a:r>
            <a:r>
              <a:rPr lang="pt-BR" sz="14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random_state</a:t>
            </a:r>
            <a:r>
              <a:rPr lang="pt-BR" sz="14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4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42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</a:t>
            </a:r>
            <a:endParaRPr lang="pt-BR" sz="14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400" b="0" i="0" dirty="0">
                <a:solidFill>
                  <a:srgbClr val="0097A7"/>
                </a:solidFill>
                <a:effectLst/>
                <a:latin typeface="Roboto Mono" pitchFamily="2" charset="0"/>
              </a:rPr>
              <a:t>    </a:t>
            </a:r>
            <a:r>
              <a:rPr lang="pt-BR" sz="1400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stratify</a:t>
            </a:r>
            <a:r>
              <a:rPr lang="pt-BR" sz="14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y</a:t>
            </a:r>
            <a:endParaRPr lang="pt-BR" sz="14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sz="14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570114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3676C7-72DF-6DBB-236C-ADD4F2015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template_extract/ppt/media/image1.png">
            <a:extLst>
              <a:ext uri="{FF2B5EF4-FFF2-40B4-BE49-F238E27FC236}">
                <a16:creationId xmlns:a16="http://schemas.microsoft.com/office/drawing/2014/main" id="{A492EFA6-B4EF-C148-192C-9851F198B0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282" y="160020"/>
            <a:ext cx="2423160" cy="512064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36D4BB81-28EA-4343-F670-3E73BD74C2BD}"/>
              </a:ext>
            </a:extLst>
          </p:cNvPr>
          <p:cNvSpPr/>
          <p:nvPr/>
        </p:nvSpPr>
        <p:spPr>
          <a:xfrm>
            <a:off x="236610" y="874385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F69BF"/>
                </a:solidFill>
              </a:rPr>
              <a:t>Aula 05</a:t>
            </a:r>
            <a:endParaRPr lang="en-US" sz="13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6336D95D-64BE-FC43-96AA-980FEF87F614}"/>
              </a:ext>
            </a:extLst>
          </p:cNvPr>
          <p:cNvSpPr/>
          <p:nvPr/>
        </p:nvSpPr>
        <p:spPr>
          <a:xfrm>
            <a:off x="3354631" y="160020"/>
            <a:ext cx="802084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tabLst>
                <a:tab pos="0" algn="l"/>
              </a:tabLst>
              <a:defRPr/>
            </a:pPr>
            <a:r>
              <a:rPr lang="en-US" sz="2400" b="1" dirty="0" err="1">
                <a:solidFill>
                  <a:srgbClr val="0B1F3A"/>
                </a:solidFill>
              </a:rPr>
              <a:t>Árvores</a:t>
            </a:r>
            <a:r>
              <a:rPr lang="en-US" sz="2400" b="1" dirty="0">
                <a:solidFill>
                  <a:srgbClr val="0B1F3A"/>
                </a:solidFill>
              </a:rPr>
              <a:t> de </a:t>
            </a:r>
            <a:r>
              <a:rPr lang="en-US" sz="2400" b="1" dirty="0" err="1">
                <a:solidFill>
                  <a:srgbClr val="0B1F3A"/>
                </a:solidFill>
              </a:rPr>
              <a:t>Decisão</a:t>
            </a:r>
            <a:r>
              <a:rPr lang="en-US" sz="2400" b="1" dirty="0">
                <a:solidFill>
                  <a:srgbClr val="0B1F3A"/>
                </a:solidFill>
              </a:rPr>
              <a:t> – </a:t>
            </a:r>
            <a:r>
              <a:rPr lang="en-US" sz="2400" b="1" dirty="0" err="1">
                <a:solidFill>
                  <a:srgbClr val="0B1F3A"/>
                </a:solidFill>
              </a:rPr>
              <a:t>Profundidade</a:t>
            </a:r>
            <a:r>
              <a:rPr lang="en-US" sz="2400" b="1" dirty="0">
                <a:solidFill>
                  <a:srgbClr val="0B1F3A"/>
                </a:solidFill>
              </a:rPr>
              <a:t> da </a:t>
            </a:r>
            <a:r>
              <a:rPr lang="en-US" sz="2400" b="1" dirty="0" err="1">
                <a:solidFill>
                  <a:srgbClr val="0B1F3A"/>
                </a:solidFill>
              </a:rPr>
              <a:t>Árvore</a:t>
            </a:r>
            <a:endParaRPr lang="pt-BR" sz="24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F58CBC1D-0CC2-2EB1-E609-E42B8EC3648A}"/>
              </a:ext>
            </a:extLst>
          </p:cNvPr>
          <p:cNvSpPr/>
          <p:nvPr/>
        </p:nvSpPr>
        <p:spPr>
          <a:xfrm>
            <a:off x="658368" y="574243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</a:rPr>
              <a:t>Professor Miguél Suares</a:t>
            </a:r>
            <a:endParaRPr lang="en-US" sz="11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92188271-0E62-FC08-2E3F-7CB496BCB1F7}"/>
              </a:ext>
            </a:extLst>
          </p:cNvPr>
          <p:cNvSpPr/>
          <p:nvPr/>
        </p:nvSpPr>
        <p:spPr>
          <a:xfrm>
            <a:off x="658368" y="60533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850" dirty="0"/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94F1ED86-F884-5BAC-17E1-AE043574D913}"/>
              </a:ext>
            </a:extLst>
          </p:cNvPr>
          <p:cNvSpPr txBox="1"/>
          <p:nvPr/>
        </p:nvSpPr>
        <p:spPr>
          <a:xfrm>
            <a:off x="236609" y="6236315"/>
            <a:ext cx="117680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i="1" dirty="0"/>
              <a:t>IBM. KAVLAKOGLU, </a:t>
            </a:r>
            <a:r>
              <a:rPr lang="pt-BR" sz="1200" i="1" dirty="0" err="1"/>
              <a:t>Eda</a:t>
            </a:r>
            <a:r>
              <a:rPr lang="pt-BR" sz="1200" i="1" dirty="0"/>
              <a:t>. </a:t>
            </a:r>
            <a:r>
              <a:rPr lang="pt-BR" sz="1200" b="1" i="1" dirty="0"/>
              <a:t>O que é uma </a:t>
            </a:r>
            <a:r>
              <a:rPr lang="pt-BR" sz="1200" b="1" i="1" dirty="0" err="1"/>
              <a:t>Decision</a:t>
            </a:r>
            <a:r>
              <a:rPr lang="pt-BR" sz="1200" b="1" i="1" dirty="0"/>
              <a:t> </a:t>
            </a:r>
            <a:r>
              <a:rPr lang="pt-BR" sz="1200" b="1" i="1" dirty="0" err="1"/>
              <a:t>Tree</a:t>
            </a:r>
            <a:r>
              <a:rPr lang="pt-BR" sz="1200" b="1" i="1" dirty="0"/>
              <a:t>?</a:t>
            </a:r>
            <a:r>
              <a:rPr lang="pt-BR" sz="1200" i="1" dirty="0"/>
              <a:t> IBM </a:t>
            </a:r>
            <a:r>
              <a:rPr lang="pt-BR" sz="1200" i="1" dirty="0" err="1"/>
              <a:t>Think</a:t>
            </a:r>
            <a:r>
              <a:rPr lang="pt-BR" sz="1200" i="1" dirty="0"/>
              <a:t> </a:t>
            </a:r>
            <a:r>
              <a:rPr lang="pt-BR" sz="1200" i="1" dirty="0" err="1"/>
              <a:t>Topics</a:t>
            </a:r>
            <a:r>
              <a:rPr lang="pt-BR" sz="1200" i="1" dirty="0"/>
              <a:t>, 2 nov. 2021. </a:t>
            </a:r>
          </a:p>
          <a:p>
            <a:r>
              <a:rPr lang="pt-BR" sz="1200" i="1" dirty="0"/>
              <a:t>Disponível em: </a:t>
            </a:r>
            <a:r>
              <a:rPr lang="pt-BR" sz="1200" i="1" u="sng" dirty="0">
                <a:hlinkClick r:id="rId4"/>
              </a:rPr>
              <a:t>https://www.ibm.com/</a:t>
            </a:r>
            <a:r>
              <a:rPr lang="pt-BR" sz="1200" i="1" u="sng" dirty="0" err="1">
                <a:hlinkClick r:id="rId4"/>
              </a:rPr>
              <a:t>br-pt</a:t>
            </a:r>
            <a:r>
              <a:rPr lang="pt-BR" sz="1200" i="1" u="sng" dirty="0">
                <a:hlinkClick r:id="rId4"/>
              </a:rPr>
              <a:t>/</a:t>
            </a:r>
            <a:r>
              <a:rPr lang="pt-BR" sz="1200" i="1" u="sng" dirty="0" err="1">
                <a:hlinkClick r:id="rId4"/>
              </a:rPr>
              <a:t>think</a:t>
            </a:r>
            <a:r>
              <a:rPr lang="pt-BR" sz="1200" i="1" u="sng" dirty="0">
                <a:hlinkClick r:id="rId4"/>
              </a:rPr>
              <a:t>/</a:t>
            </a:r>
            <a:r>
              <a:rPr lang="pt-BR" sz="1200" i="1" u="sng" dirty="0" err="1">
                <a:hlinkClick r:id="rId4"/>
              </a:rPr>
              <a:t>topics</a:t>
            </a:r>
            <a:r>
              <a:rPr lang="pt-BR" sz="1200" i="1" u="sng" dirty="0">
                <a:hlinkClick r:id="rId4"/>
              </a:rPr>
              <a:t>/</a:t>
            </a:r>
            <a:r>
              <a:rPr lang="pt-BR" sz="1200" i="1" u="sng" dirty="0" err="1">
                <a:hlinkClick r:id="rId4"/>
              </a:rPr>
              <a:t>decision-trees</a:t>
            </a:r>
            <a:r>
              <a:rPr lang="pt-BR" sz="1200" i="1" dirty="0"/>
              <a:t>. Acesso em: 6 out. 2026.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8967E2E4-6A96-C722-959E-88542C88576D}"/>
              </a:ext>
            </a:extLst>
          </p:cNvPr>
          <p:cNvSpPr txBox="1"/>
          <p:nvPr/>
        </p:nvSpPr>
        <p:spPr>
          <a:xfrm>
            <a:off x="472510" y="1219337"/>
            <a:ext cx="20424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Árvores em Python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55748F00-7478-D4E6-CDD1-0471886C124B}"/>
              </a:ext>
            </a:extLst>
          </p:cNvPr>
          <p:cNvSpPr txBox="1"/>
          <p:nvPr/>
        </p:nvSpPr>
        <p:spPr>
          <a:xfrm>
            <a:off x="236609" y="1749897"/>
            <a:ext cx="4587061" cy="138499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it-IT" sz="1400" b="0" i="0" dirty="0">
                <a:solidFill>
                  <a:schemeClr val="accent6">
                    <a:lumMod val="50000"/>
                  </a:schemeClr>
                </a:solidFill>
                <a:effectLst/>
                <a:latin typeface="Roboto Mono" pitchFamily="2" charset="0"/>
              </a:rPr>
              <a:t># Crie seu modelo</a:t>
            </a:r>
          </a:p>
          <a:p>
            <a:pPr algn="l">
              <a:buNone/>
            </a:pPr>
            <a:endParaRPr lang="it-IT" sz="1400" b="0" i="0" dirty="0">
              <a:solidFill>
                <a:srgbClr val="37474F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it-IT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modelo </a:t>
            </a:r>
            <a:r>
              <a:rPr lang="it-IT" sz="14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it-IT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it-IT" sz="1400" b="1" i="0" dirty="0">
                <a:solidFill>
                  <a:srgbClr val="37474F"/>
                </a:solidFill>
                <a:effectLst/>
                <a:latin typeface="Roboto Mono" pitchFamily="2" charset="0"/>
              </a:rPr>
              <a:t>DecisionTreeClassifier</a:t>
            </a:r>
            <a:r>
              <a:rPr lang="it-IT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endParaRPr lang="it-IT" sz="14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it-IT" sz="1400" b="0" i="0" dirty="0">
                <a:solidFill>
                  <a:srgbClr val="0097A7"/>
                </a:solidFill>
                <a:effectLst/>
                <a:latin typeface="Roboto Mono" pitchFamily="2" charset="0"/>
              </a:rPr>
              <a:t>    criterion</a:t>
            </a:r>
            <a:r>
              <a:rPr lang="it-IT" sz="14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it-IT" sz="14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"gini"</a:t>
            </a:r>
            <a:r>
              <a:rPr lang="it-IT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</a:t>
            </a:r>
            <a:endParaRPr lang="it-IT" sz="14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it-IT" sz="1400" b="0" i="0" dirty="0">
                <a:solidFill>
                  <a:srgbClr val="0097A7"/>
                </a:solidFill>
                <a:effectLst/>
                <a:latin typeface="Roboto Mono" pitchFamily="2" charset="0"/>
              </a:rPr>
              <a:t>    random_state</a:t>
            </a:r>
            <a:r>
              <a:rPr lang="it-IT" sz="14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it-IT" sz="14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42</a:t>
            </a:r>
            <a:endParaRPr lang="it-IT" sz="14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it-IT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it-IT" sz="14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99ADD7EE-70D0-2018-70A2-29D9BE3B10D7}"/>
              </a:ext>
            </a:extLst>
          </p:cNvPr>
          <p:cNvSpPr txBox="1"/>
          <p:nvPr/>
        </p:nvSpPr>
        <p:spPr>
          <a:xfrm>
            <a:off x="193282" y="3473575"/>
            <a:ext cx="4630388" cy="954107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s-ES" b="0" i="0" dirty="0">
                <a:solidFill>
                  <a:schemeClr val="accent6">
                    <a:lumMod val="50000"/>
                  </a:schemeClr>
                </a:solidFill>
                <a:effectLst/>
                <a:latin typeface="Roboto Mono" pitchFamily="2" charset="0"/>
              </a:rPr>
              <a:t># </a:t>
            </a:r>
            <a:r>
              <a:rPr lang="es-ES" b="0" i="0" dirty="0" err="1">
                <a:solidFill>
                  <a:schemeClr val="accent6">
                    <a:lumMod val="50000"/>
                  </a:schemeClr>
                </a:solidFill>
                <a:effectLst/>
                <a:latin typeface="Roboto Mono" pitchFamily="2" charset="0"/>
              </a:rPr>
              <a:t>Treinar</a:t>
            </a:r>
            <a:r>
              <a:rPr lang="es-ES" b="0" i="0" dirty="0">
                <a:solidFill>
                  <a:schemeClr val="accent6">
                    <a:lumMod val="50000"/>
                  </a:schemeClr>
                </a:solidFill>
                <a:effectLst/>
                <a:latin typeface="Roboto Mono" pitchFamily="2" charset="0"/>
              </a:rPr>
              <a:t> o </a:t>
            </a:r>
            <a:r>
              <a:rPr lang="es-ES" b="0" i="0" dirty="0" err="1">
                <a:solidFill>
                  <a:schemeClr val="accent6">
                    <a:lumMod val="50000"/>
                  </a:schemeClr>
                </a:solidFill>
                <a:effectLst/>
                <a:latin typeface="Roboto Mono" pitchFamily="2" charset="0"/>
              </a:rPr>
              <a:t>seu</a:t>
            </a:r>
            <a:r>
              <a:rPr lang="es-ES" b="0" i="0" dirty="0">
                <a:solidFill>
                  <a:schemeClr val="accent6">
                    <a:lumMod val="50000"/>
                  </a:schemeClr>
                </a:solidFill>
                <a:effectLst/>
                <a:latin typeface="Roboto Mono" pitchFamily="2" charset="0"/>
              </a:rPr>
              <a:t> Modelo</a:t>
            </a:r>
          </a:p>
          <a:p>
            <a:pPr algn="l">
              <a:buNone/>
            </a:pPr>
            <a:endParaRPr lang="es-ES" b="0" i="0" dirty="0">
              <a:solidFill>
                <a:srgbClr val="37474F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es-ES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modelo.</a:t>
            </a:r>
            <a:r>
              <a:rPr lang="es-ES" sz="2000" b="1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fit</a:t>
            </a:r>
            <a:r>
              <a:rPr lang="es-ES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es-ES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X_treino</a:t>
            </a:r>
            <a:r>
              <a:rPr lang="es-ES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es-ES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y_treino</a:t>
            </a:r>
            <a:r>
              <a:rPr lang="es-ES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es-ES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E946DE0A-31CC-EA80-A85A-3C9A8765A1E5}"/>
              </a:ext>
            </a:extLst>
          </p:cNvPr>
          <p:cNvSpPr txBox="1"/>
          <p:nvPr/>
        </p:nvSpPr>
        <p:spPr>
          <a:xfrm>
            <a:off x="5194883" y="1404003"/>
            <a:ext cx="6094602" cy="397031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# Desenhar sua Árvore</a:t>
            </a:r>
          </a:p>
          <a:p>
            <a:pPr algn="l">
              <a:buNone/>
            </a:pPr>
            <a:endParaRPr lang="pt-BR" b="0" i="0" dirty="0">
              <a:solidFill>
                <a:srgbClr val="37474F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plt.figure</a:t>
            </a: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figsize</a:t>
            </a:r>
            <a:r>
              <a:rPr lang="pt-BR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14</a:t>
            </a: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7</a:t>
            </a: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))</a:t>
            </a:r>
            <a:endParaRPr lang="pt-BR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endParaRPr lang="pt-BR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plot_tree</a:t>
            </a: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endParaRPr lang="pt-BR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   modelo,</a:t>
            </a:r>
            <a:endParaRPr lang="pt-BR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0097A7"/>
                </a:solidFill>
                <a:effectLst/>
                <a:latin typeface="Roboto Mono" pitchFamily="2" charset="0"/>
              </a:rPr>
              <a:t>    </a:t>
            </a:r>
            <a:r>
              <a:rPr lang="pt-BR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feature_names</a:t>
            </a:r>
            <a:r>
              <a:rPr lang="pt-BR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X.columns</a:t>
            </a: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</a:t>
            </a:r>
            <a:endParaRPr lang="pt-BR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0097A7"/>
                </a:solidFill>
                <a:effectLst/>
                <a:latin typeface="Roboto Mono" pitchFamily="2" charset="0"/>
              </a:rPr>
              <a:t>    </a:t>
            </a:r>
            <a:r>
              <a:rPr lang="pt-BR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class_names</a:t>
            </a:r>
            <a:r>
              <a:rPr lang="pt-BR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"Não casado"</a:t>
            </a: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pt-BR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"Casado"</a:t>
            </a: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],</a:t>
            </a:r>
            <a:endParaRPr lang="pt-BR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0097A7"/>
                </a:solidFill>
                <a:effectLst/>
                <a:latin typeface="Roboto Mono" pitchFamily="2" charset="0"/>
              </a:rPr>
              <a:t>    </a:t>
            </a:r>
            <a:r>
              <a:rPr lang="pt-BR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filled</a:t>
            </a:r>
            <a:r>
              <a:rPr lang="pt-BR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b="0" i="0" dirty="0" err="1">
                <a:solidFill>
                  <a:srgbClr val="C53929"/>
                </a:solidFill>
                <a:effectLst/>
                <a:latin typeface="Roboto Mono" pitchFamily="2" charset="0"/>
              </a:rPr>
              <a:t>True</a:t>
            </a: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</a:t>
            </a:r>
            <a:endParaRPr lang="pt-BR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0097A7"/>
                </a:solidFill>
                <a:effectLst/>
                <a:latin typeface="Roboto Mono" pitchFamily="2" charset="0"/>
              </a:rPr>
              <a:t>    </a:t>
            </a:r>
            <a:r>
              <a:rPr lang="pt-BR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rounded</a:t>
            </a:r>
            <a:r>
              <a:rPr lang="pt-BR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b="0" i="0" dirty="0" err="1">
                <a:solidFill>
                  <a:srgbClr val="C53929"/>
                </a:solidFill>
                <a:effectLst/>
                <a:latin typeface="Roboto Mono" pitchFamily="2" charset="0"/>
              </a:rPr>
              <a:t>True</a:t>
            </a: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</a:t>
            </a:r>
            <a:endParaRPr lang="pt-BR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0097A7"/>
                </a:solidFill>
                <a:effectLst/>
                <a:latin typeface="Roboto Mono" pitchFamily="2" charset="0"/>
              </a:rPr>
              <a:t>    </a:t>
            </a:r>
            <a:r>
              <a:rPr lang="pt-BR" b="0" i="0" dirty="0" err="1">
                <a:solidFill>
                  <a:srgbClr val="0097A7"/>
                </a:solidFill>
                <a:effectLst/>
                <a:latin typeface="Roboto Mono" pitchFamily="2" charset="0"/>
              </a:rPr>
              <a:t>fontsize</a:t>
            </a:r>
            <a:r>
              <a:rPr lang="pt-BR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11</a:t>
            </a:r>
            <a:endParaRPr lang="pt-BR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endParaRPr lang="pt-BR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plt.show</a:t>
            </a: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()</a:t>
            </a:r>
            <a:endParaRPr lang="pt-BR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1722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DD2128-D82F-0C4D-385D-1E96B6293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template_extract/ppt/media/image1.png">
            <a:extLst>
              <a:ext uri="{FF2B5EF4-FFF2-40B4-BE49-F238E27FC236}">
                <a16:creationId xmlns:a16="http://schemas.microsoft.com/office/drawing/2014/main" id="{2DFC1B17-18EA-165E-9D4D-C0263D2ED9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282" y="160020"/>
            <a:ext cx="2423160" cy="512064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76FA1115-85D0-E763-E444-2B9775AFC1E5}"/>
              </a:ext>
            </a:extLst>
          </p:cNvPr>
          <p:cNvSpPr/>
          <p:nvPr/>
        </p:nvSpPr>
        <p:spPr>
          <a:xfrm>
            <a:off x="236610" y="874385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F69BF"/>
                </a:solidFill>
              </a:rPr>
              <a:t>Aula 05</a:t>
            </a:r>
            <a:endParaRPr lang="en-US" sz="13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A595111B-B5F4-0F26-770A-28A9203BF027}"/>
              </a:ext>
            </a:extLst>
          </p:cNvPr>
          <p:cNvSpPr/>
          <p:nvPr/>
        </p:nvSpPr>
        <p:spPr>
          <a:xfrm>
            <a:off x="3354631" y="160020"/>
            <a:ext cx="802084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tabLst>
                <a:tab pos="0" algn="l"/>
              </a:tabLst>
              <a:defRPr/>
            </a:pPr>
            <a:r>
              <a:rPr lang="en-US" sz="2400" b="1" dirty="0" err="1">
                <a:solidFill>
                  <a:srgbClr val="0B1F3A"/>
                </a:solidFill>
              </a:rPr>
              <a:t>Árvores</a:t>
            </a:r>
            <a:r>
              <a:rPr lang="en-US" sz="2400" b="1" dirty="0">
                <a:solidFill>
                  <a:srgbClr val="0B1F3A"/>
                </a:solidFill>
              </a:rPr>
              <a:t> de </a:t>
            </a:r>
            <a:r>
              <a:rPr lang="en-US" sz="2400" b="1" dirty="0" err="1">
                <a:solidFill>
                  <a:srgbClr val="0B1F3A"/>
                </a:solidFill>
              </a:rPr>
              <a:t>Decisão</a:t>
            </a:r>
            <a:r>
              <a:rPr lang="en-US" sz="2400" b="1" dirty="0">
                <a:solidFill>
                  <a:srgbClr val="0B1F3A"/>
                </a:solidFill>
              </a:rPr>
              <a:t> – </a:t>
            </a:r>
            <a:r>
              <a:rPr lang="en-US" sz="2400" b="1" dirty="0" err="1">
                <a:solidFill>
                  <a:srgbClr val="0B1F3A"/>
                </a:solidFill>
              </a:rPr>
              <a:t>Profundidade</a:t>
            </a:r>
            <a:r>
              <a:rPr lang="en-US" sz="2400" b="1" dirty="0">
                <a:solidFill>
                  <a:srgbClr val="0B1F3A"/>
                </a:solidFill>
              </a:rPr>
              <a:t> da </a:t>
            </a:r>
            <a:r>
              <a:rPr lang="en-US" sz="2400" b="1" dirty="0" err="1">
                <a:solidFill>
                  <a:srgbClr val="0B1F3A"/>
                </a:solidFill>
              </a:rPr>
              <a:t>Árvore</a:t>
            </a:r>
            <a:endParaRPr lang="pt-BR" sz="24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544B2CBC-9B6F-3226-788A-2EC7DD101A2F}"/>
              </a:ext>
            </a:extLst>
          </p:cNvPr>
          <p:cNvSpPr/>
          <p:nvPr/>
        </p:nvSpPr>
        <p:spPr>
          <a:xfrm>
            <a:off x="658368" y="574243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</a:rPr>
              <a:t>Professor Miguél Suares</a:t>
            </a:r>
            <a:endParaRPr lang="en-US" sz="11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BE551ADB-60D2-5837-1220-B555FF64172E}"/>
              </a:ext>
            </a:extLst>
          </p:cNvPr>
          <p:cNvSpPr/>
          <p:nvPr/>
        </p:nvSpPr>
        <p:spPr>
          <a:xfrm>
            <a:off x="658368" y="60533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850" dirty="0"/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5226FCB8-8E78-1F67-E9B7-124A431DEA89}"/>
              </a:ext>
            </a:extLst>
          </p:cNvPr>
          <p:cNvSpPr txBox="1"/>
          <p:nvPr/>
        </p:nvSpPr>
        <p:spPr>
          <a:xfrm>
            <a:off x="236609" y="6236315"/>
            <a:ext cx="117680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i="1" dirty="0"/>
              <a:t>IBM. KAVLAKOGLU, </a:t>
            </a:r>
            <a:r>
              <a:rPr lang="pt-BR" sz="1200" i="1" dirty="0" err="1"/>
              <a:t>Eda</a:t>
            </a:r>
            <a:r>
              <a:rPr lang="pt-BR" sz="1200" i="1" dirty="0"/>
              <a:t>. </a:t>
            </a:r>
            <a:r>
              <a:rPr lang="pt-BR" sz="1200" b="1" i="1" dirty="0"/>
              <a:t>O que é uma </a:t>
            </a:r>
            <a:r>
              <a:rPr lang="pt-BR" sz="1200" b="1" i="1" dirty="0" err="1"/>
              <a:t>Decision</a:t>
            </a:r>
            <a:r>
              <a:rPr lang="pt-BR" sz="1200" b="1" i="1" dirty="0"/>
              <a:t> </a:t>
            </a:r>
            <a:r>
              <a:rPr lang="pt-BR" sz="1200" b="1" i="1" dirty="0" err="1"/>
              <a:t>Tree</a:t>
            </a:r>
            <a:r>
              <a:rPr lang="pt-BR" sz="1200" b="1" i="1" dirty="0"/>
              <a:t>?</a:t>
            </a:r>
            <a:r>
              <a:rPr lang="pt-BR" sz="1200" i="1" dirty="0"/>
              <a:t> IBM </a:t>
            </a:r>
            <a:r>
              <a:rPr lang="pt-BR" sz="1200" i="1" dirty="0" err="1"/>
              <a:t>Think</a:t>
            </a:r>
            <a:r>
              <a:rPr lang="pt-BR" sz="1200" i="1" dirty="0"/>
              <a:t> </a:t>
            </a:r>
            <a:r>
              <a:rPr lang="pt-BR" sz="1200" i="1" dirty="0" err="1"/>
              <a:t>Topics</a:t>
            </a:r>
            <a:r>
              <a:rPr lang="pt-BR" sz="1200" i="1" dirty="0"/>
              <a:t>, 2 nov. 2021. </a:t>
            </a:r>
          </a:p>
          <a:p>
            <a:r>
              <a:rPr lang="pt-BR" sz="1200" i="1" dirty="0"/>
              <a:t>Disponível em: </a:t>
            </a:r>
            <a:r>
              <a:rPr lang="pt-BR" sz="1200" i="1" u="sng" dirty="0">
                <a:hlinkClick r:id="rId4"/>
              </a:rPr>
              <a:t>https://www.ibm.com/</a:t>
            </a:r>
            <a:r>
              <a:rPr lang="pt-BR" sz="1200" i="1" u="sng" dirty="0" err="1">
                <a:hlinkClick r:id="rId4"/>
              </a:rPr>
              <a:t>br-pt</a:t>
            </a:r>
            <a:r>
              <a:rPr lang="pt-BR" sz="1200" i="1" u="sng" dirty="0">
                <a:hlinkClick r:id="rId4"/>
              </a:rPr>
              <a:t>/</a:t>
            </a:r>
            <a:r>
              <a:rPr lang="pt-BR" sz="1200" i="1" u="sng" dirty="0" err="1">
                <a:hlinkClick r:id="rId4"/>
              </a:rPr>
              <a:t>think</a:t>
            </a:r>
            <a:r>
              <a:rPr lang="pt-BR" sz="1200" i="1" u="sng" dirty="0">
                <a:hlinkClick r:id="rId4"/>
              </a:rPr>
              <a:t>/</a:t>
            </a:r>
            <a:r>
              <a:rPr lang="pt-BR" sz="1200" i="1" u="sng" dirty="0" err="1">
                <a:hlinkClick r:id="rId4"/>
              </a:rPr>
              <a:t>topics</a:t>
            </a:r>
            <a:r>
              <a:rPr lang="pt-BR" sz="1200" i="1" u="sng" dirty="0">
                <a:hlinkClick r:id="rId4"/>
              </a:rPr>
              <a:t>/</a:t>
            </a:r>
            <a:r>
              <a:rPr lang="pt-BR" sz="1200" i="1" u="sng" dirty="0" err="1">
                <a:hlinkClick r:id="rId4"/>
              </a:rPr>
              <a:t>decision-trees</a:t>
            </a:r>
            <a:r>
              <a:rPr lang="pt-BR" sz="1200" i="1" dirty="0"/>
              <a:t>. Acesso em: 6 out. 2026.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04AFF2B6-9931-E62A-110F-1FCA41B4BD9F}"/>
              </a:ext>
            </a:extLst>
          </p:cNvPr>
          <p:cNvSpPr txBox="1"/>
          <p:nvPr/>
        </p:nvSpPr>
        <p:spPr>
          <a:xfrm>
            <a:off x="472510" y="1219337"/>
            <a:ext cx="20424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Árvores em Python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28C48437-10F5-F4B2-D0B2-BB537FB81E1E}"/>
              </a:ext>
            </a:extLst>
          </p:cNvPr>
          <p:cNvSpPr txBox="1"/>
          <p:nvPr/>
        </p:nvSpPr>
        <p:spPr>
          <a:xfrm>
            <a:off x="310518" y="1764506"/>
            <a:ext cx="4736970" cy="954107"/>
          </a:xfrm>
          <a:prstGeom prst="rect">
            <a:avLst/>
          </a:prstGeom>
          <a:solidFill>
            <a:srgbClr val="FFC000"/>
          </a:solidFill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pt-BR" b="0" i="0" dirty="0">
                <a:solidFill>
                  <a:schemeClr val="accent6">
                    <a:lumMod val="50000"/>
                  </a:schemeClr>
                </a:solidFill>
                <a:effectLst/>
                <a:latin typeface="Roboto Mono" pitchFamily="2" charset="0"/>
              </a:rPr>
              <a:t># Fazer o TESTE</a:t>
            </a:r>
          </a:p>
          <a:p>
            <a:pPr algn="l">
              <a:buNone/>
            </a:pPr>
            <a:endParaRPr lang="pt-BR" b="0" i="0" dirty="0">
              <a:solidFill>
                <a:srgbClr val="37474F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b="1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y_pred</a:t>
            </a: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modelo.</a:t>
            </a:r>
            <a:r>
              <a:rPr lang="pt-BR" sz="2000" b="1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predict</a:t>
            </a: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pt-BR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X_teste</a:t>
            </a:r>
            <a:r>
              <a:rPr lang="pt-BR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pt-BR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1B76F93F-86DD-0EEB-BDEC-939CC1921F88}"/>
              </a:ext>
            </a:extLst>
          </p:cNvPr>
          <p:cNvSpPr txBox="1"/>
          <p:nvPr/>
        </p:nvSpPr>
        <p:spPr>
          <a:xfrm>
            <a:off x="317146" y="3203893"/>
            <a:ext cx="4730342" cy="224676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s-ES" sz="1400" b="1" i="0" dirty="0">
                <a:solidFill>
                  <a:schemeClr val="accent6">
                    <a:lumMod val="50000"/>
                  </a:schemeClr>
                </a:solidFill>
                <a:effectLst/>
                <a:latin typeface="Roboto Mono" pitchFamily="2" charset="0"/>
              </a:rPr>
              <a:t># </a:t>
            </a:r>
            <a:r>
              <a:rPr lang="es-ES" sz="1400" b="1" i="0" dirty="0" err="1">
                <a:solidFill>
                  <a:schemeClr val="accent6">
                    <a:lumMod val="50000"/>
                  </a:schemeClr>
                </a:solidFill>
                <a:effectLst/>
                <a:latin typeface="Roboto Mono" pitchFamily="2" charset="0"/>
              </a:rPr>
              <a:t>Fazer</a:t>
            </a:r>
            <a:r>
              <a:rPr lang="es-ES" sz="1400" b="1" i="0" dirty="0">
                <a:solidFill>
                  <a:schemeClr val="accent6">
                    <a:lumMod val="50000"/>
                  </a:schemeClr>
                </a:solidFill>
                <a:effectLst/>
                <a:latin typeface="Roboto Mono" pitchFamily="2" charset="0"/>
              </a:rPr>
              <a:t> </a:t>
            </a:r>
            <a:r>
              <a:rPr lang="es-ES" sz="1400" b="1" i="0" dirty="0" err="1">
                <a:solidFill>
                  <a:schemeClr val="accent6">
                    <a:lumMod val="50000"/>
                  </a:schemeClr>
                </a:solidFill>
                <a:effectLst/>
                <a:latin typeface="Roboto Mono" pitchFamily="2" charset="0"/>
              </a:rPr>
              <a:t>Comparação</a:t>
            </a:r>
            <a:r>
              <a:rPr lang="es-ES" sz="1400" b="1" i="0" dirty="0">
                <a:solidFill>
                  <a:schemeClr val="accent6">
                    <a:lumMod val="50000"/>
                  </a:schemeClr>
                </a:solidFill>
                <a:effectLst/>
                <a:latin typeface="Roboto Mono" pitchFamily="2" charset="0"/>
              </a:rPr>
              <a:t> (REAL x Previsto)</a:t>
            </a:r>
          </a:p>
          <a:p>
            <a:pPr algn="l">
              <a:buNone/>
            </a:pPr>
            <a:endParaRPr lang="es-ES" b="0" i="0" dirty="0">
              <a:solidFill>
                <a:srgbClr val="37474F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es-ES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comparacao</a:t>
            </a:r>
            <a:r>
              <a:rPr lang="es-ES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es-ES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es-ES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es-ES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pd.DataFrame</a:t>
            </a:r>
            <a:r>
              <a:rPr lang="es-ES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({</a:t>
            </a:r>
            <a:endParaRPr lang="es-ES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es-ES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"Real"</a:t>
            </a:r>
            <a:r>
              <a:rPr lang="es-ES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</a:t>
            </a:r>
            <a:r>
              <a:rPr lang="es-ES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y_teste</a:t>
            </a:r>
            <a:r>
              <a:rPr lang="es-ES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</a:t>
            </a:r>
            <a:endParaRPr lang="es-ES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es-ES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    "Previsto"</a:t>
            </a:r>
            <a:r>
              <a:rPr lang="es-ES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</a:t>
            </a:r>
            <a:r>
              <a:rPr lang="es-ES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y_pred</a:t>
            </a:r>
            <a:endParaRPr lang="es-ES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es-ES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})</a:t>
            </a:r>
            <a:endParaRPr lang="es-ES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endParaRPr lang="es-ES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es-ES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comparacao</a:t>
            </a:r>
            <a:endParaRPr lang="es-ES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9E2574FB-7870-DCE8-9ABB-D8AEF0F056FB}"/>
              </a:ext>
            </a:extLst>
          </p:cNvPr>
          <p:cNvSpPr txBox="1"/>
          <p:nvPr/>
        </p:nvSpPr>
        <p:spPr>
          <a:xfrm>
            <a:off x="5446552" y="1718002"/>
            <a:ext cx="6094602" cy="28931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pt-BR" sz="1400" b="1" i="0" dirty="0">
                <a:solidFill>
                  <a:schemeClr val="accent6">
                    <a:lumMod val="50000"/>
                  </a:schemeClr>
                </a:solidFill>
                <a:effectLst/>
                <a:latin typeface="Roboto Mono" pitchFamily="2" charset="0"/>
              </a:rPr>
              <a:t># Melhore a visualização</a:t>
            </a:r>
          </a:p>
          <a:p>
            <a:pPr algn="l">
              <a:buNone/>
            </a:pPr>
            <a:endParaRPr lang="pt-BR" sz="1400" b="0" i="0" dirty="0">
              <a:solidFill>
                <a:srgbClr val="37474F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4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comparacao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4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"Real"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 </a:t>
            </a:r>
            <a:r>
              <a:rPr lang="pt-BR" sz="14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4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comparacao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4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"Real"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].</a:t>
            </a:r>
            <a:r>
              <a:rPr lang="pt-BR" sz="14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map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({</a:t>
            </a:r>
            <a:endParaRPr lang="pt-BR" sz="14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4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    0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</a:t>
            </a:r>
            <a:r>
              <a:rPr lang="pt-BR" sz="14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"Não casado"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</a:t>
            </a:r>
            <a:endParaRPr lang="pt-BR" sz="14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4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    1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</a:t>
            </a:r>
            <a:r>
              <a:rPr lang="pt-BR" sz="14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"Casado"</a:t>
            </a:r>
            <a:endParaRPr lang="pt-BR" sz="14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})</a:t>
            </a:r>
            <a:endParaRPr lang="pt-BR" sz="14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endParaRPr lang="pt-BR" sz="14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4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comparacao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4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"Previsto"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 </a:t>
            </a:r>
            <a:r>
              <a:rPr lang="pt-BR" sz="14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pt-BR" sz="14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comparacao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[</a:t>
            </a:r>
            <a:r>
              <a:rPr lang="pt-BR" sz="14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"Previsto"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].</a:t>
            </a:r>
            <a:r>
              <a:rPr lang="pt-BR" sz="14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map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({</a:t>
            </a:r>
            <a:endParaRPr lang="pt-BR" sz="14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4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    0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</a:t>
            </a:r>
            <a:r>
              <a:rPr lang="pt-BR" sz="14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"Não casado"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</a:t>
            </a:r>
            <a:endParaRPr lang="pt-BR" sz="14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400" b="0" i="0" dirty="0">
                <a:solidFill>
                  <a:srgbClr val="C53929"/>
                </a:solidFill>
                <a:effectLst/>
                <a:latin typeface="Roboto Mono" pitchFamily="2" charset="0"/>
              </a:rPr>
              <a:t>    1</a:t>
            </a: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: </a:t>
            </a:r>
            <a:r>
              <a:rPr lang="pt-BR" sz="14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"Casado"</a:t>
            </a:r>
            <a:endParaRPr lang="pt-BR" sz="14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})</a:t>
            </a:r>
            <a:endParaRPr lang="pt-BR" sz="14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endParaRPr lang="pt-BR" sz="14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pt-BR" sz="14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comparacao</a:t>
            </a:r>
            <a:endParaRPr lang="pt-BR" sz="14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24288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A3A225-15EC-5CE7-4A0F-5D7A6E4123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template_extract/ppt/media/image1.png">
            <a:extLst>
              <a:ext uri="{FF2B5EF4-FFF2-40B4-BE49-F238E27FC236}">
                <a16:creationId xmlns:a16="http://schemas.microsoft.com/office/drawing/2014/main" id="{04799504-BB2C-1D7D-03FF-4A9FF4A831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282" y="160020"/>
            <a:ext cx="2423160" cy="512064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26F415D2-7314-6A1F-9DB5-887137DD7800}"/>
              </a:ext>
            </a:extLst>
          </p:cNvPr>
          <p:cNvSpPr/>
          <p:nvPr/>
        </p:nvSpPr>
        <p:spPr>
          <a:xfrm>
            <a:off x="236610" y="874385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F69BF"/>
                </a:solidFill>
              </a:rPr>
              <a:t>Aula 05</a:t>
            </a:r>
            <a:endParaRPr lang="en-US" sz="13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894775DA-E655-4D82-F3AE-02193680E54B}"/>
              </a:ext>
            </a:extLst>
          </p:cNvPr>
          <p:cNvSpPr/>
          <p:nvPr/>
        </p:nvSpPr>
        <p:spPr>
          <a:xfrm>
            <a:off x="3354631" y="160020"/>
            <a:ext cx="802084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tabLst>
                <a:tab pos="0" algn="l"/>
              </a:tabLst>
              <a:defRPr/>
            </a:pPr>
            <a:r>
              <a:rPr lang="en-US" sz="2400" b="1" dirty="0" err="1">
                <a:solidFill>
                  <a:srgbClr val="0B1F3A"/>
                </a:solidFill>
              </a:rPr>
              <a:t>Árvores</a:t>
            </a:r>
            <a:r>
              <a:rPr lang="en-US" sz="2400" b="1" dirty="0">
                <a:solidFill>
                  <a:srgbClr val="0B1F3A"/>
                </a:solidFill>
              </a:rPr>
              <a:t> de </a:t>
            </a:r>
            <a:r>
              <a:rPr lang="en-US" sz="2400" b="1" dirty="0" err="1">
                <a:solidFill>
                  <a:srgbClr val="0B1F3A"/>
                </a:solidFill>
              </a:rPr>
              <a:t>Decisão</a:t>
            </a:r>
            <a:r>
              <a:rPr lang="en-US" sz="2400" b="1" dirty="0">
                <a:solidFill>
                  <a:srgbClr val="0B1F3A"/>
                </a:solidFill>
              </a:rPr>
              <a:t> – </a:t>
            </a:r>
            <a:r>
              <a:rPr lang="en-US" sz="2400" b="1" dirty="0" err="1">
                <a:solidFill>
                  <a:srgbClr val="0B1F3A"/>
                </a:solidFill>
              </a:rPr>
              <a:t>Profundidade</a:t>
            </a:r>
            <a:r>
              <a:rPr lang="en-US" sz="2400" b="1" dirty="0">
                <a:solidFill>
                  <a:srgbClr val="0B1F3A"/>
                </a:solidFill>
              </a:rPr>
              <a:t> da </a:t>
            </a:r>
            <a:r>
              <a:rPr lang="en-US" sz="2400" b="1" dirty="0" err="1">
                <a:solidFill>
                  <a:srgbClr val="0B1F3A"/>
                </a:solidFill>
              </a:rPr>
              <a:t>Árvore</a:t>
            </a:r>
            <a:endParaRPr lang="pt-BR" sz="24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4F26DB4D-4DAC-7BED-50A7-A47013526BFB}"/>
              </a:ext>
            </a:extLst>
          </p:cNvPr>
          <p:cNvSpPr/>
          <p:nvPr/>
        </p:nvSpPr>
        <p:spPr>
          <a:xfrm>
            <a:off x="658368" y="574243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1F3A"/>
                </a:solidFill>
              </a:rPr>
              <a:t>Professor Miguél Suares</a:t>
            </a:r>
            <a:endParaRPr lang="en-US" sz="11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126A8CE0-3909-1D41-53C1-ECE5E2C2D3CC}"/>
              </a:ext>
            </a:extLst>
          </p:cNvPr>
          <p:cNvSpPr/>
          <p:nvPr/>
        </p:nvSpPr>
        <p:spPr>
          <a:xfrm>
            <a:off x="658368" y="60533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UNIP • GTI – Oferta 2026 - Gestão e Análise de Dados</a:t>
            </a:r>
            <a:endParaRPr lang="en-US" sz="850" dirty="0"/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A904BC37-B537-3A7F-B9EC-7833AA03B654}"/>
              </a:ext>
            </a:extLst>
          </p:cNvPr>
          <p:cNvSpPr txBox="1"/>
          <p:nvPr/>
        </p:nvSpPr>
        <p:spPr>
          <a:xfrm>
            <a:off x="236609" y="6236315"/>
            <a:ext cx="117680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i="1" dirty="0"/>
              <a:t>IBM. KAVLAKOGLU, </a:t>
            </a:r>
            <a:r>
              <a:rPr lang="pt-BR" sz="1200" i="1" dirty="0" err="1"/>
              <a:t>Eda</a:t>
            </a:r>
            <a:r>
              <a:rPr lang="pt-BR" sz="1200" i="1" dirty="0"/>
              <a:t>. </a:t>
            </a:r>
            <a:r>
              <a:rPr lang="pt-BR" sz="1200" b="1" i="1" dirty="0"/>
              <a:t>O que é uma </a:t>
            </a:r>
            <a:r>
              <a:rPr lang="pt-BR" sz="1200" b="1" i="1" dirty="0" err="1"/>
              <a:t>Decision</a:t>
            </a:r>
            <a:r>
              <a:rPr lang="pt-BR" sz="1200" b="1" i="1" dirty="0"/>
              <a:t> </a:t>
            </a:r>
            <a:r>
              <a:rPr lang="pt-BR" sz="1200" b="1" i="1" dirty="0" err="1"/>
              <a:t>Tree</a:t>
            </a:r>
            <a:r>
              <a:rPr lang="pt-BR" sz="1200" b="1" i="1" dirty="0"/>
              <a:t>?</a:t>
            </a:r>
            <a:r>
              <a:rPr lang="pt-BR" sz="1200" i="1" dirty="0"/>
              <a:t> IBM </a:t>
            </a:r>
            <a:r>
              <a:rPr lang="pt-BR" sz="1200" i="1" dirty="0" err="1"/>
              <a:t>Think</a:t>
            </a:r>
            <a:r>
              <a:rPr lang="pt-BR" sz="1200" i="1" dirty="0"/>
              <a:t> </a:t>
            </a:r>
            <a:r>
              <a:rPr lang="pt-BR" sz="1200" i="1" dirty="0" err="1"/>
              <a:t>Topics</a:t>
            </a:r>
            <a:r>
              <a:rPr lang="pt-BR" sz="1200" i="1" dirty="0"/>
              <a:t>, 2 nov. 2021. </a:t>
            </a:r>
          </a:p>
          <a:p>
            <a:r>
              <a:rPr lang="pt-BR" sz="1200" i="1" dirty="0"/>
              <a:t>Disponível em: </a:t>
            </a:r>
            <a:r>
              <a:rPr lang="pt-BR" sz="1200" i="1" u="sng" dirty="0">
                <a:hlinkClick r:id="rId4"/>
              </a:rPr>
              <a:t>https://www.ibm.com/</a:t>
            </a:r>
            <a:r>
              <a:rPr lang="pt-BR" sz="1200" i="1" u="sng" dirty="0" err="1">
                <a:hlinkClick r:id="rId4"/>
              </a:rPr>
              <a:t>br-pt</a:t>
            </a:r>
            <a:r>
              <a:rPr lang="pt-BR" sz="1200" i="1" u="sng" dirty="0">
                <a:hlinkClick r:id="rId4"/>
              </a:rPr>
              <a:t>/</a:t>
            </a:r>
            <a:r>
              <a:rPr lang="pt-BR" sz="1200" i="1" u="sng" dirty="0" err="1">
                <a:hlinkClick r:id="rId4"/>
              </a:rPr>
              <a:t>think</a:t>
            </a:r>
            <a:r>
              <a:rPr lang="pt-BR" sz="1200" i="1" u="sng" dirty="0">
                <a:hlinkClick r:id="rId4"/>
              </a:rPr>
              <a:t>/</a:t>
            </a:r>
            <a:r>
              <a:rPr lang="pt-BR" sz="1200" i="1" u="sng" dirty="0" err="1">
                <a:hlinkClick r:id="rId4"/>
              </a:rPr>
              <a:t>topics</a:t>
            </a:r>
            <a:r>
              <a:rPr lang="pt-BR" sz="1200" i="1" u="sng" dirty="0">
                <a:hlinkClick r:id="rId4"/>
              </a:rPr>
              <a:t>/</a:t>
            </a:r>
            <a:r>
              <a:rPr lang="pt-BR" sz="1200" i="1" u="sng" dirty="0" err="1">
                <a:hlinkClick r:id="rId4"/>
              </a:rPr>
              <a:t>decision-trees</a:t>
            </a:r>
            <a:r>
              <a:rPr lang="pt-BR" sz="1200" i="1" dirty="0"/>
              <a:t>. Acesso em: 6 out. 2026.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24A73058-8416-08F5-9AC8-C16925DB6362}"/>
              </a:ext>
            </a:extLst>
          </p:cNvPr>
          <p:cNvSpPr txBox="1"/>
          <p:nvPr/>
        </p:nvSpPr>
        <p:spPr>
          <a:xfrm>
            <a:off x="472510" y="1219337"/>
            <a:ext cx="20424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Árvores em Python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03D777B7-69C6-F10B-78DD-53C4A0524AEE}"/>
              </a:ext>
            </a:extLst>
          </p:cNvPr>
          <p:cNvSpPr txBox="1"/>
          <p:nvPr/>
        </p:nvSpPr>
        <p:spPr>
          <a:xfrm>
            <a:off x="307330" y="1790765"/>
            <a:ext cx="5405573" cy="1169551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s-ES" sz="1400" b="1" i="0" dirty="0">
                <a:solidFill>
                  <a:schemeClr val="accent6">
                    <a:lumMod val="50000"/>
                  </a:schemeClr>
                </a:solidFill>
                <a:effectLst/>
                <a:latin typeface="Roboto Mono" pitchFamily="2" charset="0"/>
              </a:rPr>
              <a:t># Calculando a </a:t>
            </a:r>
            <a:r>
              <a:rPr lang="es-ES" sz="1400" b="1" i="0" dirty="0" err="1">
                <a:solidFill>
                  <a:schemeClr val="accent6">
                    <a:lumMod val="50000"/>
                  </a:schemeClr>
                </a:solidFill>
                <a:effectLst/>
                <a:latin typeface="Roboto Mono" pitchFamily="2" charset="0"/>
              </a:rPr>
              <a:t>assertividade</a:t>
            </a:r>
            <a:r>
              <a:rPr lang="es-ES" sz="1400" b="1" i="0" dirty="0">
                <a:solidFill>
                  <a:schemeClr val="accent6">
                    <a:lumMod val="50000"/>
                  </a:schemeClr>
                </a:solidFill>
                <a:effectLst/>
                <a:latin typeface="Roboto Mono" pitchFamily="2" charset="0"/>
              </a:rPr>
              <a:t> (</a:t>
            </a:r>
            <a:r>
              <a:rPr lang="es-ES" sz="1400" b="1" i="0" dirty="0" err="1">
                <a:solidFill>
                  <a:schemeClr val="accent6">
                    <a:lumMod val="50000"/>
                  </a:schemeClr>
                </a:solidFill>
                <a:effectLst/>
                <a:latin typeface="Roboto Mono" pitchFamily="2" charset="0"/>
              </a:rPr>
              <a:t>acurácia</a:t>
            </a:r>
            <a:r>
              <a:rPr lang="es-ES" sz="1400" b="1" i="0" dirty="0">
                <a:solidFill>
                  <a:schemeClr val="accent6">
                    <a:lumMod val="50000"/>
                  </a:schemeClr>
                </a:solidFill>
                <a:effectLst/>
                <a:latin typeface="Roboto Mono" pitchFamily="2" charset="0"/>
              </a:rPr>
              <a:t>) do modelo</a:t>
            </a:r>
          </a:p>
          <a:p>
            <a:pPr algn="l">
              <a:buNone/>
            </a:pPr>
            <a:endParaRPr lang="es-ES" sz="1400" b="0" i="0" dirty="0">
              <a:solidFill>
                <a:srgbClr val="37474F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es-ES" sz="14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acuracia</a:t>
            </a:r>
            <a:r>
              <a:rPr lang="es-ES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es-ES" sz="1400" b="0" i="0" dirty="0">
                <a:solidFill>
                  <a:srgbClr val="3F51B5"/>
                </a:solidFill>
                <a:effectLst/>
                <a:latin typeface="Roboto Mono" pitchFamily="2" charset="0"/>
              </a:rPr>
              <a:t>=</a:t>
            </a:r>
            <a:r>
              <a:rPr lang="es-ES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 </a:t>
            </a:r>
            <a:r>
              <a:rPr lang="es-ES" sz="1400" b="1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accuracy_score</a:t>
            </a:r>
            <a:r>
              <a:rPr lang="es-ES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es-ES" sz="14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y_teste</a:t>
            </a:r>
            <a:r>
              <a:rPr lang="es-ES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es-ES" sz="14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y_pred</a:t>
            </a:r>
            <a:r>
              <a:rPr lang="es-ES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es-ES" sz="14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endParaRPr lang="es-ES" sz="14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  <a:p>
            <a:pPr algn="l">
              <a:buNone/>
            </a:pPr>
            <a:r>
              <a:rPr lang="es-ES" sz="14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print</a:t>
            </a:r>
            <a:r>
              <a:rPr lang="es-ES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(</a:t>
            </a:r>
            <a:r>
              <a:rPr lang="es-ES" sz="14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"</a:t>
            </a:r>
            <a:r>
              <a:rPr lang="es-ES" sz="1400" b="0" i="0" dirty="0" err="1">
                <a:solidFill>
                  <a:srgbClr val="388E3C"/>
                </a:solidFill>
                <a:effectLst/>
                <a:latin typeface="Roboto Mono" pitchFamily="2" charset="0"/>
              </a:rPr>
              <a:t>Acurácia</a:t>
            </a:r>
            <a:r>
              <a:rPr lang="es-ES" sz="1400" b="0" i="0" dirty="0">
                <a:solidFill>
                  <a:srgbClr val="388E3C"/>
                </a:solidFill>
                <a:effectLst/>
                <a:latin typeface="Roboto Mono" pitchFamily="2" charset="0"/>
              </a:rPr>
              <a:t>:"</a:t>
            </a:r>
            <a:r>
              <a:rPr lang="es-ES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, </a:t>
            </a:r>
            <a:r>
              <a:rPr lang="es-ES" sz="1400" b="0" i="0" dirty="0" err="1">
                <a:solidFill>
                  <a:srgbClr val="37474F"/>
                </a:solidFill>
                <a:effectLst/>
                <a:latin typeface="Roboto Mono" pitchFamily="2" charset="0"/>
              </a:rPr>
              <a:t>acuracia</a:t>
            </a:r>
            <a:r>
              <a:rPr lang="es-ES" sz="1400" b="0" i="0" dirty="0">
                <a:solidFill>
                  <a:srgbClr val="37474F"/>
                </a:solidFill>
                <a:effectLst/>
                <a:latin typeface="Roboto Mono" pitchFamily="2" charset="0"/>
              </a:rPr>
              <a:t>)</a:t>
            </a:r>
            <a:endParaRPr lang="es-ES" sz="1400" b="0" i="0" dirty="0">
              <a:solidFill>
                <a:srgbClr val="000000"/>
              </a:solidFill>
              <a:effectLst/>
              <a:latin typeface="Roboto Mon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19078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2E2876329B5D3B4FBA1D26A8667C2633" ma:contentTypeVersion="14" ma:contentTypeDescription="Crie um novo documento." ma:contentTypeScope="" ma:versionID="c18e529f75eeba5e3380f7426394bcf9">
  <xsd:schema xmlns:xsd="http://www.w3.org/2001/XMLSchema" xmlns:xs="http://www.w3.org/2001/XMLSchema" xmlns:p="http://schemas.microsoft.com/office/2006/metadata/properties" xmlns:ns3="1ea3c9c0-e698-4ea3-9529-a2c71b2c9eef" xmlns:ns4="38d922ee-4e44-47a7-a878-a22d9e8094bc" targetNamespace="http://schemas.microsoft.com/office/2006/metadata/properties" ma:root="true" ma:fieldsID="6a86d318e1343c5a9145aa5d09437703" ns3:_="" ns4:_="">
    <xsd:import namespace="1ea3c9c0-e698-4ea3-9529-a2c71b2c9eef"/>
    <xsd:import namespace="38d922ee-4e44-47a7-a878-a22d9e8094bc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SearchProperties" minOccurs="0"/>
                <xsd:element ref="ns3:MediaServiceDateTaken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ea3c9c0-e698-4ea3-9529-a2c71b2c9ee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1" nillable="true" ma:displayName="_activity" ma:hidden="true" ma:internalName="_activity">
      <xsd:simpleType>
        <xsd:restriction base="dms:Note"/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ystemTags" ma:index="17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8d922ee-4e44-47a7-a878-a22d9e8094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4" nillable="true" ma:displayName="Hash de Dica de Compartilhamento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ea3c9c0-e698-4ea3-9529-a2c71b2c9eef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A2158D8-4C33-4132-A61E-E0532140A88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ea3c9c0-e698-4ea3-9529-a2c71b2c9eef"/>
    <ds:schemaRef ds:uri="38d922ee-4e44-47a7-a878-a22d9e8094b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91E0874-EAAB-4A60-8F28-27A437EC07BB}">
  <ds:schemaRefs>
    <ds:schemaRef ds:uri="http://schemas.microsoft.com/office/2006/metadata/properties"/>
    <ds:schemaRef ds:uri="http://schemas.microsoft.com/office/infopath/2007/PartnerControls"/>
    <ds:schemaRef ds:uri="1ea3c9c0-e698-4ea3-9529-a2c71b2c9eef"/>
  </ds:schemaRefs>
</ds:datastoreItem>
</file>

<file path=customXml/itemProps3.xml><?xml version="1.0" encoding="utf-8"?>
<ds:datastoreItem xmlns:ds="http://schemas.openxmlformats.org/officeDocument/2006/customXml" ds:itemID="{ED4652CD-F36D-4B45-A152-BCD8A2661B4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1852</TotalTime>
  <Words>3969</Words>
  <Application>Microsoft Office PowerPoint</Application>
  <PresentationFormat>Widescreen</PresentationFormat>
  <Paragraphs>782</Paragraphs>
  <Slides>26</Slides>
  <Notes>26</Notes>
  <HiddenSlides>0</HiddenSlides>
  <MMClips>0</MMClips>
  <ScaleCrop>false</ScaleCrop>
  <HeadingPairs>
    <vt:vector size="6" baseType="variant">
      <vt:variant>
        <vt:lpstr>Fontes usadas</vt:lpstr>
      </vt:variant>
      <vt:variant>
        <vt:i4>9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26</vt:i4>
      </vt:variant>
    </vt:vector>
  </HeadingPairs>
  <TitlesOfParts>
    <vt:vector size="37" baseType="lpstr">
      <vt:lpstr>Aptos</vt:lpstr>
      <vt:lpstr>Aptos Display</vt:lpstr>
      <vt:lpstr>Arial</vt:lpstr>
      <vt:lpstr>Calibri</vt:lpstr>
      <vt:lpstr>Cambria Math</vt:lpstr>
      <vt:lpstr>Roboto Mono</vt:lpstr>
      <vt:lpstr>Symbol</vt:lpstr>
      <vt:lpstr>Times New Roman</vt:lpstr>
      <vt:lpstr>Wingdings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04 - Organização e Preparação de Dados; Regressão Logística e KNN</dc:title>
  <dc:subject>Organização e Preparação de Dados; Regressão Logística e KNN</dc:subject>
  <dc:creator>OpenAI</dc:creator>
  <cp:lastModifiedBy>usuario6</cp:lastModifiedBy>
  <cp:revision>67</cp:revision>
  <dcterms:created xsi:type="dcterms:W3CDTF">2026-08-22T16:19:43Z</dcterms:created>
  <dcterms:modified xsi:type="dcterms:W3CDTF">2026-10-06T19:44:28Z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0x0101002E2876329B5D3B4FBA1D26A8667C2633</vt:lpwstr>
  </property>
</Properties>
</file>