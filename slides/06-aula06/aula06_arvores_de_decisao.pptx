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notesMasterIdLst>
    <p:notesMasterId r:id="rId32"/>
  </p:notesMasterIdLst>
  <p:sldIdLst>
    <p:sldId id="273" r:id="rId6"/>
    <p:sldId id="274" r:id="rId7"/>
    <p:sldId id="266" r:id="rId8"/>
    <p:sldId id="256" r:id="rId9"/>
    <p:sldId id="321" r:id="rId10"/>
    <p:sldId id="322" r:id="rId11"/>
    <p:sldId id="343" r:id="rId12"/>
    <p:sldId id="323" r:id="rId13"/>
    <p:sldId id="324" r:id="rId14"/>
    <p:sldId id="326" r:id="rId15"/>
    <p:sldId id="327" r:id="rId16"/>
    <p:sldId id="328" r:id="rId17"/>
    <p:sldId id="325" r:id="rId18"/>
    <p:sldId id="329" r:id="rId19"/>
    <p:sldId id="330" r:id="rId20"/>
    <p:sldId id="331" r:id="rId21"/>
    <p:sldId id="334" r:id="rId22"/>
    <p:sldId id="332" r:id="rId23"/>
    <p:sldId id="333" r:id="rId24"/>
    <p:sldId id="335" r:id="rId25"/>
    <p:sldId id="337" r:id="rId26"/>
    <p:sldId id="336" r:id="rId27"/>
    <p:sldId id="338" r:id="rId28"/>
    <p:sldId id="339" r:id="rId29"/>
    <p:sldId id="341" r:id="rId30"/>
    <p:sldId id="342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ECFF"/>
    <a:srgbClr val="FF7474"/>
    <a:srgbClr val="FFFF00"/>
    <a:srgbClr val="00FF00"/>
    <a:srgbClr val="D6DCE5"/>
    <a:srgbClr val="FF7C7C"/>
    <a:srgbClr val="5C883F"/>
    <a:srgbClr val="2563EB"/>
    <a:srgbClr val="3E5B2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66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F0D617-58B0-48D7-90B7-0ABD06AE6839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  <a:cs typeface="DejaVu San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DejaVu Sans"/>
              <a:cs typeface="DejaVu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F82339-5E22-4774-A41C-D5077A7CFDFF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  <a:cs typeface="DejaVu San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DejaVu Sans"/>
              <a:cs typeface="DejaVu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A93A2-261A-1EDE-462B-378C92E10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E41B3-7B91-6BCC-99E0-A0CC06A3D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0F216-0CA3-7112-E23F-81D0737C3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15061-04BA-E951-1397-0A7C437563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7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17B61-9A64-3E49-4ADA-DCCD3A54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52FE5-D566-C450-4071-8D0840B7A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C7149-C321-8EF7-D6A8-C20EB8DA2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8707D-A566-3A4B-F03E-614F14D0B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35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E861B-0A27-E380-D0C7-FF88436F6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C14C8-8D87-A402-A7AC-54E4241CF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BF336-305C-7EA8-0C32-0D41AFC62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8999F-A03E-BC30-CD2B-1E4A433F4A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09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6A972-7FF1-5317-9FDF-63FE5BE5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CE7B7-F083-6CC1-62B9-6A2118E93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B0FF6-8768-9F22-266E-1F4244BF8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55A30-0D27-5215-3BC9-024A74415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12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7D2F6-155C-875D-3A4A-C8E693A8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ACC5D-1B88-F54F-7DC2-8D46BF709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24587-6491-3431-D790-25B93D21E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4304B-53A5-96C2-346B-ACC76939F2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4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C9ACE-F6DC-5D73-FF33-246926E18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EB10B-D159-7F21-DD3A-859A0A728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586C4-84D0-9E03-B223-65144AACC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48163-5BD6-97FC-9EFE-B03763595F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83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CB4D4-CAB6-A3B1-7320-FFCD3D255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85616-0B93-68C0-1740-EB618A9AF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8B1A6-2199-506E-664B-44235E27F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21B96-AF4A-6A3B-1EA4-6B54F06230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971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0F15B-2515-B1D5-E2A0-6AAC2C43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9440F-EF9C-C2A2-4385-E6004F39C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4A050-A985-0C6F-EDB8-53D6B772E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5FF6D-1935-15F5-55BD-7C9CB882D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6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95031-EBA7-7C85-4916-B4A15362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79689-B60B-571B-B33F-CA860874E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3F974-82E1-C5BF-4C8E-6E6F652D5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1BB28-8F88-CF68-E1EB-97908E8121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38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A11C2-50F3-D14A-FEB5-E6DDE540E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7B61A-8774-FC6F-702F-D86660EC2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93266-5340-BBF8-4DB9-687188A17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FC72F-76B8-0ED3-0567-64029E7B49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86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0634C-6F0E-75A2-A020-38C673C2F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094AF-21D9-9AFC-2EE1-E97D2041F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69C20-225D-18B9-5834-46A4B2E9E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C25E6-3181-BD23-F1BA-8A8129F80B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89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7142D-04A4-7F72-436B-81566AD61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42B32-646D-DF92-C23A-6C1F8D942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160BA-D1D4-216C-0581-6F3EE5C88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53CA8-6A87-3936-2002-B2CC1B6716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03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605D1-FA1A-965F-5505-67569980E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69CBF-0FBC-3E4E-C8AF-C1257608F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95C15-1F61-91D8-2D16-A83C5A696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8E69F-2EAF-26F8-80CF-CF7A43074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61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34C5D-4ABE-8AA8-02D4-40F565DC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C824A-CD07-EAD1-4DCF-E74AD6B81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2254D-BD0F-1B8C-FA36-D4FFC89B6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B3E39-E2DF-3695-7110-81A45C8502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831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01B7D-EB45-C9BD-C902-184A682B4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AB324-5B40-E4CB-44D9-BF56349FF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2CC32-9010-A3D9-C116-737CD06BC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CB70B-2436-F3C8-B458-9848E742D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57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CAFDA-363B-8EC2-1A75-D12744E88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3FD9B-0F3E-195F-8402-87B0DE2A1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540F2-68D6-551F-E1F4-C626E1A22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56CBB-C820-14BE-00D4-D60FC9D10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856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5DB9-89D3-563E-D6BC-1EB946D7E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2996E-1797-2355-41E2-27BD24A19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EE4B1-0166-CA31-5C12-54ACD81C7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2310F-2202-D666-99F8-D14F4DBDFA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825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9C7DC-0B9A-E240-4D98-55CE9F983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ED0B4-F949-B2F9-7F58-C1C005165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3E6B36-707D-0B95-88E9-D4F914796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B7489-4330-846B-9721-883C279A5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149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CCDA6-8602-3B6C-7424-5960B1020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A94F2-8EC8-DABE-89DE-D3943CA4A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A5C7C-9EE3-ED0D-5B5E-61DBC5FB3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6C8DF-5602-67A3-52BB-FAD1F32D4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033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96C06-58C7-D4FD-0D72-7E288AD86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71467-BCB7-EAA4-F244-0451B73AC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DC649-36C2-305D-A838-630A7FBE5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57742-24A2-EBEC-C92A-33C7663608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0272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1C86D-0243-BDDE-A167-6B7C7DECD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76D46-42B4-BD87-152A-E5614F56B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C84DC-07F4-0105-9A27-9B77F42D5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77509-7914-01B5-7FF1-0FEA08B08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378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20F63-84BF-445A-4E75-EE17FA91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EF971-DE58-98D0-16FB-10D53B5E8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3AFE4-2ADE-F46B-F21C-B66FCF64C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CDA0B-97EC-FEB8-7F7D-A3F4E4CA1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29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  <p:extLst>
      <p:ext uri="{BB962C8B-B14F-4D97-AF65-F5344CB8AC3E}">
        <p14:creationId xmlns:p14="http://schemas.microsoft.com/office/powerpoint/2010/main" val="1623070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ecantodasletras.com.br/humor/250586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ecantodasletras.com.br/humor/2505867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ecantodasletras.com.br/humor/2505867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bm.com/br-pt/think/topics/decision-tree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www.ibm.com/br-pt/think/topics/decision-tree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bm.com/br-pt/think/topics/decision-tree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bm.com/br-pt/think/topics/decision-tree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bm.com/br-pt/think/topics/decision-trees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www.ibm.com/br-pt/think/topics/decision-tree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bm.com/br-pt/think/topics/decision-tree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www.ibm.com/br-pt/think/topics/decision-tree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bm.com/br-pt/think/topics/decision-trees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hyperlink" Target="https://www.ibm.com/br-pt/think/topics/decision-trees" TargetMode="External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hyperlink" Target="https://www.ibm.com/br-pt/think/topics/decision-trees" TargetMode="External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hyperlink" Target="https://www.ibm.com/br-pt/think/topics/decision-tree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www.ibm.com/br-pt/think/topics/decision-tree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hyperlink" Target="https://www.ibm.com/br-pt/think/topics/decision-tree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bm.com/br-pt/think/topics/decision-tree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bm.com/br-pt/think/topics/decision-trees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bm.com/br-pt/think/topics/decision-trees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bm.com/br-pt/think/topics/decision-tre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4"/>
          <p:cNvSpPr/>
          <p:nvPr/>
        </p:nvSpPr>
        <p:spPr>
          <a:xfrm>
            <a:off x="702360" y="712800"/>
            <a:ext cx="9301332" cy="90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Aptos Display"/>
                <a:cs typeface="+mn-cs"/>
              </a:rPr>
              <a:t>Aula 06 – Á</a:t>
            </a:r>
            <a:r>
              <a:rPr lang="en-US" sz="4400" b="1" dirty="0" err="1">
                <a:solidFill>
                  <a:srgbClr val="FFFFFF"/>
                </a:solidFill>
                <a:latin typeface="Aptos Display"/>
                <a:ea typeface="Aptos Display"/>
              </a:rPr>
              <a:t>rvores</a:t>
            </a:r>
            <a:r>
              <a:rPr lang="en-US" sz="4400" b="1" dirty="0">
                <a:solidFill>
                  <a:srgbClr val="FFFFFF"/>
                </a:solidFill>
                <a:latin typeface="Aptos Display"/>
                <a:ea typeface="Aptos Display"/>
              </a:rPr>
              <a:t> de </a:t>
            </a:r>
            <a:r>
              <a:rPr lang="en-US" sz="4400" b="1" dirty="0" err="1">
                <a:solidFill>
                  <a:srgbClr val="FFFFFF"/>
                </a:solidFill>
                <a:latin typeface="Aptos Display"/>
                <a:ea typeface="Aptos Display"/>
              </a:rPr>
              <a:t>Decisão</a:t>
            </a:r>
            <a:endParaRPr kumimoji="0" lang="pt-BR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5"/>
          <p:cNvSpPr/>
          <p:nvPr/>
        </p:nvSpPr>
        <p:spPr>
          <a:xfrm>
            <a:off x="701280" y="2814972"/>
            <a:ext cx="2432689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7EAF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Professor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7EAF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Miguél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7EAF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Suares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749880" y="50392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BBD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UNIP • GTI – Oferta 2026 - Gestão e Análise de Dados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Retângulo 18"/>
          <p:cNvSpPr/>
          <p:nvPr/>
        </p:nvSpPr>
        <p:spPr>
          <a:xfrm>
            <a:off x="0" y="0"/>
            <a:ext cx="12191760" cy="71280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Retângulo 20"/>
          <p:cNvSpPr/>
          <p:nvPr/>
        </p:nvSpPr>
        <p:spPr>
          <a:xfrm>
            <a:off x="-360" y="5852160"/>
            <a:ext cx="12191760" cy="71280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6" name="Imagem 25"/>
          <p:cNvPicPr/>
          <p:nvPr/>
        </p:nvPicPr>
        <p:blipFill>
          <a:blip r:embed="rId3"/>
          <a:stretch/>
        </p:blipFill>
        <p:spPr>
          <a:xfrm>
            <a:off x="4116960" y="0"/>
            <a:ext cx="3533400" cy="71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3B83D8B-3329-7778-5641-78F5B683A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697" y="1650179"/>
            <a:ext cx="4716676" cy="37929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 Display"/>
                <a:ea typeface="Aptos Display"/>
                <a:cs typeface="+mn-cs"/>
              </a:rPr>
              <a:t>AGENDA</a:t>
            </a:r>
            <a:endParaRPr kumimoji="0" lang="pt-BR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Regressão Linear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731520" y="1234440"/>
            <a:ext cx="456840" cy="45684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7"/>
          <p:cNvSpPr/>
          <p:nvPr/>
        </p:nvSpPr>
        <p:spPr>
          <a:xfrm>
            <a:off x="731520" y="134424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 8"/>
          <p:cNvSpPr/>
          <p:nvPr/>
        </p:nvSpPr>
        <p:spPr>
          <a:xfrm>
            <a:off x="1371600" y="1260630"/>
            <a:ext cx="6712560" cy="4152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>
              <a:tabLst>
                <a:tab pos="0" algn="l"/>
              </a:tabLst>
              <a:defRPr/>
            </a:pPr>
            <a:r>
              <a:rPr lang="pt-BR" dirty="0"/>
              <a:t>Problema: Anedota popular sobre lógica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731520" y="2057400"/>
            <a:ext cx="456840" cy="456840"/>
          </a:xfrm>
          <a:prstGeom prst="ellipse">
            <a:avLst/>
          </a:prstGeom>
          <a:noFill/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731520" y="21672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2563E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1371600" y="214884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pt-BR" dirty="0">
                <a:solidFill>
                  <a:srgbClr val="000000"/>
                </a:solidFill>
                <a:latin typeface="Arial"/>
              </a:rPr>
              <a:t>Árvores de Decisão</a:t>
            </a:r>
            <a:endParaRPr kumimoji="0" lang="pt-BR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731520" y="288036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731520" y="299016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1371600" y="297180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pt-BR" dirty="0">
                <a:solidFill>
                  <a:srgbClr val="000000"/>
                </a:solidFill>
                <a:latin typeface="Arial"/>
              </a:rPr>
              <a:t>Classes Puras e Impuras</a:t>
            </a:r>
          </a:p>
        </p:txBody>
      </p:sp>
      <p:sp>
        <p:nvSpPr>
          <p:cNvPr id="41" name="Shape 15"/>
          <p:cNvSpPr/>
          <p:nvPr/>
        </p:nvSpPr>
        <p:spPr>
          <a:xfrm>
            <a:off x="731520" y="370332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731520" y="38131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371600" y="379476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Profundidade da Árvore</a:t>
            </a:r>
          </a:p>
        </p:txBody>
      </p:sp>
      <p:sp>
        <p:nvSpPr>
          <p:cNvPr id="44" name="Shape 18"/>
          <p:cNvSpPr/>
          <p:nvPr/>
        </p:nvSpPr>
        <p:spPr>
          <a:xfrm>
            <a:off x="731520" y="452628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731520" y="463608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1371600" y="461772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pt-BR" dirty="0"/>
              <a:t>Árvore em Python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hape 18">
            <a:extLst>
              <a:ext uri="{FF2B5EF4-FFF2-40B4-BE49-F238E27FC236}">
                <a16:creationId xmlns:a16="http://schemas.microsoft.com/office/drawing/2014/main" id="{98B33EF8-F3B1-2E29-A218-09F237F6DB1F}"/>
              </a:ext>
            </a:extLst>
          </p:cNvPr>
          <p:cNvSpPr/>
          <p:nvPr/>
        </p:nvSpPr>
        <p:spPr>
          <a:xfrm>
            <a:off x="731520" y="513552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496BC358-7F4D-D3E7-4375-D6728F3A8126}"/>
              </a:ext>
            </a:extLst>
          </p:cNvPr>
          <p:cNvSpPr/>
          <p:nvPr/>
        </p:nvSpPr>
        <p:spPr>
          <a:xfrm>
            <a:off x="731520" y="5245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pt-BR" sz="1200" i="0" u="none" strike="noStrike" kern="1200" normalizeH="0" baseline="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rPr>
              <a:t>6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 20">
            <a:extLst>
              <a:ext uri="{FF2B5EF4-FFF2-40B4-BE49-F238E27FC236}">
                <a16:creationId xmlns:a16="http://schemas.microsoft.com/office/drawing/2014/main" id="{8C06AE38-3C2B-B537-C964-F897F861DBBA}"/>
              </a:ext>
            </a:extLst>
          </p:cNvPr>
          <p:cNvSpPr/>
          <p:nvPr/>
        </p:nvSpPr>
        <p:spPr>
          <a:xfrm>
            <a:off x="1371600" y="522696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pt-BR" dirty="0"/>
              <a:t>Laboratório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710" y="1317072"/>
            <a:ext cx="10921878" cy="324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tabLst>
                <a:tab pos="0" algn="l"/>
              </a:tabLst>
              <a:defRPr/>
            </a:pPr>
            <a:r>
              <a:rPr lang="pt-BR" sz="7200" dirty="0"/>
              <a:t>A anedota sobre lógica</a:t>
            </a:r>
            <a:endParaRPr lang="pt-BR" sz="7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40235" y="803905"/>
            <a:ext cx="106288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- </a:t>
            </a:r>
            <a:r>
              <a:rPr lang="en-US" sz="2400" b="1" dirty="0" err="1">
                <a:solidFill>
                  <a:srgbClr val="0B1F3A"/>
                </a:solidFill>
              </a:rPr>
              <a:t>Considere</a:t>
            </a:r>
            <a:r>
              <a:rPr lang="en-US" sz="2400" b="1" dirty="0">
                <a:solidFill>
                  <a:srgbClr val="0B1F3A"/>
                </a:solidFill>
              </a:rPr>
              <a:t> o </a:t>
            </a:r>
            <a:r>
              <a:rPr lang="en-US" sz="2400" b="1" dirty="0" err="1">
                <a:solidFill>
                  <a:srgbClr val="0B1F3A"/>
                </a:solidFill>
              </a:rPr>
              <a:t>fragmento</a:t>
            </a:r>
            <a:r>
              <a:rPr lang="en-US" sz="2400" b="1" dirty="0">
                <a:solidFill>
                  <a:srgbClr val="0B1F3A"/>
                </a:solidFill>
              </a:rPr>
              <a:t> da </a:t>
            </a:r>
            <a:r>
              <a:rPr lang="en-US" sz="2400" b="1" dirty="0" err="1">
                <a:solidFill>
                  <a:srgbClr val="0B1F3A"/>
                </a:solidFill>
              </a:rPr>
              <a:t>seguinte</a:t>
            </a:r>
            <a:r>
              <a:rPr lang="en-US" sz="2400" b="1" dirty="0">
                <a:solidFill>
                  <a:srgbClr val="0B1F3A"/>
                </a:solidFill>
              </a:rPr>
              <a:t> </a:t>
            </a:r>
            <a:r>
              <a:rPr lang="en-US" sz="2400" b="1" dirty="0" err="1">
                <a:solidFill>
                  <a:srgbClr val="0B1F3A"/>
                </a:solidFill>
              </a:rPr>
              <a:t>anedota</a:t>
            </a:r>
            <a:r>
              <a:rPr lang="en-US" sz="2400" b="1" dirty="0">
                <a:solidFill>
                  <a:srgbClr val="0B1F3A"/>
                </a:solidFill>
              </a:rPr>
              <a:t>: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A463E0C-27F8-136B-C068-93A25BC02402}"/>
              </a:ext>
            </a:extLst>
          </p:cNvPr>
          <p:cNvSpPr txBox="1"/>
          <p:nvPr/>
        </p:nvSpPr>
        <p:spPr>
          <a:xfrm>
            <a:off x="193282" y="1364361"/>
            <a:ext cx="11920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/>
              <a:t>“ ...Um rapaz chamado </a:t>
            </a:r>
            <a:r>
              <a:rPr lang="pt-BR" sz="1400" b="1" i="1" dirty="0" err="1"/>
              <a:t>joaquim</a:t>
            </a:r>
            <a:r>
              <a:rPr lang="pt-BR" sz="1400" i="1" dirty="0"/>
              <a:t> vinha caminhando tranquilamente por uma rua quando encontrou outro amigo chamado </a:t>
            </a:r>
            <a:r>
              <a:rPr lang="pt-BR" sz="1400" b="1" i="1" dirty="0" err="1"/>
              <a:t>carlos</a:t>
            </a:r>
            <a:r>
              <a:rPr lang="pt-BR" sz="1400" i="1" dirty="0"/>
              <a:t> lendo um livro, eis que o </a:t>
            </a:r>
            <a:r>
              <a:rPr lang="pt-BR" sz="1400" b="1" i="1" dirty="0" err="1"/>
              <a:t>joaquim</a:t>
            </a:r>
            <a:r>
              <a:rPr lang="pt-BR" sz="1400" i="1" dirty="0"/>
              <a:t> pergunta curioso: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9838ED-3FEB-6311-5137-26D38D8C0281}"/>
              </a:ext>
            </a:extLst>
          </p:cNvPr>
          <p:cNvSpPr txBox="1"/>
          <p:nvPr/>
        </p:nvSpPr>
        <p:spPr>
          <a:xfrm>
            <a:off x="242315" y="1936920"/>
            <a:ext cx="11628183" cy="38779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200" b="1" i="1" dirty="0"/>
              <a:t>— Que livro é este?</a:t>
            </a:r>
            <a:endParaRPr lang="pt-BR" sz="1200" i="1" dirty="0"/>
          </a:p>
          <a:p>
            <a:r>
              <a:rPr lang="pt-BR" sz="1200" i="1" dirty="0"/>
              <a:t>— É um livro de lógica — responde o amigo </a:t>
            </a:r>
            <a:r>
              <a:rPr lang="pt-BR" sz="1200" i="1" dirty="0" err="1"/>
              <a:t>carlos</a:t>
            </a:r>
            <a:r>
              <a:rPr lang="pt-BR" sz="1200" i="1" dirty="0"/>
              <a:t>.</a:t>
            </a:r>
          </a:p>
          <a:p>
            <a:r>
              <a:rPr lang="pt-BR" sz="1200" b="1" i="1" dirty="0"/>
              <a:t>— Lógica? O que é isso?</a:t>
            </a:r>
            <a:r>
              <a:rPr lang="pt-BR" sz="1200" i="1" dirty="0"/>
              <a:t> — pergunta </a:t>
            </a:r>
            <a:r>
              <a:rPr lang="pt-BR" sz="1200" i="1" dirty="0" err="1"/>
              <a:t>joaquim</a:t>
            </a:r>
            <a:r>
              <a:rPr lang="pt-BR" sz="1200" i="1" dirty="0"/>
              <a:t>.</a:t>
            </a:r>
          </a:p>
          <a:p>
            <a:r>
              <a:rPr lang="pt-BR" sz="1200" i="1" dirty="0"/>
              <a:t>— É um pouco difícil de explicar, mas vou tentar. Você </a:t>
            </a:r>
            <a:r>
              <a:rPr lang="pt-BR" sz="1200" i="1" u="sng" dirty="0"/>
              <a:t>tem um aquário em sua casa</a:t>
            </a:r>
            <a:r>
              <a:rPr lang="pt-BR" sz="1200" i="1" dirty="0"/>
              <a:t>?</a:t>
            </a:r>
          </a:p>
          <a:p>
            <a:r>
              <a:rPr lang="pt-BR" sz="1200" b="1" i="1" dirty="0"/>
              <a:t>— Tenho.</a:t>
            </a:r>
            <a:endParaRPr lang="pt-BR" sz="1200" i="1" dirty="0"/>
          </a:p>
          <a:p>
            <a:r>
              <a:rPr lang="pt-BR" sz="1200" i="1" dirty="0"/>
              <a:t>— Então </a:t>
            </a:r>
            <a:r>
              <a:rPr lang="pt-BR" sz="1200" i="1" u="sng" dirty="0"/>
              <a:t>ele está cheio d'água</a:t>
            </a:r>
            <a:r>
              <a:rPr lang="pt-BR" sz="1200" i="1" dirty="0"/>
              <a:t>, não está?</a:t>
            </a:r>
          </a:p>
          <a:p>
            <a:r>
              <a:rPr lang="pt-BR" sz="1200" b="1" i="1" dirty="0"/>
              <a:t>— Está, é lógico!</a:t>
            </a:r>
            <a:endParaRPr lang="pt-BR" sz="1200" i="1" dirty="0"/>
          </a:p>
          <a:p>
            <a:r>
              <a:rPr lang="pt-BR" sz="1200" i="1" dirty="0"/>
              <a:t>— </a:t>
            </a:r>
            <a:r>
              <a:rPr lang="pt-BR" sz="1200" i="1" u="sng" dirty="0"/>
              <a:t>Se</a:t>
            </a:r>
            <a:r>
              <a:rPr lang="pt-BR" sz="1200" i="1" dirty="0"/>
              <a:t> o </a:t>
            </a:r>
            <a:r>
              <a:rPr lang="pt-BR" sz="1200" i="1" u="sng" dirty="0"/>
              <a:t>aquário tem água</a:t>
            </a:r>
            <a:r>
              <a:rPr lang="pt-BR" sz="1200" i="1" dirty="0"/>
              <a:t> dentro, então </a:t>
            </a:r>
            <a:r>
              <a:rPr lang="pt-BR" sz="1200" i="1" u="sng" dirty="0"/>
              <a:t>também tem uns peixinhos</a:t>
            </a:r>
            <a:r>
              <a:rPr lang="pt-BR" sz="1200" i="1" dirty="0"/>
              <a:t>, não tem?</a:t>
            </a:r>
          </a:p>
          <a:p>
            <a:r>
              <a:rPr lang="pt-BR" sz="1200" b="1" i="1" dirty="0"/>
              <a:t>— Tem, é lógico.</a:t>
            </a:r>
            <a:endParaRPr lang="pt-BR" sz="1200" i="1" dirty="0"/>
          </a:p>
          <a:p>
            <a:r>
              <a:rPr lang="pt-BR" sz="1200" i="1" dirty="0"/>
              <a:t>— Eu acho que você está começando a compreender o que é lógica, não está?</a:t>
            </a:r>
          </a:p>
          <a:p>
            <a:r>
              <a:rPr lang="pt-BR" sz="1200" b="1" i="1" dirty="0"/>
              <a:t>— Ah, mais ou menos, fala um pouco mais que estou gostando desta tal de lógica!</a:t>
            </a:r>
            <a:endParaRPr lang="pt-BR" sz="1200" i="1" dirty="0"/>
          </a:p>
          <a:p>
            <a:r>
              <a:rPr lang="pt-BR" sz="1200" i="1" dirty="0"/>
              <a:t>— Bom, vamos lá então, continuando, </a:t>
            </a:r>
            <a:r>
              <a:rPr lang="pt-BR" sz="1200" i="1" u="sng" dirty="0"/>
              <a:t>se você comprou um aquário</a:t>
            </a:r>
            <a:r>
              <a:rPr lang="pt-BR" sz="1200" i="1" dirty="0"/>
              <a:t>, então foi para </a:t>
            </a:r>
            <a:r>
              <a:rPr lang="pt-BR" sz="1200" i="1" u="sng" dirty="0"/>
              <a:t>agradar os seus filhos</a:t>
            </a:r>
            <a:r>
              <a:rPr lang="pt-BR" sz="1200" i="1" dirty="0"/>
              <a:t>, não foi?</a:t>
            </a:r>
          </a:p>
          <a:p>
            <a:r>
              <a:rPr lang="pt-BR" sz="1200" b="1" i="1" dirty="0"/>
              <a:t>— Foi, é lógico!</a:t>
            </a:r>
            <a:endParaRPr lang="pt-BR" sz="1200" i="1" dirty="0"/>
          </a:p>
          <a:p>
            <a:r>
              <a:rPr lang="pt-BR" sz="1200" i="1" dirty="0"/>
              <a:t>— </a:t>
            </a:r>
            <a:r>
              <a:rPr lang="pt-BR" sz="1200" i="1" u="sng" dirty="0"/>
              <a:t>Se você tem filhos</a:t>
            </a:r>
            <a:r>
              <a:rPr lang="pt-BR" sz="1200" i="1" dirty="0"/>
              <a:t>, então </a:t>
            </a:r>
            <a:r>
              <a:rPr lang="pt-BR" sz="1200" i="1" u="sng" dirty="0"/>
              <a:t>é porque tem uma mulher</a:t>
            </a:r>
            <a:r>
              <a:rPr lang="pt-BR" sz="1200" i="1" dirty="0"/>
              <a:t>, não tem?</a:t>
            </a:r>
          </a:p>
          <a:p>
            <a:r>
              <a:rPr lang="pt-BR" sz="1200" b="1" i="1" dirty="0"/>
              <a:t>— Tenho, é lógico. Fala mais, fala mais!</a:t>
            </a:r>
            <a:endParaRPr lang="pt-BR" sz="1200" i="1" dirty="0"/>
          </a:p>
          <a:p>
            <a:r>
              <a:rPr lang="pt-BR" sz="1200" i="1" dirty="0"/>
              <a:t>— </a:t>
            </a:r>
            <a:r>
              <a:rPr lang="pt-BR" sz="1200" i="1" u="sng" dirty="0"/>
              <a:t>Se você tem uma mulher e filhos</a:t>
            </a:r>
            <a:r>
              <a:rPr lang="pt-BR" sz="1200" i="1" dirty="0"/>
              <a:t>, então </a:t>
            </a:r>
            <a:r>
              <a:rPr lang="pt-BR" sz="1200" i="1" u="sng" dirty="0"/>
              <a:t>você não é homossexual</a:t>
            </a:r>
            <a:r>
              <a:rPr lang="pt-BR" sz="1200" i="1" dirty="0"/>
              <a:t>, estou certo?</a:t>
            </a:r>
          </a:p>
          <a:p>
            <a:r>
              <a:rPr lang="pt-BR" sz="1200" b="1" i="1" dirty="0"/>
              <a:t>— Esta, é lógico. Fala mais que estou gostando dessa tal de lógica.</a:t>
            </a:r>
            <a:endParaRPr lang="pt-BR" sz="1200" i="1" dirty="0"/>
          </a:p>
          <a:p>
            <a:r>
              <a:rPr lang="pt-BR" sz="1200" i="1" dirty="0"/>
              <a:t>— Sinto muito, mas agora não tenho mais tempo. Eu vou fazer o seguinte: </a:t>
            </a:r>
            <a:r>
              <a:rPr lang="pt-BR" sz="1200" b="1" i="1" dirty="0"/>
              <a:t>deixo o livro de lógica com você</a:t>
            </a:r>
            <a:r>
              <a:rPr lang="pt-BR" sz="1200" i="1" dirty="0"/>
              <a:t>, assim você o vai lendo até amanhã, de tarde nos encontramos e conversamos a respeito da lógica. Pode ser assim?</a:t>
            </a:r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CC5A6F3-F4A9-2CF9-3F6C-DD61AA9421F5}"/>
              </a:ext>
            </a:extLst>
          </p:cNvPr>
          <p:cNvSpPr txBox="1"/>
          <p:nvPr/>
        </p:nvSpPr>
        <p:spPr>
          <a:xfrm>
            <a:off x="193282" y="6308253"/>
            <a:ext cx="765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Referência do texto: </a:t>
            </a:r>
            <a:r>
              <a:rPr lang="pt-BR" dirty="0">
                <a:hlinkClick r:id="rId4"/>
              </a:rPr>
              <a:t>https://www.recantodasletras.com.br/humor/2505867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0FCB0-0C09-0644-30E5-4C82F480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5A2FFC36-6411-BE59-B846-23FEDFF0A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E107D97-F2B1-2B8D-39B2-EF3A3D191C2F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A934E46-8AE1-D47D-8856-0A79783CE46B}"/>
              </a:ext>
            </a:extLst>
          </p:cNvPr>
          <p:cNvSpPr/>
          <p:nvPr/>
        </p:nvSpPr>
        <p:spPr>
          <a:xfrm>
            <a:off x="242315" y="1148705"/>
            <a:ext cx="27106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3CAFE9E-81EA-ED4A-7055-A034CC334DAB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D5781D2-909F-5096-DE59-E4557A7EE83B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18DAC29-E8D7-2D8F-192F-F9A0458CCA5A}"/>
              </a:ext>
            </a:extLst>
          </p:cNvPr>
          <p:cNvSpPr txBox="1"/>
          <p:nvPr/>
        </p:nvSpPr>
        <p:spPr>
          <a:xfrm>
            <a:off x="236610" y="1746553"/>
            <a:ext cx="6761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i="1" dirty="0">
                <a:latin typeface="Calibri" panose="020F0502020204030204" pitchFamily="34" charset="0"/>
                <a:cs typeface="Calibri" panose="020F0502020204030204" pitchFamily="34" charset="0"/>
              </a:rPr>
              <a:t>O amigo </a:t>
            </a:r>
            <a:r>
              <a:rPr lang="pt-BR" sz="14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joaquim</a:t>
            </a:r>
            <a:r>
              <a:rPr lang="pt-BR" sz="1400" i="1" dirty="0">
                <a:latin typeface="Calibri" panose="020F0502020204030204" pitchFamily="34" charset="0"/>
                <a:cs typeface="Calibri" panose="020F0502020204030204" pitchFamily="34" charset="0"/>
              </a:rPr>
              <a:t> concordou e o amigo </a:t>
            </a:r>
            <a:r>
              <a:rPr lang="pt-BR" sz="14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carlos</a:t>
            </a:r>
            <a:r>
              <a:rPr lang="pt-BR" sz="1400" i="1" dirty="0">
                <a:latin typeface="Calibri" panose="020F0502020204030204" pitchFamily="34" charset="0"/>
                <a:cs typeface="Calibri" panose="020F0502020204030204" pitchFamily="34" charset="0"/>
              </a:rPr>
              <a:t> foi embora.</a:t>
            </a:r>
          </a:p>
          <a:p>
            <a:r>
              <a:rPr lang="pt-BR" sz="1400" i="1" dirty="0">
                <a:latin typeface="Calibri" panose="020F0502020204030204" pitchFamily="34" charset="0"/>
                <a:cs typeface="Calibri" panose="020F0502020204030204" pitchFamily="34" charset="0"/>
              </a:rPr>
              <a:t>Pouco depois surgiu o </a:t>
            </a:r>
            <a:r>
              <a:rPr lang="pt-BR" sz="1400" b="1" i="1" dirty="0">
                <a:latin typeface="Calibri" panose="020F0502020204030204" pitchFamily="34" charset="0"/>
                <a:cs typeface="Calibri" panose="020F0502020204030204" pitchFamily="34" charset="0"/>
              </a:rPr>
              <a:t>Manoel</a:t>
            </a:r>
            <a:r>
              <a:rPr lang="pt-BR" sz="1400" i="1" dirty="0">
                <a:latin typeface="Calibri" panose="020F0502020204030204" pitchFamily="34" charset="0"/>
                <a:cs typeface="Calibri" panose="020F0502020204030204" pitchFamily="34" charset="0"/>
              </a:rPr>
              <a:t>. Quando </a:t>
            </a:r>
            <a:r>
              <a:rPr lang="pt-BR" sz="1400" b="1" i="1" dirty="0">
                <a:latin typeface="Calibri" panose="020F0502020204030204" pitchFamily="34" charset="0"/>
                <a:cs typeface="Calibri" panose="020F0502020204030204" pitchFamily="34" charset="0"/>
              </a:rPr>
              <a:t>Manoel</a:t>
            </a:r>
            <a:r>
              <a:rPr lang="pt-BR" sz="1400" i="1" dirty="0">
                <a:latin typeface="Calibri" panose="020F0502020204030204" pitchFamily="34" charset="0"/>
                <a:cs typeface="Calibri" panose="020F0502020204030204" pitchFamily="34" charset="0"/>
              </a:rPr>
              <a:t> viu </a:t>
            </a:r>
            <a:r>
              <a:rPr lang="pt-BR" sz="1400" b="1" i="1" dirty="0">
                <a:latin typeface="Calibri" panose="020F0502020204030204" pitchFamily="34" charset="0"/>
                <a:cs typeface="Calibri" panose="020F0502020204030204" pitchFamily="34" charset="0"/>
              </a:rPr>
              <a:t>Joaquim lendo um livro</a:t>
            </a:r>
            <a:r>
              <a:rPr lang="pt-BR" sz="1400" i="1" dirty="0">
                <a:latin typeface="Calibri" panose="020F0502020204030204" pitchFamily="34" charset="0"/>
                <a:cs typeface="Calibri" panose="020F0502020204030204" pitchFamily="34" charset="0"/>
              </a:rPr>
              <a:t>, perguntou: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899DB52-D710-BC59-05D3-9000321B4B75}"/>
              </a:ext>
            </a:extLst>
          </p:cNvPr>
          <p:cNvSpPr txBox="1"/>
          <p:nvPr/>
        </p:nvSpPr>
        <p:spPr>
          <a:xfrm>
            <a:off x="242315" y="2258617"/>
            <a:ext cx="8963223" cy="17543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b="1" i="1" dirty="0"/>
              <a:t>— Que livro é este, Joaquim?</a:t>
            </a:r>
            <a:endParaRPr lang="pt-BR" i="1" dirty="0"/>
          </a:p>
          <a:p>
            <a:r>
              <a:rPr lang="pt-BR" i="1" dirty="0"/>
              <a:t>— É um livro de lógica, Manoel!</a:t>
            </a:r>
          </a:p>
          <a:p>
            <a:r>
              <a:rPr lang="pt-BR" b="1" i="1" dirty="0"/>
              <a:t>— Lógica, o que é isso, Joaquim?</a:t>
            </a:r>
            <a:endParaRPr lang="pt-BR" i="1" dirty="0"/>
          </a:p>
          <a:p>
            <a:r>
              <a:rPr lang="pt-BR" i="1" dirty="0"/>
              <a:t>— É um pouco difícil de explicar, Manoel, mas vou tentar. </a:t>
            </a:r>
            <a:r>
              <a:rPr lang="pt-BR" i="1" u="sng" dirty="0"/>
              <a:t>Você tem um aquário em casa</a:t>
            </a:r>
            <a:r>
              <a:rPr lang="pt-BR" i="1" dirty="0"/>
              <a:t>?</a:t>
            </a:r>
          </a:p>
          <a:p>
            <a:r>
              <a:rPr lang="pt-BR" b="1" i="1" dirty="0"/>
              <a:t>— Não, não tenho, Joaquim!</a:t>
            </a:r>
            <a:endParaRPr lang="pt-BR" i="1" dirty="0"/>
          </a:p>
          <a:p>
            <a:r>
              <a:rPr lang="pt-BR" i="1" dirty="0"/>
              <a:t>— Ah, Manoel, </a:t>
            </a:r>
            <a:r>
              <a:rPr lang="pt-BR" i="1" u="sng" dirty="0"/>
              <a:t>então você é homossexual</a:t>
            </a:r>
            <a:r>
              <a:rPr lang="pt-BR" i="1" dirty="0"/>
              <a:t>. ...”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BFB71F5-5A74-855D-28FD-343975FD1371}"/>
              </a:ext>
            </a:extLst>
          </p:cNvPr>
          <p:cNvSpPr txBox="1"/>
          <p:nvPr/>
        </p:nvSpPr>
        <p:spPr>
          <a:xfrm>
            <a:off x="193282" y="6308253"/>
            <a:ext cx="765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Referência do texto: </a:t>
            </a:r>
            <a:r>
              <a:rPr lang="pt-BR" dirty="0">
                <a:hlinkClick r:id="rId4"/>
              </a:rPr>
              <a:t>https://www.recantodasletras.com.br/humor/2505867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0F77F4B-F181-5561-A2CA-E9763BBE33AD}"/>
              </a:ext>
            </a:extLst>
          </p:cNvPr>
          <p:cNvSpPr txBox="1"/>
          <p:nvPr/>
        </p:nvSpPr>
        <p:spPr>
          <a:xfrm>
            <a:off x="1151010" y="4344703"/>
            <a:ext cx="6828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&gt;&gt; Como assim Joaquim ?!</a:t>
            </a:r>
            <a:r>
              <a:rPr lang="pt-BR" sz="3600" dirty="0"/>
              <a:t> &lt;&lt;</a:t>
            </a:r>
          </a:p>
        </p:txBody>
      </p:sp>
    </p:spTree>
    <p:extLst>
      <p:ext uri="{BB962C8B-B14F-4D97-AF65-F5344CB8AC3E}">
        <p14:creationId xmlns:p14="http://schemas.microsoft.com/office/powerpoint/2010/main" val="397882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9A3F3-1EC3-015A-6A89-A629298F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3E2FD771-40FC-D6C1-E325-23C47CCFC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6D3439A-B2C4-394C-C3BE-B8E20508F8F0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FA2F8F2-6AF3-1BC8-B1C0-0D847C348103}"/>
              </a:ext>
            </a:extLst>
          </p:cNvPr>
          <p:cNvSpPr/>
          <p:nvPr/>
        </p:nvSpPr>
        <p:spPr>
          <a:xfrm>
            <a:off x="242315" y="1148705"/>
            <a:ext cx="27106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B270FEC-C309-D057-4FFD-0DC478119705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F86E71A-9570-80D8-A223-FB7BAC826824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C8CE538-54B9-F3BC-6E0F-C9C0C2564F31}"/>
              </a:ext>
            </a:extLst>
          </p:cNvPr>
          <p:cNvSpPr txBox="1"/>
          <p:nvPr/>
        </p:nvSpPr>
        <p:spPr>
          <a:xfrm>
            <a:off x="236609" y="1746552"/>
            <a:ext cx="53252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No exemplo anterior, após uma sequência de inferências, na verdade,</a:t>
            </a:r>
          </a:p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 aparentemente Joaquim </a:t>
            </a:r>
            <a:r>
              <a:rPr lang="pt-BR" sz="1400" b="1" dirty="0">
                <a:latin typeface="Calibri" panose="020F0502020204030204" pitchFamily="34" charset="0"/>
                <a:cs typeface="Calibri" panose="020F0502020204030204" pitchFamily="34" charset="0"/>
              </a:rPr>
              <a:t>tenta deduzir</a:t>
            </a: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, dentro de sua forma dele Joaquim de compreender a realidade, se </a:t>
            </a:r>
            <a:r>
              <a:rPr lang="pt-BR" sz="1400" b="1" dirty="0">
                <a:latin typeface="Calibri" panose="020F0502020204030204" pitchFamily="34" charset="0"/>
                <a:cs typeface="Calibri" panose="020F0502020204030204" pitchFamily="34" charset="0"/>
              </a:rPr>
              <a:t>Manoel</a:t>
            </a: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 é casado ou não.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D6B2BB5-E184-6FB3-BEF5-185CAAAE91A7}"/>
              </a:ext>
            </a:extLst>
          </p:cNvPr>
          <p:cNvSpPr txBox="1"/>
          <p:nvPr/>
        </p:nvSpPr>
        <p:spPr>
          <a:xfrm>
            <a:off x="193282" y="6308253"/>
            <a:ext cx="765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Referência do texto: </a:t>
            </a:r>
            <a:r>
              <a:rPr lang="pt-BR" dirty="0">
                <a:hlinkClick r:id="rId4"/>
              </a:rPr>
              <a:t>https://www.recantodasletras.com.br/humor/2505867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EFD3820-311B-E694-3632-45DA183AF6B4}"/>
              </a:ext>
            </a:extLst>
          </p:cNvPr>
          <p:cNvSpPr txBox="1"/>
          <p:nvPr/>
        </p:nvSpPr>
        <p:spPr>
          <a:xfrm>
            <a:off x="6184784" y="871312"/>
            <a:ext cx="3915561" cy="51153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Tem aquário?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Tem água?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Tem peixes?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Tem filhos?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É casado?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E8B7170-DA00-0B33-59E0-9F358E945D68}"/>
              </a:ext>
            </a:extLst>
          </p:cNvPr>
          <p:cNvSpPr txBox="1"/>
          <p:nvPr/>
        </p:nvSpPr>
        <p:spPr>
          <a:xfrm>
            <a:off x="236609" y="2621398"/>
            <a:ext cx="4613945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Joaquim observa esse único caminho e conclui </a:t>
            </a:r>
            <a:r>
              <a:rPr lang="pt-BR" b="1" dirty="0"/>
              <a:t>equivocadamente </a:t>
            </a:r>
            <a:r>
              <a:rPr lang="pt-BR" dirty="0"/>
              <a:t>que aprendeu uma “</a:t>
            </a:r>
            <a:r>
              <a:rPr lang="pt-BR" b="1" dirty="0"/>
              <a:t>regra geral</a:t>
            </a:r>
            <a:r>
              <a:rPr lang="pt-BR" dirty="0"/>
              <a:t>”.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5BD565B-07F7-7066-985B-C4076467DC27}"/>
              </a:ext>
            </a:extLst>
          </p:cNvPr>
          <p:cNvSpPr txBox="1"/>
          <p:nvPr/>
        </p:nvSpPr>
        <p:spPr>
          <a:xfrm>
            <a:off x="236609" y="3937782"/>
            <a:ext cx="4613945" cy="11848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Aquário = SIM  → Casado = SIM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portanto...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Aquário = NÃO  → Casado = NÃO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050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B4831-775C-7370-E63E-1282A74CF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72F4359-C295-167A-0809-ABCB4E000245}"/>
              </a:ext>
            </a:extLst>
          </p:cNvPr>
          <p:cNvSpPr/>
          <p:nvPr/>
        </p:nvSpPr>
        <p:spPr>
          <a:xfrm>
            <a:off x="640710" y="1317072"/>
            <a:ext cx="10921878" cy="324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tabLst>
                <a:tab pos="0" algn="l"/>
              </a:tabLst>
              <a:defRPr/>
            </a:pPr>
            <a:r>
              <a:rPr lang="pt-BR" sz="7200" dirty="0">
                <a:solidFill>
                  <a:srgbClr val="000000"/>
                </a:solidFill>
                <a:latin typeface="Arial"/>
              </a:rPr>
              <a:t>Árvore de Decisão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320D64-7A9C-26BB-44BE-0F8C22CDF437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AFDE376-622D-95D3-4419-A7ED743A4F01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4111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1B063-92FC-04E5-BD5C-5E9E1EB4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A6A07AB4-4E1E-C778-900C-FFEC322BF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4592560-C985-1FD1-C2D4-F7FA2A10223F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2A21D36-6ABC-8C46-8DBF-6F9ED615E1DF}"/>
              </a:ext>
            </a:extLst>
          </p:cNvPr>
          <p:cNvSpPr/>
          <p:nvPr/>
        </p:nvSpPr>
        <p:spPr>
          <a:xfrm>
            <a:off x="242315" y="1148705"/>
            <a:ext cx="27106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729193B-016B-F0D8-4A2A-8D7A006D8E09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8CB353A-9C39-2258-D610-9CCD85357D27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9204B18-588C-B879-841A-CDEF1B534F9D}"/>
              </a:ext>
            </a:extLst>
          </p:cNvPr>
          <p:cNvSpPr txBox="1"/>
          <p:nvPr/>
        </p:nvSpPr>
        <p:spPr>
          <a:xfrm>
            <a:off x="236609" y="1746552"/>
            <a:ext cx="32918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Na verdade, Joaquim estava tentando </a:t>
            </a:r>
          </a:p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montar mentalmente o que chamamos de </a:t>
            </a:r>
          </a:p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“Árvore de Decisão”.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5C8B55-1B29-151A-2BA3-48F87D436EBD}"/>
              </a:ext>
            </a:extLst>
          </p:cNvPr>
          <p:cNvSpPr txBox="1"/>
          <p:nvPr/>
        </p:nvSpPr>
        <p:spPr>
          <a:xfrm>
            <a:off x="3528450" y="1520418"/>
            <a:ext cx="3400855" cy="43396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Tem aquário?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Tem água?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Tem peixes?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Tem filhos?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É casado?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1FA38EF-78CC-C9E6-C5BE-51506994D034}"/>
              </a:ext>
            </a:extLst>
          </p:cNvPr>
          <p:cNvSpPr txBox="1"/>
          <p:nvPr/>
        </p:nvSpPr>
        <p:spPr>
          <a:xfrm>
            <a:off x="8184671" y="2161116"/>
            <a:ext cx="3186771" cy="140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Roboto Mono" pitchFamily="2" charset="0"/>
              </a:rPr>
              <a:t>    TEM AQUÁRIO?</a:t>
            </a:r>
            <a:endParaRPr lang="pt-BR" b="0" i="0" dirty="0">
              <a:solidFill>
                <a:srgbClr val="000000"/>
              </a:solidFill>
              <a:effectLst/>
              <a:highlight>
                <a:srgbClr val="C0C0C0"/>
              </a:highlight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/   \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</a:t>
            </a:r>
            <a:r>
              <a:rPr lang="pt-BR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SIM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</a:t>
            </a:r>
            <a:r>
              <a:rPr lang="pt-BR" b="0" i="0" dirty="0">
                <a:solidFill>
                  <a:srgbClr val="37474F"/>
                </a:solidFill>
                <a:effectLst/>
                <a:highlight>
                  <a:srgbClr val="FF0000"/>
                </a:highlight>
                <a:latin typeface="Roboto Mono" pitchFamily="2" charset="0"/>
              </a:rPr>
              <a:t>NÃO</a:t>
            </a:r>
            <a:endParaRPr lang="pt-BR" b="0" i="0" dirty="0">
              <a:solidFill>
                <a:srgbClr val="000000"/>
              </a:solidFill>
              <a:effectLst/>
              <a:highlight>
                <a:srgbClr val="FF0000"/>
              </a:highlight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/      \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▼       ▼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highlight>
                  <a:srgbClr val="FFFF00"/>
                </a:highlight>
                <a:latin typeface="Roboto Mono" pitchFamily="2" charset="0"/>
              </a:rPr>
              <a:t>É CASADO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</a:t>
            </a:r>
            <a:r>
              <a:rPr lang="pt-BR" b="0" i="0" dirty="0">
                <a:solidFill>
                  <a:srgbClr val="37474F"/>
                </a:solidFill>
                <a:effectLst/>
                <a:highlight>
                  <a:srgbClr val="FF7C7C"/>
                </a:highlight>
                <a:latin typeface="Roboto Mono" pitchFamily="2" charset="0"/>
              </a:rPr>
              <a:t>NÃO É CASADO</a:t>
            </a:r>
            <a:endParaRPr lang="pt-BR" dirty="0">
              <a:highlight>
                <a:srgbClr val="FF7C7C"/>
              </a:highlight>
            </a:endParaRP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B07284D3-DC76-DD45-EA21-ADAD4D0BDB5A}"/>
              </a:ext>
            </a:extLst>
          </p:cNvPr>
          <p:cNvSpPr/>
          <p:nvPr/>
        </p:nvSpPr>
        <p:spPr>
          <a:xfrm>
            <a:off x="7357145" y="2642532"/>
            <a:ext cx="629174" cy="7864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E07851E-1518-EEC5-8A76-08F12BB7E181}"/>
              </a:ext>
            </a:extLst>
          </p:cNvPr>
          <p:cNvSpPr txBox="1"/>
          <p:nvPr/>
        </p:nvSpPr>
        <p:spPr>
          <a:xfrm>
            <a:off x="242315" y="2570999"/>
            <a:ext cx="3220562" cy="307776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Uma </a:t>
            </a:r>
            <a:r>
              <a:rPr lang="pt-B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Tree</a:t>
            </a:r>
            <a:r>
              <a:rPr lang="pt-BR" dirty="0"/>
              <a:t> é um </a:t>
            </a:r>
          </a:p>
          <a:p>
            <a:r>
              <a:rPr lang="pt-BR" dirty="0"/>
              <a:t>algoritmo de </a:t>
            </a:r>
          </a:p>
          <a:p>
            <a:r>
              <a:rPr lang="pt-BR" b="1" dirty="0"/>
              <a:t>aprendizado supervisionado,</a:t>
            </a:r>
            <a:endParaRPr lang="pt-BR" dirty="0"/>
          </a:p>
          <a:p>
            <a:r>
              <a:rPr lang="pt-BR" b="1" dirty="0"/>
              <a:t>não paramétrico</a:t>
            </a:r>
          </a:p>
          <a:p>
            <a:r>
              <a:rPr lang="pt-BR" dirty="0"/>
              <a:t>e utilizado para tarefas de </a:t>
            </a:r>
          </a:p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classificação</a:t>
            </a:r>
            <a:r>
              <a:rPr lang="pt-BR" dirty="0"/>
              <a:t> e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regressão</a:t>
            </a:r>
            <a:r>
              <a:rPr lang="pt-BR" dirty="0"/>
              <a:t>. </a:t>
            </a:r>
          </a:p>
          <a:p>
            <a:r>
              <a:rPr lang="pt-BR" dirty="0"/>
              <a:t>Tem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hierárquica </a:t>
            </a:r>
          </a:p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árvore</a:t>
            </a:r>
            <a:r>
              <a:rPr lang="pt-BR" dirty="0"/>
              <a:t>, que consiste </a:t>
            </a:r>
          </a:p>
          <a:p>
            <a:r>
              <a:rPr lang="pt-BR" dirty="0"/>
              <a:t>em </a:t>
            </a:r>
            <a:r>
              <a:rPr lang="pt-BR" b="1" dirty="0"/>
              <a:t>um nó raiz</a:t>
            </a:r>
            <a:r>
              <a:rPr lang="pt-BR" dirty="0"/>
              <a:t>, ramificações, </a:t>
            </a:r>
          </a:p>
          <a:p>
            <a:r>
              <a:rPr lang="pt-BR" b="1" dirty="0"/>
              <a:t>nós internos</a:t>
            </a:r>
            <a:r>
              <a:rPr lang="pt-BR" dirty="0"/>
              <a:t> e </a:t>
            </a:r>
            <a:r>
              <a:rPr lang="pt-BR" b="1" dirty="0"/>
              <a:t>nós de folha</a:t>
            </a:r>
            <a:r>
              <a:rPr lang="pt-BR" dirty="0"/>
              <a:t>.</a:t>
            </a:r>
          </a:p>
          <a:p>
            <a:r>
              <a:rPr lang="pt-BR" sz="1400" i="1" dirty="0"/>
              <a:t>(2026 -</a:t>
            </a:r>
            <a:r>
              <a:rPr lang="pt-BR" sz="1400" i="1" dirty="0" err="1"/>
              <a:t>Kavlakoglu</a:t>
            </a:r>
            <a:r>
              <a:rPr lang="pt-BR" sz="1400" i="1" dirty="0"/>
              <a:t> – IBM </a:t>
            </a:r>
            <a:r>
              <a:rPr lang="pt-BR" sz="1400" i="1" dirty="0" err="1"/>
              <a:t>Research</a:t>
            </a:r>
            <a:r>
              <a:rPr lang="pt-BR" sz="1400" i="1" dirty="0"/>
              <a:t> 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8B5F944-0D7C-76F5-BEFA-B7D8C7F6FE7F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</p:spTree>
    <p:extLst>
      <p:ext uri="{BB962C8B-B14F-4D97-AF65-F5344CB8AC3E}">
        <p14:creationId xmlns:p14="http://schemas.microsoft.com/office/powerpoint/2010/main" val="287813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8B5B0-E545-1759-19A5-961FD9C8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CDB2E074-D455-EEC7-7EF1-E82738526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2D483B9-D619-5CAB-ED71-4E97F8524F45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FD15FB1-C2D0-E15E-8C05-89253D6FFF66}"/>
              </a:ext>
            </a:extLst>
          </p:cNvPr>
          <p:cNvSpPr/>
          <p:nvPr/>
        </p:nvSpPr>
        <p:spPr>
          <a:xfrm>
            <a:off x="242315" y="1148705"/>
            <a:ext cx="27106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9F32E97-DC21-CBA8-41F4-12C4302F93D6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9919872-2A9B-59CD-E31F-E39B3738361C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2C1A6C1-76CF-A7FE-D1B1-AB3B531D1D36}"/>
              </a:ext>
            </a:extLst>
          </p:cNvPr>
          <p:cNvSpPr txBox="1"/>
          <p:nvPr/>
        </p:nvSpPr>
        <p:spPr>
          <a:xfrm>
            <a:off x="236609" y="1608548"/>
            <a:ext cx="3630343" cy="43396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Tem aquário?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Tem água?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Tem peixes?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Tem filhos?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É casado?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91CDEBB-1CBC-69BA-6104-FE83156CD0DA}"/>
              </a:ext>
            </a:extLst>
          </p:cNvPr>
          <p:cNvSpPr txBox="1"/>
          <p:nvPr/>
        </p:nvSpPr>
        <p:spPr>
          <a:xfrm>
            <a:off x="8700680" y="3152875"/>
            <a:ext cx="3186771" cy="140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Roboto Mono" pitchFamily="2" charset="0"/>
              </a:rPr>
              <a:t>    TEM AQUÁRIO?</a:t>
            </a:r>
            <a:endParaRPr lang="pt-BR" b="0" i="0" dirty="0">
              <a:solidFill>
                <a:srgbClr val="000000"/>
              </a:solidFill>
              <a:effectLst/>
              <a:highlight>
                <a:srgbClr val="C0C0C0"/>
              </a:highlight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/   \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</a:t>
            </a:r>
            <a:r>
              <a:rPr lang="pt-BR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SIM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</a:t>
            </a:r>
            <a:r>
              <a:rPr lang="pt-BR" b="0" i="0" dirty="0">
                <a:solidFill>
                  <a:srgbClr val="37474F"/>
                </a:solidFill>
                <a:effectLst/>
                <a:highlight>
                  <a:srgbClr val="FF0000"/>
                </a:highlight>
                <a:latin typeface="Roboto Mono" pitchFamily="2" charset="0"/>
              </a:rPr>
              <a:t>NÃO</a:t>
            </a:r>
            <a:endParaRPr lang="pt-BR" b="0" i="0" dirty="0">
              <a:solidFill>
                <a:srgbClr val="000000"/>
              </a:solidFill>
              <a:effectLst/>
              <a:highlight>
                <a:srgbClr val="FF0000"/>
              </a:highlight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/      \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▼       ▼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highlight>
                  <a:srgbClr val="FFFF00"/>
                </a:highlight>
                <a:latin typeface="Roboto Mono" pitchFamily="2" charset="0"/>
              </a:rPr>
              <a:t>É CASADO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</a:t>
            </a:r>
            <a:r>
              <a:rPr lang="pt-BR" b="0" i="0" dirty="0">
                <a:solidFill>
                  <a:srgbClr val="37474F"/>
                </a:solidFill>
                <a:effectLst/>
                <a:highlight>
                  <a:srgbClr val="FF7C7C"/>
                </a:highlight>
                <a:latin typeface="Roboto Mono" pitchFamily="2" charset="0"/>
              </a:rPr>
              <a:t>NÃO É CASADO</a:t>
            </a:r>
            <a:endParaRPr lang="pt-BR" dirty="0">
              <a:highlight>
                <a:srgbClr val="FF7C7C"/>
              </a:highlight>
            </a:endParaRP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1A6E5AF9-A2A8-AD52-45D9-37C7F6515B5F}"/>
              </a:ext>
            </a:extLst>
          </p:cNvPr>
          <p:cNvSpPr/>
          <p:nvPr/>
        </p:nvSpPr>
        <p:spPr>
          <a:xfrm>
            <a:off x="7898022" y="3363172"/>
            <a:ext cx="629174" cy="7864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D514D81-D277-0951-B113-941C377F14E4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720441-00BE-67C4-C679-6AD1C45ED2B2}"/>
              </a:ext>
            </a:extLst>
          </p:cNvPr>
          <p:cNvSpPr txBox="1"/>
          <p:nvPr/>
        </p:nvSpPr>
        <p:spPr>
          <a:xfrm>
            <a:off x="3950208" y="1011545"/>
            <a:ext cx="3595921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Não seria apenas um problema de</a:t>
            </a:r>
          </a:p>
          <a:p>
            <a:pPr algn="ctr"/>
            <a:r>
              <a:rPr lang="pt-BR" dirty="0"/>
              <a:t>IF THEN ELSE 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5FDA746-9164-3D0F-DDDC-96031EAD0430}"/>
              </a:ext>
            </a:extLst>
          </p:cNvPr>
          <p:cNvSpPr txBox="1"/>
          <p:nvPr/>
        </p:nvSpPr>
        <p:spPr>
          <a:xfrm>
            <a:off x="7898022" y="1011545"/>
            <a:ext cx="3983463" cy="17543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O problema é que </a:t>
            </a:r>
          </a:p>
          <a:p>
            <a:pPr algn="ctr"/>
            <a:r>
              <a:rPr lang="pt-BR" b="1" dirty="0"/>
              <a:t>não sabemos se o fato de</a:t>
            </a:r>
          </a:p>
          <a:p>
            <a:pPr algn="ctr"/>
            <a:r>
              <a:rPr lang="pt-BR" b="1" dirty="0"/>
              <a:t>"ter aquário" </a:t>
            </a:r>
          </a:p>
          <a:p>
            <a:pPr algn="ctr"/>
            <a:r>
              <a:rPr lang="pt-BR" b="1" dirty="0"/>
              <a:t>realmente distingue bem </a:t>
            </a:r>
          </a:p>
          <a:p>
            <a:pPr algn="ctr"/>
            <a:r>
              <a:rPr lang="pt-BR" b="1" dirty="0"/>
              <a:t>pessoas casadas de não casadas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4B7141F8-0736-09B5-E7A6-AC7C93730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1543575"/>
            <a:ext cx="3864558" cy="440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0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D904A-64D1-A50F-90BB-2DE28DC94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0908D689-BD27-F2F3-5CF3-199A435EF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C2C0421-5E96-BE46-4B3A-7A765C1EEF74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98E1393-06A5-917B-9986-F7CCBE773EB4}"/>
              </a:ext>
            </a:extLst>
          </p:cNvPr>
          <p:cNvSpPr/>
          <p:nvPr/>
        </p:nvSpPr>
        <p:spPr>
          <a:xfrm>
            <a:off x="242315" y="1148705"/>
            <a:ext cx="27106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C4450A1-2116-42A4-0E39-A6D864E4E309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97B635A-A879-58A4-6A4A-E24D25BD1282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BA1CC29-F672-C59F-1040-F63279FE6D56}"/>
              </a:ext>
            </a:extLst>
          </p:cNvPr>
          <p:cNvSpPr txBox="1"/>
          <p:nvPr/>
        </p:nvSpPr>
        <p:spPr>
          <a:xfrm>
            <a:off x="236609" y="1608548"/>
            <a:ext cx="3630343" cy="43396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Tem aquário?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Tem água?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Tem peixes?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Tem filhos?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▼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É casado?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              └── SIM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A13970A-BF88-179F-72AE-5F0DA2F2899C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2C2C385C-9FAF-CBC6-DB35-F4DCD9202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135152"/>
              </p:ext>
            </p:extLst>
          </p:nvPr>
        </p:nvGraphicFramePr>
        <p:xfrm>
          <a:off x="4068659" y="1885910"/>
          <a:ext cx="7041858" cy="40233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60354">
                  <a:extLst>
                    <a:ext uri="{9D8B030D-6E8A-4147-A177-3AD203B41FA5}">
                      <a16:colId xmlns:a16="http://schemas.microsoft.com/office/drawing/2014/main" val="2228238485"/>
                    </a:ext>
                  </a:extLst>
                </a:gridCol>
                <a:gridCol w="2608976">
                  <a:extLst>
                    <a:ext uri="{9D8B030D-6E8A-4147-A177-3AD203B41FA5}">
                      <a16:colId xmlns:a16="http://schemas.microsoft.com/office/drawing/2014/main" val="1989440652"/>
                    </a:ext>
                  </a:extLst>
                </a:gridCol>
                <a:gridCol w="2872528">
                  <a:extLst>
                    <a:ext uri="{9D8B030D-6E8A-4147-A177-3AD203B41FA5}">
                      <a16:colId xmlns:a16="http://schemas.microsoft.com/office/drawing/2014/main" val="3198608754"/>
                    </a:ext>
                  </a:extLst>
                </a:gridCol>
              </a:tblGrid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Pessoa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(X) Tem aquário?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(Y) Casado?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157698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791837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729674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69423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879148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500466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217073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841799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030487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995698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10979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69CE183F-F927-A5C2-A4E4-4E3ACC874199}"/>
              </a:ext>
            </a:extLst>
          </p:cNvPr>
          <p:cNvSpPr txBox="1"/>
          <p:nvPr/>
        </p:nvSpPr>
        <p:spPr>
          <a:xfrm>
            <a:off x="4068659" y="1493441"/>
            <a:ext cx="4572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Joaquim encontrou e classificou 10 pessoas</a:t>
            </a:r>
          </a:p>
        </p:txBody>
      </p:sp>
    </p:spTree>
    <p:extLst>
      <p:ext uri="{BB962C8B-B14F-4D97-AF65-F5344CB8AC3E}">
        <p14:creationId xmlns:p14="http://schemas.microsoft.com/office/powerpoint/2010/main" val="2816966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21E20-4C24-0331-2CC5-3560596F9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E223102D-908E-0448-56F3-DB03CFA4A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20C15EF-9F73-4B7D-6E1F-2BB04E9C7627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00257AF-6AED-92DA-9F3E-3039D7B280B4}"/>
              </a:ext>
            </a:extLst>
          </p:cNvPr>
          <p:cNvSpPr/>
          <p:nvPr/>
        </p:nvSpPr>
        <p:spPr>
          <a:xfrm>
            <a:off x="242315" y="1148705"/>
            <a:ext cx="27106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BC4C88E-1086-9E2C-8EA3-74AF63E86E44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9867A71-7C63-A1E2-BE3B-F2BC983C7142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F72FE6C-44E0-4EF1-48E0-CD1A2152E667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71F2EA1-4D83-3C96-19E5-C622596CB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727901"/>
              </p:ext>
            </p:extLst>
          </p:nvPr>
        </p:nvGraphicFramePr>
        <p:xfrm>
          <a:off x="193282" y="2070316"/>
          <a:ext cx="7041858" cy="36813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60354">
                  <a:extLst>
                    <a:ext uri="{9D8B030D-6E8A-4147-A177-3AD203B41FA5}">
                      <a16:colId xmlns:a16="http://schemas.microsoft.com/office/drawing/2014/main" val="2228238485"/>
                    </a:ext>
                  </a:extLst>
                </a:gridCol>
                <a:gridCol w="2608976">
                  <a:extLst>
                    <a:ext uri="{9D8B030D-6E8A-4147-A177-3AD203B41FA5}">
                      <a16:colId xmlns:a16="http://schemas.microsoft.com/office/drawing/2014/main" val="1989440652"/>
                    </a:ext>
                  </a:extLst>
                </a:gridCol>
                <a:gridCol w="2872528">
                  <a:extLst>
                    <a:ext uri="{9D8B030D-6E8A-4147-A177-3AD203B41FA5}">
                      <a16:colId xmlns:a16="http://schemas.microsoft.com/office/drawing/2014/main" val="3198608754"/>
                    </a:ext>
                  </a:extLst>
                </a:gridCol>
              </a:tblGrid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Pessoa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(X) Tem aquário?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(Y) Casado?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157698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791837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729674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69423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879148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500466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217073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841799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030487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995698"/>
                  </a:ext>
                </a:extLst>
              </a:tr>
              <a:tr h="334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10979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8641EBF6-6C6A-ABB2-7EA5-AFCF52E70F37}"/>
              </a:ext>
            </a:extLst>
          </p:cNvPr>
          <p:cNvSpPr txBox="1"/>
          <p:nvPr/>
        </p:nvSpPr>
        <p:spPr>
          <a:xfrm>
            <a:off x="193282" y="1677847"/>
            <a:ext cx="4572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Joaquim encontrou e classificou 10 pessoas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EE6DD3F-B094-E563-E4FF-8F7B8F776058}"/>
              </a:ext>
            </a:extLst>
          </p:cNvPr>
          <p:cNvSpPr txBox="1"/>
          <p:nvPr/>
        </p:nvSpPr>
        <p:spPr>
          <a:xfrm>
            <a:off x="7600498" y="4736001"/>
            <a:ext cx="3690077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7474F"/>
                </a:solidFill>
                <a:highlight>
                  <a:srgbClr val="00FF00"/>
                </a:highlight>
                <a:latin typeface="Roboto Mono" pitchFamily="2" charset="0"/>
              </a:rPr>
              <a:t>🟢 – Casado</a:t>
            </a:r>
          </a:p>
          <a:p>
            <a:r>
              <a:rPr lang="pt-BR" sz="1200" dirty="0">
                <a:solidFill>
                  <a:srgbClr val="37474F"/>
                </a:solidFill>
                <a:highlight>
                  <a:srgbClr val="FF7474"/>
                </a:highlight>
                <a:latin typeface="Roboto Mono" pitchFamily="2" charset="0"/>
              </a:rPr>
              <a:t>🔴 – Solteiro</a:t>
            </a:r>
          </a:p>
          <a:p>
            <a:endParaRPr lang="pt-BR" sz="1200" dirty="0">
              <a:solidFill>
                <a:srgbClr val="37474F"/>
              </a:solidFill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Roboto Mono" pitchFamily="2" charset="0"/>
              </a:rPr>
              <a:t>TEM AQUÁRIO?</a:t>
            </a:r>
            <a:endParaRPr lang="pt-BR" sz="1200" b="0" i="0" dirty="0">
              <a:solidFill>
                <a:srgbClr val="000000"/>
              </a:solidFill>
              <a:effectLst/>
              <a:highlight>
                <a:srgbClr val="C0C0C0"/>
              </a:highlight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/             \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SIM               NÃO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│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🟢 🟢 🟢 🟢 🔴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FF7474"/>
                </a:highlight>
                <a:latin typeface="Roboto Mono" pitchFamily="2" charset="0"/>
              </a:rPr>
              <a:t>🟢 🔴 🔴 🔴 🔴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736A89A-2E85-364A-69F3-16C58E8A4C0D}"/>
              </a:ext>
            </a:extLst>
          </p:cNvPr>
          <p:cNvSpPr txBox="1"/>
          <p:nvPr/>
        </p:nvSpPr>
        <p:spPr>
          <a:xfrm>
            <a:off x="7877334" y="2398158"/>
            <a:ext cx="3186771" cy="14083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Roboto Mono" pitchFamily="2" charset="0"/>
              </a:rPr>
              <a:t>    TEM AQUÁRIO?</a:t>
            </a:r>
            <a:endParaRPr lang="pt-BR" b="0" i="0" dirty="0">
              <a:solidFill>
                <a:srgbClr val="000000"/>
              </a:solidFill>
              <a:effectLst/>
              <a:highlight>
                <a:srgbClr val="C0C0C0"/>
              </a:highlight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/   \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</a:t>
            </a:r>
            <a:r>
              <a:rPr lang="pt-BR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SIM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</a:t>
            </a:r>
            <a:r>
              <a:rPr lang="pt-BR" b="0" i="0" dirty="0">
                <a:solidFill>
                  <a:srgbClr val="37474F"/>
                </a:solidFill>
                <a:effectLst/>
                <a:highlight>
                  <a:srgbClr val="FF0000"/>
                </a:highlight>
                <a:latin typeface="Roboto Mono" pitchFamily="2" charset="0"/>
              </a:rPr>
              <a:t>NÃO</a:t>
            </a:r>
            <a:endParaRPr lang="pt-BR" b="0" i="0" dirty="0">
              <a:solidFill>
                <a:srgbClr val="000000"/>
              </a:solidFill>
              <a:effectLst/>
              <a:highlight>
                <a:srgbClr val="FF0000"/>
              </a:highlight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/      \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▼       ▼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É CASADO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</a:t>
            </a:r>
            <a:r>
              <a:rPr lang="pt-BR" b="0" i="0" dirty="0">
                <a:solidFill>
                  <a:srgbClr val="37474F"/>
                </a:solidFill>
                <a:effectLst/>
                <a:highlight>
                  <a:srgbClr val="FF7C7C"/>
                </a:highlight>
                <a:latin typeface="Roboto Mono" pitchFamily="2" charset="0"/>
              </a:rPr>
              <a:t>NÃO É CASADO</a:t>
            </a:r>
            <a:endParaRPr lang="pt-BR" dirty="0">
              <a:highlight>
                <a:srgbClr val="FF7C7C"/>
              </a:highlight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29F4C44-E6A2-20BE-152F-982887D314F9}"/>
              </a:ext>
            </a:extLst>
          </p:cNvPr>
          <p:cNvSpPr txBox="1"/>
          <p:nvPr/>
        </p:nvSpPr>
        <p:spPr>
          <a:xfrm>
            <a:off x="8455953" y="1937333"/>
            <a:ext cx="1515543" cy="369332"/>
          </a:xfrm>
          <a:prstGeom prst="rect">
            <a:avLst/>
          </a:prstGeom>
          <a:solidFill>
            <a:srgbClr val="FF7474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ESPECTATIVA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09E497B-2DD3-712F-EF64-78F99B3161E2}"/>
              </a:ext>
            </a:extLst>
          </p:cNvPr>
          <p:cNvSpPr txBox="1"/>
          <p:nvPr/>
        </p:nvSpPr>
        <p:spPr>
          <a:xfrm>
            <a:off x="8605363" y="4251350"/>
            <a:ext cx="136613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dirty="0"/>
              <a:t>REALIDADE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892C4C0-8030-27C0-99DD-DBE5AA6E0116}"/>
              </a:ext>
            </a:extLst>
          </p:cNvPr>
          <p:cNvSpPr txBox="1"/>
          <p:nvPr/>
        </p:nvSpPr>
        <p:spPr>
          <a:xfrm>
            <a:off x="5620902" y="702193"/>
            <a:ext cx="4350594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pt-BR" dirty="0"/>
              <a:t>"A pergunta </a:t>
            </a:r>
          </a:p>
          <a:p>
            <a:pPr algn="ctr"/>
            <a:r>
              <a:rPr lang="pt-BR" dirty="0"/>
              <a:t>'</a:t>
            </a:r>
            <a:r>
              <a:rPr lang="pt-BR" b="1" dirty="0"/>
              <a:t>Tem aquário?</a:t>
            </a:r>
            <a:r>
              <a:rPr lang="pt-BR" dirty="0"/>
              <a:t>’ </a:t>
            </a:r>
          </a:p>
          <a:p>
            <a:pPr algn="ctr"/>
            <a:r>
              <a:rPr lang="pt-BR" dirty="0"/>
              <a:t>consegue separar bem as duas classes?"</a:t>
            </a:r>
          </a:p>
        </p:txBody>
      </p:sp>
    </p:spTree>
    <p:extLst>
      <p:ext uri="{BB962C8B-B14F-4D97-AF65-F5344CB8AC3E}">
        <p14:creationId xmlns:p14="http://schemas.microsoft.com/office/powerpoint/2010/main" val="194672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202AA-2C79-7071-8ABF-16C08495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FB1F0C9F-C479-1D8A-9F03-237F881EE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311902C-B321-970B-EA34-259E0C9F46B7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3C62EF2-2EA4-2CC5-12E0-69B93C43C889}"/>
              </a:ext>
            </a:extLst>
          </p:cNvPr>
          <p:cNvSpPr/>
          <p:nvPr/>
        </p:nvSpPr>
        <p:spPr>
          <a:xfrm>
            <a:off x="242315" y="1148705"/>
            <a:ext cx="369007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- </a:t>
            </a:r>
            <a:r>
              <a:rPr lang="en-US" sz="2400" b="1" dirty="0" err="1">
                <a:solidFill>
                  <a:srgbClr val="0B1F3A"/>
                </a:solidFill>
              </a:rPr>
              <a:t>Nós</a:t>
            </a:r>
            <a:r>
              <a:rPr lang="en-US" sz="2400" b="1" dirty="0">
                <a:solidFill>
                  <a:srgbClr val="0B1F3A"/>
                </a:solidFill>
              </a:rPr>
              <a:t> 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D58504D-D4B0-5D9F-F73B-6FCCD71A920D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0E3A36C-D51C-BA58-CA20-6D57BD4EC766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4E4EEAE-AFEE-E97B-D103-8D8DD25C4E2C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C3191DB-914F-5F12-CEA3-2BC46AAEFF6A}"/>
              </a:ext>
            </a:extLst>
          </p:cNvPr>
          <p:cNvSpPr txBox="1"/>
          <p:nvPr/>
        </p:nvSpPr>
        <p:spPr>
          <a:xfrm>
            <a:off x="100740" y="1898028"/>
            <a:ext cx="3690077" cy="2123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7474F"/>
                </a:solidFill>
                <a:highlight>
                  <a:srgbClr val="00FF00"/>
                </a:highlight>
                <a:latin typeface="Roboto Mono" pitchFamily="2" charset="0"/>
              </a:rPr>
              <a:t>🟢 – Casado</a:t>
            </a:r>
          </a:p>
          <a:p>
            <a:r>
              <a:rPr lang="pt-BR" sz="1200" dirty="0">
                <a:solidFill>
                  <a:srgbClr val="37474F"/>
                </a:solidFill>
                <a:highlight>
                  <a:srgbClr val="FF7474"/>
                </a:highlight>
                <a:latin typeface="Roboto Mono" pitchFamily="2" charset="0"/>
              </a:rPr>
              <a:t>🔴 – Solteiro</a:t>
            </a:r>
          </a:p>
          <a:p>
            <a:endParaRPr lang="pt-BR" sz="1200" dirty="0">
              <a:solidFill>
                <a:srgbClr val="37474F"/>
              </a:solidFill>
              <a:highlight>
                <a:srgbClr val="FF7474"/>
              </a:highlight>
              <a:latin typeface="Roboto Mono" pitchFamily="2" charset="0"/>
            </a:endParaRP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  </a:t>
            </a:r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TOTAL PESSOAS</a:t>
            </a:r>
          </a:p>
          <a:p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                |</a:t>
            </a:r>
            <a:endParaRPr lang="pt-BR" sz="1200" dirty="0">
              <a:solidFill>
                <a:srgbClr val="37474F"/>
              </a:solidFill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Roboto Mono" pitchFamily="2" charset="0"/>
              </a:rPr>
              <a:t>TEM AQUÁRIO?</a:t>
            </a:r>
            <a:endParaRPr lang="pt-BR" sz="1200" b="0" i="0" dirty="0">
              <a:solidFill>
                <a:srgbClr val="000000"/>
              </a:solidFill>
              <a:effectLst/>
              <a:highlight>
                <a:srgbClr val="C0C0C0"/>
              </a:highlight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/             \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SIM               NÃO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│                 │</a:t>
            </a: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GRUPO1</a:t>
            </a:r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  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GRUPO2</a:t>
            </a:r>
            <a:endParaRPr lang="pt-BR" sz="1200" b="1" i="0" dirty="0">
              <a:solidFill>
                <a:srgbClr val="000000"/>
              </a:solidFill>
              <a:effectLst/>
              <a:highlight>
                <a:srgbClr val="FFFF00"/>
              </a:highlight>
              <a:latin typeface="Roboto Mono" pitchFamily="2" charset="0"/>
            </a:endParaRPr>
          </a:p>
          <a:p>
            <a:pPr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🟢 🟢 🟢 🟢 🔴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FF7474"/>
                </a:highlight>
                <a:latin typeface="Roboto Mono" pitchFamily="2" charset="0"/>
              </a:rPr>
              <a:t>🟢 🔴 🔴 🔴 🔴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BC62AAB-7AB6-8F11-F5D9-50AA4DD5FBB2}"/>
              </a:ext>
            </a:extLst>
          </p:cNvPr>
          <p:cNvSpPr txBox="1"/>
          <p:nvPr/>
        </p:nvSpPr>
        <p:spPr>
          <a:xfrm>
            <a:off x="5353646" y="1898028"/>
            <a:ext cx="3690077" cy="2123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7474F"/>
                </a:solidFill>
                <a:highlight>
                  <a:srgbClr val="00FF00"/>
                </a:highlight>
                <a:latin typeface="Roboto Mono" pitchFamily="2" charset="0"/>
              </a:rPr>
              <a:t>🟢 – Casado</a:t>
            </a:r>
          </a:p>
          <a:p>
            <a:r>
              <a:rPr lang="pt-BR" sz="1200" dirty="0">
                <a:solidFill>
                  <a:srgbClr val="37474F"/>
                </a:solidFill>
                <a:highlight>
                  <a:srgbClr val="FF7474"/>
                </a:highlight>
                <a:latin typeface="Roboto Mono" pitchFamily="2" charset="0"/>
              </a:rPr>
              <a:t>🔴 – Solteiro</a:t>
            </a:r>
          </a:p>
          <a:p>
            <a:endParaRPr lang="pt-BR" sz="1200" dirty="0">
              <a:solidFill>
                <a:srgbClr val="37474F"/>
              </a:solidFill>
              <a:highlight>
                <a:srgbClr val="FF7474"/>
              </a:highlight>
              <a:latin typeface="Roboto Mono" pitchFamily="2" charset="0"/>
            </a:endParaRP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  </a:t>
            </a:r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TOTAL PESSOAS -&gt; NÓ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RAIZ</a:t>
            </a:r>
          </a:p>
          <a:p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                |</a:t>
            </a:r>
            <a:endParaRPr lang="pt-BR" sz="1200" dirty="0">
              <a:solidFill>
                <a:srgbClr val="37474F"/>
              </a:solidFill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Roboto Mono" pitchFamily="2" charset="0"/>
              </a:rPr>
              <a:t>TEM AQUÁRIO?</a:t>
            </a:r>
            <a:endParaRPr lang="pt-BR" sz="1200" b="0" i="0" dirty="0">
              <a:solidFill>
                <a:srgbClr val="000000"/>
              </a:solidFill>
              <a:effectLst/>
              <a:highlight>
                <a:srgbClr val="C0C0C0"/>
              </a:highlight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/             \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SIM               NÃO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│                 │</a:t>
            </a: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GRUPO1 -&gt;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NÓ1</a:t>
            </a:r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GRUPO2 -&gt;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NÓ2</a:t>
            </a:r>
            <a:endParaRPr lang="pt-BR" sz="1200" b="1" i="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Roboto Mono" pitchFamily="2" charset="0"/>
            </a:endParaRPr>
          </a:p>
          <a:p>
            <a:pPr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🟢 🟢 🟢 🟢 🔴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FF7474"/>
                </a:highlight>
                <a:latin typeface="Roboto Mono" pitchFamily="2" charset="0"/>
              </a:rPr>
              <a:t>🟢 🔴 🔴 🔴 🔴</a:t>
            </a: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0B77C31D-9157-9813-889E-C284CB2F738F}"/>
              </a:ext>
            </a:extLst>
          </p:cNvPr>
          <p:cNvSpPr/>
          <p:nvPr/>
        </p:nvSpPr>
        <p:spPr>
          <a:xfrm>
            <a:off x="4018327" y="253347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565B18CB-6321-F3EF-3BE8-84EB5E34E9C5}"/>
              </a:ext>
            </a:extLst>
          </p:cNvPr>
          <p:cNvSpPr/>
          <p:nvPr/>
        </p:nvSpPr>
        <p:spPr>
          <a:xfrm>
            <a:off x="148652" y="4258945"/>
            <a:ext cx="10955687" cy="97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en-US" sz="1600" b="1" dirty="0">
              <a:solidFill>
                <a:srgbClr val="0B1F3A"/>
              </a:solidFill>
            </a:endParaRPr>
          </a:p>
          <a:p>
            <a:pPr>
              <a:tabLst>
                <a:tab pos="0" algn="l"/>
              </a:tabLst>
              <a:defRPr/>
            </a:pPr>
            <a:endParaRPr lang="en-US" sz="1600" b="1" dirty="0">
              <a:solidFill>
                <a:srgbClr val="0B1F3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1600" b="1" dirty="0" err="1">
                <a:solidFill>
                  <a:srgbClr val="0B1F3A"/>
                </a:solidFill>
              </a:rPr>
              <a:t>Nó</a:t>
            </a:r>
            <a:r>
              <a:rPr lang="en-US" sz="1600" b="1" dirty="0">
                <a:solidFill>
                  <a:srgbClr val="0B1F3A"/>
                </a:solidFill>
              </a:rPr>
              <a:t> Raiz -&gt; </a:t>
            </a:r>
            <a:r>
              <a:rPr lang="en-US" sz="1600" dirty="0" err="1">
                <a:solidFill>
                  <a:srgbClr val="0B1F3A"/>
                </a:solidFill>
              </a:rPr>
              <a:t>representa</a:t>
            </a:r>
            <a:r>
              <a:rPr lang="en-US" sz="1600" dirty="0">
                <a:solidFill>
                  <a:srgbClr val="0B1F3A"/>
                </a:solidFill>
              </a:rPr>
              <a:t> o </a:t>
            </a:r>
            <a:r>
              <a:rPr lang="en-US" sz="1600" dirty="0" err="1">
                <a:solidFill>
                  <a:srgbClr val="0B1F3A"/>
                </a:solidFill>
              </a:rPr>
              <a:t>grupo</a:t>
            </a:r>
            <a:r>
              <a:rPr lang="en-US" sz="1600" dirty="0">
                <a:solidFill>
                  <a:srgbClr val="0B1F3A"/>
                </a:solidFill>
              </a:rPr>
              <a:t> de </a:t>
            </a:r>
            <a:r>
              <a:rPr lang="en-US" sz="1600" dirty="0" err="1">
                <a:solidFill>
                  <a:srgbClr val="0B1F3A"/>
                </a:solidFill>
              </a:rPr>
              <a:t>pessoas</a:t>
            </a:r>
            <a:r>
              <a:rPr lang="en-US" sz="1600" dirty="0">
                <a:solidFill>
                  <a:srgbClr val="0B1F3A"/>
                </a:solidFill>
              </a:rPr>
              <a:t> (entradas) original;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1600" b="1" dirty="0" err="1">
                <a:solidFill>
                  <a:srgbClr val="0B1F3A"/>
                </a:solidFill>
              </a:rPr>
              <a:t>Nós</a:t>
            </a:r>
            <a:r>
              <a:rPr lang="en-US" sz="1600" b="1" dirty="0">
                <a:solidFill>
                  <a:srgbClr val="0B1F3A"/>
                </a:solidFill>
              </a:rPr>
              <a:t> </a:t>
            </a:r>
            <a:r>
              <a:rPr lang="en-US" sz="1600" b="1" dirty="0" err="1">
                <a:solidFill>
                  <a:srgbClr val="0B1F3A"/>
                </a:solidFill>
              </a:rPr>
              <a:t>intermediário</a:t>
            </a:r>
            <a:r>
              <a:rPr lang="en-US" sz="1600" b="1" dirty="0">
                <a:solidFill>
                  <a:srgbClr val="0B1F3A"/>
                </a:solidFill>
              </a:rPr>
              <a:t> -&gt; </a:t>
            </a:r>
            <a:r>
              <a:rPr lang="en-US" sz="1600" dirty="0" err="1">
                <a:solidFill>
                  <a:srgbClr val="0B1F3A"/>
                </a:solidFill>
              </a:rPr>
              <a:t>representam</a:t>
            </a:r>
            <a:r>
              <a:rPr lang="en-US" sz="1600" dirty="0">
                <a:solidFill>
                  <a:srgbClr val="0B1F3A"/>
                </a:solidFill>
              </a:rPr>
              <a:t> o </a:t>
            </a:r>
            <a:r>
              <a:rPr lang="en-US" sz="1600" dirty="0" err="1">
                <a:solidFill>
                  <a:srgbClr val="0B1F3A"/>
                </a:solidFill>
              </a:rPr>
              <a:t>grupos</a:t>
            </a:r>
            <a:r>
              <a:rPr lang="en-US" sz="1600" dirty="0">
                <a:solidFill>
                  <a:srgbClr val="0B1F3A"/>
                </a:solidFill>
              </a:rPr>
              <a:t> que </a:t>
            </a:r>
            <a:r>
              <a:rPr lang="en-US" sz="1600" dirty="0" err="1">
                <a:solidFill>
                  <a:srgbClr val="0B1F3A"/>
                </a:solidFill>
              </a:rPr>
              <a:t>já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sofreram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classificações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na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árvore</a:t>
            </a:r>
            <a:r>
              <a:rPr lang="en-US" sz="1600" dirty="0">
                <a:solidFill>
                  <a:srgbClr val="0B1F3A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1600" b="1" dirty="0" err="1">
                <a:solidFill>
                  <a:srgbClr val="0B1F3A"/>
                </a:solidFill>
              </a:rPr>
              <a:t>Nós</a:t>
            </a:r>
            <a:r>
              <a:rPr lang="en-US" sz="1600" b="1" dirty="0">
                <a:solidFill>
                  <a:srgbClr val="0B1F3A"/>
                </a:solidFill>
              </a:rPr>
              <a:t> Folha -&gt;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representam</a:t>
            </a:r>
            <a:r>
              <a:rPr lang="en-US" sz="1600" dirty="0">
                <a:solidFill>
                  <a:srgbClr val="0B1F3A"/>
                </a:solidFill>
              </a:rPr>
              <a:t> o </a:t>
            </a:r>
            <a:r>
              <a:rPr lang="en-US" sz="1600" dirty="0" err="1">
                <a:solidFill>
                  <a:srgbClr val="0B1F3A"/>
                </a:solidFill>
              </a:rPr>
              <a:t>grupos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classificado</a:t>
            </a:r>
            <a:r>
              <a:rPr lang="en-US" sz="1600" dirty="0">
                <a:solidFill>
                  <a:srgbClr val="0B1F3A"/>
                </a:solidFill>
              </a:rPr>
              <a:t> no final da </a:t>
            </a:r>
            <a:r>
              <a:rPr lang="en-US" sz="1600" dirty="0" err="1">
                <a:solidFill>
                  <a:srgbClr val="0B1F3A"/>
                </a:solidFill>
              </a:rPr>
              <a:t>árvore</a:t>
            </a:r>
            <a:r>
              <a:rPr lang="en-US" sz="1600" dirty="0">
                <a:solidFill>
                  <a:srgbClr val="0B1F3A"/>
                </a:solidFill>
              </a:rPr>
              <a:t>;</a:t>
            </a:r>
            <a:endParaRPr lang="en-US" sz="1600" b="1" dirty="0">
              <a:solidFill>
                <a:srgbClr val="0B1F3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en-US" sz="1600" dirty="0">
              <a:solidFill>
                <a:srgbClr val="0B1F3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pt-BR" sz="16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3320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805E-DEC5-5041-AEB0-433EC8CC8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B68B243-9567-6C02-5C7F-1B79A1918652}"/>
              </a:ext>
            </a:extLst>
          </p:cNvPr>
          <p:cNvSpPr/>
          <p:nvPr/>
        </p:nvSpPr>
        <p:spPr>
          <a:xfrm>
            <a:off x="640710" y="1317072"/>
            <a:ext cx="10921878" cy="324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tabLst>
                <a:tab pos="0" algn="l"/>
              </a:tabLst>
              <a:defRPr/>
            </a:pPr>
            <a:r>
              <a:rPr lang="pt-BR" sz="7200" dirty="0">
                <a:solidFill>
                  <a:srgbClr val="000000"/>
                </a:solidFill>
                <a:latin typeface="Arial"/>
              </a:rPr>
              <a:t>GINI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2731D0A-185C-F932-67A4-8AD71C074CCB}"/>
              </a:ext>
            </a:extLst>
          </p:cNvPr>
          <p:cNvSpPr/>
          <p:nvPr/>
        </p:nvSpPr>
        <p:spPr>
          <a:xfrm>
            <a:off x="47548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656168-94A5-D730-CE5B-1A86474EA437}"/>
              </a:ext>
            </a:extLst>
          </p:cNvPr>
          <p:cNvSpPr/>
          <p:nvPr/>
        </p:nvSpPr>
        <p:spPr>
          <a:xfrm>
            <a:off x="1144828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75506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11BFEA-060C-6B89-9941-AA593EF9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ED36E243-7BF8-3F24-A5EC-2894F908B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92DF96E-B429-6F95-19CB-7A726E165799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6F78EEB-D8B8-72AC-826E-5D2A4B57A24B}"/>
              </a:ext>
            </a:extLst>
          </p:cNvPr>
          <p:cNvSpPr/>
          <p:nvPr/>
        </p:nvSpPr>
        <p:spPr>
          <a:xfrm>
            <a:off x="242315" y="1148705"/>
            <a:ext cx="27106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1387520-85F2-87AF-3306-4E147749F2BA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5B3653E-86FE-ADA0-411D-BCB900184E80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62FF15E-56C3-4F02-2324-00D63C71A2E0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CC4D66-6241-62CE-9C71-47A8A4660A85}"/>
              </a:ext>
            </a:extLst>
          </p:cNvPr>
          <p:cNvSpPr txBox="1"/>
          <p:nvPr/>
        </p:nvSpPr>
        <p:spPr>
          <a:xfrm>
            <a:off x="193282" y="1677847"/>
            <a:ext cx="4572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Joaquim encontrou e classificou 10 pessoas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AC17D30-6ABA-FE37-AFE1-5C0CA96CA739}"/>
              </a:ext>
            </a:extLst>
          </p:cNvPr>
          <p:cNvSpPr txBox="1"/>
          <p:nvPr/>
        </p:nvSpPr>
        <p:spPr>
          <a:xfrm>
            <a:off x="7877334" y="2398158"/>
            <a:ext cx="3186771" cy="14083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Roboto Mono" pitchFamily="2" charset="0"/>
              </a:rPr>
              <a:t>    TEM AQUÁRIO?</a:t>
            </a:r>
            <a:endParaRPr lang="pt-BR" b="0" i="0" dirty="0">
              <a:solidFill>
                <a:srgbClr val="000000"/>
              </a:solidFill>
              <a:effectLst/>
              <a:highlight>
                <a:srgbClr val="C0C0C0"/>
              </a:highlight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/   \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</a:t>
            </a:r>
            <a:r>
              <a:rPr lang="pt-BR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SIM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</a:t>
            </a:r>
            <a:r>
              <a:rPr lang="pt-BR" b="0" i="0" dirty="0">
                <a:solidFill>
                  <a:srgbClr val="37474F"/>
                </a:solidFill>
                <a:effectLst/>
                <a:highlight>
                  <a:srgbClr val="FF0000"/>
                </a:highlight>
                <a:latin typeface="Roboto Mono" pitchFamily="2" charset="0"/>
              </a:rPr>
              <a:t>NÃO</a:t>
            </a:r>
            <a:endParaRPr lang="pt-BR" b="0" i="0" dirty="0">
              <a:solidFill>
                <a:srgbClr val="000000"/>
              </a:solidFill>
              <a:effectLst/>
              <a:highlight>
                <a:srgbClr val="FF0000"/>
              </a:highlight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/      \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▼       ▼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688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É CASADO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</a:t>
            </a:r>
            <a:r>
              <a:rPr lang="pt-BR" b="0" i="0" dirty="0">
                <a:solidFill>
                  <a:srgbClr val="37474F"/>
                </a:solidFill>
                <a:effectLst/>
                <a:highlight>
                  <a:srgbClr val="FF7C7C"/>
                </a:highlight>
                <a:latin typeface="Roboto Mono" pitchFamily="2" charset="0"/>
              </a:rPr>
              <a:t>NÃO É CASADO</a:t>
            </a:r>
            <a:endParaRPr lang="pt-BR" dirty="0">
              <a:highlight>
                <a:srgbClr val="FF7C7C"/>
              </a:highlight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3584F17-ACBB-9CED-77D7-FBD2E5E7B5BD}"/>
              </a:ext>
            </a:extLst>
          </p:cNvPr>
          <p:cNvSpPr txBox="1"/>
          <p:nvPr/>
        </p:nvSpPr>
        <p:spPr>
          <a:xfrm>
            <a:off x="8455953" y="1937333"/>
            <a:ext cx="1515543" cy="369332"/>
          </a:xfrm>
          <a:prstGeom prst="rect">
            <a:avLst/>
          </a:prstGeom>
          <a:solidFill>
            <a:srgbClr val="FF7474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ESPECTATIVA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F0918AD-3185-4A31-57B6-4D0D2A62CD51}"/>
              </a:ext>
            </a:extLst>
          </p:cNvPr>
          <p:cNvSpPr txBox="1"/>
          <p:nvPr/>
        </p:nvSpPr>
        <p:spPr>
          <a:xfrm>
            <a:off x="8605363" y="4251350"/>
            <a:ext cx="136613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dirty="0"/>
              <a:t>REALIDADE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88BEBC3-B68A-2780-69E4-814C78D03DF3}"/>
              </a:ext>
            </a:extLst>
          </p:cNvPr>
          <p:cNvSpPr txBox="1"/>
          <p:nvPr/>
        </p:nvSpPr>
        <p:spPr>
          <a:xfrm>
            <a:off x="5620902" y="702193"/>
            <a:ext cx="4350594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pt-BR" dirty="0"/>
              <a:t>"A pergunta </a:t>
            </a:r>
          </a:p>
          <a:p>
            <a:pPr algn="ctr"/>
            <a:r>
              <a:rPr lang="pt-BR" dirty="0"/>
              <a:t>'</a:t>
            </a:r>
            <a:r>
              <a:rPr lang="pt-BR" b="1" dirty="0"/>
              <a:t>Tem aliança?</a:t>
            </a:r>
            <a:r>
              <a:rPr lang="pt-BR" dirty="0"/>
              <a:t>’ </a:t>
            </a:r>
          </a:p>
          <a:p>
            <a:pPr algn="ctr"/>
            <a:r>
              <a:rPr lang="pt-BR" dirty="0"/>
              <a:t>consegue separar bem as duas classes?"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4A8F652-18DF-0621-C452-BE5E74E28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356793"/>
              </p:ext>
            </p:extLst>
          </p:nvPr>
        </p:nvGraphicFramePr>
        <p:xfrm>
          <a:off x="838200" y="1989614"/>
          <a:ext cx="6225330" cy="3352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245066">
                  <a:extLst>
                    <a:ext uri="{9D8B030D-6E8A-4147-A177-3AD203B41FA5}">
                      <a16:colId xmlns:a16="http://schemas.microsoft.com/office/drawing/2014/main" val="2200803114"/>
                    </a:ext>
                  </a:extLst>
                </a:gridCol>
                <a:gridCol w="1245066">
                  <a:extLst>
                    <a:ext uri="{9D8B030D-6E8A-4147-A177-3AD203B41FA5}">
                      <a16:colId xmlns:a16="http://schemas.microsoft.com/office/drawing/2014/main" val="2254309218"/>
                    </a:ext>
                  </a:extLst>
                </a:gridCol>
                <a:gridCol w="1245066">
                  <a:extLst>
                    <a:ext uri="{9D8B030D-6E8A-4147-A177-3AD203B41FA5}">
                      <a16:colId xmlns:a16="http://schemas.microsoft.com/office/drawing/2014/main" val="2331909233"/>
                    </a:ext>
                  </a:extLst>
                </a:gridCol>
                <a:gridCol w="1245066">
                  <a:extLst>
                    <a:ext uri="{9D8B030D-6E8A-4147-A177-3AD203B41FA5}">
                      <a16:colId xmlns:a16="http://schemas.microsoft.com/office/drawing/2014/main" val="2108727524"/>
                    </a:ext>
                  </a:extLst>
                </a:gridCol>
                <a:gridCol w="1245066">
                  <a:extLst>
                    <a:ext uri="{9D8B030D-6E8A-4147-A177-3AD203B41FA5}">
                      <a16:colId xmlns:a16="http://schemas.microsoft.com/office/drawing/2014/main" val="3535683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Pessoa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Aquário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Filhos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Aliança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Casado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18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78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524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065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030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3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561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159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435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648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306641"/>
                  </a:ext>
                </a:extLst>
              </a:tr>
            </a:tbl>
          </a:graphicData>
        </a:graphic>
      </p:graphicFrame>
      <p:pic>
        <p:nvPicPr>
          <p:cNvPr id="11" name="Imagem 10">
            <a:extLst>
              <a:ext uri="{FF2B5EF4-FFF2-40B4-BE49-F238E27FC236}">
                <a16:creationId xmlns:a16="http://schemas.microsoft.com/office/drawing/2014/main" id="{A5732B08-4AFF-0320-B88F-7BCA5C5E6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334" y="4700458"/>
            <a:ext cx="3291840" cy="193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53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DB31E-7375-CE1C-B9FA-2D3AC8C0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3FD34A99-D8EC-0042-0088-318ACC40C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20BDBB6-D6AA-0211-FE10-031990F0A999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B8BEF5D-5E33-91CD-2EF0-99252FF29034}"/>
              </a:ext>
            </a:extLst>
          </p:cNvPr>
          <p:cNvSpPr/>
          <p:nvPr/>
        </p:nvSpPr>
        <p:spPr>
          <a:xfrm>
            <a:off x="242315" y="1148705"/>
            <a:ext cx="64353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– Pureza das Classes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161100D-3439-A939-FF06-BEE234B16E00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8E7E365-B0C7-FCDE-A6FA-E57E2C001F37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F1A074D-AF22-5F31-D4A2-36E0DFBE20F5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EAE2979-1CE6-9293-7C68-0A5A582C46BC}"/>
              </a:ext>
            </a:extLst>
          </p:cNvPr>
          <p:cNvSpPr txBox="1"/>
          <p:nvPr/>
        </p:nvSpPr>
        <p:spPr>
          <a:xfrm>
            <a:off x="5353646" y="1898028"/>
            <a:ext cx="3690077" cy="2123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7474F"/>
                </a:solidFill>
                <a:highlight>
                  <a:srgbClr val="00FF00"/>
                </a:highlight>
                <a:latin typeface="Roboto Mono" pitchFamily="2" charset="0"/>
              </a:rPr>
              <a:t>🟢 – Casado</a:t>
            </a:r>
          </a:p>
          <a:p>
            <a:r>
              <a:rPr lang="pt-BR" sz="1200" dirty="0">
                <a:solidFill>
                  <a:srgbClr val="37474F"/>
                </a:solidFill>
                <a:highlight>
                  <a:srgbClr val="FF7474"/>
                </a:highlight>
                <a:latin typeface="Roboto Mono" pitchFamily="2" charset="0"/>
              </a:rPr>
              <a:t>🔴 – Solteiro</a:t>
            </a:r>
          </a:p>
          <a:p>
            <a:endParaRPr lang="pt-BR" sz="1200" dirty="0">
              <a:solidFill>
                <a:srgbClr val="37474F"/>
              </a:solidFill>
              <a:highlight>
                <a:srgbClr val="FF7474"/>
              </a:highlight>
              <a:latin typeface="Roboto Mono" pitchFamily="2" charset="0"/>
            </a:endParaRP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  </a:t>
            </a:r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TOTAL PESSOAS -&gt; NÓ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RAIZ</a:t>
            </a:r>
          </a:p>
          <a:p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                |</a:t>
            </a:r>
            <a:endParaRPr lang="pt-BR" sz="1200" dirty="0">
              <a:solidFill>
                <a:srgbClr val="37474F"/>
              </a:solidFill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Roboto Mono" pitchFamily="2" charset="0"/>
              </a:rPr>
              <a:t>USA ALIANÇA?</a:t>
            </a:r>
            <a:endParaRPr lang="pt-BR" sz="1200" b="0" i="0" dirty="0">
              <a:solidFill>
                <a:srgbClr val="000000"/>
              </a:solidFill>
              <a:effectLst/>
              <a:highlight>
                <a:srgbClr val="C0C0C0"/>
              </a:highlight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/             \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SIM               NÃO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│                 │</a:t>
            </a: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GRUPO1 -&gt;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NÓ1</a:t>
            </a:r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GRUPO2 -&gt;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NÓ2</a:t>
            </a:r>
            <a:endParaRPr lang="pt-BR" sz="1200" b="1" i="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Roboto Mono" pitchFamily="2" charset="0"/>
            </a:endParaRPr>
          </a:p>
          <a:p>
            <a:pPr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🟢 🟢 🟢 🟢 </a:t>
            </a:r>
            <a:r>
              <a:rPr lang="pt-BR" sz="1200" dirty="0">
                <a:solidFill>
                  <a:srgbClr val="37474F"/>
                </a:solidFill>
                <a:highlight>
                  <a:srgbClr val="00FF00"/>
                </a:highlight>
                <a:latin typeface="Roboto Mono" pitchFamily="2" charset="0"/>
              </a:rPr>
              <a:t>🟢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</a:t>
            </a:r>
            <a:r>
              <a:rPr lang="pt-BR" sz="1200" dirty="0">
                <a:solidFill>
                  <a:srgbClr val="37474F"/>
                </a:solidFill>
                <a:highlight>
                  <a:srgbClr val="FF7474"/>
                </a:highlight>
                <a:latin typeface="Roboto Mono" pitchFamily="2" charset="0"/>
              </a:rPr>
              <a:t>🔴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FF7474"/>
                </a:highlight>
                <a:latin typeface="Roboto Mono" pitchFamily="2" charset="0"/>
              </a:rPr>
              <a:t> 🔴 🔴 🔴 🔴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40CC0689-3BEC-0C11-9AE5-7AF5C760CFCE}"/>
              </a:ext>
            </a:extLst>
          </p:cNvPr>
          <p:cNvSpPr/>
          <p:nvPr/>
        </p:nvSpPr>
        <p:spPr>
          <a:xfrm>
            <a:off x="148652" y="4258945"/>
            <a:ext cx="10955687" cy="97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en-US" sz="1600" b="1" dirty="0">
              <a:solidFill>
                <a:srgbClr val="0B1F3A"/>
              </a:solidFill>
            </a:endParaRPr>
          </a:p>
          <a:p>
            <a:pPr>
              <a:tabLst>
                <a:tab pos="0" algn="l"/>
              </a:tabLst>
              <a:defRPr/>
            </a:pPr>
            <a:endParaRPr lang="en-US" sz="1600" b="1" dirty="0">
              <a:solidFill>
                <a:srgbClr val="0B1F3A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1600" dirty="0">
                <a:solidFill>
                  <a:srgbClr val="0B1F3A"/>
                </a:solidFill>
              </a:rPr>
              <a:t>A </a:t>
            </a:r>
            <a:r>
              <a:rPr lang="en-US" sz="1600" dirty="0" err="1">
                <a:solidFill>
                  <a:srgbClr val="0B1F3A"/>
                </a:solidFill>
              </a:rPr>
              <a:t>pergunta</a:t>
            </a:r>
            <a:r>
              <a:rPr lang="en-US" sz="1600" dirty="0">
                <a:solidFill>
                  <a:srgbClr val="0B1F3A"/>
                </a:solidFill>
              </a:rPr>
              <a:t>  “Tem </a:t>
            </a:r>
            <a:r>
              <a:rPr lang="en-US" sz="1600" dirty="0" err="1">
                <a:solidFill>
                  <a:srgbClr val="0B1F3A"/>
                </a:solidFill>
              </a:rPr>
              <a:t>Aquário</a:t>
            </a:r>
            <a:r>
              <a:rPr lang="en-US" sz="1600" dirty="0">
                <a:solidFill>
                  <a:srgbClr val="0B1F3A"/>
                </a:solidFill>
              </a:rPr>
              <a:t>” </a:t>
            </a:r>
            <a:r>
              <a:rPr lang="en-US" sz="1600" dirty="0" err="1">
                <a:solidFill>
                  <a:srgbClr val="0B1F3A"/>
                </a:solidFill>
              </a:rPr>
              <a:t>gera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dois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nós</a:t>
            </a:r>
            <a:r>
              <a:rPr lang="en-US" sz="1600" dirty="0">
                <a:solidFill>
                  <a:srgbClr val="0B1F3A"/>
                </a:solidFill>
              </a:rPr>
              <a:t> “COM MISTURA” (TEM PELO MENOS 2 ESTRATOS (CLASSES) NO MESMO NÓ);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1600" dirty="0">
                <a:solidFill>
                  <a:srgbClr val="0B1F3A"/>
                </a:solidFill>
              </a:rPr>
              <a:t>A </a:t>
            </a:r>
            <a:r>
              <a:rPr lang="en-US" sz="1600" dirty="0" err="1">
                <a:solidFill>
                  <a:srgbClr val="0B1F3A"/>
                </a:solidFill>
              </a:rPr>
              <a:t>pergunta</a:t>
            </a:r>
            <a:r>
              <a:rPr lang="en-US" sz="1600" dirty="0">
                <a:solidFill>
                  <a:srgbClr val="0B1F3A"/>
                </a:solidFill>
              </a:rPr>
              <a:t>  “USA ALIANÇA” </a:t>
            </a:r>
            <a:r>
              <a:rPr lang="en-US" sz="1600" dirty="0" err="1">
                <a:solidFill>
                  <a:srgbClr val="0B1F3A"/>
                </a:solidFill>
              </a:rPr>
              <a:t>gera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dois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nós</a:t>
            </a:r>
            <a:r>
              <a:rPr lang="en-US" sz="1600" dirty="0">
                <a:solidFill>
                  <a:srgbClr val="0B1F3A"/>
                </a:solidFill>
              </a:rPr>
              <a:t> “PUROS” (TEM 1 ESTRATO (CLASSE) NO NÓ);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en-US" sz="1600" dirty="0">
              <a:solidFill>
                <a:srgbClr val="0B1F3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pt-BR"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8D643B-2C3A-B680-92E1-89E49AA1481C}"/>
              </a:ext>
            </a:extLst>
          </p:cNvPr>
          <p:cNvSpPr txBox="1"/>
          <p:nvPr/>
        </p:nvSpPr>
        <p:spPr>
          <a:xfrm>
            <a:off x="220371" y="1881164"/>
            <a:ext cx="3690077" cy="2123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7474F"/>
                </a:solidFill>
                <a:highlight>
                  <a:srgbClr val="00FF00"/>
                </a:highlight>
                <a:latin typeface="Roboto Mono" pitchFamily="2" charset="0"/>
              </a:rPr>
              <a:t>🟢 – Casado</a:t>
            </a:r>
          </a:p>
          <a:p>
            <a:r>
              <a:rPr lang="pt-BR" sz="1200" dirty="0">
                <a:solidFill>
                  <a:srgbClr val="37474F"/>
                </a:solidFill>
                <a:highlight>
                  <a:srgbClr val="FF7474"/>
                </a:highlight>
                <a:latin typeface="Roboto Mono" pitchFamily="2" charset="0"/>
              </a:rPr>
              <a:t>🔴 – Solteiro</a:t>
            </a:r>
          </a:p>
          <a:p>
            <a:endParaRPr lang="pt-BR" sz="1200" dirty="0">
              <a:solidFill>
                <a:srgbClr val="37474F"/>
              </a:solidFill>
              <a:highlight>
                <a:srgbClr val="FF7474"/>
              </a:highlight>
              <a:latin typeface="Roboto Mono" pitchFamily="2" charset="0"/>
            </a:endParaRP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  </a:t>
            </a:r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TOTAL PESSOAS -&gt; NÓ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RAIZ</a:t>
            </a:r>
          </a:p>
          <a:p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                |</a:t>
            </a:r>
            <a:endParaRPr lang="pt-BR" sz="1200" dirty="0">
              <a:solidFill>
                <a:srgbClr val="37474F"/>
              </a:solidFill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Roboto Mono" pitchFamily="2" charset="0"/>
              </a:rPr>
              <a:t>TEM AQUÁRIO?</a:t>
            </a:r>
            <a:endParaRPr lang="pt-BR" sz="1200" b="0" i="0" dirty="0">
              <a:solidFill>
                <a:srgbClr val="000000"/>
              </a:solidFill>
              <a:effectLst/>
              <a:highlight>
                <a:srgbClr val="C0C0C0"/>
              </a:highlight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/             \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SIM               NÃO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│                 │</a:t>
            </a: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GRUPO1 -&gt;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NÓ1</a:t>
            </a:r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GRUPO2 -&gt;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NÓ2</a:t>
            </a:r>
            <a:endParaRPr lang="pt-BR" sz="1200" b="1" i="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Roboto Mono" pitchFamily="2" charset="0"/>
            </a:endParaRPr>
          </a:p>
          <a:p>
            <a:pPr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🟢 🟢 🟢 🟢 🔴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FF7474"/>
                </a:highlight>
                <a:latin typeface="Roboto Mono" pitchFamily="2" charset="0"/>
              </a:rPr>
              <a:t>🟢 🔴 🔴 🔴 🔴</a:t>
            </a:r>
          </a:p>
        </p:txBody>
      </p:sp>
    </p:spTree>
    <p:extLst>
      <p:ext uri="{BB962C8B-B14F-4D97-AF65-F5344CB8AC3E}">
        <p14:creationId xmlns:p14="http://schemas.microsoft.com/office/powerpoint/2010/main" val="1522760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A7DA1-0D28-F7DA-9FF5-C6EE774B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05FB47FF-A03B-40EA-53FF-354A9E448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64757FE-704D-F670-F230-30A6A655855B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79AF347-5156-EA3D-AB38-2CC2EBAFA19A}"/>
              </a:ext>
            </a:extLst>
          </p:cNvPr>
          <p:cNvSpPr/>
          <p:nvPr/>
        </p:nvSpPr>
        <p:spPr>
          <a:xfrm>
            <a:off x="242315" y="1148705"/>
            <a:ext cx="76768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– Pureza das Classes - GINI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BF28047-9778-260C-74B6-C411852BDAB2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47B2B71-F3D0-FBB6-ECF1-4D6D694CFAF3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011E1B0-0D7E-0A97-0C5E-F608D7C7E785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71E9CDAD-A57D-8B9C-0673-512D26012C63}"/>
              </a:ext>
            </a:extLst>
          </p:cNvPr>
          <p:cNvSpPr/>
          <p:nvPr/>
        </p:nvSpPr>
        <p:spPr>
          <a:xfrm>
            <a:off x="148652" y="4258945"/>
            <a:ext cx="10955687" cy="97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en-US" sz="1600" b="1" dirty="0">
              <a:solidFill>
                <a:srgbClr val="0B1F3A"/>
              </a:solidFill>
            </a:endParaRPr>
          </a:p>
          <a:p>
            <a:pPr>
              <a:tabLst>
                <a:tab pos="0" algn="l"/>
              </a:tabLst>
              <a:defRPr/>
            </a:pPr>
            <a:endParaRPr lang="en-US" sz="1600" b="1" dirty="0">
              <a:solidFill>
                <a:srgbClr val="0B1F3A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1600" dirty="0">
                <a:solidFill>
                  <a:srgbClr val="0B1F3A"/>
                </a:solidFill>
              </a:rPr>
              <a:t>A </a:t>
            </a:r>
            <a:r>
              <a:rPr lang="en-US" sz="1600" dirty="0" err="1">
                <a:solidFill>
                  <a:srgbClr val="0B1F3A"/>
                </a:solidFill>
              </a:rPr>
              <a:t>pergunta</a:t>
            </a:r>
            <a:r>
              <a:rPr lang="en-US" sz="1600" dirty="0">
                <a:solidFill>
                  <a:srgbClr val="0B1F3A"/>
                </a:solidFill>
              </a:rPr>
              <a:t>  “Tem </a:t>
            </a:r>
            <a:r>
              <a:rPr lang="en-US" sz="1600" dirty="0" err="1">
                <a:solidFill>
                  <a:srgbClr val="0B1F3A"/>
                </a:solidFill>
              </a:rPr>
              <a:t>Aquário</a:t>
            </a:r>
            <a:r>
              <a:rPr lang="en-US" sz="1600" dirty="0">
                <a:solidFill>
                  <a:srgbClr val="0B1F3A"/>
                </a:solidFill>
              </a:rPr>
              <a:t>” </a:t>
            </a:r>
            <a:r>
              <a:rPr lang="en-US" sz="1600" dirty="0" err="1">
                <a:solidFill>
                  <a:srgbClr val="0B1F3A"/>
                </a:solidFill>
              </a:rPr>
              <a:t>gera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dois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nós</a:t>
            </a:r>
            <a:r>
              <a:rPr lang="en-US" sz="1600" dirty="0">
                <a:solidFill>
                  <a:srgbClr val="0B1F3A"/>
                </a:solidFill>
              </a:rPr>
              <a:t> “COM MISTURA” (TEM PELO MENOS 2 ESTRATOS (CLASSES) NO MESMO NÓ);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1600" dirty="0">
                <a:solidFill>
                  <a:srgbClr val="0B1F3A"/>
                </a:solidFill>
              </a:rPr>
              <a:t>A </a:t>
            </a:r>
            <a:r>
              <a:rPr lang="en-US" sz="1600" dirty="0" err="1">
                <a:solidFill>
                  <a:srgbClr val="0B1F3A"/>
                </a:solidFill>
              </a:rPr>
              <a:t>pergunta</a:t>
            </a:r>
            <a:r>
              <a:rPr lang="en-US" sz="1600" dirty="0">
                <a:solidFill>
                  <a:srgbClr val="0B1F3A"/>
                </a:solidFill>
              </a:rPr>
              <a:t>  “USA ALIANÇA” </a:t>
            </a:r>
            <a:r>
              <a:rPr lang="en-US" sz="1600" dirty="0" err="1">
                <a:solidFill>
                  <a:srgbClr val="0B1F3A"/>
                </a:solidFill>
              </a:rPr>
              <a:t>gera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dois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nós</a:t>
            </a:r>
            <a:r>
              <a:rPr lang="en-US" sz="1600" dirty="0">
                <a:solidFill>
                  <a:srgbClr val="0B1F3A"/>
                </a:solidFill>
              </a:rPr>
              <a:t> “PUROS” (TEM 1 ESTRATO (CLASSE) NO NÓ);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en-US" sz="1600" dirty="0">
              <a:solidFill>
                <a:srgbClr val="0B1F3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pt-BR"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47E7D7-058A-1405-4685-2AA9E5ED52C9}"/>
              </a:ext>
            </a:extLst>
          </p:cNvPr>
          <p:cNvSpPr txBox="1"/>
          <p:nvPr/>
        </p:nvSpPr>
        <p:spPr>
          <a:xfrm>
            <a:off x="193282" y="1808072"/>
            <a:ext cx="470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Valor Gini mede justamente essa impureza.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605B060-4FF6-D7E2-753E-01C90F42FC53}"/>
                  </a:ext>
                </a:extLst>
              </p:cNvPr>
              <p:cNvSpPr txBox="1"/>
              <p:nvPr/>
            </p:nvSpPr>
            <p:spPr>
              <a:xfrm>
                <a:off x="377505" y="2415255"/>
                <a:ext cx="2374084" cy="6707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Valor Gini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605B060-4FF6-D7E2-753E-01C90F42F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05" y="2415255"/>
                <a:ext cx="2374084" cy="6707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9275FACE-06C7-E6F3-3864-2A03EDA1A244}"/>
              </a:ext>
            </a:extLst>
          </p:cNvPr>
          <p:cNvSpPr txBox="1"/>
          <p:nvPr/>
        </p:nvSpPr>
        <p:spPr>
          <a:xfrm>
            <a:off x="377505" y="3055161"/>
            <a:ext cx="2827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Ou , mais detalhadamente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A01A26C7-2985-588E-D9C8-7A13515A2B44}"/>
                  </a:ext>
                </a:extLst>
              </p:cNvPr>
              <p:cNvSpPr txBox="1"/>
              <p:nvPr/>
            </p:nvSpPr>
            <p:spPr>
              <a:xfrm>
                <a:off x="377683" y="3595467"/>
                <a:ext cx="4547975" cy="3372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Valor Gini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pt-BR" i="0">
                                  <a:latin typeface="Cambria Math" panose="02040503050406030204" pitchFamily="18" charset="0"/>
                                </a:rPr>
                                <m:t>  casado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pt-BR" i="0">
                                  <a:latin typeface="Cambria Math" panose="02040503050406030204" pitchFamily="18" charset="0"/>
                                </a:rPr>
                                <m:t>  não casado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A01A26C7-2985-588E-D9C8-7A13515A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83" y="3595467"/>
                <a:ext cx="4547975" cy="337272"/>
              </a:xfrm>
              <a:prstGeom prst="rect">
                <a:avLst/>
              </a:prstGeom>
              <a:blipFill>
                <a:blip r:embed="rId6"/>
                <a:stretch>
                  <a:fillRect l="-938" b="-23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775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4726-6F76-DAEE-F3AC-C8004A6EB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3BB3E887-82CC-8BD9-2B41-84F9E529C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DE37298-6104-8E75-65D5-B5044A3F24B0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FBAEFA8-D420-8AB2-C739-C86BC575562A}"/>
              </a:ext>
            </a:extLst>
          </p:cNvPr>
          <p:cNvSpPr/>
          <p:nvPr/>
        </p:nvSpPr>
        <p:spPr>
          <a:xfrm>
            <a:off x="242315" y="1148705"/>
            <a:ext cx="27106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9B0A39A-DEE7-DC05-1200-D335367F97A8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E7DA3AF-DCB5-465B-2391-868DA157581D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EA68767-6DFB-2963-3617-E434CD17CF69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D3BD28-9C99-1B81-E022-F6DB5E55D0DF}"/>
              </a:ext>
            </a:extLst>
          </p:cNvPr>
          <p:cNvSpPr txBox="1"/>
          <p:nvPr/>
        </p:nvSpPr>
        <p:spPr>
          <a:xfrm>
            <a:off x="193282" y="1677847"/>
            <a:ext cx="4572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Joaquim encontrou e classificou 10 pessoas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E52C055-ECAD-669D-F823-200FC8435FCD}"/>
              </a:ext>
            </a:extLst>
          </p:cNvPr>
          <p:cNvSpPr txBox="1"/>
          <p:nvPr/>
        </p:nvSpPr>
        <p:spPr>
          <a:xfrm>
            <a:off x="7600498" y="4736001"/>
            <a:ext cx="3690077" cy="16619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7474F"/>
                </a:solidFill>
                <a:highlight>
                  <a:srgbClr val="00FF00"/>
                </a:highlight>
                <a:latin typeface="Roboto Mono" pitchFamily="2" charset="0"/>
              </a:rPr>
              <a:t>🟢 – Casado</a:t>
            </a:r>
          </a:p>
          <a:p>
            <a:r>
              <a:rPr lang="pt-BR" sz="1200" dirty="0">
                <a:solidFill>
                  <a:srgbClr val="37474F"/>
                </a:solidFill>
                <a:highlight>
                  <a:srgbClr val="FF7474"/>
                </a:highlight>
                <a:latin typeface="Roboto Mono" pitchFamily="2" charset="0"/>
              </a:rPr>
              <a:t>🔴 – Solteiro</a:t>
            </a:r>
          </a:p>
          <a:p>
            <a:endParaRPr lang="pt-BR" sz="1200" dirty="0">
              <a:solidFill>
                <a:srgbClr val="37474F"/>
              </a:solidFill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</a:t>
            </a:r>
            <a:r>
              <a:rPr lang="pt-BR" dirty="0">
                <a:highlight>
                  <a:srgbClr val="D6DCE5"/>
                </a:highlight>
              </a:rPr>
              <a:t>USA ALIANÇA?</a:t>
            </a: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/             \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SIM               NÃO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│                 │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🟢 🟢 🟢 🟢 </a:t>
            </a:r>
            <a:r>
              <a:rPr lang="pt-BR" sz="1200" dirty="0">
                <a:solidFill>
                  <a:srgbClr val="37474F"/>
                </a:solidFill>
                <a:highlight>
                  <a:srgbClr val="00FF00"/>
                </a:highlight>
                <a:latin typeface="Roboto Mono" pitchFamily="2" charset="0"/>
              </a:rPr>
              <a:t>🟢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200" dirty="0">
                <a:solidFill>
                  <a:srgbClr val="37474F"/>
                </a:solidFill>
                <a:highlight>
                  <a:srgbClr val="FF7474"/>
                </a:highlight>
                <a:latin typeface="Roboto Mono" pitchFamily="2" charset="0"/>
              </a:rPr>
              <a:t>🔴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FF7474"/>
                </a:highlight>
                <a:latin typeface="Roboto Mono" pitchFamily="2" charset="0"/>
              </a:rPr>
              <a:t> 🔴 🔴 🔴 🔴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689EA6D-13E1-04EF-4F5F-7C69CD067937}"/>
              </a:ext>
            </a:extLst>
          </p:cNvPr>
          <p:cNvSpPr txBox="1"/>
          <p:nvPr/>
        </p:nvSpPr>
        <p:spPr>
          <a:xfrm>
            <a:off x="7844651" y="4247744"/>
            <a:ext cx="2482197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dirty="0"/>
              <a:t>Pergunta TEM ALIANÇA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922D002-8773-7EF6-3F23-59A14BCA15C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89614"/>
          <a:ext cx="6225330" cy="3352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245066">
                  <a:extLst>
                    <a:ext uri="{9D8B030D-6E8A-4147-A177-3AD203B41FA5}">
                      <a16:colId xmlns:a16="http://schemas.microsoft.com/office/drawing/2014/main" val="2200803114"/>
                    </a:ext>
                  </a:extLst>
                </a:gridCol>
                <a:gridCol w="1245066">
                  <a:extLst>
                    <a:ext uri="{9D8B030D-6E8A-4147-A177-3AD203B41FA5}">
                      <a16:colId xmlns:a16="http://schemas.microsoft.com/office/drawing/2014/main" val="2254309218"/>
                    </a:ext>
                  </a:extLst>
                </a:gridCol>
                <a:gridCol w="1245066">
                  <a:extLst>
                    <a:ext uri="{9D8B030D-6E8A-4147-A177-3AD203B41FA5}">
                      <a16:colId xmlns:a16="http://schemas.microsoft.com/office/drawing/2014/main" val="2331909233"/>
                    </a:ext>
                  </a:extLst>
                </a:gridCol>
                <a:gridCol w="1245066">
                  <a:extLst>
                    <a:ext uri="{9D8B030D-6E8A-4147-A177-3AD203B41FA5}">
                      <a16:colId xmlns:a16="http://schemas.microsoft.com/office/drawing/2014/main" val="2108727524"/>
                    </a:ext>
                  </a:extLst>
                </a:gridCol>
                <a:gridCol w="1245066">
                  <a:extLst>
                    <a:ext uri="{9D8B030D-6E8A-4147-A177-3AD203B41FA5}">
                      <a16:colId xmlns:a16="http://schemas.microsoft.com/office/drawing/2014/main" val="3535683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Pessoa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Aquário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Filhos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Aliança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Casado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18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78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524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065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030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043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561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159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435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648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</a:t>
                      </a:r>
                    </a:p>
                  </a:txBody>
                  <a:tcPr anchor="ctr"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306641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05663042-9A57-58FE-0E87-5D5986ECE382}"/>
              </a:ext>
            </a:extLst>
          </p:cNvPr>
          <p:cNvSpPr txBox="1"/>
          <p:nvPr/>
        </p:nvSpPr>
        <p:spPr>
          <a:xfrm>
            <a:off x="7443390" y="1698005"/>
            <a:ext cx="3690077" cy="2123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7474F"/>
                </a:solidFill>
                <a:highlight>
                  <a:srgbClr val="00FF00"/>
                </a:highlight>
                <a:latin typeface="Roboto Mono" pitchFamily="2" charset="0"/>
              </a:rPr>
              <a:t>🟢 – Casado</a:t>
            </a:r>
          </a:p>
          <a:p>
            <a:r>
              <a:rPr lang="pt-BR" sz="1200" dirty="0">
                <a:solidFill>
                  <a:srgbClr val="37474F"/>
                </a:solidFill>
                <a:highlight>
                  <a:srgbClr val="FF7474"/>
                </a:highlight>
                <a:latin typeface="Roboto Mono" pitchFamily="2" charset="0"/>
              </a:rPr>
              <a:t>🔴 – Solteiro</a:t>
            </a:r>
          </a:p>
          <a:p>
            <a:endParaRPr lang="pt-BR" sz="1200" dirty="0">
              <a:solidFill>
                <a:srgbClr val="37474F"/>
              </a:solidFill>
              <a:highlight>
                <a:srgbClr val="FF7474"/>
              </a:highlight>
              <a:latin typeface="Roboto Mono" pitchFamily="2" charset="0"/>
            </a:endParaRP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  </a:t>
            </a:r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TOTAL PESSOAS -&gt; NÓ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RAIZ</a:t>
            </a:r>
          </a:p>
          <a:p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                |</a:t>
            </a:r>
            <a:endParaRPr lang="pt-BR" sz="1200" dirty="0">
              <a:solidFill>
                <a:srgbClr val="37474F"/>
              </a:solidFill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Roboto Mono" pitchFamily="2" charset="0"/>
              </a:rPr>
              <a:t>TEM AQUÁRIO?</a:t>
            </a:r>
            <a:endParaRPr lang="pt-BR" sz="1200" b="0" i="0" dirty="0">
              <a:solidFill>
                <a:srgbClr val="000000"/>
              </a:solidFill>
              <a:effectLst/>
              <a:highlight>
                <a:srgbClr val="C0C0C0"/>
              </a:highlight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/             \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SIM               NÃO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│                 │</a:t>
            </a: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GRUPO1 -&gt;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NÓ1</a:t>
            </a:r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GRUPO2 -&gt;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NÓ2</a:t>
            </a:r>
            <a:endParaRPr lang="pt-BR" sz="1200" b="1" i="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Roboto Mono" pitchFamily="2" charset="0"/>
            </a:endParaRPr>
          </a:p>
          <a:p>
            <a:pPr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🟢 🟢 🟢 🟢 🔴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FF7474"/>
                </a:highlight>
                <a:latin typeface="Roboto Mono" pitchFamily="2" charset="0"/>
              </a:rPr>
              <a:t>🟢 🔴 🔴 🔴 🔴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679771E-035F-37DA-B904-DE71FFA6F92D}"/>
              </a:ext>
            </a:extLst>
          </p:cNvPr>
          <p:cNvSpPr txBox="1"/>
          <p:nvPr/>
        </p:nvSpPr>
        <p:spPr>
          <a:xfrm>
            <a:off x="7997051" y="1170379"/>
            <a:ext cx="2564688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dirty="0"/>
              <a:t>Pergunta TEM AQUÁRIO</a:t>
            </a:r>
          </a:p>
        </p:txBody>
      </p:sp>
    </p:spTree>
    <p:extLst>
      <p:ext uri="{BB962C8B-B14F-4D97-AF65-F5344CB8AC3E}">
        <p14:creationId xmlns:p14="http://schemas.microsoft.com/office/powerpoint/2010/main" val="2531457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5F6D48-E3B3-4E85-1316-3BB9BF96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A1B6EFA4-B465-5D38-D542-F37519F88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72354FA-3855-44B9-74C4-59186BA9D755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CD34309-6567-5E14-F642-1AD15604FB8E}"/>
              </a:ext>
            </a:extLst>
          </p:cNvPr>
          <p:cNvSpPr/>
          <p:nvPr/>
        </p:nvSpPr>
        <p:spPr>
          <a:xfrm>
            <a:off x="242315" y="1148705"/>
            <a:ext cx="64353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– Pureza das Classes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B81A7E7-897F-9CB4-3ABF-6287D82D7BDD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86AE06D-3FB7-0395-CEB2-4089C1753C2C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EC65CF51-98ED-D065-9662-F5523C0B961D}"/>
              </a:ext>
            </a:extLst>
          </p:cNvPr>
          <p:cNvSpPr/>
          <p:nvPr/>
        </p:nvSpPr>
        <p:spPr>
          <a:xfrm>
            <a:off x="135516" y="2548285"/>
            <a:ext cx="5113656" cy="3071743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2F9CEEF-0F33-D735-6C6F-32F8804A79A6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E6CBE1-B819-4B36-0B8A-A0C73EBB186E}"/>
              </a:ext>
            </a:extLst>
          </p:cNvPr>
          <p:cNvSpPr txBox="1"/>
          <p:nvPr/>
        </p:nvSpPr>
        <p:spPr>
          <a:xfrm>
            <a:off x="6648923" y="1379475"/>
            <a:ext cx="3690077" cy="2123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7474F"/>
                </a:solidFill>
                <a:highlight>
                  <a:srgbClr val="00FF00"/>
                </a:highlight>
                <a:latin typeface="Roboto Mono" pitchFamily="2" charset="0"/>
              </a:rPr>
              <a:t>🟢 – Casado</a:t>
            </a:r>
          </a:p>
          <a:p>
            <a:r>
              <a:rPr lang="pt-BR" sz="1200" dirty="0">
                <a:solidFill>
                  <a:srgbClr val="37474F"/>
                </a:solidFill>
                <a:highlight>
                  <a:srgbClr val="FF7474"/>
                </a:highlight>
                <a:latin typeface="Roboto Mono" pitchFamily="2" charset="0"/>
              </a:rPr>
              <a:t>🔴 – Solteiro</a:t>
            </a:r>
          </a:p>
          <a:p>
            <a:endParaRPr lang="pt-BR" sz="1200" dirty="0">
              <a:solidFill>
                <a:srgbClr val="37474F"/>
              </a:solidFill>
              <a:highlight>
                <a:srgbClr val="FF7474"/>
              </a:highlight>
              <a:latin typeface="Roboto Mono" pitchFamily="2" charset="0"/>
            </a:endParaRP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  </a:t>
            </a:r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TOTAL PESSOAS -&gt; NÓ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RAIZ</a:t>
            </a:r>
          </a:p>
          <a:p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                |</a:t>
            </a:r>
            <a:endParaRPr lang="pt-BR" sz="1200" dirty="0">
              <a:solidFill>
                <a:srgbClr val="37474F"/>
              </a:solidFill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Roboto Mono" pitchFamily="2" charset="0"/>
              </a:rPr>
              <a:t>TEM AQUÁRIO?</a:t>
            </a:r>
            <a:endParaRPr lang="pt-BR" sz="1200" b="0" i="0" dirty="0">
              <a:solidFill>
                <a:srgbClr val="000000"/>
              </a:solidFill>
              <a:effectLst/>
              <a:highlight>
                <a:srgbClr val="C0C0C0"/>
              </a:highlight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/             \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SIM               NÃO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│                 │</a:t>
            </a: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GRUPO1 -&gt;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NÓ1</a:t>
            </a:r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GRUPO2 -&gt;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NÓ2</a:t>
            </a:r>
            <a:endParaRPr lang="pt-BR" sz="1200" b="1" i="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Roboto Mono" pitchFamily="2" charset="0"/>
            </a:endParaRPr>
          </a:p>
          <a:p>
            <a:pPr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🟢 🟢 🟢 🟢 🔴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FF7474"/>
                </a:highlight>
                <a:latin typeface="Roboto Mono" pitchFamily="2" charset="0"/>
              </a:rPr>
              <a:t>🟢 🔴 🔴 🔴 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C45FA370-2BC7-38F4-6114-D8F58F5FE052}"/>
                  </a:ext>
                </a:extLst>
              </p:cNvPr>
              <p:cNvSpPr txBox="1"/>
              <p:nvPr/>
            </p:nvSpPr>
            <p:spPr>
              <a:xfrm>
                <a:off x="162435" y="3564719"/>
                <a:ext cx="2079544" cy="519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i="0">
                              <a:latin typeface="Cambria Math" panose="02040503050406030204" pitchFamily="18" charset="0"/>
                            </a:rPr>
                            <m:t>casado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=0,8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C45FA370-2BC7-38F4-6114-D8F58F5FE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35" y="3564719"/>
                <a:ext cx="2079544" cy="5194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5F72138B-D74F-65D5-4B7D-72E8B038561A}"/>
                  </a:ext>
                </a:extLst>
              </p:cNvPr>
              <p:cNvSpPr txBox="1"/>
              <p:nvPr/>
            </p:nvSpPr>
            <p:spPr>
              <a:xfrm>
                <a:off x="2692344" y="3516857"/>
                <a:ext cx="2493118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i="0">
                              <a:latin typeface="Cambria Math" panose="02040503050406030204" pitchFamily="18" charset="0"/>
                            </a:rPr>
                            <m:t>não casado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=0,2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5F72138B-D74F-65D5-4B7D-72E8B0385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344" y="3516857"/>
                <a:ext cx="2493118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35E5447D-80DA-D537-C25E-306A4DFA4E82}"/>
                  </a:ext>
                </a:extLst>
              </p:cNvPr>
              <p:cNvSpPr txBox="1"/>
              <p:nvPr/>
            </p:nvSpPr>
            <p:spPr>
              <a:xfrm>
                <a:off x="181977" y="4128644"/>
                <a:ext cx="24766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0,8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0,2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35E5447D-80DA-D537-C25E-306A4DFA4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77" y="4128644"/>
                <a:ext cx="2476639" cy="276999"/>
              </a:xfrm>
              <a:prstGeom prst="rect">
                <a:avLst/>
              </a:prstGeom>
              <a:blipFill>
                <a:blip r:embed="rId7"/>
                <a:stretch>
                  <a:fillRect l="-1970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F342CBEC-944D-D9DC-7C9F-270D7D6763B4}"/>
                  </a:ext>
                </a:extLst>
              </p:cNvPr>
              <p:cNvSpPr txBox="1"/>
              <p:nvPr/>
            </p:nvSpPr>
            <p:spPr>
              <a:xfrm>
                <a:off x="209066" y="4457320"/>
                <a:ext cx="25184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0,64+0,04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F342CBEC-944D-D9DC-7C9F-270D7D676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66" y="4457320"/>
                <a:ext cx="2518446" cy="276999"/>
              </a:xfrm>
              <a:prstGeom prst="rect">
                <a:avLst/>
              </a:prstGeom>
              <a:blipFill>
                <a:blip r:embed="rId8"/>
                <a:stretch>
                  <a:fillRect l="-1937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199B2742-FC0E-036E-D2F9-CF5630896CF4}"/>
                  </a:ext>
                </a:extLst>
              </p:cNvPr>
              <p:cNvSpPr txBox="1"/>
              <p:nvPr/>
            </p:nvSpPr>
            <p:spPr>
              <a:xfrm>
                <a:off x="181977" y="4811565"/>
                <a:ext cx="1322092" cy="343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=0,32</m:t>
                          </m:r>
                        </m:e>
                      </m:borderBox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199B2742-FC0E-036E-D2F9-CF5630896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77" y="4811565"/>
                <a:ext cx="1322092" cy="343299"/>
              </a:xfrm>
              <a:prstGeom prst="rect">
                <a:avLst/>
              </a:prstGeom>
              <a:blipFill>
                <a:blip r:embed="rId9"/>
                <a:stretch>
                  <a:fillRect l="-4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CaixaDeTexto 43">
            <a:extLst>
              <a:ext uri="{FF2B5EF4-FFF2-40B4-BE49-F238E27FC236}">
                <a16:creationId xmlns:a16="http://schemas.microsoft.com/office/drawing/2014/main" id="{A2A31E48-3B58-0503-A23C-7FA40D0208F2}"/>
              </a:ext>
            </a:extLst>
          </p:cNvPr>
          <p:cNvSpPr txBox="1"/>
          <p:nvPr/>
        </p:nvSpPr>
        <p:spPr>
          <a:xfrm>
            <a:off x="236609" y="2664120"/>
            <a:ext cx="199125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Nó1 – </a:t>
            </a:r>
            <a:r>
              <a:rPr lang="pt-BR" dirty="0" err="1"/>
              <a:t>Aquario</a:t>
            </a:r>
            <a:r>
              <a:rPr lang="pt-BR" dirty="0"/>
              <a:t> SIM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473582DD-0A3C-7A23-155F-E8F403D26C83}"/>
              </a:ext>
            </a:extLst>
          </p:cNvPr>
          <p:cNvSpPr/>
          <p:nvPr/>
        </p:nvSpPr>
        <p:spPr>
          <a:xfrm>
            <a:off x="6841735" y="3626237"/>
            <a:ext cx="5113656" cy="3071743"/>
          </a:xfrm>
          <a:prstGeom prst="rect">
            <a:avLst/>
          </a:prstGeom>
          <a:solidFill>
            <a:srgbClr val="FF7474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94774197-4C13-7637-A526-D0687577694D}"/>
                  </a:ext>
                </a:extLst>
              </p:cNvPr>
              <p:cNvSpPr txBox="1"/>
              <p:nvPr/>
            </p:nvSpPr>
            <p:spPr>
              <a:xfrm>
                <a:off x="6868654" y="4642671"/>
                <a:ext cx="2079544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i="0">
                              <a:latin typeface="Cambria Math" panose="02040503050406030204" pitchFamily="18" charset="0"/>
                            </a:rPr>
                            <m:t>casado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94774197-4C13-7637-A526-D06875776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654" y="4642671"/>
                <a:ext cx="2079544" cy="5204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343392B5-89AB-ECD2-E13A-147F4A53A4DF}"/>
                  </a:ext>
                </a:extLst>
              </p:cNvPr>
              <p:cNvSpPr txBox="1"/>
              <p:nvPr/>
            </p:nvSpPr>
            <p:spPr>
              <a:xfrm>
                <a:off x="9398563" y="4594809"/>
                <a:ext cx="2411366" cy="3922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t-BR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pt-BR" i="0">
                            <a:latin typeface="Cambria Math" panose="02040503050406030204" pitchFamily="18" charset="0"/>
                          </a:rPr>
                          <m:t>não casado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i="1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pt-BR" dirty="0"/>
                  <a:t>8</a:t>
                </a: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343392B5-89AB-ECD2-E13A-147F4A53A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563" y="4594809"/>
                <a:ext cx="2411366" cy="392287"/>
              </a:xfrm>
              <a:prstGeom prst="rect">
                <a:avLst/>
              </a:prstGeom>
              <a:blipFill>
                <a:blip r:embed="rId11"/>
                <a:stretch>
                  <a:fillRect l="-3544" t="-3125" r="-5063" b="-234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C42D6029-3A86-A10B-70B1-93728571B54F}"/>
                  </a:ext>
                </a:extLst>
              </p:cNvPr>
              <p:cNvSpPr txBox="1"/>
              <p:nvPr/>
            </p:nvSpPr>
            <p:spPr>
              <a:xfrm>
                <a:off x="6888196" y="5206596"/>
                <a:ext cx="24766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C42D6029-3A86-A10B-70B1-93728571B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196" y="5206596"/>
                <a:ext cx="2476640" cy="276999"/>
              </a:xfrm>
              <a:prstGeom prst="rect">
                <a:avLst/>
              </a:prstGeom>
              <a:blipFill>
                <a:blip r:embed="rId12"/>
                <a:stretch>
                  <a:fillRect l="-1970" t="-2174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2FE259D9-19EA-8680-B050-0AB81FA82156}"/>
                  </a:ext>
                </a:extLst>
              </p:cNvPr>
              <p:cNvSpPr txBox="1"/>
              <p:nvPr/>
            </p:nvSpPr>
            <p:spPr>
              <a:xfrm>
                <a:off x="6915285" y="5535272"/>
                <a:ext cx="23902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2FE259D9-19EA-8680-B050-0AB81FA82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285" y="5535272"/>
                <a:ext cx="2390206" cy="276999"/>
              </a:xfrm>
              <a:prstGeom prst="rect">
                <a:avLst/>
              </a:prstGeom>
              <a:blipFill>
                <a:blip r:embed="rId13"/>
                <a:stretch>
                  <a:fillRect l="-2041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FFFF3AEE-015E-349F-7E74-E546FD5500C8}"/>
                  </a:ext>
                </a:extLst>
              </p:cNvPr>
              <p:cNvSpPr txBox="1"/>
              <p:nvPr/>
            </p:nvSpPr>
            <p:spPr>
              <a:xfrm>
                <a:off x="6888196" y="5889517"/>
                <a:ext cx="1322092" cy="343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=0,32</m:t>
                          </m:r>
                        </m:e>
                      </m:borderBox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FFFF3AEE-015E-349F-7E74-E546FD550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196" y="5889517"/>
                <a:ext cx="1322092" cy="343299"/>
              </a:xfrm>
              <a:prstGeom prst="rect">
                <a:avLst/>
              </a:prstGeom>
              <a:blipFill>
                <a:blip r:embed="rId14"/>
                <a:stretch>
                  <a:fillRect l="-4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CaixaDeTexto 50">
            <a:extLst>
              <a:ext uri="{FF2B5EF4-FFF2-40B4-BE49-F238E27FC236}">
                <a16:creationId xmlns:a16="http://schemas.microsoft.com/office/drawing/2014/main" id="{7D2DF0B4-2572-C0D5-5F89-01EB3DA03AA4}"/>
              </a:ext>
            </a:extLst>
          </p:cNvPr>
          <p:cNvSpPr txBox="1"/>
          <p:nvPr/>
        </p:nvSpPr>
        <p:spPr>
          <a:xfrm>
            <a:off x="6942828" y="3742072"/>
            <a:ext cx="208281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Nó2 – </a:t>
            </a:r>
            <a:r>
              <a:rPr lang="pt-BR" dirty="0" err="1"/>
              <a:t>Aquario</a:t>
            </a:r>
            <a:r>
              <a:rPr lang="pt-BR" dirty="0"/>
              <a:t> NÃO</a:t>
            </a:r>
          </a:p>
        </p:txBody>
      </p:sp>
    </p:spTree>
    <p:extLst>
      <p:ext uri="{BB962C8B-B14F-4D97-AF65-F5344CB8AC3E}">
        <p14:creationId xmlns:p14="http://schemas.microsoft.com/office/powerpoint/2010/main" val="1179360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EB7C2-5B95-8B87-4CC2-C0005157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9DC811F5-B53C-499B-C744-2048E3DC4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97C388D-A92A-B5B7-ED49-D29C294FC1BA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7B355F0-8AFE-611A-F617-1F542A3751ED}"/>
              </a:ext>
            </a:extLst>
          </p:cNvPr>
          <p:cNvSpPr/>
          <p:nvPr/>
        </p:nvSpPr>
        <p:spPr>
          <a:xfrm>
            <a:off x="242315" y="1148705"/>
            <a:ext cx="64353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– Pureza das Classes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6204B6B-2ABF-5359-2816-D62C3F6A12BD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7B766EF-06F2-770D-221E-7B994D25E9C0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B3113ACF-389F-1AB2-106D-A900133473E9}"/>
              </a:ext>
            </a:extLst>
          </p:cNvPr>
          <p:cNvSpPr/>
          <p:nvPr/>
        </p:nvSpPr>
        <p:spPr>
          <a:xfrm>
            <a:off x="135516" y="2548285"/>
            <a:ext cx="5113656" cy="3071743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115A5A4-0201-C6A8-75CB-888B322C7713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D6A6AC51-0DAE-50EA-1BFB-934154F3D159}"/>
                  </a:ext>
                </a:extLst>
              </p:cNvPr>
              <p:cNvSpPr txBox="1"/>
              <p:nvPr/>
            </p:nvSpPr>
            <p:spPr>
              <a:xfrm>
                <a:off x="162435" y="3564719"/>
                <a:ext cx="2079544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i="0">
                              <a:latin typeface="Cambria Math" panose="02040503050406030204" pitchFamily="18" charset="0"/>
                            </a:rPr>
                            <m:t>casado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D6A6AC51-0DAE-50EA-1BFB-934154F3D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35" y="3564719"/>
                <a:ext cx="2079544" cy="5260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BE1246E8-38A9-982B-F312-13C372722B1E}"/>
                  </a:ext>
                </a:extLst>
              </p:cNvPr>
              <p:cNvSpPr txBox="1"/>
              <p:nvPr/>
            </p:nvSpPr>
            <p:spPr>
              <a:xfrm>
                <a:off x="2692344" y="3516857"/>
                <a:ext cx="2493118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i="0">
                              <a:latin typeface="Cambria Math" panose="02040503050406030204" pitchFamily="18" charset="0"/>
                            </a:rPr>
                            <m:t>não casado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BE1246E8-38A9-982B-F312-13C372722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344" y="3516857"/>
                <a:ext cx="2493118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BB45A626-7ED9-C6DE-4770-5A795A1EC101}"/>
                  </a:ext>
                </a:extLst>
              </p:cNvPr>
              <p:cNvSpPr txBox="1"/>
              <p:nvPr/>
            </p:nvSpPr>
            <p:spPr>
              <a:xfrm>
                <a:off x="181977" y="4128644"/>
                <a:ext cx="24766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BB45A626-7ED9-C6DE-4770-5A795A1EC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77" y="4128644"/>
                <a:ext cx="2476640" cy="276999"/>
              </a:xfrm>
              <a:prstGeom prst="rect">
                <a:avLst/>
              </a:prstGeom>
              <a:blipFill>
                <a:blip r:embed="rId7"/>
                <a:stretch>
                  <a:fillRect l="-1970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B67662E-8FE4-A92F-08A2-FE8948F55C6F}"/>
                  </a:ext>
                </a:extLst>
              </p:cNvPr>
              <p:cNvSpPr txBox="1"/>
              <p:nvPr/>
            </p:nvSpPr>
            <p:spPr>
              <a:xfrm>
                <a:off x="209066" y="4457320"/>
                <a:ext cx="19093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B67662E-8FE4-A92F-08A2-FE8948F55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66" y="4457320"/>
                <a:ext cx="1909304" cy="276999"/>
              </a:xfrm>
              <a:prstGeom prst="rect">
                <a:avLst/>
              </a:prstGeom>
              <a:blipFill>
                <a:blip r:embed="rId8"/>
                <a:stretch>
                  <a:fillRect l="-2866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668ACA54-B55C-C1F9-58FE-5999C7C3D3CE}"/>
                  </a:ext>
                </a:extLst>
              </p:cNvPr>
              <p:cNvSpPr txBox="1"/>
              <p:nvPr/>
            </p:nvSpPr>
            <p:spPr>
              <a:xfrm>
                <a:off x="165016" y="5094564"/>
                <a:ext cx="1193852" cy="343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=0,0</m:t>
                          </m:r>
                        </m:e>
                      </m:borderBox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668ACA54-B55C-C1F9-58FE-5999C7C3D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16" y="5094564"/>
                <a:ext cx="1193852" cy="343299"/>
              </a:xfrm>
              <a:prstGeom prst="rect">
                <a:avLst/>
              </a:prstGeom>
              <a:blipFill>
                <a:blip r:embed="rId9"/>
                <a:stretch>
                  <a:fillRect l="-510" r="-5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CaixaDeTexto 43">
            <a:extLst>
              <a:ext uri="{FF2B5EF4-FFF2-40B4-BE49-F238E27FC236}">
                <a16:creationId xmlns:a16="http://schemas.microsoft.com/office/drawing/2014/main" id="{6B01E3A4-EE93-C26A-40C0-57D190ABC195}"/>
              </a:ext>
            </a:extLst>
          </p:cNvPr>
          <p:cNvSpPr txBox="1"/>
          <p:nvPr/>
        </p:nvSpPr>
        <p:spPr>
          <a:xfrm>
            <a:off x="236609" y="2664120"/>
            <a:ext cx="195944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Nó1 – Aliança SIM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20ECB42-436D-20AE-5658-3A1DC68D5214}"/>
              </a:ext>
            </a:extLst>
          </p:cNvPr>
          <p:cNvSpPr/>
          <p:nvPr/>
        </p:nvSpPr>
        <p:spPr>
          <a:xfrm>
            <a:off x="6841735" y="3626237"/>
            <a:ext cx="5113656" cy="3071743"/>
          </a:xfrm>
          <a:prstGeom prst="rect">
            <a:avLst/>
          </a:prstGeom>
          <a:solidFill>
            <a:srgbClr val="FF7474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A55D8EF9-04AA-9B8D-A1B7-A7735FFE395C}"/>
                  </a:ext>
                </a:extLst>
              </p:cNvPr>
              <p:cNvSpPr txBox="1"/>
              <p:nvPr/>
            </p:nvSpPr>
            <p:spPr>
              <a:xfrm>
                <a:off x="6868654" y="4642671"/>
                <a:ext cx="1951303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i="0">
                              <a:latin typeface="Cambria Math" panose="02040503050406030204" pitchFamily="18" charset="0"/>
                            </a:rPr>
                            <m:t>casado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A55D8EF9-04AA-9B8D-A1B7-A7735FFE3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654" y="4642671"/>
                <a:ext cx="1951303" cy="5204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53207401-F05E-B8B9-CE40-5CFF4F388926}"/>
                  </a:ext>
                </a:extLst>
              </p:cNvPr>
              <p:cNvSpPr txBox="1"/>
              <p:nvPr/>
            </p:nvSpPr>
            <p:spPr>
              <a:xfrm>
                <a:off x="9398563" y="4594809"/>
                <a:ext cx="2493118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i="0">
                              <a:latin typeface="Cambria Math" panose="02040503050406030204" pitchFamily="18" charset="0"/>
                            </a:rPr>
                            <m:t>não casado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53207401-F05E-B8B9-CE40-5CFF4F388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563" y="4594809"/>
                <a:ext cx="2493118" cy="5260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88BE5EE2-5FF1-0B04-0DD1-F019119C9516}"/>
                  </a:ext>
                </a:extLst>
              </p:cNvPr>
              <p:cNvSpPr txBox="1"/>
              <p:nvPr/>
            </p:nvSpPr>
            <p:spPr>
              <a:xfrm>
                <a:off x="6888196" y="5206596"/>
                <a:ext cx="24766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88BE5EE2-5FF1-0B04-0DD1-F019119C9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196" y="5206596"/>
                <a:ext cx="2476640" cy="276999"/>
              </a:xfrm>
              <a:prstGeom prst="rect">
                <a:avLst/>
              </a:prstGeom>
              <a:blipFill>
                <a:blip r:embed="rId12"/>
                <a:stretch>
                  <a:fillRect l="-1970" t="-2174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C59BCBAB-24BB-45EA-1586-C7F30666BB8D}"/>
                  </a:ext>
                </a:extLst>
              </p:cNvPr>
              <p:cNvSpPr txBox="1"/>
              <p:nvPr/>
            </p:nvSpPr>
            <p:spPr>
              <a:xfrm>
                <a:off x="6915285" y="5535272"/>
                <a:ext cx="19093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C59BCBAB-24BB-45EA-1586-C7F30666B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285" y="5535272"/>
                <a:ext cx="1909304" cy="276999"/>
              </a:xfrm>
              <a:prstGeom prst="rect">
                <a:avLst/>
              </a:prstGeom>
              <a:blipFill>
                <a:blip r:embed="rId13"/>
                <a:stretch>
                  <a:fillRect l="-2866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6B9B7701-179C-CF68-51A4-21A6E611C162}"/>
                  </a:ext>
                </a:extLst>
              </p:cNvPr>
              <p:cNvSpPr txBox="1"/>
              <p:nvPr/>
            </p:nvSpPr>
            <p:spPr>
              <a:xfrm>
                <a:off x="6888196" y="6199910"/>
                <a:ext cx="1193852" cy="343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=0,0</m:t>
                          </m:r>
                        </m:e>
                      </m:borderBox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6B9B7701-179C-CF68-51A4-21A6E611C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196" y="6199910"/>
                <a:ext cx="1193852" cy="343299"/>
              </a:xfrm>
              <a:prstGeom prst="rect">
                <a:avLst/>
              </a:prstGeom>
              <a:blipFill>
                <a:blip r:embed="rId14"/>
                <a:stretch>
                  <a:fillRect l="-5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CaixaDeTexto 50">
            <a:extLst>
              <a:ext uri="{FF2B5EF4-FFF2-40B4-BE49-F238E27FC236}">
                <a16:creationId xmlns:a16="http://schemas.microsoft.com/office/drawing/2014/main" id="{77A11364-B4EA-5337-7932-243C8424D877}"/>
              </a:ext>
            </a:extLst>
          </p:cNvPr>
          <p:cNvSpPr txBox="1"/>
          <p:nvPr/>
        </p:nvSpPr>
        <p:spPr>
          <a:xfrm>
            <a:off x="6942828" y="3742072"/>
            <a:ext cx="205101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Nó2 – Aliança NÃO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859CA34-D1C1-0B47-7FAF-B70A47BB7757}"/>
              </a:ext>
            </a:extLst>
          </p:cNvPr>
          <p:cNvSpPr txBox="1"/>
          <p:nvPr/>
        </p:nvSpPr>
        <p:spPr>
          <a:xfrm>
            <a:off x="7308280" y="1166112"/>
            <a:ext cx="3690077" cy="2123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7474F"/>
                </a:solidFill>
                <a:highlight>
                  <a:srgbClr val="00FF00"/>
                </a:highlight>
                <a:latin typeface="Roboto Mono" pitchFamily="2" charset="0"/>
              </a:rPr>
              <a:t>🟢 – Casado</a:t>
            </a:r>
          </a:p>
          <a:p>
            <a:r>
              <a:rPr lang="pt-BR" sz="1200" dirty="0">
                <a:solidFill>
                  <a:srgbClr val="37474F"/>
                </a:solidFill>
                <a:highlight>
                  <a:srgbClr val="FF7474"/>
                </a:highlight>
                <a:latin typeface="Roboto Mono" pitchFamily="2" charset="0"/>
              </a:rPr>
              <a:t>🔴 – Solteiro</a:t>
            </a:r>
          </a:p>
          <a:p>
            <a:endParaRPr lang="pt-BR" sz="1200" dirty="0">
              <a:solidFill>
                <a:srgbClr val="37474F"/>
              </a:solidFill>
              <a:highlight>
                <a:srgbClr val="FF7474"/>
              </a:highlight>
              <a:latin typeface="Roboto Mono" pitchFamily="2" charset="0"/>
            </a:endParaRP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  </a:t>
            </a:r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TOTAL PESSOAS -&gt; NÓ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RAIZ</a:t>
            </a:r>
          </a:p>
          <a:p>
            <a:r>
              <a:rPr lang="pt-BR" sz="1200" b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                |</a:t>
            </a:r>
            <a:endParaRPr lang="pt-BR" sz="1200" dirty="0">
              <a:solidFill>
                <a:srgbClr val="37474F"/>
              </a:solidFill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  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Roboto Mono" pitchFamily="2" charset="0"/>
              </a:rPr>
              <a:t>USA ALIANÇA?</a:t>
            </a:r>
            <a:endParaRPr lang="pt-BR" sz="1200" b="0" i="0" dirty="0">
              <a:solidFill>
                <a:srgbClr val="000000"/>
              </a:solidFill>
              <a:effectLst/>
              <a:highlight>
                <a:srgbClr val="C0C0C0"/>
              </a:highlight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 /             \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SIM               NÃO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│                 │</a:t>
            </a:r>
          </a:p>
          <a:p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GRUPO1 -&gt;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NÓ1</a:t>
            </a:r>
            <a:r>
              <a:rPr lang="pt-BR" sz="1200" dirty="0">
                <a:solidFill>
                  <a:srgbClr val="37474F"/>
                </a:solidFill>
                <a:latin typeface="Roboto Mono" pitchFamily="2" charset="0"/>
              </a:rPr>
              <a:t>         </a:t>
            </a:r>
            <a:r>
              <a:rPr lang="pt-BR" sz="1200" b="1" dirty="0">
                <a:solidFill>
                  <a:srgbClr val="37474F"/>
                </a:solidFill>
                <a:highlight>
                  <a:srgbClr val="FFFF00"/>
                </a:highlight>
                <a:latin typeface="Roboto Mono" pitchFamily="2" charset="0"/>
              </a:rPr>
              <a:t>GRUPO2 -&gt; </a:t>
            </a:r>
            <a:r>
              <a:rPr lang="pt-BR" sz="1200" b="1" u="sng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 Mono" pitchFamily="2" charset="0"/>
              </a:rPr>
              <a:t>NÓ2</a:t>
            </a:r>
            <a:endParaRPr lang="pt-BR" sz="1200" b="1" i="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Roboto Mono" pitchFamily="2" charset="0"/>
            </a:endParaRPr>
          </a:p>
          <a:p>
            <a:pPr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Roboto Mono" pitchFamily="2" charset="0"/>
              </a:rPr>
              <a:t>🟢 🟢 🟢 🟢 </a:t>
            </a:r>
            <a:r>
              <a:rPr lang="pt-BR" sz="1200" dirty="0">
                <a:solidFill>
                  <a:srgbClr val="37474F"/>
                </a:solidFill>
                <a:highlight>
                  <a:srgbClr val="00FF00"/>
                </a:highlight>
                <a:latin typeface="Roboto Mono" pitchFamily="2" charset="0"/>
              </a:rPr>
              <a:t>🟢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</a:t>
            </a:r>
            <a:r>
              <a:rPr lang="pt-BR" sz="1200" dirty="0">
                <a:solidFill>
                  <a:srgbClr val="37474F"/>
                </a:solidFill>
                <a:highlight>
                  <a:srgbClr val="FF7474"/>
                </a:highlight>
                <a:latin typeface="Roboto Mono" pitchFamily="2" charset="0"/>
              </a:rPr>
              <a:t>🔴</a:t>
            </a:r>
            <a:r>
              <a:rPr lang="pt-BR" sz="1200" b="0" i="0" dirty="0">
                <a:solidFill>
                  <a:srgbClr val="37474F"/>
                </a:solidFill>
                <a:effectLst/>
                <a:highlight>
                  <a:srgbClr val="FF7474"/>
                </a:highlight>
                <a:latin typeface="Roboto Mono" pitchFamily="2" charset="0"/>
              </a:rPr>
              <a:t> 🔴 🔴 🔴 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CE297399-9095-C263-ED00-D3333BB97A7E}"/>
                  </a:ext>
                </a:extLst>
              </p:cNvPr>
              <p:cNvSpPr txBox="1"/>
              <p:nvPr/>
            </p:nvSpPr>
            <p:spPr>
              <a:xfrm>
                <a:off x="161848" y="4771153"/>
                <a:ext cx="16816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CE297399-9095-C263-ED00-D3333BB97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48" y="4771153"/>
                <a:ext cx="1681679" cy="276999"/>
              </a:xfrm>
              <a:prstGeom prst="rect">
                <a:avLst/>
              </a:prstGeom>
              <a:blipFill>
                <a:blip r:embed="rId15"/>
                <a:stretch>
                  <a:fillRect l="-3273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98A86A5-EF26-E0C5-834C-0A304F13C02B}"/>
                  </a:ext>
                </a:extLst>
              </p:cNvPr>
              <p:cNvSpPr txBox="1"/>
              <p:nvPr/>
            </p:nvSpPr>
            <p:spPr>
              <a:xfrm>
                <a:off x="6933461" y="5830285"/>
                <a:ext cx="16816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98A86A5-EF26-E0C5-834C-0A304F13C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461" y="5830285"/>
                <a:ext cx="1681679" cy="276999"/>
              </a:xfrm>
              <a:prstGeom prst="rect">
                <a:avLst/>
              </a:prstGeom>
              <a:blipFill>
                <a:blip r:embed="rId16"/>
                <a:stretch>
                  <a:fillRect l="-3261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7388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797DC-8723-6A21-D7CE-859377FB7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A9158BB4-D40B-8CEF-7349-133903AD7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F691613-F285-EFFA-2E50-219F39AD9E52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83BE746-F2D3-78F0-4EB9-0298B2796EF9}"/>
              </a:ext>
            </a:extLst>
          </p:cNvPr>
          <p:cNvSpPr/>
          <p:nvPr/>
        </p:nvSpPr>
        <p:spPr>
          <a:xfrm>
            <a:off x="242315" y="1148705"/>
            <a:ext cx="76768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– Pureza das Classes - GINI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91B4231-D90D-CC80-0A85-E7B1FF417825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5A37263-61F9-D56F-5249-AF06244F6BE5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CB6A56A-1EE3-7A9B-D46D-791AB209060A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6C33AD-7590-8EEF-615B-5D12DC3BB748}"/>
              </a:ext>
            </a:extLst>
          </p:cNvPr>
          <p:cNvSpPr txBox="1"/>
          <p:nvPr/>
        </p:nvSpPr>
        <p:spPr>
          <a:xfrm>
            <a:off x="193282" y="1808072"/>
            <a:ext cx="470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Valor Gini mede justamente essa impureza.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DAD0296-9309-C294-47B7-8B1301B2DFFB}"/>
                  </a:ext>
                </a:extLst>
              </p:cNvPr>
              <p:cNvSpPr txBox="1"/>
              <p:nvPr/>
            </p:nvSpPr>
            <p:spPr>
              <a:xfrm>
                <a:off x="244721" y="2464558"/>
                <a:ext cx="4547975" cy="3372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Valor Gini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pt-BR" i="0">
                                  <a:latin typeface="Cambria Math" panose="02040503050406030204" pitchFamily="18" charset="0"/>
                                </a:rPr>
                                <m:t>  casado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pt-BR" i="0">
                                  <a:latin typeface="Cambria Math" panose="02040503050406030204" pitchFamily="18" charset="0"/>
                                </a:rPr>
                                <m:t>  não casado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DAD0296-9309-C294-47B7-8B1301B2D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21" y="2464558"/>
                <a:ext cx="4547975" cy="337272"/>
              </a:xfrm>
              <a:prstGeom prst="rect">
                <a:avLst/>
              </a:prstGeom>
              <a:blipFill>
                <a:blip r:embed="rId5"/>
                <a:stretch>
                  <a:fillRect l="-938" b="-214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2CAFA153-0365-8AD5-6CFB-9A84ED3B49F0}"/>
              </a:ext>
            </a:extLst>
          </p:cNvPr>
          <p:cNvSpPr txBox="1"/>
          <p:nvPr/>
        </p:nvSpPr>
        <p:spPr>
          <a:xfrm>
            <a:off x="197183" y="2949251"/>
            <a:ext cx="72899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Conclusão: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“Quanto maior o GINI, mais impuro é o nó”;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“Quando o GINI chega a 0,5, você tem o máximo de mistura no Nó !”;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“GINI ZERO representa NÓ PURO”;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9109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7D6D96-6732-E5E9-E368-81744D93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DAF089E4-633A-0063-A173-51DDC44FD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CFD8BAD-470B-DE0B-5C1E-271466109CBF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E1D4B22-1A4C-4A62-D715-7AE7F68F71AB}"/>
              </a:ext>
            </a:extLst>
          </p:cNvPr>
          <p:cNvSpPr/>
          <p:nvPr/>
        </p:nvSpPr>
        <p:spPr>
          <a:xfrm>
            <a:off x="3354631" y="160020"/>
            <a:ext cx="80208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– </a:t>
            </a:r>
            <a:r>
              <a:rPr lang="en-US" sz="2400" b="1" dirty="0" err="1">
                <a:solidFill>
                  <a:srgbClr val="0B1F3A"/>
                </a:solidFill>
              </a:rPr>
              <a:t>Profundidade</a:t>
            </a:r>
            <a:r>
              <a:rPr lang="en-US" sz="2400" b="1" dirty="0">
                <a:solidFill>
                  <a:srgbClr val="0B1F3A"/>
                </a:solidFill>
              </a:rPr>
              <a:t> da </a:t>
            </a:r>
            <a:r>
              <a:rPr lang="en-US" sz="2400" b="1" dirty="0" err="1">
                <a:solidFill>
                  <a:srgbClr val="0B1F3A"/>
                </a:solidFill>
              </a:rPr>
              <a:t>Árvore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5B987AE-A1EB-3292-C89D-C3AFCE8FACAD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8E967C1-352D-DE24-866D-84C63E3963BD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715B637-BFE8-B5BE-1209-AE7F3AE7CDE3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9017956-DEB3-C822-658F-39C5B710405C}"/>
              </a:ext>
            </a:extLst>
          </p:cNvPr>
          <p:cNvSpPr txBox="1"/>
          <p:nvPr/>
        </p:nvSpPr>
        <p:spPr>
          <a:xfrm>
            <a:off x="658368" y="1610686"/>
            <a:ext cx="6695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 Profundidade da Árvore é </a:t>
            </a:r>
            <a:r>
              <a:rPr lang="pt-BR" b="1" dirty="0"/>
              <a:t>número máximo de divisões (níveis)</a:t>
            </a:r>
            <a:r>
              <a:rPr lang="pt-BR" dirty="0"/>
              <a:t> </a:t>
            </a:r>
          </a:p>
          <a:p>
            <a:r>
              <a:rPr lang="pt-BR" dirty="0"/>
              <a:t>que a árvore pode fazer desde a raiz até a folha mais distante.</a:t>
            </a:r>
          </a:p>
        </p:txBody>
      </p:sp>
      <p:pic>
        <p:nvPicPr>
          <p:cNvPr id="6146" name="Picture 2" descr="Modelo de uma Decision Tree">
            <a:extLst>
              <a:ext uri="{FF2B5EF4-FFF2-40B4-BE49-F238E27FC236}">
                <a16:creationId xmlns:a16="http://schemas.microsoft.com/office/drawing/2014/main" id="{67C7D03D-BA1E-772A-7A2B-9FA3D0026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87" y="2315717"/>
            <a:ext cx="5554590" cy="312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49BE67F-A631-A93A-6F2D-932D5C1E44B0}"/>
              </a:ext>
            </a:extLst>
          </p:cNvPr>
          <p:cNvSpPr txBox="1"/>
          <p:nvPr/>
        </p:nvSpPr>
        <p:spPr>
          <a:xfrm>
            <a:off x="4173018" y="2378928"/>
            <a:ext cx="1748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Nó Raiz ou Nó 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743F98-9A9C-BE44-1076-2194DD400ACB}"/>
              </a:ext>
            </a:extLst>
          </p:cNvPr>
          <p:cNvSpPr txBox="1"/>
          <p:nvPr/>
        </p:nvSpPr>
        <p:spPr>
          <a:xfrm>
            <a:off x="5375305" y="3692668"/>
            <a:ext cx="2089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Nós Intermediários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5D0652B-6483-B2FB-698B-1C6117FD46C1}"/>
              </a:ext>
            </a:extLst>
          </p:cNvPr>
          <p:cNvSpPr txBox="1"/>
          <p:nvPr/>
        </p:nvSpPr>
        <p:spPr>
          <a:xfrm>
            <a:off x="5921958" y="4821742"/>
            <a:ext cx="1300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Nós Folhas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D827A74-BDE4-1BD3-DF7A-37669232BEB7}"/>
              </a:ext>
            </a:extLst>
          </p:cNvPr>
          <p:cNvSpPr txBox="1"/>
          <p:nvPr/>
        </p:nvSpPr>
        <p:spPr>
          <a:xfrm>
            <a:off x="7939043" y="2257017"/>
            <a:ext cx="3387209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A pergunta certa pode </a:t>
            </a:r>
          </a:p>
          <a:p>
            <a:pPr algn="ctr"/>
            <a:r>
              <a:rPr lang="pt-BR" dirty="0"/>
              <a:t>mudar a profundidade da Árvore</a:t>
            </a:r>
          </a:p>
        </p:txBody>
      </p:sp>
    </p:spTree>
    <p:extLst>
      <p:ext uri="{BB962C8B-B14F-4D97-AF65-F5344CB8AC3E}">
        <p14:creationId xmlns:p14="http://schemas.microsoft.com/office/powerpoint/2010/main" val="2791003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EDC45-C6EE-B97E-D556-764A9B832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2A66E39C-C53E-4399-63F2-9068514ED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C57E110-A700-1E37-6C5D-F2A1B573F6F9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9EFA27E-966D-D9A2-5C8E-EA219E966858}"/>
              </a:ext>
            </a:extLst>
          </p:cNvPr>
          <p:cNvSpPr/>
          <p:nvPr/>
        </p:nvSpPr>
        <p:spPr>
          <a:xfrm>
            <a:off x="3354631" y="160020"/>
            <a:ext cx="80208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– </a:t>
            </a:r>
            <a:r>
              <a:rPr lang="en-US" sz="2400" b="1" dirty="0" err="1">
                <a:solidFill>
                  <a:srgbClr val="0B1F3A"/>
                </a:solidFill>
              </a:rPr>
              <a:t>Profundidade</a:t>
            </a:r>
            <a:r>
              <a:rPr lang="en-US" sz="2400" b="1" dirty="0">
                <a:solidFill>
                  <a:srgbClr val="0B1F3A"/>
                </a:solidFill>
              </a:rPr>
              <a:t> da </a:t>
            </a:r>
            <a:r>
              <a:rPr lang="en-US" sz="2400" b="1" dirty="0" err="1">
                <a:solidFill>
                  <a:srgbClr val="0B1F3A"/>
                </a:solidFill>
              </a:rPr>
              <a:t>Árvore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B8A9C7E-C39D-4D7D-7D08-C8A2A3AD823F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1F9213-AB45-4CCF-CC30-A3330A258142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8102F42-C45D-D6D3-1719-F86C3BB5DE5B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13B216C-F32A-31BA-A213-5D00F760A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354" y="1621155"/>
            <a:ext cx="10267950" cy="507682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AFC51991-77A9-4AE6-11E8-44F9F97C29A2}"/>
              </a:ext>
            </a:extLst>
          </p:cNvPr>
          <p:cNvSpPr txBox="1"/>
          <p:nvPr/>
        </p:nvSpPr>
        <p:spPr>
          <a:xfrm>
            <a:off x="2065410" y="745287"/>
            <a:ext cx="4733540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Entradas:  X1(Aliança), X2(Aquário), X3(Filhos)</a:t>
            </a:r>
          </a:p>
          <a:p>
            <a:r>
              <a:rPr lang="pt-BR" dirty="0"/>
              <a:t>Saída:         Y(Casado)</a:t>
            </a:r>
          </a:p>
        </p:txBody>
      </p:sp>
    </p:spTree>
    <p:extLst>
      <p:ext uri="{BB962C8B-B14F-4D97-AF65-F5344CB8AC3E}">
        <p14:creationId xmlns:p14="http://schemas.microsoft.com/office/powerpoint/2010/main" val="1944027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521586-B52B-B39C-A090-18B96C1B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DA9C1463-FC5F-E57B-704B-1D0F4DC76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72B1C55-158C-1D02-AFF4-3F23AB069634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066ABCE-0878-15F5-E562-75C3BD97F9EE}"/>
              </a:ext>
            </a:extLst>
          </p:cNvPr>
          <p:cNvSpPr/>
          <p:nvPr/>
        </p:nvSpPr>
        <p:spPr>
          <a:xfrm>
            <a:off x="3354631" y="160020"/>
            <a:ext cx="80208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– </a:t>
            </a:r>
            <a:r>
              <a:rPr lang="en-US" sz="2400" b="1" dirty="0" err="1">
                <a:solidFill>
                  <a:srgbClr val="0B1F3A"/>
                </a:solidFill>
              </a:rPr>
              <a:t>Profundidade</a:t>
            </a:r>
            <a:r>
              <a:rPr lang="en-US" sz="2400" b="1" dirty="0">
                <a:solidFill>
                  <a:srgbClr val="0B1F3A"/>
                </a:solidFill>
              </a:rPr>
              <a:t> da </a:t>
            </a:r>
            <a:r>
              <a:rPr lang="en-US" sz="2400" b="1" dirty="0" err="1">
                <a:solidFill>
                  <a:srgbClr val="0B1F3A"/>
                </a:solidFill>
              </a:rPr>
              <a:t>Árvore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B1EB797-DB4C-2155-3D4D-A3FFB83F40C7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A6A56D4-CCE6-F018-6923-FB526C849AAE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E3A5CF5-D215-848E-D762-2A70C3E2163A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694C4D0-02F4-51A0-ABEC-8634CFD5AEB2}"/>
              </a:ext>
            </a:extLst>
          </p:cNvPr>
          <p:cNvSpPr txBox="1"/>
          <p:nvPr/>
        </p:nvSpPr>
        <p:spPr>
          <a:xfrm>
            <a:off x="472510" y="1219337"/>
            <a:ext cx="2042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Árvores em Python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D14145C-AC40-FD3C-CEC8-4903C14C1D75}"/>
              </a:ext>
            </a:extLst>
          </p:cNvPr>
          <p:cNvSpPr txBox="1"/>
          <p:nvPr/>
        </p:nvSpPr>
        <p:spPr>
          <a:xfrm>
            <a:off x="193282" y="1675138"/>
            <a:ext cx="6625205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pandas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pd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matplotlib.pyplot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plt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from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sklearn.tree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DecisionTreeClassifier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plot_tree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from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sklearn.model_selection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train_test_split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from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sklearn.metrics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accuracy_score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confusion_matrix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9C7DE39-E839-F72A-D60E-16F641E0B0AD}"/>
              </a:ext>
            </a:extLst>
          </p:cNvPr>
          <p:cNvSpPr txBox="1"/>
          <p:nvPr/>
        </p:nvSpPr>
        <p:spPr>
          <a:xfrm>
            <a:off x="193282" y="3138929"/>
            <a:ext cx="6094602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dados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pd.DataFrame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({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"Pessoa"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 [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"B"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"D"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"E"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"F"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"G"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"H"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"I"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"J"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Aquario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"Filhos"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 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Alianca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"Casado"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 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})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dados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89F6C43-D8D1-0B93-6873-2338523AEF28}"/>
              </a:ext>
            </a:extLst>
          </p:cNvPr>
          <p:cNvSpPr txBox="1"/>
          <p:nvPr/>
        </p:nvSpPr>
        <p:spPr>
          <a:xfrm>
            <a:off x="7015294" y="1282495"/>
            <a:ext cx="4804793" cy="525144"/>
          </a:xfrm>
          <a:prstGeom prst="rect">
            <a:avLst/>
          </a:prstGeom>
          <a:solidFill>
            <a:srgbClr val="B6ECFF"/>
          </a:solidFill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buNone/>
            </a:pPr>
            <a:r>
              <a:rPr lang="pt-BR" sz="1400" b="0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# Entrada (grupos de dados de </a:t>
            </a:r>
            <a:r>
              <a:rPr lang="pt-BR" sz="1400" b="0" i="0" dirty="0" err="1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etrada</a:t>
            </a:r>
            <a:r>
              <a:rPr lang="pt-BR" sz="1400" b="0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)</a:t>
            </a:r>
          </a:p>
          <a:p>
            <a:pPr algn="l">
              <a:lnSpc>
                <a:spcPts val="1125"/>
              </a:lnSpc>
              <a:buNone/>
            </a:pPr>
            <a:endParaRPr lang="pt-BR" sz="14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1125"/>
              </a:lnSpc>
              <a:buNone/>
            </a:pPr>
            <a:r>
              <a:rPr lang="pt-BR" sz="14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X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dados[[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Aquario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"Filhos"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Alianca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]]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F8FB0B5-F3B3-E595-486D-77D3EE4F071C}"/>
              </a:ext>
            </a:extLst>
          </p:cNvPr>
          <p:cNvSpPr txBox="1"/>
          <p:nvPr/>
        </p:nvSpPr>
        <p:spPr>
          <a:xfrm>
            <a:off x="7015294" y="2013644"/>
            <a:ext cx="3771186" cy="1477328"/>
          </a:xfrm>
          <a:prstGeom prst="rect">
            <a:avLst/>
          </a:prstGeom>
          <a:solidFill>
            <a:srgbClr val="B6ECFF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# Saída </a:t>
            </a:r>
          </a:p>
          <a:p>
            <a:pPr algn="l">
              <a:buNone/>
            </a:pP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Roboto Mono" pitchFamily="2" charset="0"/>
              </a:rPr>
              <a:t># </a:t>
            </a:r>
            <a:r>
              <a:rPr lang="pt-BR" b="0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Classificar dados </a:t>
            </a:r>
          </a:p>
          <a:p>
            <a:pPr algn="l">
              <a:buNone/>
            </a:pPr>
            <a:r>
              <a:rPr lang="pt-BR" b="0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# nessa saída</a:t>
            </a:r>
          </a:p>
          <a:p>
            <a:pPr algn="l">
              <a:buNone/>
            </a:pPr>
            <a:endParaRPr lang="pt-BR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y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dados[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"Casado"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2F0BDA3-1321-39EA-E5F1-614C1FF7A5E4}"/>
              </a:ext>
            </a:extLst>
          </p:cNvPr>
          <p:cNvSpPr txBox="1"/>
          <p:nvPr/>
        </p:nvSpPr>
        <p:spPr>
          <a:xfrm>
            <a:off x="7015294" y="3847407"/>
            <a:ext cx="4804793" cy="2246769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37474F"/>
                </a:solidFill>
                <a:latin typeface="Roboto Mono" pitchFamily="2" charset="0"/>
              </a:rPr>
              <a:t>#Separar 70% para treino e 30% para teste</a:t>
            </a:r>
          </a:p>
          <a:p>
            <a:pPr algn="l">
              <a:buNone/>
            </a:pPr>
            <a:endParaRPr lang="pt-BR" sz="14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X_treino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X_teste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y_treino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y_teste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train_test_split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X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y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0097A7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test_size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0.30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0097A7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random_state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42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0097A7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stratify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y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701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676C7-72DF-6DBB-236C-ADD4F2015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A492EFA6-B4EF-C148-192C-9851F198B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6D4BB81-28EA-4343-F670-3E73BD74C2BD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336D95D-64BE-FC43-96AA-980FEF87F614}"/>
              </a:ext>
            </a:extLst>
          </p:cNvPr>
          <p:cNvSpPr/>
          <p:nvPr/>
        </p:nvSpPr>
        <p:spPr>
          <a:xfrm>
            <a:off x="3354631" y="160020"/>
            <a:ext cx="80208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– </a:t>
            </a:r>
            <a:r>
              <a:rPr lang="en-US" sz="2400" b="1" dirty="0" err="1">
                <a:solidFill>
                  <a:srgbClr val="0B1F3A"/>
                </a:solidFill>
              </a:rPr>
              <a:t>Profundidade</a:t>
            </a:r>
            <a:r>
              <a:rPr lang="en-US" sz="2400" b="1" dirty="0">
                <a:solidFill>
                  <a:srgbClr val="0B1F3A"/>
                </a:solidFill>
              </a:rPr>
              <a:t> da </a:t>
            </a:r>
            <a:r>
              <a:rPr lang="en-US" sz="2400" b="1" dirty="0" err="1">
                <a:solidFill>
                  <a:srgbClr val="0B1F3A"/>
                </a:solidFill>
              </a:rPr>
              <a:t>Árvore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58CBC1D-0CC2-2EB1-E609-E42B8EC3648A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2188271-0E62-FC08-2E3F-7CB496BCB1F7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4F1ED86-F884-5BAC-17E1-AE043574D913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967E2E4-6A96-C722-959E-88542C88576D}"/>
              </a:ext>
            </a:extLst>
          </p:cNvPr>
          <p:cNvSpPr txBox="1"/>
          <p:nvPr/>
        </p:nvSpPr>
        <p:spPr>
          <a:xfrm>
            <a:off x="472510" y="1219337"/>
            <a:ext cx="2042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Árvores em 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748F00-7478-D4E6-CDD1-0471886C124B}"/>
              </a:ext>
            </a:extLst>
          </p:cNvPr>
          <p:cNvSpPr txBox="1"/>
          <p:nvPr/>
        </p:nvSpPr>
        <p:spPr>
          <a:xfrm>
            <a:off x="236609" y="1749897"/>
            <a:ext cx="4587061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sz="1400" b="0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# Crie seu modelo</a:t>
            </a:r>
          </a:p>
          <a:p>
            <a:pPr algn="l">
              <a:buNone/>
            </a:pPr>
            <a:endParaRPr lang="it-IT" sz="14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modelo </a:t>
            </a:r>
            <a:r>
              <a:rPr lang="it-IT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it-IT" sz="14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DecisionTreeClassifier</a:t>
            </a: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endParaRPr lang="it-IT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it-IT" sz="1400" b="0" i="0" dirty="0">
                <a:solidFill>
                  <a:srgbClr val="0097A7"/>
                </a:solidFill>
                <a:effectLst/>
                <a:latin typeface="Roboto Mono" pitchFamily="2" charset="0"/>
              </a:rPr>
              <a:t>    criterion</a:t>
            </a:r>
            <a:r>
              <a:rPr lang="it-IT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it-IT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"gini"</a:t>
            </a: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it-IT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it-IT" sz="1400" b="0" i="0" dirty="0">
                <a:solidFill>
                  <a:srgbClr val="0097A7"/>
                </a:solidFill>
                <a:effectLst/>
                <a:latin typeface="Roboto Mono" pitchFamily="2" charset="0"/>
              </a:rPr>
              <a:t>    random_state</a:t>
            </a:r>
            <a:r>
              <a:rPr lang="it-IT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it-IT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42</a:t>
            </a:r>
            <a:endParaRPr lang="it-IT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it-IT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9ADD7EE-70D0-2018-70A2-29D9BE3B10D7}"/>
              </a:ext>
            </a:extLst>
          </p:cNvPr>
          <p:cNvSpPr txBox="1"/>
          <p:nvPr/>
        </p:nvSpPr>
        <p:spPr>
          <a:xfrm>
            <a:off x="193282" y="3473575"/>
            <a:ext cx="4630388" cy="95410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b="0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# </a:t>
            </a:r>
            <a:r>
              <a:rPr lang="es-ES" b="0" i="0" dirty="0" err="1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Treinar</a:t>
            </a:r>
            <a:r>
              <a:rPr lang="es-ES" b="0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 o </a:t>
            </a:r>
            <a:r>
              <a:rPr lang="es-ES" b="0" i="0" dirty="0" err="1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seu</a:t>
            </a:r>
            <a:r>
              <a:rPr lang="es-ES" b="0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 Modelo</a:t>
            </a:r>
          </a:p>
          <a:p>
            <a:pPr algn="l">
              <a:buNone/>
            </a:pPr>
            <a:endParaRPr lang="es-ES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es-ES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</a:t>
            </a:r>
            <a:r>
              <a:rPr lang="es-ES" sz="20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fit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es-ES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X_treino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es-ES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y_treino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es-E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946DE0A-31CC-EA80-A85A-3C9A8765A1E5}"/>
              </a:ext>
            </a:extLst>
          </p:cNvPr>
          <p:cNvSpPr txBox="1"/>
          <p:nvPr/>
        </p:nvSpPr>
        <p:spPr>
          <a:xfrm>
            <a:off x="5194883" y="1404003"/>
            <a:ext cx="6094602" cy="3970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# Desenhar sua Árvore</a:t>
            </a:r>
          </a:p>
          <a:p>
            <a:pPr algn="l">
              <a:buNone/>
            </a:pPr>
            <a:endParaRPr lang="pt-BR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plt.figure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figsize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14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7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plot_tree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modelo,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0097A7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feature_names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X.columns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0097A7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class_names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"Não casado"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"Casado"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0097A7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filled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True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0097A7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rounded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True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0097A7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fontsize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11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plt.show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72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D2128-D82F-0C4D-385D-1E96B629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2DFC1B17-18EA-165E-9D4D-C0263D2ED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6FA1115-85D0-E763-E444-2B9775AFC1E5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595111B-B5F4-0F26-770A-28A9203BF027}"/>
              </a:ext>
            </a:extLst>
          </p:cNvPr>
          <p:cNvSpPr/>
          <p:nvPr/>
        </p:nvSpPr>
        <p:spPr>
          <a:xfrm>
            <a:off x="3354631" y="160020"/>
            <a:ext cx="80208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– </a:t>
            </a:r>
            <a:r>
              <a:rPr lang="en-US" sz="2400" b="1" dirty="0" err="1">
                <a:solidFill>
                  <a:srgbClr val="0B1F3A"/>
                </a:solidFill>
              </a:rPr>
              <a:t>Profundidade</a:t>
            </a:r>
            <a:r>
              <a:rPr lang="en-US" sz="2400" b="1" dirty="0">
                <a:solidFill>
                  <a:srgbClr val="0B1F3A"/>
                </a:solidFill>
              </a:rPr>
              <a:t> da </a:t>
            </a:r>
            <a:r>
              <a:rPr lang="en-US" sz="2400" b="1" dirty="0" err="1">
                <a:solidFill>
                  <a:srgbClr val="0B1F3A"/>
                </a:solidFill>
              </a:rPr>
              <a:t>Árvore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44B2CBC-9B6F-3226-788A-2EC7DD101A2F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E551ADB-60D2-5837-1220-B555FF64172E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226FCB8-8E78-1F67-E9B7-124A431DEA89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4AFF2B6-9931-E62A-110F-1FCA41B4BD9F}"/>
              </a:ext>
            </a:extLst>
          </p:cNvPr>
          <p:cNvSpPr txBox="1"/>
          <p:nvPr/>
        </p:nvSpPr>
        <p:spPr>
          <a:xfrm>
            <a:off x="472510" y="1219337"/>
            <a:ext cx="2042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Árvores em Python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8C48437-10F5-F4B2-D0B2-BB537FB81E1E}"/>
              </a:ext>
            </a:extLst>
          </p:cNvPr>
          <p:cNvSpPr txBox="1"/>
          <p:nvPr/>
        </p:nvSpPr>
        <p:spPr>
          <a:xfrm>
            <a:off x="310518" y="1764506"/>
            <a:ext cx="4736970" cy="95410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# Fazer o TESTE</a:t>
            </a:r>
          </a:p>
          <a:p>
            <a:pPr algn="l">
              <a:buNone/>
            </a:pPr>
            <a:endParaRPr lang="pt-BR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y_pred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</a:t>
            </a:r>
            <a:r>
              <a:rPr lang="pt-BR" sz="20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predict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X_teste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B76F93F-86DD-0EEB-BDEC-939CC1921F88}"/>
              </a:ext>
            </a:extLst>
          </p:cNvPr>
          <p:cNvSpPr txBox="1"/>
          <p:nvPr/>
        </p:nvSpPr>
        <p:spPr>
          <a:xfrm>
            <a:off x="317146" y="3203893"/>
            <a:ext cx="4730342" cy="22467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sz="1400" b="1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# </a:t>
            </a:r>
            <a:r>
              <a:rPr lang="es-ES" sz="1400" b="1" i="0" dirty="0" err="1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Fazer</a:t>
            </a:r>
            <a:r>
              <a:rPr lang="es-ES" sz="1400" b="1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 </a:t>
            </a:r>
            <a:r>
              <a:rPr lang="es-ES" sz="1400" b="1" i="0" dirty="0" err="1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Comparação</a:t>
            </a:r>
            <a:r>
              <a:rPr lang="es-ES" sz="1400" b="1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 (REAL x Previsto)</a:t>
            </a:r>
          </a:p>
          <a:p>
            <a:pPr algn="l">
              <a:buNone/>
            </a:pPr>
            <a:endParaRPr lang="es-ES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es-ES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comparacao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es-ES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es-ES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pd.DataFrame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({</a:t>
            </a:r>
            <a:endParaRPr lang="es-E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es-ES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"Real"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es-ES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y_teste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es-E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es-ES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"Previsto"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es-ES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y_pred</a:t>
            </a:r>
            <a:endParaRPr lang="es-E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})</a:t>
            </a:r>
            <a:endParaRPr lang="es-E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es-E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es-ES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comparacao</a:t>
            </a:r>
            <a:endParaRPr lang="es-E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E2574FB-7870-DCE8-9ABB-D8AEF0F056FB}"/>
              </a:ext>
            </a:extLst>
          </p:cNvPr>
          <p:cNvSpPr txBox="1"/>
          <p:nvPr/>
        </p:nvSpPr>
        <p:spPr>
          <a:xfrm>
            <a:off x="5446552" y="1718002"/>
            <a:ext cx="6094602" cy="28931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400" b="1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# Melhore a visualização</a:t>
            </a:r>
          </a:p>
          <a:p>
            <a:pPr algn="l">
              <a:buNone/>
            </a:pPr>
            <a:endParaRPr lang="pt-BR" sz="14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comparacao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"Real"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comparacao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"Real"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].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map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({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"Não casado"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"Casado"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})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comparacao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"Previsto"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comparacao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[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"Previsto"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].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map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({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"Não casado"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"Casado"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})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comparacao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428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3A225-15EC-5CE7-4A0F-5D7A6E412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>
            <a:extLst>
              <a:ext uri="{FF2B5EF4-FFF2-40B4-BE49-F238E27FC236}">
                <a16:creationId xmlns:a16="http://schemas.microsoft.com/office/drawing/2014/main" id="{04799504-BB2C-1D7D-03FF-4A9FF4A83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" y="160020"/>
            <a:ext cx="2423160" cy="51206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6F415D2-7314-6A1F-9DB5-887137DD7800}"/>
              </a:ext>
            </a:extLst>
          </p:cNvPr>
          <p:cNvSpPr/>
          <p:nvPr/>
        </p:nvSpPr>
        <p:spPr>
          <a:xfrm>
            <a:off x="236610" y="87438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9BF"/>
                </a:solidFill>
              </a:rPr>
              <a:t>Aula 05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94775DA-E655-4D82-F3AE-02193680E54B}"/>
              </a:ext>
            </a:extLst>
          </p:cNvPr>
          <p:cNvSpPr/>
          <p:nvPr/>
        </p:nvSpPr>
        <p:spPr>
          <a:xfrm>
            <a:off x="3354631" y="160020"/>
            <a:ext cx="80208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  <a:defRPr/>
            </a:pPr>
            <a:r>
              <a:rPr lang="en-US" sz="2400" b="1" dirty="0" err="1">
                <a:solidFill>
                  <a:srgbClr val="0B1F3A"/>
                </a:solidFill>
              </a:rPr>
              <a:t>Árvores</a:t>
            </a:r>
            <a:r>
              <a:rPr lang="en-US" sz="2400" b="1" dirty="0">
                <a:solidFill>
                  <a:srgbClr val="0B1F3A"/>
                </a:solidFill>
              </a:rPr>
              <a:t> de </a:t>
            </a:r>
            <a:r>
              <a:rPr lang="en-US" sz="2400" b="1" dirty="0" err="1">
                <a:solidFill>
                  <a:srgbClr val="0B1F3A"/>
                </a:solidFill>
              </a:rPr>
              <a:t>Decisão</a:t>
            </a:r>
            <a:r>
              <a:rPr lang="en-US" sz="2400" b="1" dirty="0">
                <a:solidFill>
                  <a:srgbClr val="0B1F3A"/>
                </a:solidFill>
              </a:rPr>
              <a:t> – </a:t>
            </a:r>
            <a:r>
              <a:rPr lang="en-US" sz="2400" b="1" dirty="0" err="1">
                <a:solidFill>
                  <a:srgbClr val="0B1F3A"/>
                </a:solidFill>
              </a:rPr>
              <a:t>Profundidade</a:t>
            </a:r>
            <a:r>
              <a:rPr lang="en-US" sz="2400" b="1" dirty="0">
                <a:solidFill>
                  <a:srgbClr val="0B1F3A"/>
                </a:solidFill>
              </a:rPr>
              <a:t> da </a:t>
            </a:r>
            <a:r>
              <a:rPr lang="en-US" sz="2400" b="1" dirty="0" err="1">
                <a:solidFill>
                  <a:srgbClr val="0B1F3A"/>
                </a:solidFill>
              </a:rPr>
              <a:t>Árvore</a:t>
            </a:r>
            <a:endParaRPr lang="pt-BR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F26DB4D-4DAC-7BED-50A7-A47013526BFB}"/>
              </a:ext>
            </a:extLst>
          </p:cNvPr>
          <p:cNvSpPr/>
          <p:nvPr/>
        </p:nvSpPr>
        <p:spPr>
          <a:xfrm>
            <a:off x="658368" y="5742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Professor Miguél Suares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26A8CE0-3909-1D41-53C1-ECE5E2C2D3CC}"/>
              </a:ext>
            </a:extLst>
          </p:cNvPr>
          <p:cNvSpPr/>
          <p:nvPr/>
        </p:nvSpPr>
        <p:spPr>
          <a:xfrm>
            <a:off x="658368" y="60533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UNIP • GTI – Oferta 2026 - Gestão e Análise de Dados</a:t>
            </a:r>
            <a:endParaRPr lang="en-US" sz="8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904BC37-B537-3A7F-B9EC-7833AA03B654}"/>
              </a:ext>
            </a:extLst>
          </p:cNvPr>
          <p:cNvSpPr txBox="1"/>
          <p:nvPr/>
        </p:nvSpPr>
        <p:spPr>
          <a:xfrm>
            <a:off x="236609" y="6236315"/>
            <a:ext cx="11768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/>
              <a:t>IBM. KAVLAKOGLU, </a:t>
            </a:r>
            <a:r>
              <a:rPr lang="pt-BR" sz="1200" i="1" dirty="0" err="1"/>
              <a:t>Eda</a:t>
            </a:r>
            <a:r>
              <a:rPr lang="pt-BR" sz="1200" i="1" dirty="0"/>
              <a:t>. </a:t>
            </a:r>
            <a:r>
              <a:rPr lang="pt-BR" sz="1200" b="1" i="1" dirty="0"/>
              <a:t>O que é uma </a:t>
            </a:r>
            <a:r>
              <a:rPr lang="pt-BR" sz="1200" b="1" i="1" dirty="0" err="1"/>
              <a:t>Decision</a:t>
            </a:r>
            <a:r>
              <a:rPr lang="pt-BR" sz="1200" b="1" i="1" dirty="0"/>
              <a:t> </a:t>
            </a:r>
            <a:r>
              <a:rPr lang="pt-BR" sz="1200" b="1" i="1" dirty="0" err="1"/>
              <a:t>Tree</a:t>
            </a:r>
            <a:r>
              <a:rPr lang="pt-BR" sz="1200" b="1" i="1" dirty="0"/>
              <a:t>?</a:t>
            </a:r>
            <a:r>
              <a:rPr lang="pt-BR" sz="1200" i="1" dirty="0"/>
              <a:t> IBM </a:t>
            </a:r>
            <a:r>
              <a:rPr lang="pt-BR" sz="1200" i="1" dirty="0" err="1"/>
              <a:t>Think</a:t>
            </a:r>
            <a:r>
              <a:rPr lang="pt-BR" sz="1200" i="1" dirty="0"/>
              <a:t> </a:t>
            </a:r>
            <a:r>
              <a:rPr lang="pt-BR" sz="1200" i="1" dirty="0" err="1"/>
              <a:t>Topics</a:t>
            </a:r>
            <a:r>
              <a:rPr lang="pt-BR" sz="1200" i="1" dirty="0"/>
              <a:t>, 2 nov. 2021. </a:t>
            </a:r>
          </a:p>
          <a:p>
            <a:r>
              <a:rPr lang="pt-BR" sz="1200" i="1" dirty="0"/>
              <a:t>Disponível em: </a:t>
            </a:r>
            <a:r>
              <a:rPr lang="pt-BR" sz="1200" i="1" u="sng" dirty="0">
                <a:hlinkClick r:id="rId4"/>
              </a:rPr>
              <a:t>https://www.ibm.com/</a:t>
            </a:r>
            <a:r>
              <a:rPr lang="pt-BR" sz="1200" i="1" u="sng" dirty="0" err="1">
                <a:hlinkClick r:id="rId4"/>
              </a:rPr>
              <a:t>br-pt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think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topics</a:t>
            </a:r>
            <a:r>
              <a:rPr lang="pt-BR" sz="1200" i="1" u="sng" dirty="0">
                <a:hlinkClick r:id="rId4"/>
              </a:rPr>
              <a:t>/</a:t>
            </a:r>
            <a:r>
              <a:rPr lang="pt-BR" sz="1200" i="1" u="sng" dirty="0" err="1">
                <a:hlinkClick r:id="rId4"/>
              </a:rPr>
              <a:t>decision-trees</a:t>
            </a:r>
            <a:r>
              <a:rPr lang="pt-BR" sz="1200" i="1" dirty="0"/>
              <a:t>. Acesso em: 6 out. 2026.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4A73058-8416-08F5-9AC8-C16925DB6362}"/>
              </a:ext>
            </a:extLst>
          </p:cNvPr>
          <p:cNvSpPr txBox="1"/>
          <p:nvPr/>
        </p:nvSpPr>
        <p:spPr>
          <a:xfrm>
            <a:off x="472510" y="1219337"/>
            <a:ext cx="2042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Árvores em 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3D777B7-69C6-F10B-78DD-53C4A0524AEE}"/>
              </a:ext>
            </a:extLst>
          </p:cNvPr>
          <p:cNvSpPr txBox="1"/>
          <p:nvPr/>
        </p:nvSpPr>
        <p:spPr>
          <a:xfrm>
            <a:off x="307330" y="1790765"/>
            <a:ext cx="5405573" cy="116955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sz="1400" b="1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# Calculando a </a:t>
            </a:r>
            <a:r>
              <a:rPr lang="es-ES" sz="1400" b="1" i="0" dirty="0" err="1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assertividade</a:t>
            </a:r>
            <a:r>
              <a:rPr lang="es-ES" sz="1400" b="1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 (</a:t>
            </a:r>
            <a:r>
              <a:rPr lang="es-ES" sz="1400" b="1" i="0" dirty="0" err="1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acurácia</a:t>
            </a:r>
            <a:r>
              <a:rPr lang="es-ES" sz="1400" b="1" i="0" dirty="0">
                <a:solidFill>
                  <a:schemeClr val="accent6">
                    <a:lumMod val="50000"/>
                  </a:schemeClr>
                </a:solidFill>
                <a:effectLst/>
                <a:latin typeface="Roboto Mono" pitchFamily="2" charset="0"/>
              </a:rPr>
              <a:t>) do modelo</a:t>
            </a:r>
          </a:p>
          <a:p>
            <a:pPr algn="l">
              <a:buNone/>
            </a:pPr>
            <a:endParaRPr lang="es-ES" sz="14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es-ES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acuracia</a:t>
            </a:r>
            <a:r>
              <a:rPr lang="es-E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es-ES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es-E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es-ES" sz="14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accuracy_score</a:t>
            </a:r>
            <a:r>
              <a:rPr lang="es-E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es-ES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y_teste</a:t>
            </a:r>
            <a:r>
              <a:rPr lang="es-E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es-ES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y_pred</a:t>
            </a:r>
            <a:r>
              <a:rPr lang="es-E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es-ES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es-ES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es-ES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print</a:t>
            </a:r>
            <a:r>
              <a:rPr lang="es-E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es-ES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es-ES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Acurácia</a:t>
            </a:r>
            <a:r>
              <a:rPr lang="es-ES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:"</a:t>
            </a:r>
            <a:r>
              <a:rPr lang="es-E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es-ES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acuracia</a:t>
            </a:r>
            <a:r>
              <a:rPr lang="es-E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es-ES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907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E2876329B5D3B4FBA1D26A8667C2633" ma:contentTypeVersion="14" ma:contentTypeDescription="Crie um novo documento." ma:contentTypeScope="" ma:versionID="c18e529f75eeba5e3380f7426394bcf9">
  <xsd:schema xmlns:xsd="http://www.w3.org/2001/XMLSchema" xmlns:xs="http://www.w3.org/2001/XMLSchema" xmlns:p="http://schemas.microsoft.com/office/2006/metadata/properties" xmlns:ns3="1ea3c9c0-e698-4ea3-9529-a2c71b2c9eef" xmlns:ns4="38d922ee-4e44-47a7-a878-a22d9e8094bc" targetNamespace="http://schemas.microsoft.com/office/2006/metadata/properties" ma:root="true" ma:fieldsID="6a86d318e1343c5a9145aa5d09437703" ns3:_="" ns4:_="">
    <xsd:import namespace="1ea3c9c0-e698-4ea3-9529-a2c71b2c9eef"/>
    <xsd:import namespace="38d922ee-4e44-47a7-a878-a22d9e8094b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3c9c0-e698-4ea3-9529-a2c71b2c9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922ee-4e44-47a7-a878-a22d9e8094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a3c9c0-e698-4ea3-9529-a2c71b2c9eef" xsi:nil="true"/>
  </documentManagement>
</p:properties>
</file>

<file path=customXml/itemProps1.xml><?xml version="1.0" encoding="utf-8"?>
<ds:datastoreItem xmlns:ds="http://schemas.openxmlformats.org/officeDocument/2006/customXml" ds:itemID="{CA2158D8-4C33-4132-A61E-E0532140A8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3c9c0-e698-4ea3-9529-a2c71b2c9eef"/>
    <ds:schemaRef ds:uri="38d922ee-4e44-47a7-a878-a22d9e8094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D4652CD-F36D-4B45-A152-BCD8A2661B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1E0874-EAAB-4A60-8F28-27A437EC07BB}">
  <ds:schemaRefs>
    <ds:schemaRef ds:uri="http://schemas.microsoft.com/office/2006/metadata/properties"/>
    <ds:schemaRef ds:uri="http://schemas.microsoft.com/office/infopath/2007/PartnerControls"/>
    <ds:schemaRef ds:uri="1ea3c9c0-e698-4ea3-9529-a2c71b2c9ee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1855</TotalTime>
  <Words>3951</Words>
  <Application>Microsoft Office PowerPoint</Application>
  <PresentationFormat>Widescreen</PresentationFormat>
  <Paragraphs>780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26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Cambria Math</vt:lpstr>
      <vt:lpstr>Roboto Mono</vt:lpstr>
      <vt:lpstr>Symbol</vt:lpstr>
      <vt:lpstr>Times New Roman</vt:lpstr>
      <vt:lpstr>Wingdings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04 - Organização e Preparação de Dados; Regressão Logística e KNN</dc:title>
  <dc:subject>Organização e Preparação de Dados; Regressão Logística e KNN</dc:subject>
  <dc:creator>OpenAI</dc:creator>
  <cp:lastModifiedBy>usuario6</cp:lastModifiedBy>
  <cp:revision>69</cp:revision>
  <dcterms:created xsi:type="dcterms:W3CDTF">2026-08-22T16:19:43Z</dcterms:created>
  <dcterms:modified xsi:type="dcterms:W3CDTF">2026-10-13T03:38:40Z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0x0101002E2876329B5D3B4FBA1D26A8667C2633</vt:lpwstr>
  </property>
</Properties>
</file>